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1.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2.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13.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theme/themeOverride1.xml" ContentType="application/vnd.openxmlformats-officedocument.themeOverr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theme/themeOverride2.xml" ContentType="application/vnd.openxmlformats-officedocument.themeOverrid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theme/themeOverride3.xml" ContentType="application/vnd.openxmlformats-officedocument.themeOverride+xml"/>
  <Override PartName="/ppt/notesSlides/notesSlide48.xml" ContentType="application/vnd.openxmlformats-officedocument.presentationml.notesSlid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theme/themeOverride4.xml" ContentType="application/vnd.openxmlformats-officedocument.themeOverride+xml"/>
  <Override PartName="/ppt/notesSlides/notesSlide49.xml" ContentType="application/vnd.openxmlformats-officedocument.presentationml.notesSlid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theme/themeOverride5.xml" ContentType="application/vnd.openxmlformats-officedocument.themeOverride+xml"/>
  <Override PartName="/ppt/notesSlides/notesSlide50.xml" ContentType="application/vnd.openxmlformats-officedocument.presentationml.notesSlid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theme/themeOverride6.xml" ContentType="application/vnd.openxmlformats-officedocument.themeOverrid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notesSlides/notesSlide51.xml" ContentType="application/vnd.openxmlformats-officedocument.presentationml.notesSlid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theme/themeOverride7.xml" ContentType="application/vnd.openxmlformats-officedocument.themeOverr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notesSlides/notesSlide55.xml" ContentType="application/vnd.openxmlformats-officedocument.presentationml.notesSlid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4"/>
  </p:sldMasterIdLst>
  <p:notesMasterIdLst>
    <p:notesMasterId r:id="rId88"/>
  </p:notesMasterIdLst>
  <p:handoutMasterIdLst>
    <p:handoutMasterId r:id="rId89"/>
  </p:handoutMasterIdLst>
  <p:sldIdLst>
    <p:sldId id="264" r:id="rId5"/>
    <p:sldId id="292" r:id="rId6"/>
    <p:sldId id="2147482946" r:id="rId7"/>
    <p:sldId id="2147482817" r:id="rId8"/>
    <p:sldId id="2147482950" r:id="rId9"/>
    <p:sldId id="2147482966" r:id="rId10"/>
    <p:sldId id="2147482967" r:id="rId11"/>
    <p:sldId id="2147482968" r:id="rId12"/>
    <p:sldId id="2147482969" r:id="rId13"/>
    <p:sldId id="2147482971" r:id="rId14"/>
    <p:sldId id="2147482970" r:id="rId15"/>
    <p:sldId id="2147482745" r:id="rId16"/>
    <p:sldId id="2147482933" r:id="rId17"/>
    <p:sldId id="2147482929" r:id="rId18"/>
    <p:sldId id="2147482903" r:id="rId19"/>
    <p:sldId id="2147482930" r:id="rId20"/>
    <p:sldId id="2147482931" r:id="rId21"/>
    <p:sldId id="2147482932" r:id="rId22"/>
    <p:sldId id="2147482905" r:id="rId23"/>
    <p:sldId id="2147482921" r:id="rId24"/>
    <p:sldId id="2147482789" r:id="rId25"/>
    <p:sldId id="2147482790" r:id="rId26"/>
    <p:sldId id="2147482791" r:id="rId27"/>
    <p:sldId id="2147482922" r:id="rId28"/>
    <p:sldId id="2147482842" r:id="rId29"/>
    <p:sldId id="2147482843" r:id="rId30"/>
    <p:sldId id="2147482844" r:id="rId31"/>
    <p:sldId id="2147482934" r:id="rId32"/>
    <p:sldId id="2147482944" r:id="rId33"/>
    <p:sldId id="2147482518" r:id="rId34"/>
    <p:sldId id="2147482685" r:id="rId35"/>
    <p:sldId id="2147482686" r:id="rId36"/>
    <p:sldId id="2147482731" r:id="rId37"/>
    <p:sldId id="2147482773" r:id="rId38"/>
    <p:sldId id="2147482780" r:id="rId39"/>
    <p:sldId id="2147482945" r:id="rId40"/>
    <p:sldId id="2147482852" r:id="rId41"/>
    <p:sldId id="2147376736" r:id="rId42"/>
    <p:sldId id="290" r:id="rId43"/>
    <p:sldId id="2147482756" r:id="rId44"/>
    <p:sldId id="2147482820" r:id="rId45"/>
    <p:sldId id="2147482940" r:id="rId46"/>
    <p:sldId id="2147482848" r:id="rId47"/>
    <p:sldId id="2147482853" r:id="rId48"/>
    <p:sldId id="2147482688" r:id="rId49"/>
    <p:sldId id="2147482941" r:id="rId50"/>
    <p:sldId id="2147482910" r:id="rId51"/>
    <p:sldId id="2147482763" r:id="rId52"/>
    <p:sldId id="2147482764" r:id="rId53"/>
    <p:sldId id="2147482854" r:id="rId54"/>
    <p:sldId id="2147482855" r:id="rId55"/>
    <p:sldId id="2147482788" r:id="rId56"/>
    <p:sldId id="2147482856" r:id="rId57"/>
    <p:sldId id="2147482896" r:id="rId58"/>
    <p:sldId id="2147482753" r:id="rId59"/>
    <p:sldId id="2147482755" r:id="rId60"/>
    <p:sldId id="2147482959" r:id="rId61"/>
    <p:sldId id="2147482960" r:id="rId62"/>
    <p:sldId id="2147482961" r:id="rId63"/>
    <p:sldId id="256" r:id="rId64"/>
    <p:sldId id="2147376139" r:id="rId65"/>
    <p:sldId id="2147482555" r:id="rId66"/>
    <p:sldId id="2147376731" r:id="rId67"/>
    <p:sldId id="2147379014" r:id="rId68"/>
    <p:sldId id="2147482962" r:id="rId69"/>
    <p:sldId id="2147482964" r:id="rId70"/>
    <p:sldId id="2147482963" r:id="rId71"/>
    <p:sldId id="2147482965" r:id="rId72"/>
    <p:sldId id="2147482718" r:id="rId73"/>
    <p:sldId id="2147482528" r:id="rId74"/>
    <p:sldId id="2147482757" r:id="rId75"/>
    <p:sldId id="2147482529" r:id="rId76"/>
    <p:sldId id="2147482949" r:id="rId77"/>
    <p:sldId id="2147482630" r:id="rId78"/>
    <p:sldId id="2147482955" r:id="rId79"/>
    <p:sldId id="2147482956" r:id="rId80"/>
    <p:sldId id="2147482866" r:id="rId81"/>
    <p:sldId id="2147482972" r:id="rId82"/>
    <p:sldId id="2147482603" r:id="rId83"/>
    <p:sldId id="2147482943" r:id="rId84"/>
    <p:sldId id="2147482740" r:id="rId85"/>
    <p:sldId id="2147482741" r:id="rId86"/>
    <p:sldId id="2147482742" r:id="rId87"/>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C7AF2D-AFE1-49BF-B1BF-77AF93E94DC3}">
          <p14:sldIdLst>
            <p14:sldId id="264"/>
            <p14:sldId id="292"/>
            <p14:sldId id="2147482946"/>
            <p14:sldId id="2147482817"/>
            <p14:sldId id="2147482950"/>
          </p14:sldIdLst>
        </p14:section>
        <p14:section name="Physical Progress" id="{4D47D254-E94E-4246-96A2-0F0D4BE70A58}">
          <p14:sldIdLst>
            <p14:sldId id="2147482966"/>
            <p14:sldId id="2147482967"/>
            <p14:sldId id="2147482968"/>
            <p14:sldId id="2147482969"/>
            <p14:sldId id="2147482971"/>
            <p14:sldId id="2147482970"/>
            <p14:sldId id="2147482745"/>
          </p14:sldIdLst>
        </p14:section>
        <p14:section name="Procurement &amp; Monthly Rolling Plan" id="{979565BC-C068-46FF-97A9-0672C548123D}">
          <p14:sldIdLst>
            <p14:sldId id="2147482933"/>
            <p14:sldId id="2147482929"/>
            <p14:sldId id="2147482903"/>
            <p14:sldId id="2147482930"/>
            <p14:sldId id="2147482931"/>
            <p14:sldId id="2147482932"/>
            <p14:sldId id="2147482905"/>
          </p14:sldIdLst>
        </p14:section>
        <p14:section name="Civil Construction Progress" id="{B27D0672-266F-4CDF-A41E-2F78E752ABA1}">
          <p14:sldIdLst>
            <p14:sldId id="2147482921"/>
            <p14:sldId id="2147482789"/>
            <p14:sldId id="2147482790"/>
            <p14:sldId id="2147482791"/>
            <p14:sldId id="2147482922"/>
            <p14:sldId id="2147482842"/>
            <p14:sldId id="2147482843"/>
            <p14:sldId id="2147482844"/>
          </p14:sldIdLst>
        </p14:section>
        <p14:section name="Manpower Status" id="{2125DE47-07BC-4D30-B7F6-76688A60D8C9}">
          <p14:sldIdLst>
            <p14:sldId id="2147482934"/>
            <p14:sldId id="2147482944"/>
            <p14:sldId id="2147482518"/>
            <p14:sldId id="2147482685"/>
            <p14:sldId id="2147482686"/>
            <p14:sldId id="2147482731"/>
            <p14:sldId id="2147482773"/>
            <p14:sldId id="2147482780"/>
          </p14:sldIdLst>
        </p14:section>
        <p14:section name="Major Milestones &amp; Critical issues" id="{E006C319-2062-4567-948F-5F2CD7D3D597}">
          <p14:sldIdLst>
            <p14:sldId id="2147482945"/>
            <p14:sldId id="2147482852"/>
            <p14:sldId id="2147376736"/>
            <p14:sldId id="290"/>
          </p14:sldIdLst>
        </p14:section>
        <p14:section name="Ordering Status" id="{F27D03CF-57BE-4BF8-8ABA-ED968FF8195D}">
          <p14:sldIdLst>
            <p14:sldId id="2147482756"/>
            <p14:sldId id="2147482820"/>
            <p14:sldId id="2147482940"/>
            <p14:sldId id="2147482848"/>
            <p14:sldId id="2147482853"/>
            <p14:sldId id="2147482688"/>
            <p14:sldId id="2147482941"/>
            <p14:sldId id="2147482910"/>
            <p14:sldId id="2147482763"/>
            <p14:sldId id="2147482764"/>
            <p14:sldId id="2147482854"/>
            <p14:sldId id="2147482855"/>
            <p14:sldId id="2147482788"/>
            <p14:sldId id="2147482856"/>
          </p14:sldIdLst>
        </p14:section>
        <p14:section name="Statutory &amp; other approvals" id="{91715EF9-ACCA-48F7-8627-698975714B28}">
          <p14:sldIdLst>
            <p14:sldId id="2147482896"/>
            <p14:sldId id="2147482753"/>
            <p14:sldId id="2147482755"/>
            <p14:sldId id="2147482959"/>
            <p14:sldId id="2147482960"/>
            <p14:sldId id="2147482961"/>
          </p14:sldIdLst>
        </p14:section>
        <p14:section name="Phase - I Projects" id="{DA44DD93-1E03-4ED4-AA28-4F0B6E91B351}">
          <p14:sldIdLst>
            <p14:sldId id="256"/>
            <p14:sldId id="2147376139"/>
            <p14:sldId id="2147482555"/>
            <p14:sldId id="2147376731"/>
            <p14:sldId id="2147379014"/>
            <p14:sldId id="2147482962"/>
            <p14:sldId id="2147482964"/>
            <p14:sldId id="2147482963"/>
            <p14:sldId id="2147482965"/>
            <p14:sldId id="2147482718"/>
            <p14:sldId id="2147482528"/>
            <p14:sldId id="2147482757"/>
            <p14:sldId id="2147482529"/>
            <p14:sldId id="2147482949"/>
            <p14:sldId id="2147482630"/>
            <p14:sldId id="2147482955"/>
            <p14:sldId id="2147482956"/>
            <p14:sldId id="2147482866"/>
            <p14:sldId id="2147482972"/>
            <p14:sldId id="2147482603"/>
            <p14:sldId id="2147482943"/>
            <p14:sldId id="2147482740"/>
            <p14:sldId id="2147482741"/>
            <p14:sldId id="214748274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7030A0"/>
    <a:srgbClr val="0000FF"/>
    <a:srgbClr val="66FF33"/>
    <a:srgbClr val="B17ED8"/>
    <a:srgbClr val="008080"/>
    <a:srgbClr val="993366"/>
    <a:srgbClr val="003300"/>
    <a:srgbClr val="BD4D37"/>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44" autoAdjust="0"/>
    <p:restoredTop sz="94660"/>
  </p:normalViewPr>
  <p:slideViewPr>
    <p:cSldViewPr snapToGrid="0">
      <p:cViewPr varScale="1">
        <p:scale>
          <a:sx n="82" d="100"/>
          <a:sy n="82" d="100"/>
        </p:scale>
        <p:origin x="6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handoutMaster" Target="handoutMasters/handout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adhi Jaykumar" userId="9755de9c-5f5f-4e63-a17f-da4233f17c68" providerId="ADAL" clId="{1D0CBBFD-7200-405B-970C-3A3C875A2912}"/>
    <pc:docChg chg="modSld">
      <pc:chgData name="Paradhi Jaykumar" userId="9755de9c-5f5f-4e63-a17f-da4233f17c68" providerId="ADAL" clId="{1D0CBBFD-7200-405B-970C-3A3C875A2912}" dt="2026-07-04T08:29:05.985" v="30" actId="20577"/>
      <pc:docMkLst>
        <pc:docMk/>
      </pc:docMkLst>
      <pc:sldChg chg="modSp mod">
        <pc:chgData name="Paradhi Jaykumar" userId="9755de9c-5f5f-4e63-a17f-da4233f17c68" providerId="ADAL" clId="{1D0CBBFD-7200-405B-970C-3A3C875A2912}" dt="2026-07-04T08:29:05.985" v="30" actId="20577"/>
        <pc:sldMkLst>
          <pc:docMk/>
          <pc:sldMk cId="216852324" sldId="2147482966"/>
        </pc:sldMkLst>
        <pc:graphicFrameChg chg="modGraphic">
          <ac:chgData name="Paradhi Jaykumar" userId="9755de9c-5f5f-4e63-a17f-da4233f17c68" providerId="ADAL" clId="{1D0CBBFD-7200-405B-970C-3A3C875A2912}" dt="2026-07-04T08:29:05.985" v="30" actId="20577"/>
          <ac:graphicFrameMkLst>
            <pc:docMk/>
            <pc:sldMk cId="216852324" sldId="2147482966"/>
            <ac:graphicFrameMk id="12" creationId="{FF5E4AED-70DC-F0F6-816B-BAF54545E919}"/>
          </ac:graphicFrameMkLst>
        </pc:graphicFrameChg>
      </pc:sldChg>
    </pc:docChg>
  </pc:docChgLst>
  <pc:docChgLst>
    <pc:chgData name="Birendra Nath" userId="7d792ceb-fa86-4c97-811d-aabb77800820" providerId="ADAL" clId="{C61D4CF7-6861-4A26-9826-2C2F0B67586D}"/>
    <pc:docChg chg="modSld">
      <pc:chgData name="Birendra Nath" userId="7d792ceb-fa86-4c97-811d-aabb77800820" providerId="ADAL" clId="{C61D4CF7-6861-4A26-9826-2C2F0B67586D}" dt="2026-07-27T10:23:21.899" v="1" actId="13926"/>
      <pc:docMkLst>
        <pc:docMk/>
      </pc:docMkLst>
      <pc:sldChg chg="modSp mod">
        <pc:chgData name="Birendra Nath" userId="7d792ceb-fa86-4c97-811d-aabb77800820" providerId="ADAL" clId="{C61D4CF7-6861-4A26-9826-2C2F0B67586D}" dt="2026-07-27T10:23:21.899" v="1" actId="13926"/>
        <pc:sldMkLst>
          <pc:docMk/>
          <pc:sldMk cId="1924555273" sldId="2147482905"/>
        </pc:sldMkLst>
        <pc:graphicFrameChg chg="modGraphic">
          <ac:chgData name="Birendra Nath" userId="7d792ceb-fa86-4c97-811d-aabb77800820" providerId="ADAL" clId="{C61D4CF7-6861-4A26-9826-2C2F0B67586D}" dt="2026-07-27T10:23:21.899" v="1" actId="13926"/>
          <ac:graphicFrameMkLst>
            <pc:docMk/>
            <pc:sldMk cId="1924555273" sldId="2147482905"/>
            <ac:graphicFrameMk id="4" creationId="{B1703883-10FA-5172-1C2B-51F29EC6DF87}"/>
          </ac:graphicFrameMkLst>
        </pc:graphicFrameChg>
      </pc:sldChg>
    </pc:docChg>
  </pc:docChgLst>
  <pc:docChgLst>
    <pc:chgData name="Divyanshi Tahkit" userId="e9fa80da-cab3-4b38-8a7a-32adb87f1e3e" providerId="ADAL" clId="{7BF575A7-2C06-418C-996C-9D250ABD8DC1}"/>
    <pc:docChg chg="modSld">
      <pc:chgData name="Divyanshi Tahkit" userId="e9fa80da-cab3-4b38-8a7a-32adb87f1e3e" providerId="ADAL" clId="{7BF575A7-2C06-418C-996C-9D250ABD8DC1}" dt="2026-07-06T10:40:30.096" v="5" actId="20577"/>
      <pc:docMkLst>
        <pc:docMk/>
      </pc:docMkLst>
      <pc:sldChg chg="modSp mod">
        <pc:chgData name="Divyanshi Tahkit" userId="e9fa80da-cab3-4b38-8a7a-32adb87f1e3e" providerId="ADAL" clId="{7BF575A7-2C06-418C-996C-9D250ABD8DC1}" dt="2026-07-06T10:40:30.096" v="5" actId="20577"/>
        <pc:sldMkLst>
          <pc:docMk/>
          <pc:sldMk cId="228516213" sldId="264"/>
        </pc:sldMkLst>
        <pc:spChg chg="mod">
          <ac:chgData name="Divyanshi Tahkit" userId="e9fa80da-cab3-4b38-8a7a-32adb87f1e3e" providerId="ADAL" clId="{7BF575A7-2C06-418C-996C-9D250ABD8DC1}" dt="2026-07-06T10:40:30.096" v="5" actId="20577"/>
          <ac:spMkLst>
            <pc:docMk/>
            <pc:sldMk cId="228516213" sldId="264"/>
            <ac:spMk id="2" creationId="{EDC7B687-FE8E-7F4F-129D-B59B60727C89}"/>
          </ac:spMkLst>
        </pc:spChg>
      </pc:sldChg>
      <pc:sldChg chg="modSp mod">
        <pc:chgData name="Divyanshi Tahkit" userId="e9fa80da-cab3-4b38-8a7a-32adb87f1e3e" providerId="ADAL" clId="{7BF575A7-2C06-418C-996C-9D250ABD8DC1}" dt="2026-07-03T10:49:59.020" v="3" actId="13926"/>
        <pc:sldMkLst>
          <pc:docMk/>
          <pc:sldMk cId="1296243718" sldId="2147482745"/>
        </pc:sldMkLst>
        <pc:spChg chg="mod">
          <ac:chgData name="Divyanshi Tahkit" userId="e9fa80da-cab3-4b38-8a7a-32adb87f1e3e" providerId="ADAL" clId="{7BF575A7-2C06-418C-996C-9D250ABD8DC1}" dt="2026-07-03T10:49:59.020" v="3" actId="13926"/>
          <ac:spMkLst>
            <pc:docMk/>
            <pc:sldMk cId="1296243718" sldId="2147482745"/>
            <ac:spMk id="2" creationId="{6897D89A-9A6D-998C-BC89-766F96879D29}"/>
          </ac:spMkLst>
        </pc:spChg>
      </pc:sldChg>
      <pc:sldChg chg="modSp mod">
        <pc:chgData name="Divyanshi Tahkit" userId="e9fa80da-cab3-4b38-8a7a-32adb87f1e3e" providerId="ADAL" clId="{7BF575A7-2C06-418C-996C-9D250ABD8DC1}" dt="2026-07-03T10:48:59.174" v="2" actId="13926"/>
        <pc:sldMkLst>
          <pc:docMk/>
          <pc:sldMk cId="1844289915" sldId="2147482950"/>
        </pc:sldMkLst>
        <pc:spChg chg="mod">
          <ac:chgData name="Divyanshi Tahkit" userId="e9fa80da-cab3-4b38-8a7a-32adb87f1e3e" providerId="ADAL" clId="{7BF575A7-2C06-418C-996C-9D250ABD8DC1}" dt="2026-07-03T10:48:59.174" v="2" actId="13926"/>
          <ac:spMkLst>
            <pc:docMk/>
            <pc:sldMk cId="1844289915" sldId="2147482950"/>
            <ac:spMk id="3" creationId="{9206C545-E10B-9E1E-E8AE-4D6EF410E6E6}"/>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adaniltd-my.sharepoint.com/personal/30136584_adani_com/Documents/Desktop/BESS%20Kishan%20Working/Primavera%20P6%20Planners/S-Curve/MAY%202026%20-%20Current%20Month/PSS11-MAY%20S-Curve_19.05.2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adaniltd-my.sharepoint.com/personal/30136584_adani_com/Documents/Desktop/BESS%20Kishan%20Working/Primavera%20P6%20Planners/S-Curve/MAY%202026%20-%20Current%20Month/PSS12-MAY%20S-Curve_19.05.26.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adaniltd-my.sharepoint.com/personal/30136584_adani_com/Documents/Desktop/BESS%20Kishan%20Working/Primavera%20P6%20Planners/S-Curve/MAY%202026%20-%20Current%20Month/PSS10B-MAY%20S-Curve_19.05.26.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adaniltd-my.sharepoint.com/personal/30136584_adani_com/Documents/Desktop/BESS%20Kishan%20Working/Primavera%20P6%20Planners/S-Curve/MAY%202026%20-%20Current%20Month/PSS09-MAY%20S-Curve_31.05.26.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adaniltd-my.sharepoint.com/personal/30136584_adani_com/Documents/Desktop/BESS%20Kishan%20Working/Primavera%20P6%20Planners/S-Curve/MAY%202026%20-%20Current%20Month/PSS05B-MAY%20S-Curve_31.05.26.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adaniltd-my.sharepoint.com/personal/30136584_adani_com/Documents/Desktop/BESS%20Kishan%20Working/Primavera%20P6%20Planners/S-Curve/MAY%202026%20-%20Current%20Month/PSS8B-MAY%20S-Curve_31.05.26.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BESS%20Deck-26-27_Backup/Progress%20Dashbord_FY26-27.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Team%20Working/Divyanshi-%20working/CPAG%20Files/FY%2026-27/CPAG%20Manpower%20Curve%20-%20FY%2026-27.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0.xml"/><Relationship Id="rId1" Type="http://schemas.microsoft.com/office/2011/relationships/chartStyle" Target="style20.xml"/><Relationship Id="rId4" Type="http://schemas.openxmlformats.org/officeDocument/2006/relationships/package" Target="../embeddings/Microsoft_Excel_Worksheet.xlsx"/></Relationships>
</file>

<file path=ppt/charts/_rels/chart21.xml.rels><?xml version="1.0" encoding="UTF-8" standalone="yes"?>
<Relationships xmlns="http://schemas.openxmlformats.org/package/2006/relationships"><Relationship Id="rId3" Type="http://schemas.openxmlformats.org/officeDocument/2006/relationships/oleObject" Target="https://adaniltd-my.sharepoint.com/personal/30136584_adani_com/Documents/Desktop/BESS%20Kishan%20Working/Primavera%20P6%20Planners/S-Curve/MAY%202026%20-%20Current%20Month/PSS10A-MAY%20S-Curve_31.05.26.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https://adaniltd-my.sharepoint.com/personal/30136584_adani_com/Documents/Desktop/BESS%20Kishan%20Working/Primavera%20P6%20Planners/S-Curve/MAY%202026%20-%20Current%20Month/PSS05-MAY%20S-Curve_31.05.26.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https://adaniltd-my.sharepoint.com/personal/30136584_adani_com/Documents/Desktop/BESS%20Kishan%20Working/Primavera%20P6%20Planners/S-Curve/MAY%202026%20-%20Current%20Month/PSS08-MAY%20S-Curve_31.05.26.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4.xml"/><Relationship Id="rId1" Type="http://schemas.microsoft.com/office/2011/relationships/chartStyle" Target="style24.xml"/><Relationship Id="rId4" Type="http://schemas.openxmlformats.org/officeDocument/2006/relationships/package" Target="../embeddings/Microsoft_Excel_Worksheet1.xlsx"/></Relationships>
</file>

<file path=ppt/charts/_rels/chart2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5.xml"/><Relationship Id="rId1" Type="http://schemas.microsoft.com/office/2011/relationships/chartStyle" Target="style25.xml"/><Relationship Id="rId4" Type="http://schemas.openxmlformats.org/officeDocument/2006/relationships/package" Target="../embeddings/Microsoft_Excel_Worksheet2.xlsx"/></Relationships>
</file>

<file path=ppt/charts/_rels/chart2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6.xml"/><Relationship Id="rId1" Type="http://schemas.microsoft.com/office/2011/relationships/chartStyle" Target="style26.xml"/><Relationship Id="rId4" Type="http://schemas.openxmlformats.org/officeDocument/2006/relationships/package" Target="../embeddings/Microsoft_Excel_Worksheet3.xlsx"/></Relationships>
</file>

<file path=ppt/charts/_rels/chart27.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Subha%20Files/Progress%20Dashbord%20.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28.xml"/><Relationship Id="rId1" Type="http://schemas.microsoft.com/office/2011/relationships/chartStyle" Target="style28.xml"/><Relationship Id="rId4" Type="http://schemas.openxmlformats.org/officeDocument/2006/relationships/package" Target="../embeddings/Microsoft_Excel_Worksheet4.xlsx"/></Relationships>
</file>

<file path=ppt/charts/_rels/chart29.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29.xml"/><Relationship Id="rId1" Type="http://schemas.microsoft.com/office/2011/relationships/chartStyle" Target="style29.xml"/><Relationship Id="rId4" Type="http://schemas.openxmlformats.org/officeDocument/2006/relationships/package" Target="../embeddings/Microsoft_Excel_Worksheet5.xlsx"/></Relationships>
</file>

<file path=ppt/charts/_rels/chart30.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Subha%20Files/Progress%20Dashbord%20.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https://adaniltd-my.sharepoint.com/personal/30068692_adani_com/Documents/Work-BESS/General/BESS%20Deck/Subha%20Files/Progress%20Dashbord%20.xlsx"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32.xml"/><Relationship Id="rId1" Type="http://schemas.microsoft.com/office/2011/relationships/chartStyle" Target="style32.xml"/><Relationship Id="rId4" Type="http://schemas.openxmlformats.org/officeDocument/2006/relationships/package" Target="../embeddings/Microsoft_Excel_Worksheet6.xlsx"/></Relationships>
</file>

<file path=ppt/charts/_rels/chart33.xml.rels><?xml version="1.0" encoding="UTF-8" standalone="yes"?>
<Relationships xmlns="http://schemas.openxmlformats.org/package/2006/relationships"><Relationship Id="rId3" Type="http://schemas.openxmlformats.org/officeDocument/2006/relationships/oleObject" Target="file:///C:\Users\30136584\Downloads\Copy%20of%20Financial%20S%20curve%20-%20Nov.xlsx" TargetMode="External"/><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oleObject" Target="https://adaniltd-my.sharepoint.com/personal/30136587_adani_com/Documents/PMO%20-%20BESS%20-%20HO/Team%20Working/Divyanshi-%20working/CPAG%20Files/FY%2025-26/CPAG%20Manpower%20slides-FY25-26.xlsx" TargetMode="External"/><Relationship Id="rId2" Type="http://schemas.microsoft.com/office/2011/relationships/chartColorStyle" Target="colors34.xml"/><Relationship Id="rId1" Type="http://schemas.microsoft.com/office/2011/relationships/chartStyle" Target="style3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791657167575654E-2"/>
          <c:y val="4.962389834043978E-2"/>
          <c:w val="0.87994411611688861"/>
          <c:h val="0.56310981173746144"/>
        </c:manualLayout>
      </c:layout>
      <c:barChart>
        <c:barDir val="col"/>
        <c:grouping val="clustered"/>
        <c:varyColors val="0"/>
        <c:ser>
          <c:idx val="6"/>
          <c:order val="2"/>
          <c:tx>
            <c:strRef>
              <c:f>'S-Curve-PSS11'!$A$12</c:f>
              <c:strCache>
                <c:ptCount val="1"/>
                <c:pt idx="0">
                  <c:v>Monthly Plan</c:v>
                </c:pt>
              </c:strCache>
            </c:strRef>
          </c:tx>
          <c:spPr>
            <a:solidFill>
              <a:srgbClr val="00B0F0"/>
            </a:solidFill>
            <a:ln>
              <a:noFill/>
            </a:ln>
            <a:effectLst/>
          </c:spPr>
          <c:invertIfNegative val="0"/>
          <c:cat>
            <c:numRef>
              <c:f>'S-Curve-PSS11'!$B$9:$M$9</c:f>
              <c:numCache>
                <c:formatCode>[$-409]mmm/yy;@</c:formatCode>
                <c:ptCount val="12"/>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numCache>
            </c:numRef>
          </c:cat>
          <c:val>
            <c:numRef>
              <c:f>'S-Curve-PSS11'!$B$12:$M$12</c:f>
              <c:numCache>
                <c:formatCode>0.00%</c:formatCode>
                <c:ptCount val="12"/>
                <c:pt idx="0">
                  <c:v>0</c:v>
                </c:pt>
                <c:pt idx="1">
                  <c:v>0.1188</c:v>
                </c:pt>
                <c:pt idx="2">
                  <c:v>2.1100000000000001E-2</c:v>
                </c:pt>
                <c:pt idx="3">
                  <c:v>5.2299999999999999E-2</c:v>
                </c:pt>
                <c:pt idx="4">
                  <c:v>5.3100000000000001E-2</c:v>
                </c:pt>
                <c:pt idx="5">
                  <c:v>0.19520000000000001</c:v>
                </c:pt>
                <c:pt idx="6">
                  <c:v>0.19550000000000001</c:v>
                </c:pt>
                <c:pt idx="7">
                  <c:v>0.1547</c:v>
                </c:pt>
                <c:pt idx="8">
                  <c:v>0.13239999999999999</c:v>
                </c:pt>
                <c:pt idx="9">
                  <c:v>4.1700000000000001E-2</c:v>
                </c:pt>
                <c:pt idx="10">
                  <c:v>1.7100000000000001E-2</c:v>
                </c:pt>
                <c:pt idx="11">
                  <c:v>1.8200000000000001E-2</c:v>
                </c:pt>
              </c:numCache>
            </c:numRef>
          </c:val>
          <c:extLst>
            <c:ext xmlns:c16="http://schemas.microsoft.com/office/drawing/2014/chart" uri="{C3380CC4-5D6E-409C-BE32-E72D297353CC}">
              <c16:uniqueId val="{00000000-5C53-4894-9239-951DB86E783C}"/>
            </c:ext>
          </c:extLst>
        </c:ser>
        <c:ser>
          <c:idx val="7"/>
          <c:order val="3"/>
          <c:tx>
            <c:strRef>
              <c:f>'S-Curve-PSS11'!$A$13</c:f>
              <c:strCache>
                <c:ptCount val="1"/>
                <c:pt idx="0">
                  <c:v>Monthly Actual</c:v>
                </c:pt>
              </c:strCache>
            </c:strRef>
          </c:tx>
          <c:spPr>
            <a:solidFill>
              <a:srgbClr val="92D050"/>
            </a:solidFill>
            <a:ln>
              <a:noFill/>
            </a:ln>
            <a:effectLst/>
          </c:spPr>
          <c:invertIfNegative val="0"/>
          <c:cat>
            <c:numRef>
              <c:f>'S-Curve-PSS11'!$B$9:$M$9</c:f>
              <c:numCache>
                <c:formatCode>[$-409]mmm/yy;@</c:formatCode>
                <c:ptCount val="12"/>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numCache>
            </c:numRef>
          </c:cat>
          <c:val>
            <c:numRef>
              <c:f>'S-Curve-PSS11'!$B$13:$I$13</c:f>
              <c:numCache>
                <c:formatCode>0.00%</c:formatCode>
                <c:ptCount val="8"/>
                <c:pt idx="0">
                  <c:v>0</c:v>
                </c:pt>
                <c:pt idx="1">
                  <c:v>3.6499999999999998E-2</c:v>
                </c:pt>
                <c:pt idx="2">
                  <c:v>9.9699999999999997E-2</c:v>
                </c:pt>
                <c:pt idx="3">
                  <c:v>7.1400000000000005E-2</c:v>
                </c:pt>
                <c:pt idx="4">
                  <c:v>4.3400000000000001E-2</c:v>
                </c:pt>
                <c:pt idx="5">
                  <c:v>5.0299999999999997E-2</c:v>
                </c:pt>
                <c:pt idx="6">
                  <c:v>7.6607060584823486E-2</c:v>
                </c:pt>
                <c:pt idx="7">
                  <c:v>6.7761623305959418E-2</c:v>
                </c:pt>
              </c:numCache>
            </c:numRef>
          </c:val>
          <c:extLst>
            <c:ext xmlns:c16="http://schemas.microsoft.com/office/drawing/2014/chart" uri="{C3380CC4-5D6E-409C-BE32-E72D297353CC}">
              <c16:uniqueId val="{00000001-5C53-4894-9239-951DB86E783C}"/>
            </c:ext>
          </c:extLst>
        </c:ser>
        <c:dLbls>
          <c:showLegendKey val="0"/>
          <c:showVal val="0"/>
          <c:showCatName val="0"/>
          <c:showSerName val="0"/>
          <c:showPercent val="0"/>
          <c:showBubbleSize val="0"/>
        </c:dLbls>
        <c:gapWidth val="150"/>
        <c:axId val="864831904"/>
        <c:axId val="864837664"/>
      </c:barChart>
      <c:lineChart>
        <c:grouping val="standard"/>
        <c:varyColors val="0"/>
        <c:ser>
          <c:idx val="4"/>
          <c:order val="0"/>
          <c:tx>
            <c:strRef>
              <c:f>'S-Curve-PSS11'!$A$10</c:f>
              <c:strCache>
                <c:ptCount val="1"/>
                <c:pt idx="0">
                  <c:v>Planned</c:v>
                </c:pt>
              </c:strCache>
            </c:strRef>
          </c:tx>
          <c:spPr>
            <a:ln w="28575" cap="rnd">
              <a:solidFill>
                <a:srgbClr val="00B0F0"/>
              </a:solidFill>
              <a:round/>
            </a:ln>
            <a:effectLst/>
          </c:spPr>
          <c:marker>
            <c:symbol val="none"/>
          </c:marker>
          <c:dLbls>
            <c:dLbl>
              <c:idx val="7"/>
              <c:layout>
                <c:manualLayout>
                  <c:x val="-2.9899970774688762E-2"/>
                  <c:y val="-6.297284660419909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70C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C53-4894-9239-951DB86E783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'S-Curve-PSS11'!$B$9:$M$9</c:f>
              <c:numCache>
                <c:formatCode>[$-409]mmm/yy;@</c:formatCode>
                <c:ptCount val="12"/>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numCache>
            </c:numRef>
          </c:cat>
          <c:val>
            <c:numRef>
              <c:f>'S-Curve-PSS11'!$B$10:$M$10</c:f>
              <c:numCache>
                <c:formatCode>0.00%</c:formatCode>
                <c:ptCount val="12"/>
                <c:pt idx="0">
                  <c:v>0</c:v>
                </c:pt>
                <c:pt idx="1">
                  <c:v>0.1188</c:v>
                </c:pt>
                <c:pt idx="2">
                  <c:v>0.1399</c:v>
                </c:pt>
                <c:pt idx="3">
                  <c:v>0.19209999999999999</c:v>
                </c:pt>
                <c:pt idx="4">
                  <c:v>0.2452</c:v>
                </c:pt>
                <c:pt idx="5">
                  <c:v>0.44040000000000001</c:v>
                </c:pt>
                <c:pt idx="6">
                  <c:v>0.63590000000000002</c:v>
                </c:pt>
                <c:pt idx="7">
                  <c:v>0.79059999999999997</c:v>
                </c:pt>
                <c:pt idx="8">
                  <c:v>0.92300000000000004</c:v>
                </c:pt>
                <c:pt idx="9">
                  <c:v>0.9647</c:v>
                </c:pt>
                <c:pt idx="10">
                  <c:v>0.98180000000000001</c:v>
                </c:pt>
                <c:pt idx="11">
                  <c:v>1</c:v>
                </c:pt>
              </c:numCache>
            </c:numRef>
          </c:val>
          <c:smooth val="0"/>
          <c:extLst>
            <c:ext xmlns:c16="http://schemas.microsoft.com/office/drawing/2014/chart" uri="{C3380CC4-5D6E-409C-BE32-E72D297353CC}">
              <c16:uniqueId val="{00000003-5C53-4894-9239-951DB86E783C}"/>
            </c:ext>
          </c:extLst>
        </c:ser>
        <c:ser>
          <c:idx val="5"/>
          <c:order val="1"/>
          <c:tx>
            <c:strRef>
              <c:f>'S-Curve-PSS11'!$A$11</c:f>
              <c:strCache>
                <c:ptCount val="1"/>
                <c:pt idx="0">
                  <c:v>Actual</c:v>
                </c:pt>
              </c:strCache>
            </c:strRef>
          </c:tx>
          <c:spPr>
            <a:ln w="28575" cap="rnd">
              <a:solidFill>
                <a:srgbClr val="92D050"/>
              </a:solidFill>
              <a:round/>
            </a:ln>
            <a:effectLst/>
          </c:spPr>
          <c:marker>
            <c:symbol val="none"/>
          </c:marker>
          <c:dLbls>
            <c:dLbl>
              <c:idx val="7"/>
              <c:layout>
                <c:manualLayout>
                  <c:x val="9.3132800989421087E-5"/>
                  <c:y val="-4.752923493928657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5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C53-4894-9239-951DB86E783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'S-Curve-PSS11'!$B$9:$M$9</c:f>
              <c:numCache>
                <c:formatCode>[$-409]mmm/yy;@</c:formatCode>
                <c:ptCount val="12"/>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numCache>
            </c:numRef>
          </c:cat>
          <c:val>
            <c:numRef>
              <c:f>'S-Curve-PSS11'!$B$11:$I$11</c:f>
              <c:numCache>
                <c:formatCode>0.00%</c:formatCode>
                <c:ptCount val="8"/>
                <c:pt idx="0">
                  <c:v>0</c:v>
                </c:pt>
                <c:pt idx="1">
                  <c:v>3.6499999999999998E-2</c:v>
                </c:pt>
                <c:pt idx="2">
                  <c:v>0.13619999999999999</c:v>
                </c:pt>
                <c:pt idx="3">
                  <c:v>0.20760000000000001</c:v>
                </c:pt>
                <c:pt idx="4">
                  <c:v>0.251</c:v>
                </c:pt>
                <c:pt idx="5">
                  <c:v>0.30130000000000001</c:v>
                </c:pt>
                <c:pt idx="6">
                  <c:v>0.39882041502948962</c:v>
                </c:pt>
                <c:pt idx="7">
                  <c:v>0.47534905061627375</c:v>
                </c:pt>
              </c:numCache>
            </c:numRef>
          </c:val>
          <c:smooth val="0"/>
          <c:extLst>
            <c:ext xmlns:c16="http://schemas.microsoft.com/office/drawing/2014/chart" uri="{C3380CC4-5D6E-409C-BE32-E72D297353CC}">
              <c16:uniqueId val="{00000005-5C53-4894-9239-951DB86E783C}"/>
            </c:ext>
          </c:extLst>
        </c:ser>
        <c:dLbls>
          <c:showLegendKey val="0"/>
          <c:showVal val="0"/>
          <c:showCatName val="0"/>
          <c:showSerName val="0"/>
          <c:showPercent val="0"/>
          <c:showBubbleSize val="0"/>
        </c:dLbls>
        <c:marker val="1"/>
        <c:smooth val="0"/>
        <c:axId val="1581861120"/>
        <c:axId val="1581862560"/>
      </c:lineChart>
      <c:catAx>
        <c:axId val="1581861120"/>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2560"/>
        <c:crosses val="autoZero"/>
        <c:auto val="0"/>
        <c:lblAlgn val="ctr"/>
        <c:lblOffset val="100"/>
        <c:noMultiLvlLbl val="0"/>
      </c:catAx>
      <c:valAx>
        <c:axId val="158186256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1120"/>
        <c:crosses val="autoZero"/>
        <c:crossBetween val="between"/>
        <c:majorUnit val="0.2"/>
      </c:valAx>
      <c:valAx>
        <c:axId val="864837664"/>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4831904"/>
        <c:crosses val="max"/>
        <c:crossBetween val="between"/>
      </c:valAx>
      <c:dateAx>
        <c:axId val="864831904"/>
        <c:scaling>
          <c:orientation val="minMax"/>
        </c:scaling>
        <c:delete val="1"/>
        <c:axPos val="b"/>
        <c:numFmt formatCode="[$-409]mmm/yy;@" sourceLinked="1"/>
        <c:majorTickMark val="out"/>
        <c:minorTickMark val="none"/>
        <c:tickLblPos val="nextTo"/>
        <c:crossAx val="864837664"/>
        <c:crosses val="autoZero"/>
        <c:auto val="1"/>
        <c:lblOffset val="100"/>
        <c:baseTimeUnit val="months"/>
      </c:date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96496193776837E-2"/>
          <c:y val="4.6546676791549377E-2"/>
          <c:w val="0.87994411611688861"/>
          <c:h val="0.56310981173746144"/>
        </c:manualLayout>
      </c:layout>
      <c:barChart>
        <c:barDir val="col"/>
        <c:grouping val="clustered"/>
        <c:varyColors val="0"/>
        <c:ser>
          <c:idx val="6"/>
          <c:order val="2"/>
          <c:tx>
            <c:strRef>
              <c:f>'S-Curve-PSS12'!$A$12</c:f>
              <c:strCache>
                <c:ptCount val="1"/>
                <c:pt idx="0">
                  <c:v>Monthly Plan</c:v>
                </c:pt>
              </c:strCache>
            </c:strRef>
          </c:tx>
          <c:spPr>
            <a:solidFill>
              <a:srgbClr val="00B0F0"/>
            </a:solidFill>
            <a:ln>
              <a:noFill/>
            </a:ln>
            <a:effectLst/>
          </c:spPr>
          <c:invertIfNegative val="0"/>
          <c:cat>
            <c:numRef>
              <c:f>'S-Curve-PSS12'!$B$9:$R$9</c:f>
              <c:numCache>
                <c:formatCode>[$-409]mmm/yy;@</c:formatCode>
                <c:ptCount val="17"/>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pt idx="12">
                  <c:v>46296</c:v>
                </c:pt>
                <c:pt idx="13">
                  <c:v>46327</c:v>
                </c:pt>
                <c:pt idx="14">
                  <c:v>46357</c:v>
                </c:pt>
                <c:pt idx="15">
                  <c:v>46388</c:v>
                </c:pt>
                <c:pt idx="16">
                  <c:v>46419</c:v>
                </c:pt>
              </c:numCache>
            </c:numRef>
          </c:cat>
          <c:val>
            <c:numRef>
              <c:f>'S-Curve-PSS12'!$B$12:$R$12</c:f>
              <c:numCache>
                <c:formatCode>0.00%</c:formatCode>
                <c:ptCount val="17"/>
                <c:pt idx="0">
                  <c:v>0</c:v>
                </c:pt>
                <c:pt idx="1">
                  <c:v>6.6699999999999995E-2</c:v>
                </c:pt>
                <c:pt idx="2">
                  <c:v>1.06E-2</c:v>
                </c:pt>
                <c:pt idx="3">
                  <c:v>4.7699999999999999E-2</c:v>
                </c:pt>
                <c:pt idx="4">
                  <c:v>8.48E-2</c:v>
                </c:pt>
                <c:pt idx="5">
                  <c:v>0.1653</c:v>
                </c:pt>
                <c:pt idx="6">
                  <c:v>0.1739</c:v>
                </c:pt>
                <c:pt idx="7">
                  <c:v>0.1164</c:v>
                </c:pt>
                <c:pt idx="8">
                  <c:v>5.6500000000000002E-2</c:v>
                </c:pt>
                <c:pt idx="9">
                  <c:v>9.3399999999999997E-2</c:v>
                </c:pt>
                <c:pt idx="10">
                  <c:v>8.48E-2</c:v>
                </c:pt>
                <c:pt idx="11">
                  <c:v>5.9999999999999995E-4</c:v>
                </c:pt>
                <c:pt idx="12">
                  <c:v>1.2999999999999999E-3</c:v>
                </c:pt>
                <c:pt idx="13">
                  <c:v>1.0999999999999999E-2</c:v>
                </c:pt>
                <c:pt idx="14">
                  <c:v>5.2299999999999999E-2</c:v>
                </c:pt>
                <c:pt idx="15">
                  <c:v>2.1899999999999999E-2</c:v>
                </c:pt>
                <c:pt idx="16">
                  <c:v>1.29E-2</c:v>
                </c:pt>
              </c:numCache>
            </c:numRef>
          </c:val>
          <c:extLst>
            <c:ext xmlns:c16="http://schemas.microsoft.com/office/drawing/2014/chart" uri="{C3380CC4-5D6E-409C-BE32-E72D297353CC}">
              <c16:uniqueId val="{00000000-6D03-4661-BAC5-A4041972DC2F}"/>
            </c:ext>
          </c:extLst>
        </c:ser>
        <c:ser>
          <c:idx val="7"/>
          <c:order val="3"/>
          <c:tx>
            <c:strRef>
              <c:f>'S-Curve-PSS12'!$A$13</c:f>
              <c:strCache>
                <c:ptCount val="1"/>
                <c:pt idx="0">
                  <c:v>Monthly Actual</c:v>
                </c:pt>
              </c:strCache>
            </c:strRef>
          </c:tx>
          <c:spPr>
            <a:solidFill>
              <a:srgbClr val="92D050"/>
            </a:solidFill>
            <a:ln>
              <a:noFill/>
            </a:ln>
            <a:effectLst/>
          </c:spPr>
          <c:invertIfNegative val="0"/>
          <c:cat>
            <c:numRef>
              <c:f>'S-Curve-PSS12'!$B$9:$R$9</c:f>
              <c:numCache>
                <c:formatCode>[$-409]mmm/yy;@</c:formatCode>
                <c:ptCount val="17"/>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pt idx="12">
                  <c:v>46296</c:v>
                </c:pt>
                <c:pt idx="13">
                  <c:v>46327</c:v>
                </c:pt>
                <c:pt idx="14">
                  <c:v>46357</c:v>
                </c:pt>
                <c:pt idx="15">
                  <c:v>46388</c:v>
                </c:pt>
                <c:pt idx="16">
                  <c:v>46419</c:v>
                </c:pt>
              </c:numCache>
            </c:numRef>
          </c:cat>
          <c:val>
            <c:numRef>
              <c:f>'S-Curve-PSS12'!$B$13:$I$13</c:f>
              <c:numCache>
                <c:formatCode>0.00%</c:formatCode>
                <c:ptCount val="8"/>
                <c:pt idx="0">
                  <c:v>0</c:v>
                </c:pt>
                <c:pt idx="1">
                  <c:v>4.2200000000000001E-2</c:v>
                </c:pt>
                <c:pt idx="2">
                  <c:v>6.0100000000000001E-2</c:v>
                </c:pt>
                <c:pt idx="3">
                  <c:v>5.7000000000000002E-2</c:v>
                </c:pt>
                <c:pt idx="4">
                  <c:v>5.62E-2</c:v>
                </c:pt>
                <c:pt idx="5">
                  <c:v>4.1000000000000002E-2</c:v>
                </c:pt>
                <c:pt idx="6">
                  <c:v>5.1755787499999997E-2</c:v>
                </c:pt>
                <c:pt idx="7">
                  <c:v>6.5152025000000002E-2</c:v>
                </c:pt>
              </c:numCache>
            </c:numRef>
          </c:val>
          <c:extLst>
            <c:ext xmlns:c16="http://schemas.microsoft.com/office/drawing/2014/chart" uri="{C3380CC4-5D6E-409C-BE32-E72D297353CC}">
              <c16:uniqueId val="{00000001-6D03-4661-BAC5-A4041972DC2F}"/>
            </c:ext>
          </c:extLst>
        </c:ser>
        <c:dLbls>
          <c:showLegendKey val="0"/>
          <c:showVal val="0"/>
          <c:showCatName val="0"/>
          <c:showSerName val="0"/>
          <c:showPercent val="0"/>
          <c:showBubbleSize val="0"/>
        </c:dLbls>
        <c:gapWidth val="150"/>
        <c:axId val="538706448"/>
        <c:axId val="538721328"/>
      </c:barChart>
      <c:lineChart>
        <c:grouping val="standard"/>
        <c:varyColors val="0"/>
        <c:ser>
          <c:idx val="4"/>
          <c:order val="0"/>
          <c:tx>
            <c:strRef>
              <c:f>'S-Curve-PSS12'!$A$10</c:f>
              <c:strCache>
                <c:ptCount val="1"/>
                <c:pt idx="0">
                  <c:v>Cumm. Planned</c:v>
                </c:pt>
              </c:strCache>
            </c:strRef>
          </c:tx>
          <c:spPr>
            <a:ln w="28575" cap="rnd">
              <a:solidFill>
                <a:srgbClr val="00B0F0"/>
              </a:solidFill>
              <a:round/>
            </a:ln>
            <a:effectLst/>
          </c:spPr>
          <c:marker>
            <c:symbol val="none"/>
          </c:marker>
          <c:dLbls>
            <c:dLbl>
              <c:idx val="7"/>
              <c:layout>
                <c:manualLayout>
                  <c:x val="-2.4691355357748683E-2"/>
                  <c:y val="-3.249701705530457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70C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D03-4661-BAC5-A4041972DC2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'S-Curve-PSS12'!$B$9:$R$9</c:f>
              <c:numCache>
                <c:formatCode>[$-409]mmm/yy;@</c:formatCode>
                <c:ptCount val="17"/>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pt idx="12">
                  <c:v>46296</c:v>
                </c:pt>
                <c:pt idx="13">
                  <c:v>46327</c:v>
                </c:pt>
                <c:pt idx="14">
                  <c:v>46357</c:v>
                </c:pt>
                <c:pt idx="15">
                  <c:v>46388</c:v>
                </c:pt>
                <c:pt idx="16">
                  <c:v>46419</c:v>
                </c:pt>
              </c:numCache>
            </c:numRef>
          </c:cat>
          <c:val>
            <c:numRef>
              <c:f>'S-Curve-PSS12'!$B$10:$R$10</c:f>
              <c:numCache>
                <c:formatCode>0.00%</c:formatCode>
                <c:ptCount val="17"/>
                <c:pt idx="0">
                  <c:v>0</c:v>
                </c:pt>
                <c:pt idx="1">
                  <c:v>6.6699999999999995E-2</c:v>
                </c:pt>
                <c:pt idx="2">
                  <c:v>7.7200000000000005E-2</c:v>
                </c:pt>
                <c:pt idx="3">
                  <c:v>0.1249</c:v>
                </c:pt>
                <c:pt idx="4">
                  <c:v>0.20960000000000001</c:v>
                </c:pt>
                <c:pt idx="5">
                  <c:v>0.37490000000000001</c:v>
                </c:pt>
                <c:pt idx="6">
                  <c:v>0.54879999999999995</c:v>
                </c:pt>
                <c:pt idx="7">
                  <c:v>0.6653</c:v>
                </c:pt>
                <c:pt idx="8">
                  <c:v>0.7218</c:v>
                </c:pt>
                <c:pt idx="9">
                  <c:v>0.81510000000000005</c:v>
                </c:pt>
                <c:pt idx="10">
                  <c:v>0.89990000000000003</c:v>
                </c:pt>
                <c:pt idx="11">
                  <c:v>0.90059999999999996</c:v>
                </c:pt>
                <c:pt idx="12">
                  <c:v>0.90190000000000003</c:v>
                </c:pt>
                <c:pt idx="13">
                  <c:v>0.91290000000000004</c:v>
                </c:pt>
                <c:pt idx="14">
                  <c:v>0.96519999999999995</c:v>
                </c:pt>
                <c:pt idx="15">
                  <c:v>0.98709999999999998</c:v>
                </c:pt>
                <c:pt idx="16">
                  <c:v>1</c:v>
                </c:pt>
              </c:numCache>
            </c:numRef>
          </c:val>
          <c:smooth val="0"/>
          <c:extLst>
            <c:ext xmlns:c16="http://schemas.microsoft.com/office/drawing/2014/chart" uri="{C3380CC4-5D6E-409C-BE32-E72D297353CC}">
              <c16:uniqueId val="{00000003-6D03-4661-BAC5-A4041972DC2F}"/>
            </c:ext>
          </c:extLst>
        </c:ser>
        <c:ser>
          <c:idx val="5"/>
          <c:order val="1"/>
          <c:tx>
            <c:strRef>
              <c:f>'S-Curve-PSS12'!$A$11</c:f>
              <c:strCache>
                <c:ptCount val="1"/>
                <c:pt idx="0">
                  <c:v>Cumm. Actual</c:v>
                </c:pt>
              </c:strCache>
            </c:strRef>
          </c:tx>
          <c:spPr>
            <a:ln w="28575" cap="rnd">
              <a:solidFill>
                <a:srgbClr val="92D050"/>
              </a:solidFill>
              <a:round/>
            </a:ln>
            <a:effectLst/>
          </c:spPr>
          <c:marker>
            <c:symbol val="none"/>
          </c:marker>
          <c:dLbls>
            <c:dLbl>
              <c:idx val="7"/>
              <c:layout>
                <c:manualLayout>
                  <c:x val="-4.1152258929581138E-3"/>
                  <c:y val="-2.9247315349774095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5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D03-4661-BAC5-A4041972DC2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'S-Curve-PSS12'!$B$9:$R$9</c:f>
              <c:numCache>
                <c:formatCode>[$-409]mmm/yy;@</c:formatCode>
                <c:ptCount val="17"/>
                <c:pt idx="0">
                  <c:v>45931</c:v>
                </c:pt>
                <c:pt idx="1">
                  <c:v>45962</c:v>
                </c:pt>
                <c:pt idx="2">
                  <c:v>45992</c:v>
                </c:pt>
                <c:pt idx="3">
                  <c:v>46023</c:v>
                </c:pt>
                <c:pt idx="4">
                  <c:v>46054</c:v>
                </c:pt>
                <c:pt idx="5">
                  <c:v>46082</c:v>
                </c:pt>
                <c:pt idx="6">
                  <c:v>46113</c:v>
                </c:pt>
                <c:pt idx="7">
                  <c:v>46143</c:v>
                </c:pt>
                <c:pt idx="8">
                  <c:v>46174</c:v>
                </c:pt>
                <c:pt idx="9">
                  <c:v>46204</c:v>
                </c:pt>
                <c:pt idx="10">
                  <c:v>46235</c:v>
                </c:pt>
                <c:pt idx="11">
                  <c:v>46266</c:v>
                </c:pt>
                <c:pt idx="12">
                  <c:v>46296</c:v>
                </c:pt>
                <c:pt idx="13">
                  <c:v>46327</c:v>
                </c:pt>
                <c:pt idx="14">
                  <c:v>46357</c:v>
                </c:pt>
                <c:pt idx="15">
                  <c:v>46388</c:v>
                </c:pt>
                <c:pt idx="16">
                  <c:v>46419</c:v>
                </c:pt>
              </c:numCache>
            </c:numRef>
          </c:cat>
          <c:val>
            <c:numRef>
              <c:f>'S-Curve-PSS12'!$B$11:$I$11</c:f>
              <c:numCache>
                <c:formatCode>0.00%</c:formatCode>
                <c:ptCount val="8"/>
                <c:pt idx="0">
                  <c:v>0</c:v>
                </c:pt>
                <c:pt idx="1">
                  <c:v>4.2200000000000001E-2</c:v>
                </c:pt>
                <c:pt idx="2">
                  <c:v>0.1023</c:v>
                </c:pt>
                <c:pt idx="3">
                  <c:v>0.15920000000000001</c:v>
                </c:pt>
                <c:pt idx="4">
                  <c:v>0.21540000000000001</c:v>
                </c:pt>
                <c:pt idx="5">
                  <c:v>0.25640000000000002</c:v>
                </c:pt>
                <c:pt idx="6">
                  <c:v>0.31572391249999998</c:v>
                </c:pt>
                <c:pt idx="7">
                  <c:v>0.39754634999999999</c:v>
                </c:pt>
              </c:numCache>
            </c:numRef>
          </c:val>
          <c:smooth val="0"/>
          <c:extLst>
            <c:ext xmlns:c16="http://schemas.microsoft.com/office/drawing/2014/chart" uri="{C3380CC4-5D6E-409C-BE32-E72D297353CC}">
              <c16:uniqueId val="{00000005-6D03-4661-BAC5-A4041972DC2F}"/>
            </c:ext>
          </c:extLst>
        </c:ser>
        <c:dLbls>
          <c:showLegendKey val="0"/>
          <c:showVal val="0"/>
          <c:showCatName val="0"/>
          <c:showSerName val="0"/>
          <c:showPercent val="0"/>
          <c:showBubbleSize val="0"/>
        </c:dLbls>
        <c:marker val="1"/>
        <c:smooth val="0"/>
        <c:axId val="1581861120"/>
        <c:axId val="1581862560"/>
      </c:lineChart>
      <c:catAx>
        <c:axId val="1581861120"/>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2560"/>
        <c:crosses val="autoZero"/>
        <c:auto val="0"/>
        <c:lblAlgn val="ctr"/>
        <c:lblOffset val="100"/>
        <c:noMultiLvlLbl val="0"/>
      </c:catAx>
      <c:valAx>
        <c:axId val="1581862560"/>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1120"/>
        <c:crosses val="autoZero"/>
        <c:crossBetween val="between"/>
        <c:majorUnit val="0.2"/>
      </c:valAx>
      <c:valAx>
        <c:axId val="538721328"/>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8706448"/>
        <c:crosses val="max"/>
        <c:crossBetween val="between"/>
        <c:majorUnit val="5.000000000000001E-2"/>
      </c:valAx>
      <c:dateAx>
        <c:axId val="538706448"/>
        <c:scaling>
          <c:orientation val="minMax"/>
        </c:scaling>
        <c:delete val="1"/>
        <c:axPos val="b"/>
        <c:numFmt formatCode="[$-409]mmm/yy;@" sourceLinked="1"/>
        <c:majorTickMark val="out"/>
        <c:minorTickMark val="none"/>
        <c:tickLblPos val="nextTo"/>
        <c:crossAx val="538721328"/>
        <c:crosses val="autoZero"/>
        <c:auto val="1"/>
        <c:lblOffset val="100"/>
        <c:baseTimeUnit val="months"/>
      </c:date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791657167575654E-2"/>
          <c:y val="4.962389834043978E-2"/>
          <c:w val="0.87994411611688861"/>
          <c:h val="0.56310981173746144"/>
        </c:manualLayout>
      </c:layout>
      <c:barChart>
        <c:barDir val="col"/>
        <c:grouping val="clustered"/>
        <c:varyColors val="0"/>
        <c:ser>
          <c:idx val="6"/>
          <c:order val="2"/>
          <c:tx>
            <c:strRef>
              <c:f>'S-Curve-PSS10B'!$A$12</c:f>
              <c:strCache>
                <c:ptCount val="1"/>
                <c:pt idx="0">
                  <c:v>Monthly Plan</c:v>
                </c:pt>
              </c:strCache>
            </c:strRef>
          </c:tx>
          <c:spPr>
            <a:solidFill>
              <a:srgbClr val="00B0F0"/>
            </a:solidFill>
            <a:ln>
              <a:noFill/>
            </a:ln>
            <a:effectLst/>
          </c:spPr>
          <c:invertIfNegative val="0"/>
          <c:cat>
            <c:numRef>
              <c:f>'S-Curve-PSS10B'!$B$9:$N$9</c:f>
              <c:numCache>
                <c:formatCode>[$-409]mmm/yy;@</c:formatCode>
                <c:ptCount val="13"/>
                <c:pt idx="0">
                  <c:v>45962</c:v>
                </c:pt>
                <c:pt idx="1">
                  <c:v>45962</c:v>
                </c:pt>
                <c:pt idx="2">
                  <c:v>45992</c:v>
                </c:pt>
                <c:pt idx="3">
                  <c:v>46023</c:v>
                </c:pt>
                <c:pt idx="4">
                  <c:v>46054</c:v>
                </c:pt>
                <c:pt idx="5">
                  <c:v>46082</c:v>
                </c:pt>
                <c:pt idx="6">
                  <c:v>46113</c:v>
                </c:pt>
                <c:pt idx="7">
                  <c:v>46143</c:v>
                </c:pt>
                <c:pt idx="8">
                  <c:v>46174</c:v>
                </c:pt>
                <c:pt idx="9">
                  <c:v>46204</c:v>
                </c:pt>
                <c:pt idx="10">
                  <c:v>46235</c:v>
                </c:pt>
                <c:pt idx="11">
                  <c:v>46266</c:v>
                </c:pt>
                <c:pt idx="12">
                  <c:v>46296</c:v>
                </c:pt>
              </c:numCache>
            </c:numRef>
          </c:cat>
          <c:val>
            <c:numRef>
              <c:f>'S-Curve-PSS10B'!$B$12:$N$12</c:f>
              <c:numCache>
                <c:formatCode>0.00%</c:formatCode>
                <c:ptCount val="13"/>
                <c:pt idx="0">
                  <c:v>0</c:v>
                </c:pt>
                <c:pt idx="1">
                  <c:v>0.12620000000000001</c:v>
                </c:pt>
                <c:pt idx="2">
                  <c:v>8.0999999999999996E-3</c:v>
                </c:pt>
                <c:pt idx="3">
                  <c:v>3.3500000000000002E-2</c:v>
                </c:pt>
                <c:pt idx="4">
                  <c:v>4.1099999999999998E-2</c:v>
                </c:pt>
                <c:pt idx="5">
                  <c:v>0.16020000000000001</c:v>
                </c:pt>
                <c:pt idx="6">
                  <c:v>0.21659999999999999</c:v>
                </c:pt>
                <c:pt idx="7">
                  <c:v>0.1169</c:v>
                </c:pt>
                <c:pt idx="8">
                  <c:v>5.2499999999999998E-2</c:v>
                </c:pt>
                <c:pt idx="9">
                  <c:v>7.5999999999999998E-2</c:v>
                </c:pt>
                <c:pt idx="10">
                  <c:v>9.2399999999999996E-2</c:v>
                </c:pt>
                <c:pt idx="11">
                  <c:v>5.67E-2</c:v>
                </c:pt>
                <c:pt idx="12">
                  <c:v>1.9800000000000002E-2</c:v>
                </c:pt>
              </c:numCache>
            </c:numRef>
          </c:val>
          <c:extLst>
            <c:ext xmlns:c16="http://schemas.microsoft.com/office/drawing/2014/chart" uri="{C3380CC4-5D6E-409C-BE32-E72D297353CC}">
              <c16:uniqueId val="{00000000-D140-4C9B-AD76-A3CD84590A2B}"/>
            </c:ext>
          </c:extLst>
        </c:ser>
        <c:ser>
          <c:idx val="7"/>
          <c:order val="3"/>
          <c:tx>
            <c:strRef>
              <c:f>'S-Curve-PSS10B'!$A$13</c:f>
              <c:strCache>
                <c:ptCount val="1"/>
                <c:pt idx="0">
                  <c:v>Monthly Actual</c:v>
                </c:pt>
              </c:strCache>
            </c:strRef>
          </c:tx>
          <c:spPr>
            <a:solidFill>
              <a:srgbClr val="92D050"/>
            </a:solidFill>
            <a:ln>
              <a:noFill/>
            </a:ln>
            <a:effectLst/>
          </c:spPr>
          <c:invertIfNegative val="0"/>
          <c:cat>
            <c:numRef>
              <c:f>'S-Curve-PSS10B'!$B$9:$N$9</c:f>
              <c:numCache>
                <c:formatCode>[$-409]mmm/yy;@</c:formatCode>
                <c:ptCount val="13"/>
                <c:pt idx="0">
                  <c:v>45962</c:v>
                </c:pt>
                <c:pt idx="1">
                  <c:v>45962</c:v>
                </c:pt>
                <c:pt idx="2">
                  <c:v>45992</c:v>
                </c:pt>
                <c:pt idx="3">
                  <c:v>46023</c:v>
                </c:pt>
                <c:pt idx="4">
                  <c:v>46054</c:v>
                </c:pt>
                <c:pt idx="5">
                  <c:v>46082</c:v>
                </c:pt>
                <c:pt idx="6">
                  <c:v>46113</c:v>
                </c:pt>
                <c:pt idx="7">
                  <c:v>46143</c:v>
                </c:pt>
                <c:pt idx="8">
                  <c:v>46174</c:v>
                </c:pt>
                <c:pt idx="9">
                  <c:v>46204</c:v>
                </c:pt>
                <c:pt idx="10">
                  <c:v>46235</c:v>
                </c:pt>
                <c:pt idx="11">
                  <c:v>46266</c:v>
                </c:pt>
                <c:pt idx="12">
                  <c:v>46296</c:v>
                </c:pt>
              </c:numCache>
            </c:numRef>
          </c:cat>
          <c:val>
            <c:numRef>
              <c:f>'S-Curve-PSS10B'!$B$13:$I$13</c:f>
              <c:numCache>
                <c:formatCode>0.00%</c:formatCode>
                <c:ptCount val="8"/>
                <c:pt idx="0">
                  <c:v>0</c:v>
                </c:pt>
                <c:pt idx="1">
                  <c:v>3.04E-2</c:v>
                </c:pt>
                <c:pt idx="2">
                  <c:v>7.2400000000000006E-2</c:v>
                </c:pt>
                <c:pt idx="3">
                  <c:v>7.1999999999999995E-2</c:v>
                </c:pt>
                <c:pt idx="4">
                  <c:v>3.7499999999999999E-2</c:v>
                </c:pt>
                <c:pt idx="5">
                  <c:v>3.9E-2</c:v>
                </c:pt>
                <c:pt idx="6">
                  <c:v>3.5317037500000002E-2</c:v>
                </c:pt>
                <c:pt idx="7">
                  <c:v>5.5017925000000002E-2</c:v>
                </c:pt>
              </c:numCache>
            </c:numRef>
          </c:val>
          <c:extLst>
            <c:ext xmlns:c16="http://schemas.microsoft.com/office/drawing/2014/chart" uri="{C3380CC4-5D6E-409C-BE32-E72D297353CC}">
              <c16:uniqueId val="{00000001-D140-4C9B-AD76-A3CD84590A2B}"/>
            </c:ext>
          </c:extLst>
        </c:ser>
        <c:dLbls>
          <c:showLegendKey val="0"/>
          <c:showVal val="0"/>
          <c:showCatName val="0"/>
          <c:showSerName val="0"/>
          <c:showPercent val="0"/>
          <c:showBubbleSize val="0"/>
        </c:dLbls>
        <c:gapWidth val="150"/>
        <c:axId val="1315637071"/>
        <c:axId val="1315630831"/>
      </c:barChart>
      <c:lineChart>
        <c:grouping val="standard"/>
        <c:varyColors val="0"/>
        <c:ser>
          <c:idx val="4"/>
          <c:order val="0"/>
          <c:tx>
            <c:strRef>
              <c:f>'S-Curve-PSS10B'!$A$10</c:f>
              <c:strCache>
                <c:ptCount val="1"/>
                <c:pt idx="0">
                  <c:v>Cumm. Planned</c:v>
                </c:pt>
              </c:strCache>
            </c:strRef>
          </c:tx>
          <c:spPr>
            <a:ln w="28575" cap="rnd">
              <a:solidFill>
                <a:srgbClr val="00B0F0"/>
              </a:solidFill>
              <a:round/>
            </a:ln>
            <a:effectLst/>
          </c:spPr>
          <c:marker>
            <c:symbol val="none"/>
          </c:marker>
          <c:dLbls>
            <c:dLbl>
              <c:idx val="7"/>
              <c:layout>
                <c:manualLayout>
                  <c:x val="-1.154401154401165E-2"/>
                  <c:y val="-3.546099290780144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70C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140-4C9B-AD76-A3CD84590A2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'S-Curve-PSS10B'!$B$9:$N$9</c:f>
              <c:numCache>
                <c:formatCode>[$-409]mmm/yy;@</c:formatCode>
                <c:ptCount val="13"/>
                <c:pt idx="0">
                  <c:v>45962</c:v>
                </c:pt>
                <c:pt idx="1">
                  <c:v>45962</c:v>
                </c:pt>
                <c:pt idx="2">
                  <c:v>45992</c:v>
                </c:pt>
                <c:pt idx="3">
                  <c:v>46023</c:v>
                </c:pt>
                <c:pt idx="4">
                  <c:v>46054</c:v>
                </c:pt>
                <c:pt idx="5">
                  <c:v>46082</c:v>
                </c:pt>
                <c:pt idx="6">
                  <c:v>46113</c:v>
                </c:pt>
                <c:pt idx="7">
                  <c:v>46143</c:v>
                </c:pt>
                <c:pt idx="8">
                  <c:v>46174</c:v>
                </c:pt>
                <c:pt idx="9">
                  <c:v>46204</c:v>
                </c:pt>
                <c:pt idx="10">
                  <c:v>46235</c:v>
                </c:pt>
                <c:pt idx="11">
                  <c:v>46266</c:v>
                </c:pt>
                <c:pt idx="12">
                  <c:v>46296</c:v>
                </c:pt>
              </c:numCache>
            </c:numRef>
          </c:cat>
          <c:val>
            <c:numRef>
              <c:f>'S-Curve-PSS10B'!$B$10:$N$10</c:f>
              <c:numCache>
                <c:formatCode>0.00%</c:formatCode>
                <c:ptCount val="13"/>
                <c:pt idx="0">
                  <c:v>0</c:v>
                </c:pt>
                <c:pt idx="1">
                  <c:v>0.12620000000000001</c:v>
                </c:pt>
                <c:pt idx="2">
                  <c:v>0.13439999999999999</c:v>
                </c:pt>
                <c:pt idx="3">
                  <c:v>0.16789999999999999</c:v>
                </c:pt>
                <c:pt idx="4">
                  <c:v>0.20899999999999999</c:v>
                </c:pt>
                <c:pt idx="5">
                  <c:v>0.36919999999999997</c:v>
                </c:pt>
                <c:pt idx="6">
                  <c:v>0.58579999999999999</c:v>
                </c:pt>
                <c:pt idx="7">
                  <c:v>0.70269999999999999</c:v>
                </c:pt>
                <c:pt idx="8">
                  <c:v>0.75509999999999999</c:v>
                </c:pt>
                <c:pt idx="9">
                  <c:v>0.83109999999999995</c:v>
                </c:pt>
                <c:pt idx="10">
                  <c:v>0.92359999999999998</c:v>
                </c:pt>
                <c:pt idx="11">
                  <c:v>0.98019999999999996</c:v>
                </c:pt>
                <c:pt idx="12">
                  <c:v>1</c:v>
                </c:pt>
              </c:numCache>
            </c:numRef>
          </c:val>
          <c:smooth val="0"/>
          <c:extLst>
            <c:ext xmlns:c16="http://schemas.microsoft.com/office/drawing/2014/chart" uri="{C3380CC4-5D6E-409C-BE32-E72D297353CC}">
              <c16:uniqueId val="{00000003-D140-4C9B-AD76-A3CD84590A2B}"/>
            </c:ext>
          </c:extLst>
        </c:ser>
        <c:ser>
          <c:idx val="5"/>
          <c:order val="1"/>
          <c:tx>
            <c:strRef>
              <c:f>'S-Curve-PSS10B'!$A$11</c:f>
              <c:strCache>
                <c:ptCount val="1"/>
                <c:pt idx="0">
                  <c:v>Cumm. Actual</c:v>
                </c:pt>
              </c:strCache>
            </c:strRef>
          </c:tx>
          <c:spPr>
            <a:ln w="28575" cap="rnd">
              <a:solidFill>
                <a:srgbClr val="92D050"/>
              </a:solidFill>
              <a:round/>
            </a:ln>
            <a:effectLst/>
          </c:spPr>
          <c:marker>
            <c:symbol val="none"/>
          </c:marker>
          <c:dLbls>
            <c:dLbl>
              <c:idx val="7"/>
              <c:layout>
                <c:manualLayout>
                  <c:x val="-7.215007215007215E-3"/>
                  <c:y val="-2.482269503546092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5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140-4C9B-AD76-A3CD84590A2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'S-Curve-PSS10B'!$B$9:$N$9</c:f>
              <c:numCache>
                <c:formatCode>[$-409]mmm/yy;@</c:formatCode>
                <c:ptCount val="13"/>
                <c:pt idx="0">
                  <c:v>45962</c:v>
                </c:pt>
                <c:pt idx="1">
                  <c:v>45962</c:v>
                </c:pt>
                <c:pt idx="2">
                  <c:v>45992</c:v>
                </c:pt>
                <c:pt idx="3">
                  <c:v>46023</c:v>
                </c:pt>
                <c:pt idx="4">
                  <c:v>46054</c:v>
                </c:pt>
                <c:pt idx="5">
                  <c:v>46082</c:v>
                </c:pt>
                <c:pt idx="6">
                  <c:v>46113</c:v>
                </c:pt>
                <c:pt idx="7">
                  <c:v>46143</c:v>
                </c:pt>
                <c:pt idx="8">
                  <c:v>46174</c:v>
                </c:pt>
                <c:pt idx="9">
                  <c:v>46204</c:v>
                </c:pt>
                <c:pt idx="10">
                  <c:v>46235</c:v>
                </c:pt>
                <c:pt idx="11">
                  <c:v>46266</c:v>
                </c:pt>
                <c:pt idx="12">
                  <c:v>46296</c:v>
                </c:pt>
              </c:numCache>
            </c:numRef>
          </c:cat>
          <c:val>
            <c:numRef>
              <c:f>'S-Curve-PSS10B'!$B$11:$I$11</c:f>
              <c:numCache>
                <c:formatCode>0.00%</c:formatCode>
                <c:ptCount val="8"/>
                <c:pt idx="0">
                  <c:v>0</c:v>
                </c:pt>
                <c:pt idx="1">
                  <c:v>3.04E-2</c:v>
                </c:pt>
                <c:pt idx="2">
                  <c:v>0.1028</c:v>
                </c:pt>
                <c:pt idx="3">
                  <c:v>0.17480000000000001</c:v>
                </c:pt>
                <c:pt idx="4">
                  <c:v>0.21229999999999999</c:v>
                </c:pt>
                <c:pt idx="5">
                  <c:v>0.25130000000000002</c:v>
                </c:pt>
                <c:pt idx="6">
                  <c:v>0.29780784999999999</c:v>
                </c:pt>
                <c:pt idx="7">
                  <c:v>0.36567451249999999</c:v>
                </c:pt>
              </c:numCache>
            </c:numRef>
          </c:val>
          <c:smooth val="0"/>
          <c:extLst>
            <c:ext xmlns:c16="http://schemas.microsoft.com/office/drawing/2014/chart" uri="{C3380CC4-5D6E-409C-BE32-E72D297353CC}">
              <c16:uniqueId val="{00000005-D140-4C9B-AD76-A3CD84590A2B}"/>
            </c:ext>
          </c:extLst>
        </c:ser>
        <c:dLbls>
          <c:showLegendKey val="0"/>
          <c:showVal val="0"/>
          <c:showCatName val="0"/>
          <c:showSerName val="0"/>
          <c:showPercent val="0"/>
          <c:showBubbleSize val="0"/>
        </c:dLbls>
        <c:marker val="1"/>
        <c:smooth val="0"/>
        <c:axId val="1581861120"/>
        <c:axId val="1581862560"/>
      </c:lineChart>
      <c:catAx>
        <c:axId val="1581861120"/>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581862560"/>
        <c:crosses val="autoZero"/>
        <c:auto val="0"/>
        <c:lblAlgn val="ctr"/>
        <c:lblOffset val="100"/>
        <c:noMultiLvlLbl val="0"/>
      </c:catAx>
      <c:valAx>
        <c:axId val="158186256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1120"/>
        <c:crosses val="autoZero"/>
        <c:crossBetween val="between"/>
        <c:majorUnit val="0.2"/>
      </c:valAx>
      <c:valAx>
        <c:axId val="1315630831"/>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5637071"/>
        <c:crosses val="max"/>
        <c:crossBetween val="between"/>
      </c:valAx>
      <c:dateAx>
        <c:axId val="1315637071"/>
        <c:scaling>
          <c:orientation val="minMax"/>
        </c:scaling>
        <c:delete val="1"/>
        <c:axPos val="b"/>
        <c:numFmt formatCode="[$-409]mmm/yy;@" sourceLinked="1"/>
        <c:majorTickMark val="out"/>
        <c:minorTickMark val="none"/>
        <c:tickLblPos val="nextTo"/>
        <c:crossAx val="1315630831"/>
        <c:crosses val="autoZero"/>
        <c:auto val="1"/>
        <c:lblOffset val="100"/>
        <c:baseTimeUnit val="days"/>
      </c:date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791657167575654E-2"/>
          <c:y val="4.962389834043978E-2"/>
          <c:w val="0.87994411611688861"/>
          <c:h val="0.56310981173746144"/>
        </c:manualLayout>
      </c:layout>
      <c:barChart>
        <c:barDir val="col"/>
        <c:grouping val="clustered"/>
        <c:varyColors val="0"/>
        <c:ser>
          <c:idx val="6"/>
          <c:order val="2"/>
          <c:tx>
            <c:strRef>
              <c:f>'S-Curve-PSS9'!$A$12</c:f>
              <c:strCache>
                <c:ptCount val="1"/>
                <c:pt idx="0">
                  <c:v>Monthly Plan</c:v>
                </c:pt>
              </c:strCache>
            </c:strRef>
          </c:tx>
          <c:spPr>
            <a:solidFill>
              <a:srgbClr val="00B0F0"/>
            </a:solidFill>
            <a:ln>
              <a:noFill/>
            </a:ln>
            <a:effectLst/>
          </c:spPr>
          <c:invertIfNegative val="0"/>
          <c:cat>
            <c:numRef>
              <c:f>'S-Curve-PSS9'!$B$9:$Q$9</c:f>
              <c:numCache>
                <c:formatCode>[$-409]mmm/yy;@</c:formatCode>
                <c:ptCount val="16"/>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numCache>
            </c:numRef>
          </c:cat>
          <c:val>
            <c:numRef>
              <c:f>'S-Curve-PSS9'!$B$12:$Q$12</c:f>
              <c:numCache>
                <c:formatCode>0.00%</c:formatCode>
                <c:ptCount val="16"/>
                <c:pt idx="0">
                  <c:v>1.9599999999999999E-2</c:v>
                </c:pt>
                <c:pt idx="1">
                  <c:v>8.9399999999999993E-2</c:v>
                </c:pt>
                <c:pt idx="2">
                  <c:v>7.3599999999999999E-2</c:v>
                </c:pt>
                <c:pt idx="3">
                  <c:v>8.77E-2</c:v>
                </c:pt>
                <c:pt idx="4">
                  <c:v>0.1275</c:v>
                </c:pt>
                <c:pt idx="5">
                  <c:v>0.1298</c:v>
                </c:pt>
                <c:pt idx="6">
                  <c:v>0.13189999999999999</c:v>
                </c:pt>
                <c:pt idx="7">
                  <c:v>4.9299999999999997E-2</c:v>
                </c:pt>
                <c:pt idx="8">
                  <c:v>8.0000000000000002E-3</c:v>
                </c:pt>
                <c:pt idx="9">
                  <c:v>8.3999999999999995E-3</c:v>
                </c:pt>
                <c:pt idx="10">
                  <c:v>1.7100000000000001E-2</c:v>
                </c:pt>
                <c:pt idx="11">
                  <c:v>7.0400000000000004E-2</c:v>
                </c:pt>
                <c:pt idx="12">
                  <c:v>6.1199999999999997E-2</c:v>
                </c:pt>
                <c:pt idx="13">
                  <c:v>5.6099999999999997E-2</c:v>
                </c:pt>
                <c:pt idx="14">
                  <c:v>5.2299999999999999E-2</c:v>
                </c:pt>
                <c:pt idx="15">
                  <c:v>1.77E-2</c:v>
                </c:pt>
              </c:numCache>
            </c:numRef>
          </c:val>
          <c:extLst>
            <c:ext xmlns:c16="http://schemas.microsoft.com/office/drawing/2014/chart" uri="{C3380CC4-5D6E-409C-BE32-E72D297353CC}">
              <c16:uniqueId val="{00000000-A508-4ABF-949D-101B15F34C25}"/>
            </c:ext>
          </c:extLst>
        </c:ser>
        <c:ser>
          <c:idx val="7"/>
          <c:order val="3"/>
          <c:tx>
            <c:strRef>
              <c:f>'S-Curve-PSS9'!$A$13</c:f>
              <c:strCache>
                <c:ptCount val="1"/>
                <c:pt idx="0">
                  <c:v>Monthly Actual</c:v>
                </c:pt>
              </c:strCache>
            </c:strRef>
          </c:tx>
          <c:spPr>
            <a:solidFill>
              <a:srgbClr val="92D050"/>
            </a:solidFill>
            <a:ln>
              <a:noFill/>
            </a:ln>
            <a:effectLst/>
          </c:spPr>
          <c:invertIfNegative val="0"/>
          <c:cat>
            <c:numRef>
              <c:f>'S-Curve-PSS9'!$B$9:$Q$9</c:f>
              <c:numCache>
                <c:formatCode>[$-409]mmm/yy;@</c:formatCode>
                <c:ptCount val="16"/>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numCache>
            </c:numRef>
          </c:cat>
          <c:val>
            <c:numRef>
              <c:f>'S-Curve-PSS9'!$B$13:$H$13</c:f>
              <c:numCache>
                <c:formatCode>0.00%</c:formatCode>
                <c:ptCount val="7"/>
                <c:pt idx="0">
                  <c:v>1.55E-2</c:v>
                </c:pt>
                <c:pt idx="1">
                  <c:v>2.7900000000000001E-2</c:v>
                </c:pt>
                <c:pt idx="2">
                  <c:v>4.3499999999999997E-2</c:v>
                </c:pt>
                <c:pt idx="3">
                  <c:v>2.9899999999999999E-2</c:v>
                </c:pt>
                <c:pt idx="4">
                  <c:v>4.2000000000000003E-2</c:v>
                </c:pt>
                <c:pt idx="5">
                  <c:v>4.0895899999999999E-2</c:v>
                </c:pt>
                <c:pt idx="6">
                  <c:v>4.4205975000000002E-2</c:v>
                </c:pt>
              </c:numCache>
            </c:numRef>
          </c:val>
          <c:extLst>
            <c:ext xmlns:c16="http://schemas.microsoft.com/office/drawing/2014/chart" uri="{C3380CC4-5D6E-409C-BE32-E72D297353CC}">
              <c16:uniqueId val="{00000001-A508-4ABF-949D-101B15F34C25}"/>
            </c:ext>
          </c:extLst>
        </c:ser>
        <c:dLbls>
          <c:showLegendKey val="0"/>
          <c:showVal val="0"/>
          <c:showCatName val="0"/>
          <c:showSerName val="0"/>
          <c:showPercent val="0"/>
          <c:showBubbleSize val="0"/>
        </c:dLbls>
        <c:gapWidth val="150"/>
        <c:axId val="1285169711"/>
        <c:axId val="1285182671"/>
      </c:barChart>
      <c:lineChart>
        <c:grouping val="standard"/>
        <c:varyColors val="0"/>
        <c:ser>
          <c:idx val="4"/>
          <c:order val="0"/>
          <c:tx>
            <c:strRef>
              <c:f>'S-Curve-PSS9'!$A$10</c:f>
              <c:strCache>
                <c:ptCount val="1"/>
                <c:pt idx="0">
                  <c:v>Planned</c:v>
                </c:pt>
              </c:strCache>
            </c:strRef>
          </c:tx>
          <c:spPr>
            <a:ln w="28575" cap="rnd">
              <a:solidFill>
                <a:srgbClr val="00B0F0"/>
              </a:solidFill>
              <a:round/>
            </a:ln>
            <a:effectLst/>
          </c:spPr>
          <c:marker>
            <c:symbol val="none"/>
          </c:marker>
          <c:dLbls>
            <c:dLbl>
              <c:idx val="6"/>
              <c:layout>
                <c:manualLayout>
                  <c:x val="-8.1799591002045483E-3"/>
                  <c:y val="-4.8391693800731925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70C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508-4ABF-949D-101B15F34C2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'S-Curve-PSS9'!$B$9:$Q$9</c:f>
              <c:numCache>
                <c:formatCode>[$-409]mmm/yy;@</c:formatCode>
                <c:ptCount val="16"/>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numCache>
            </c:numRef>
          </c:cat>
          <c:val>
            <c:numRef>
              <c:f>'S-Curve-PSS9'!$B$10:$Q$10</c:f>
              <c:numCache>
                <c:formatCode>0.00%</c:formatCode>
                <c:ptCount val="16"/>
                <c:pt idx="0">
                  <c:v>1.9599999999999999E-2</c:v>
                </c:pt>
                <c:pt idx="1">
                  <c:v>0.1089</c:v>
                </c:pt>
                <c:pt idx="2">
                  <c:v>0.1825</c:v>
                </c:pt>
                <c:pt idx="3">
                  <c:v>0.2702</c:v>
                </c:pt>
                <c:pt idx="4">
                  <c:v>0.39779999999999999</c:v>
                </c:pt>
                <c:pt idx="5">
                  <c:v>0.52749999999999997</c:v>
                </c:pt>
                <c:pt idx="6">
                  <c:v>0.65949999999999998</c:v>
                </c:pt>
                <c:pt idx="7">
                  <c:v>0.70879999999999999</c:v>
                </c:pt>
                <c:pt idx="8">
                  <c:v>0.71679999999999999</c:v>
                </c:pt>
                <c:pt idx="9">
                  <c:v>0.72519999999999996</c:v>
                </c:pt>
                <c:pt idx="10">
                  <c:v>0.74219999999999997</c:v>
                </c:pt>
                <c:pt idx="11">
                  <c:v>0.81259999999999999</c:v>
                </c:pt>
                <c:pt idx="12">
                  <c:v>0.87390000000000001</c:v>
                </c:pt>
                <c:pt idx="13">
                  <c:v>0.93</c:v>
                </c:pt>
                <c:pt idx="14">
                  <c:v>0.98229999999999995</c:v>
                </c:pt>
                <c:pt idx="15">
                  <c:v>1</c:v>
                </c:pt>
              </c:numCache>
            </c:numRef>
          </c:val>
          <c:smooth val="0"/>
          <c:extLst>
            <c:ext xmlns:c16="http://schemas.microsoft.com/office/drawing/2014/chart" uri="{C3380CC4-5D6E-409C-BE32-E72D297353CC}">
              <c16:uniqueId val="{00000003-A508-4ABF-949D-101B15F34C25}"/>
            </c:ext>
          </c:extLst>
        </c:ser>
        <c:ser>
          <c:idx val="5"/>
          <c:order val="1"/>
          <c:tx>
            <c:strRef>
              <c:f>'S-Curve-PSS9'!$A$11</c:f>
              <c:strCache>
                <c:ptCount val="1"/>
                <c:pt idx="0">
                  <c:v>Actual</c:v>
                </c:pt>
              </c:strCache>
            </c:strRef>
          </c:tx>
          <c:spPr>
            <a:ln w="28575" cap="rnd">
              <a:solidFill>
                <a:srgbClr val="92D050"/>
              </a:solidFill>
              <a:round/>
            </a:ln>
            <a:effectLst/>
          </c:spPr>
          <c:marker>
            <c:symbol val="none"/>
          </c:marker>
          <c:dLbls>
            <c:dLbl>
              <c:idx val="6"/>
              <c:layout>
                <c:manualLayout>
                  <c:x val="-9.5432856169052494E-3"/>
                  <c:y val="-8.710504884131747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5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508-4ABF-949D-101B15F34C2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'S-Curve-PSS9'!$B$9:$Q$9</c:f>
              <c:numCache>
                <c:formatCode>[$-409]mmm/yy;@</c:formatCode>
                <c:ptCount val="16"/>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numCache>
            </c:numRef>
          </c:cat>
          <c:val>
            <c:numRef>
              <c:f>'S-Curve-PSS9'!$B$11:$H$11</c:f>
              <c:numCache>
                <c:formatCode>0.00%</c:formatCode>
                <c:ptCount val="7"/>
                <c:pt idx="0">
                  <c:v>1.55E-2</c:v>
                </c:pt>
                <c:pt idx="1">
                  <c:v>4.3400000000000001E-2</c:v>
                </c:pt>
                <c:pt idx="2">
                  <c:v>8.6900000000000005E-2</c:v>
                </c:pt>
                <c:pt idx="3">
                  <c:v>0.1168</c:v>
                </c:pt>
                <c:pt idx="4">
                  <c:v>0.1588</c:v>
                </c:pt>
                <c:pt idx="5">
                  <c:v>0.20772312500000001</c:v>
                </c:pt>
                <c:pt idx="6">
                  <c:v>0.262305175</c:v>
                </c:pt>
              </c:numCache>
            </c:numRef>
          </c:val>
          <c:smooth val="0"/>
          <c:extLst>
            <c:ext xmlns:c16="http://schemas.microsoft.com/office/drawing/2014/chart" uri="{C3380CC4-5D6E-409C-BE32-E72D297353CC}">
              <c16:uniqueId val="{00000005-A508-4ABF-949D-101B15F34C25}"/>
            </c:ext>
          </c:extLst>
        </c:ser>
        <c:dLbls>
          <c:showLegendKey val="0"/>
          <c:showVal val="0"/>
          <c:showCatName val="0"/>
          <c:showSerName val="0"/>
          <c:showPercent val="0"/>
          <c:showBubbleSize val="0"/>
        </c:dLbls>
        <c:marker val="1"/>
        <c:smooth val="0"/>
        <c:axId val="1581861120"/>
        <c:axId val="1581862560"/>
      </c:lineChart>
      <c:catAx>
        <c:axId val="1581861120"/>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581862560"/>
        <c:crosses val="autoZero"/>
        <c:auto val="0"/>
        <c:lblAlgn val="ctr"/>
        <c:lblOffset val="100"/>
        <c:noMultiLvlLbl val="0"/>
      </c:catAx>
      <c:valAx>
        <c:axId val="158186256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1120"/>
        <c:crosses val="autoZero"/>
        <c:crossBetween val="between"/>
        <c:majorUnit val="0.2"/>
      </c:valAx>
      <c:valAx>
        <c:axId val="1285182671"/>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5169711"/>
        <c:crosses val="max"/>
        <c:crossBetween val="between"/>
      </c:valAx>
      <c:dateAx>
        <c:axId val="1285169711"/>
        <c:scaling>
          <c:orientation val="minMax"/>
        </c:scaling>
        <c:delete val="1"/>
        <c:axPos val="b"/>
        <c:numFmt formatCode="[$-409]mmm/yy;@" sourceLinked="1"/>
        <c:majorTickMark val="out"/>
        <c:minorTickMark val="none"/>
        <c:tickLblPos val="nextTo"/>
        <c:crossAx val="1285182671"/>
        <c:crosses val="autoZero"/>
        <c:auto val="1"/>
        <c:lblOffset val="100"/>
        <c:baseTimeUnit val="months"/>
      </c:date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563034440471704E-2"/>
          <c:y val="4.962389834043978E-2"/>
          <c:w val="0.86665716333301435"/>
          <c:h val="0.56310981173746144"/>
        </c:manualLayout>
      </c:layout>
      <c:barChart>
        <c:barDir val="col"/>
        <c:grouping val="clustered"/>
        <c:varyColors val="0"/>
        <c:ser>
          <c:idx val="3"/>
          <c:order val="2"/>
          <c:tx>
            <c:strRef>
              <c:f>'S-Curve-PSS5B'!$A$12</c:f>
              <c:strCache>
                <c:ptCount val="1"/>
                <c:pt idx="0">
                  <c:v>Monthly Plan</c:v>
                </c:pt>
              </c:strCache>
            </c:strRef>
          </c:tx>
          <c:spPr>
            <a:solidFill>
              <a:srgbClr val="00B0F0"/>
            </a:solidFill>
            <a:ln>
              <a:noFill/>
            </a:ln>
            <a:effectLst/>
          </c:spPr>
          <c:invertIfNegative val="0"/>
          <c:cat>
            <c:numRef>
              <c:f>'S-Curve-PSS5B'!$B$9:$Q$9</c:f>
              <c:numCache>
                <c:formatCode>[$-409]mmm/yy;@</c:formatCode>
                <c:ptCount val="16"/>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numCache>
            </c:numRef>
          </c:cat>
          <c:val>
            <c:numRef>
              <c:f>'S-Curve-PSS5B'!$B$12:$Q$12</c:f>
              <c:numCache>
                <c:formatCode>0.00%</c:formatCode>
                <c:ptCount val="16"/>
                <c:pt idx="0">
                  <c:v>1.9E-2</c:v>
                </c:pt>
                <c:pt idx="1">
                  <c:v>0.1002</c:v>
                </c:pt>
                <c:pt idx="2">
                  <c:v>4.7899999999999998E-2</c:v>
                </c:pt>
                <c:pt idx="3">
                  <c:v>8.1799999999999998E-2</c:v>
                </c:pt>
                <c:pt idx="4">
                  <c:v>0.1211</c:v>
                </c:pt>
                <c:pt idx="5">
                  <c:v>7.8100000000000003E-2</c:v>
                </c:pt>
                <c:pt idx="6">
                  <c:v>8.8800000000000004E-2</c:v>
                </c:pt>
                <c:pt idx="7">
                  <c:v>3.5200000000000002E-2</c:v>
                </c:pt>
                <c:pt idx="8">
                  <c:v>4.36E-2</c:v>
                </c:pt>
                <c:pt idx="9">
                  <c:v>8.5099999999999995E-2</c:v>
                </c:pt>
                <c:pt idx="10">
                  <c:v>4.5400000000000003E-2</c:v>
                </c:pt>
                <c:pt idx="11">
                  <c:v>6.5199999999999994E-2</c:v>
                </c:pt>
                <c:pt idx="12">
                  <c:v>5.6899999999999999E-2</c:v>
                </c:pt>
                <c:pt idx="13">
                  <c:v>6.0499999999999998E-2</c:v>
                </c:pt>
                <c:pt idx="14">
                  <c:v>5.3400000000000003E-2</c:v>
                </c:pt>
                <c:pt idx="15">
                  <c:v>1.7999999999999999E-2</c:v>
                </c:pt>
              </c:numCache>
            </c:numRef>
          </c:val>
          <c:extLst>
            <c:ext xmlns:c16="http://schemas.microsoft.com/office/drawing/2014/chart" uri="{C3380CC4-5D6E-409C-BE32-E72D297353CC}">
              <c16:uniqueId val="{00000000-7CC1-4B78-879B-E29B259D31BC}"/>
            </c:ext>
          </c:extLst>
        </c:ser>
        <c:ser>
          <c:idx val="0"/>
          <c:order val="3"/>
          <c:tx>
            <c:strRef>
              <c:f>'S-Curve-PSS5B'!$A$13</c:f>
              <c:strCache>
                <c:ptCount val="1"/>
                <c:pt idx="0">
                  <c:v>Monthly Actual</c:v>
                </c:pt>
              </c:strCache>
            </c:strRef>
          </c:tx>
          <c:spPr>
            <a:solidFill>
              <a:srgbClr val="92D050"/>
            </a:solidFill>
            <a:ln>
              <a:noFill/>
            </a:ln>
            <a:effectLst/>
          </c:spPr>
          <c:invertIfNegative val="0"/>
          <c:cat>
            <c:numRef>
              <c:f>'S-Curve-PSS5B'!$B$9:$Q$9</c:f>
              <c:numCache>
                <c:formatCode>[$-409]mmm/yy;@</c:formatCode>
                <c:ptCount val="16"/>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numCache>
            </c:numRef>
          </c:cat>
          <c:val>
            <c:numRef>
              <c:f>'S-Curve-PSS5B'!$B$13:$H$13</c:f>
              <c:numCache>
                <c:formatCode>0.00%</c:formatCode>
                <c:ptCount val="7"/>
                <c:pt idx="0">
                  <c:v>2.3400000000000001E-2</c:v>
                </c:pt>
                <c:pt idx="1">
                  <c:v>1.43E-2</c:v>
                </c:pt>
                <c:pt idx="2">
                  <c:v>6.5100000000000005E-2</c:v>
                </c:pt>
                <c:pt idx="3">
                  <c:v>2.9100000000000001E-2</c:v>
                </c:pt>
                <c:pt idx="4">
                  <c:v>3.8699999999999998E-2</c:v>
                </c:pt>
                <c:pt idx="5">
                  <c:v>2.23631E-2</c:v>
                </c:pt>
                <c:pt idx="6">
                  <c:v>1.9654950000000001E-2</c:v>
                </c:pt>
              </c:numCache>
            </c:numRef>
          </c:val>
          <c:extLst>
            <c:ext xmlns:c16="http://schemas.microsoft.com/office/drawing/2014/chart" uri="{C3380CC4-5D6E-409C-BE32-E72D297353CC}">
              <c16:uniqueId val="{00000001-7CC1-4B78-879B-E29B259D31BC}"/>
            </c:ext>
          </c:extLst>
        </c:ser>
        <c:dLbls>
          <c:showLegendKey val="0"/>
          <c:showVal val="0"/>
          <c:showCatName val="0"/>
          <c:showSerName val="0"/>
          <c:showPercent val="0"/>
          <c:showBubbleSize val="0"/>
        </c:dLbls>
        <c:gapWidth val="150"/>
        <c:axId val="460649408"/>
        <c:axId val="460642688"/>
      </c:barChart>
      <c:lineChart>
        <c:grouping val="standard"/>
        <c:varyColors val="0"/>
        <c:ser>
          <c:idx val="2"/>
          <c:order val="0"/>
          <c:tx>
            <c:strRef>
              <c:f>'S-Curve-PSS5B'!$A$10</c:f>
              <c:strCache>
                <c:ptCount val="1"/>
                <c:pt idx="0">
                  <c:v>Planned</c:v>
                </c:pt>
              </c:strCache>
            </c:strRef>
          </c:tx>
          <c:spPr>
            <a:ln w="28575" cap="rnd">
              <a:solidFill>
                <a:srgbClr val="00B0F0"/>
              </a:solidFill>
              <a:round/>
            </a:ln>
            <a:effectLst/>
          </c:spPr>
          <c:marker>
            <c:symbol val="none"/>
          </c:marker>
          <c:dLbls>
            <c:dLbl>
              <c:idx val="6"/>
              <c:layout>
                <c:manualLayout>
                  <c:x val="-8.1948560393938132E-3"/>
                  <c:y val="-4.20437917541199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CC1-4B78-879B-E29B259D31B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70C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'S-Curve-PSS5B'!$B$9:$Q$9</c:f>
              <c:numCache>
                <c:formatCode>[$-409]mmm/yy;@</c:formatCode>
                <c:ptCount val="16"/>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numCache>
            </c:numRef>
          </c:cat>
          <c:val>
            <c:numRef>
              <c:f>'S-Curve-PSS5B'!$B$10:$Q$10</c:f>
              <c:numCache>
                <c:formatCode>0.00%</c:formatCode>
                <c:ptCount val="16"/>
                <c:pt idx="0">
                  <c:v>1.9E-2</c:v>
                </c:pt>
                <c:pt idx="1">
                  <c:v>0.1191</c:v>
                </c:pt>
                <c:pt idx="2">
                  <c:v>0.16700000000000001</c:v>
                </c:pt>
                <c:pt idx="3">
                  <c:v>0.24879999999999999</c:v>
                </c:pt>
                <c:pt idx="4">
                  <c:v>0.36990000000000001</c:v>
                </c:pt>
                <c:pt idx="5">
                  <c:v>0.44790000000000002</c:v>
                </c:pt>
                <c:pt idx="6">
                  <c:v>0.53680000000000005</c:v>
                </c:pt>
                <c:pt idx="7">
                  <c:v>0.57199999999999995</c:v>
                </c:pt>
                <c:pt idx="8">
                  <c:v>0.61560000000000004</c:v>
                </c:pt>
                <c:pt idx="9">
                  <c:v>0.70069999999999999</c:v>
                </c:pt>
                <c:pt idx="10">
                  <c:v>0.74609999999999999</c:v>
                </c:pt>
                <c:pt idx="11">
                  <c:v>0.81130000000000002</c:v>
                </c:pt>
                <c:pt idx="12">
                  <c:v>0.86809999999999998</c:v>
                </c:pt>
                <c:pt idx="13">
                  <c:v>0.92869999999999997</c:v>
                </c:pt>
                <c:pt idx="14">
                  <c:v>0.98199999999999998</c:v>
                </c:pt>
                <c:pt idx="15">
                  <c:v>1</c:v>
                </c:pt>
              </c:numCache>
            </c:numRef>
          </c:val>
          <c:smooth val="0"/>
          <c:extLst>
            <c:ext xmlns:c16="http://schemas.microsoft.com/office/drawing/2014/chart" uri="{C3380CC4-5D6E-409C-BE32-E72D297353CC}">
              <c16:uniqueId val="{00000003-7CC1-4B78-879B-E29B259D31BC}"/>
            </c:ext>
          </c:extLst>
        </c:ser>
        <c:ser>
          <c:idx val="4"/>
          <c:order val="1"/>
          <c:tx>
            <c:strRef>
              <c:f>'S-Curve-PSS5B'!$A$11</c:f>
              <c:strCache>
                <c:ptCount val="1"/>
                <c:pt idx="0">
                  <c:v>Actual</c:v>
                </c:pt>
              </c:strCache>
            </c:strRef>
          </c:tx>
          <c:spPr>
            <a:ln w="28575" cap="rnd">
              <a:solidFill>
                <a:srgbClr val="92D050"/>
              </a:solidFill>
              <a:round/>
            </a:ln>
            <a:effectLst/>
          </c:spPr>
          <c:marker>
            <c:symbol val="none"/>
          </c:marker>
          <c:dLbls>
            <c:dLbl>
              <c:idx val="6"/>
              <c:layout>
                <c:manualLayout>
                  <c:x val="-1.2292284059090769E-2"/>
                  <c:y val="-3.5036493128433301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5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CC1-4B78-879B-E29B259D31B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B05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'S-Curve-PSS5B'!$B$9:$Q$9</c:f>
              <c:numCache>
                <c:formatCode>[$-409]mmm/yy;@</c:formatCode>
                <c:ptCount val="16"/>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numCache>
            </c:numRef>
          </c:cat>
          <c:val>
            <c:numRef>
              <c:f>'S-Curve-PSS5B'!$B$11:$H$11</c:f>
              <c:numCache>
                <c:formatCode>0.00%</c:formatCode>
                <c:ptCount val="7"/>
                <c:pt idx="0">
                  <c:v>2.3400000000000001E-2</c:v>
                </c:pt>
                <c:pt idx="1">
                  <c:v>3.7699999999999997E-2</c:v>
                </c:pt>
                <c:pt idx="2">
                  <c:v>0.1027</c:v>
                </c:pt>
                <c:pt idx="3">
                  <c:v>0.1318</c:v>
                </c:pt>
                <c:pt idx="4">
                  <c:v>0.17050000000000001</c:v>
                </c:pt>
                <c:pt idx="5">
                  <c:v>0.1905</c:v>
                </c:pt>
                <c:pt idx="6">
                  <c:v>0.21495252500000001</c:v>
                </c:pt>
              </c:numCache>
            </c:numRef>
          </c:val>
          <c:smooth val="0"/>
          <c:extLst>
            <c:ext xmlns:c16="http://schemas.microsoft.com/office/drawing/2014/chart" uri="{C3380CC4-5D6E-409C-BE32-E72D297353CC}">
              <c16:uniqueId val="{00000005-7CC1-4B78-879B-E29B259D31BC}"/>
            </c:ext>
          </c:extLst>
        </c:ser>
        <c:dLbls>
          <c:showLegendKey val="0"/>
          <c:showVal val="0"/>
          <c:showCatName val="0"/>
          <c:showSerName val="0"/>
          <c:showPercent val="0"/>
          <c:showBubbleSize val="0"/>
        </c:dLbls>
        <c:marker val="1"/>
        <c:smooth val="0"/>
        <c:axId val="1581861120"/>
        <c:axId val="1581862560"/>
      </c:lineChart>
      <c:catAx>
        <c:axId val="1581861120"/>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581862560"/>
        <c:crosses val="autoZero"/>
        <c:auto val="0"/>
        <c:lblAlgn val="ctr"/>
        <c:lblOffset val="100"/>
        <c:noMultiLvlLbl val="0"/>
      </c:catAx>
      <c:valAx>
        <c:axId val="158186256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1120"/>
        <c:crosses val="autoZero"/>
        <c:crossBetween val="between"/>
        <c:majorUnit val="0.2"/>
      </c:valAx>
      <c:valAx>
        <c:axId val="460642688"/>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0649408"/>
        <c:crosses val="max"/>
        <c:crossBetween val="between"/>
      </c:valAx>
      <c:dateAx>
        <c:axId val="460649408"/>
        <c:scaling>
          <c:orientation val="minMax"/>
        </c:scaling>
        <c:delete val="1"/>
        <c:axPos val="b"/>
        <c:numFmt formatCode="[$-409]mmm/yy;@" sourceLinked="1"/>
        <c:majorTickMark val="out"/>
        <c:minorTickMark val="none"/>
        <c:tickLblPos val="nextTo"/>
        <c:crossAx val="460642688"/>
        <c:crosses val="autoZero"/>
        <c:auto val="1"/>
        <c:lblOffset val="100"/>
        <c:baseTimeUnit val="months"/>
        <c:majorUnit val="1"/>
        <c:minorUnit val="1"/>
      </c:date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019266613412454"/>
          <c:y val="4.962389834043978E-2"/>
          <c:w val="0.84854311689299711"/>
          <c:h val="0.63408436564713033"/>
        </c:manualLayout>
      </c:layout>
      <c:barChart>
        <c:barDir val="col"/>
        <c:grouping val="clustered"/>
        <c:varyColors val="0"/>
        <c:ser>
          <c:idx val="6"/>
          <c:order val="2"/>
          <c:tx>
            <c:strRef>
              <c:f>'S-Curve-PSS8B'!$A$12</c:f>
              <c:strCache>
                <c:ptCount val="1"/>
                <c:pt idx="0">
                  <c:v>Monthly Plan</c:v>
                </c:pt>
              </c:strCache>
            </c:strRef>
          </c:tx>
          <c:spPr>
            <a:solidFill>
              <a:srgbClr val="00B0F0"/>
            </a:solidFill>
            <a:ln>
              <a:noFill/>
            </a:ln>
            <a:effectLst/>
          </c:spPr>
          <c:invertIfNegative val="0"/>
          <c:cat>
            <c:numRef>
              <c:f>'S-Curve-PSS8B'!$B$9:$S$9</c:f>
              <c:numCache>
                <c:formatCode>[$-409]mmm/yy;@</c:formatCode>
                <c:ptCount val="18"/>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pt idx="16">
                  <c:v>46447</c:v>
                </c:pt>
                <c:pt idx="17">
                  <c:v>46478</c:v>
                </c:pt>
              </c:numCache>
            </c:numRef>
          </c:cat>
          <c:val>
            <c:numRef>
              <c:f>'S-Curve-PSS8B'!$B$12:$S$12</c:f>
              <c:numCache>
                <c:formatCode>0.00%</c:formatCode>
                <c:ptCount val="18"/>
                <c:pt idx="0">
                  <c:v>1.8100000000000002E-2</c:v>
                </c:pt>
                <c:pt idx="1">
                  <c:v>0.10780000000000001</c:v>
                </c:pt>
                <c:pt idx="2">
                  <c:v>2.8400000000000002E-2</c:v>
                </c:pt>
                <c:pt idx="3">
                  <c:v>3.1699999999999999E-2</c:v>
                </c:pt>
                <c:pt idx="4">
                  <c:v>0.1273</c:v>
                </c:pt>
                <c:pt idx="5">
                  <c:v>0.1041</c:v>
                </c:pt>
                <c:pt idx="6">
                  <c:v>7.2800000000000004E-2</c:v>
                </c:pt>
                <c:pt idx="7">
                  <c:v>4.0800000000000003E-2</c:v>
                </c:pt>
                <c:pt idx="8">
                  <c:v>3.4599999999999999E-2</c:v>
                </c:pt>
                <c:pt idx="9">
                  <c:v>4.02E-2</c:v>
                </c:pt>
                <c:pt idx="10">
                  <c:v>5.9200000000000003E-2</c:v>
                </c:pt>
                <c:pt idx="11">
                  <c:v>5.91E-2</c:v>
                </c:pt>
                <c:pt idx="12">
                  <c:v>3.6499999999999998E-2</c:v>
                </c:pt>
                <c:pt idx="13">
                  <c:v>7.3599999999999999E-2</c:v>
                </c:pt>
                <c:pt idx="14">
                  <c:v>9.0899999999999995E-2</c:v>
                </c:pt>
                <c:pt idx="15">
                  <c:v>5.2400000000000002E-2</c:v>
                </c:pt>
                <c:pt idx="16">
                  <c:v>2.24E-2</c:v>
                </c:pt>
                <c:pt idx="17">
                  <c:v>0</c:v>
                </c:pt>
              </c:numCache>
            </c:numRef>
          </c:val>
          <c:extLst>
            <c:ext xmlns:c16="http://schemas.microsoft.com/office/drawing/2014/chart" uri="{C3380CC4-5D6E-409C-BE32-E72D297353CC}">
              <c16:uniqueId val="{00000000-7B77-44D6-9105-F067588E32BD}"/>
            </c:ext>
          </c:extLst>
        </c:ser>
        <c:ser>
          <c:idx val="7"/>
          <c:order val="3"/>
          <c:tx>
            <c:strRef>
              <c:f>'S-Curve-PSS8B'!$A$13</c:f>
              <c:strCache>
                <c:ptCount val="1"/>
                <c:pt idx="0">
                  <c:v>Monthly Actual</c:v>
                </c:pt>
              </c:strCache>
            </c:strRef>
          </c:tx>
          <c:spPr>
            <a:solidFill>
              <a:srgbClr val="92D050"/>
            </a:solidFill>
            <a:ln>
              <a:noFill/>
            </a:ln>
            <a:effectLst/>
          </c:spPr>
          <c:invertIfNegative val="0"/>
          <c:cat>
            <c:numRef>
              <c:f>'S-Curve-PSS8B'!$B$9:$S$9</c:f>
              <c:numCache>
                <c:formatCode>[$-409]mmm/yy;@</c:formatCode>
                <c:ptCount val="18"/>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pt idx="16">
                  <c:v>46447</c:v>
                </c:pt>
                <c:pt idx="17">
                  <c:v>46478</c:v>
                </c:pt>
              </c:numCache>
            </c:numRef>
          </c:cat>
          <c:val>
            <c:numRef>
              <c:f>'S-Curve-PSS8B'!$B$13:$H$13</c:f>
              <c:numCache>
                <c:formatCode>0.00%</c:formatCode>
                <c:ptCount val="7"/>
                <c:pt idx="0">
                  <c:v>1.34E-2</c:v>
                </c:pt>
                <c:pt idx="1">
                  <c:v>3.4599999999999999E-2</c:v>
                </c:pt>
                <c:pt idx="2">
                  <c:v>5.1999999999999998E-2</c:v>
                </c:pt>
                <c:pt idx="3">
                  <c:v>2.6800000000000001E-2</c:v>
                </c:pt>
                <c:pt idx="4">
                  <c:v>2.7300000000000001E-2</c:v>
                </c:pt>
                <c:pt idx="5">
                  <c:v>1.4324224999999999E-2</c:v>
                </c:pt>
                <c:pt idx="6">
                  <c:v>3.2641499999999997E-2</c:v>
                </c:pt>
              </c:numCache>
            </c:numRef>
          </c:val>
          <c:extLst>
            <c:ext xmlns:c16="http://schemas.microsoft.com/office/drawing/2014/chart" uri="{C3380CC4-5D6E-409C-BE32-E72D297353CC}">
              <c16:uniqueId val="{00000001-7B77-44D6-9105-F067588E32BD}"/>
            </c:ext>
          </c:extLst>
        </c:ser>
        <c:dLbls>
          <c:showLegendKey val="0"/>
          <c:showVal val="0"/>
          <c:showCatName val="0"/>
          <c:showSerName val="0"/>
          <c:showPercent val="0"/>
          <c:showBubbleSize val="0"/>
        </c:dLbls>
        <c:gapWidth val="150"/>
        <c:axId val="1393291167"/>
        <c:axId val="1393288767"/>
      </c:barChart>
      <c:lineChart>
        <c:grouping val="standard"/>
        <c:varyColors val="0"/>
        <c:ser>
          <c:idx val="4"/>
          <c:order val="0"/>
          <c:tx>
            <c:strRef>
              <c:f>'S-Curve-PSS8B'!$A$10</c:f>
              <c:strCache>
                <c:ptCount val="1"/>
                <c:pt idx="0">
                  <c:v>Planned</c:v>
                </c:pt>
              </c:strCache>
            </c:strRef>
          </c:tx>
          <c:spPr>
            <a:ln w="28575" cap="rnd">
              <a:solidFill>
                <a:srgbClr val="00B0F0"/>
              </a:solidFill>
              <a:round/>
            </a:ln>
            <a:effectLst/>
          </c:spPr>
          <c:marker>
            <c:symbol val="none"/>
          </c:marker>
          <c:dLbls>
            <c:dLbl>
              <c:idx val="6"/>
              <c:layout>
                <c:manualLayout>
                  <c:x val="-3.6231884057971015E-3"/>
                  <c:y val="-4.51655808806831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70C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B77-44D6-9105-F067588E32BD}"/>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'S-Curve-PSS8B'!$B$9:$S$9</c:f>
              <c:numCache>
                <c:formatCode>[$-409]mmm/yy;@</c:formatCode>
                <c:ptCount val="18"/>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pt idx="16">
                  <c:v>46447</c:v>
                </c:pt>
                <c:pt idx="17">
                  <c:v>46478</c:v>
                </c:pt>
              </c:numCache>
            </c:numRef>
          </c:cat>
          <c:val>
            <c:numRef>
              <c:f>'S-Curve-PSS8B'!$B$10:$S$10</c:f>
              <c:numCache>
                <c:formatCode>0.00%</c:formatCode>
                <c:ptCount val="18"/>
                <c:pt idx="0">
                  <c:v>1.8100000000000002E-2</c:v>
                </c:pt>
                <c:pt idx="1">
                  <c:v>0.12590000000000001</c:v>
                </c:pt>
                <c:pt idx="2">
                  <c:v>0.15429999999999999</c:v>
                </c:pt>
                <c:pt idx="3">
                  <c:v>0.18609999999999999</c:v>
                </c:pt>
                <c:pt idx="4">
                  <c:v>0.31340000000000001</c:v>
                </c:pt>
                <c:pt idx="5">
                  <c:v>0.41749999999999998</c:v>
                </c:pt>
                <c:pt idx="6">
                  <c:v>0.49030000000000001</c:v>
                </c:pt>
                <c:pt idx="7">
                  <c:v>0.53100000000000003</c:v>
                </c:pt>
                <c:pt idx="8">
                  <c:v>0.56559999999999999</c:v>
                </c:pt>
                <c:pt idx="9">
                  <c:v>0.60580000000000001</c:v>
                </c:pt>
                <c:pt idx="10">
                  <c:v>0.66500000000000004</c:v>
                </c:pt>
                <c:pt idx="11">
                  <c:v>0.72409999999999997</c:v>
                </c:pt>
                <c:pt idx="12">
                  <c:v>0.76060000000000005</c:v>
                </c:pt>
                <c:pt idx="13">
                  <c:v>0.83430000000000004</c:v>
                </c:pt>
                <c:pt idx="14">
                  <c:v>0.92510000000000003</c:v>
                </c:pt>
                <c:pt idx="15">
                  <c:v>0.97760000000000002</c:v>
                </c:pt>
                <c:pt idx="16">
                  <c:v>1</c:v>
                </c:pt>
                <c:pt idx="17">
                  <c:v>1</c:v>
                </c:pt>
              </c:numCache>
            </c:numRef>
          </c:val>
          <c:smooth val="0"/>
          <c:extLst>
            <c:ext xmlns:c16="http://schemas.microsoft.com/office/drawing/2014/chart" uri="{C3380CC4-5D6E-409C-BE32-E72D297353CC}">
              <c16:uniqueId val="{00000003-7B77-44D6-9105-F067588E32BD}"/>
            </c:ext>
          </c:extLst>
        </c:ser>
        <c:ser>
          <c:idx val="5"/>
          <c:order val="1"/>
          <c:tx>
            <c:strRef>
              <c:f>'S-Curve-PSS8B'!$A$11</c:f>
              <c:strCache>
                <c:ptCount val="1"/>
                <c:pt idx="0">
                  <c:v>Actual</c:v>
                </c:pt>
              </c:strCache>
            </c:strRef>
          </c:tx>
          <c:spPr>
            <a:ln w="28575" cap="rnd">
              <a:solidFill>
                <a:srgbClr val="92D050"/>
              </a:solidFill>
              <a:round/>
            </a:ln>
            <a:effectLst/>
          </c:spPr>
          <c:marker>
            <c:symbol val="none"/>
          </c:marker>
          <c:dLbls>
            <c:dLbl>
              <c:idx val="6"/>
              <c:layout>
                <c:manualLayout>
                  <c:x val="-8.4541062801932361E-3"/>
                  <c:y val="-5.48439196408295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5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B77-44D6-9105-F067588E32BD}"/>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'S-Curve-PSS8B'!$B$9:$S$9</c:f>
              <c:numCache>
                <c:formatCode>[$-409]mmm/yy;@</c:formatCode>
                <c:ptCount val="18"/>
                <c:pt idx="0">
                  <c:v>45962</c:v>
                </c:pt>
                <c:pt idx="1">
                  <c:v>45992</c:v>
                </c:pt>
                <c:pt idx="2">
                  <c:v>46023</c:v>
                </c:pt>
                <c:pt idx="3">
                  <c:v>46054</c:v>
                </c:pt>
                <c:pt idx="4">
                  <c:v>46082</c:v>
                </c:pt>
                <c:pt idx="5">
                  <c:v>46113</c:v>
                </c:pt>
                <c:pt idx="6">
                  <c:v>46143</c:v>
                </c:pt>
                <c:pt idx="7">
                  <c:v>46174</c:v>
                </c:pt>
                <c:pt idx="8">
                  <c:v>46204</c:v>
                </c:pt>
                <c:pt idx="9">
                  <c:v>46235</c:v>
                </c:pt>
                <c:pt idx="10">
                  <c:v>46266</c:v>
                </c:pt>
                <c:pt idx="11">
                  <c:v>46296</c:v>
                </c:pt>
                <c:pt idx="12">
                  <c:v>46327</c:v>
                </c:pt>
                <c:pt idx="13">
                  <c:v>46357</c:v>
                </c:pt>
                <c:pt idx="14">
                  <c:v>46388</c:v>
                </c:pt>
                <c:pt idx="15">
                  <c:v>46419</c:v>
                </c:pt>
                <c:pt idx="16">
                  <c:v>46447</c:v>
                </c:pt>
                <c:pt idx="17">
                  <c:v>46478</c:v>
                </c:pt>
              </c:numCache>
            </c:numRef>
          </c:cat>
          <c:val>
            <c:numRef>
              <c:f>'S-Curve-PSS8B'!$B$11:$H$11</c:f>
              <c:numCache>
                <c:formatCode>0.00%</c:formatCode>
                <c:ptCount val="7"/>
                <c:pt idx="0">
                  <c:v>1.34E-2</c:v>
                </c:pt>
                <c:pt idx="1">
                  <c:v>4.7899999999999998E-2</c:v>
                </c:pt>
                <c:pt idx="2">
                  <c:v>9.9900000000000003E-2</c:v>
                </c:pt>
                <c:pt idx="3">
                  <c:v>0.12670000000000001</c:v>
                </c:pt>
                <c:pt idx="4">
                  <c:v>0.154</c:v>
                </c:pt>
                <c:pt idx="5">
                  <c:v>0.17230528749999999</c:v>
                </c:pt>
                <c:pt idx="6">
                  <c:v>0.21502594999999999</c:v>
                </c:pt>
              </c:numCache>
            </c:numRef>
          </c:val>
          <c:smooth val="0"/>
          <c:extLst>
            <c:ext xmlns:c16="http://schemas.microsoft.com/office/drawing/2014/chart" uri="{C3380CC4-5D6E-409C-BE32-E72D297353CC}">
              <c16:uniqueId val="{00000005-7B77-44D6-9105-F067588E32BD}"/>
            </c:ext>
          </c:extLst>
        </c:ser>
        <c:dLbls>
          <c:showLegendKey val="0"/>
          <c:showVal val="0"/>
          <c:showCatName val="0"/>
          <c:showSerName val="0"/>
          <c:showPercent val="0"/>
          <c:showBubbleSize val="0"/>
        </c:dLbls>
        <c:marker val="1"/>
        <c:smooth val="0"/>
        <c:axId val="1581861120"/>
        <c:axId val="1581862560"/>
      </c:lineChart>
      <c:catAx>
        <c:axId val="1581861120"/>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581862560"/>
        <c:crosses val="autoZero"/>
        <c:auto val="0"/>
        <c:lblAlgn val="ctr"/>
        <c:lblOffset val="100"/>
        <c:noMultiLvlLbl val="0"/>
      </c:catAx>
      <c:valAx>
        <c:axId val="158186256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1120"/>
        <c:crosses val="autoZero"/>
        <c:crossBetween val="between"/>
        <c:majorUnit val="0.2"/>
      </c:valAx>
      <c:valAx>
        <c:axId val="1393288767"/>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3291167"/>
        <c:crosses val="max"/>
        <c:crossBetween val="between"/>
      </c:valAx>
      <c:dateAx>
        <c:axId val="1393291167"/>
        <c:scaling>
          <c:orientation val="minMax"/>
        </c:scaling>
        <c:delete val="1"/>
        <c:axPos val="b"/>
        <c:numFmt formatCode="[$-409]mmm/yy;@" sourceLinked="1"/>
        <c:majorTickMark val="out"/>
        <c:minorTickMark val="none"/>
        <c:tickLblPos val="nextTo"/>
        <c:crossAx val="1393288767"/>
        <c:crosses val="autoZero"/>
        <c:auto val="1"/>
        <c:lblOffset val="100"/>
        <c:baseTimeUnit val="months"/>
      </c:date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 pss-11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PSS-11'!$J$2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EF6C-488A-AFC4-37F770A95B5F}"/>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EF6C-488A-AFC4-37F770A95B5F}"/>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EF6C-488A-AFC4-37F770A95B5F}"/>
              </c:ext>
            </c:extLst>
          </c:dPt>
          <c:dPt>
            <c:idx val="3"/>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7-EF6C-488A-AFC4-37F770A95B5F}"/>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EF6C-488A-AFC4-37F770A95B5F}"/>
              </c:ext>
            </c:extLst>
          </c:dPt>
          <c:dPt>
            <c:idx val="5"/>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B-EF6C-488A-AFC4-37F770A95B5F}"/>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EF6C-488A-AFC4-37F770A95B5F}"/>
              </c:ext>
            </c:extLst>
          </c:dPt>
          <c:dPt>
            <c:idx val="7"/>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F-EF6C-488A-AFC4-37F770A95B5F}"/>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EF6C-488A-AFC4-37F770A95B5F}"/>
              </c:ext>
            </c:extLst>
          </c:dPt>
          <c:dPt>
            <c:idx val="9"/>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13-EF6C-488A-AFC4-37F770A95B5F}"/>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EF6C-488A-AFC4-37F770A95B5F}"/>
              </c:ext>
            </c:extLst>
          </c:dPt>
          <c:dPt>
            <c:idx val="11"/>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17-EF6C-488A-AFC4-37F770A95B5F}"/>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EF6C-488A-AFC4-37F770A95B5F}"/>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B-EF6C-488A-AFC4-37F770A95B5F}"/>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PSS-11'!$B$3:$C$8,'PPT PSS-11'!$B$10:$C$19)</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PSS-11'!$J$3:$J$8,'PPT PSS-11'!$J$10:$J$19)</c:f>
              <c:numCache>
                <c:formatCode>0%</c:formatCode>
                <c:ptCount val="16"/>
                <c:pt idx="0">
                  <c:v>1</c:v>
                </c:pt>
                <c:pt idx="1">
                  <c:v>0.6518518518518519</c:v>
                </c:pt>
                <c:pt idx="2">
                  <c:v>1</c:v>
                </c:pt>
                <c:pt idx="3">
                  <c:v>0.47555555555555556</c:v>
                </c:pt>
                <c:pt idx="4">
                  <c:v>1</c:v>
                </c:pt>
                <c:pt idx="5">
                  <c:v>0.51333333333333342</c:v>
                </c:pt>
                <c:pt idx="6">
                  <c:v>1</c:v>
                </c:pt>
                <c:pt idx="7">
                  <c:v>0.84592592592592586</c:v>
                </c:pt>
                <c:pt idx="8">
                  <c:v>1</c:v>
                </c:pt>
                <c:pt idx="9">
                  <c:v>0.26222222222222219</c:v>
                </c:pt>
                <c:pt idx="10">
                  <c:v>0.99999999999999989</c:v>
                </c:pt>
                <c:pt idx="11">
                  <c:v>0.95</c:v>
                </c:pt>
                <c:pt idx="12">
                  <c:v>1</c:v>
                </c:pt>
                <c:pt idx="13">
                  <c:v>0</c:v>
                </c:pt>
                <c:pt idx="14">
                  <c:v>1</c:v>
                </c:pt>
                <c:pt idx="15">
                  <c:v>0</c:v>
                </c:pt>
              </c:numCache>
            </c:numRef>
          </c:val>
          <c:extLst>
            <c:ext xmlns:c16="http://schemas.microsoft.com/office/drawing/2014/chart" uri="{C3380CC4-5D6E-409C-BE32-E72D297353CC}">
              <c16:uniqueId val="{0000001C-EF6C-488A-AFC4-37F770A95B5F}"/>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 pss-11</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PSS-11'!$J$44</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9FD2-4776-95CC-4C018263A99B}"/>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9FD2-4776-95CC-4C018263A99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PSS-11'!$B$45:$C$46</c:f>
              <c:multiLvlStrCache>
                <c:ptCount val="2"/>
                <c:lvl>
                  <c:pt idx="0">
                    <c:v>Plan</c:v>
                  </c:pt>
                  <c:pt idx="1">
                    <c:v>Actual</c:v>
                  </c:pt>
                </c:lvl>
                <c:lvl>
                  <c:pt idx="0">
                    <c:v>BCF</c:v>
                  </c:pt>
                </c:lvl>
              </c:multiLvlStrCache>
            </c:multiLvlStrRef>
          </c:cat>
          <c:val>
            <c:numRef>
              <c:f>'PPT PSS-11'!$J$45:$J$46</c:f>
              <c:numCache>
                <c:formatCode>0%</c:formatCode>
                <c:ptCount val="2"/>
                <c:pt idx="0">
                  <c:v>1</c:v>
                </c:pt>
                <c:pt idx="1">
                  <c:v>0.96370370370370384</c:v>
                </c:pt>
              </c:numCache>
            </c:numRef>
          </c:val>
          <c:extLst>
            <c:ext xmlns:c16="http://schemas.microsoft.com/office/drawing/2014/chart" uri="{C3380CC4-5D6E-409C-BE32-E72D297353CC}">
              <c16:uniqueId val="{00000004-9FD2-4776-95CC-4C018263A99B}"/>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 PSS-12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PSS-12'!$J$1</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0B7F-4310-B215-854B7494C7CE}"/>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0B7F-4310-B215-854B7494C7CE}"/>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0B7F-4310-B215-854B7494C7CE}"/>
              </c:ext>
            </c:extLst>
          </c:dPt>
          <c:dPt>
            <c:idx val="3"/>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7-0B7F-4310-B215-854B7494C7CE}"/>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0B7F-4310-B215-854B7494C7CE}"/>
              </c:ext>
            </c:extLst>
          </c:dPt>
          <c:dPt>
            <c:idx val="5"/>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B-0B7F-4310-B215-854B7494C7CE}"/>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0B7F-4310-B215-854B7494C7CE}"/>
              </c:ext>
            </c:extLst>
          </c:dPt>
          <c:dPt>
            <c:idx val="7"/>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F-0B7F-4310-B215-854B7494C7CE}"/>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0B7F-4310-B215-854B7494C7CE}"/>
              </c:ext>
            </c:extLst>
          </c:dPt>
          <c:dPt>
            <c:idx val="9"/>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13-0B7F-4310-B215-854B7494C7CE}"/>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0B7F-4310-B215-854B7494C7CE}"/>
              </c:ext>
            </c:extLst>
          </c:dPt>
          <c:dPt>
            <c:idx val="11"/>
            <c:invertIfNegative val="0"/>
            <c:bubble3D val="0"/>
            <c:spPr>
              <a:solidFill>
                <a:srgbClr val="FF0000"/>
              </a:solidFill>
              <a:ln>
                <a:solidFill>
                  <a:srgbClr val="FF0000"/>
                </a:solidFill>
              </a:ln>
              <a:effectLst>
                <a:innerShdw blurRad="114300">
                  <a:schemeClr val="accent1"/>
                </a:innerShdw>
              </a:effectLst>
            </c:spPr>
            <c:extLst>
              <c:ext xmlns:c16="http://schemas.microsoft.com/office/drawing/2014/chart" uri="{C3380CC4-5D6E-409C-BE32-E72D297353CC}">
                <c16:uniqueId val="{00000017-0B7F-4310-B215-854B7494C7CE}"/>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0B7F-4310-B215-854B7494C7CE}"/>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B-0B7F-4310-B215-854B7494C7CE}"/>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PSS-12'!$B$2:$C$7,'PPT PSS-12'!$B$9:$C$18)</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PSS-12'!$J$2:$J$7,'PPT PSS-12'!$J$9:$J$18)</c:f>
              <c:numCache>
                <c:formatCode>0%</c:formatCode>
                <c:ptCount val="16"/>
                <c:pt idx="0">
                  <c:v>1</c:v>
                </c:pt>
                <c:pt idx="1">
                  <c:v>0.71500000000000008</c:v>
                </c:pt>
                <c:pt idx="2">
                  <c:v>1</c:v>
                </c:pt>
                <c:pt idx="3">
                  <c:v>0.63</c:v>
                </c:pt>
                <c:pt idx="4">
                  <c:v>1</c:v>
                </c:pt>
                <c:pt idx="5">
                  <c:v>0.52500000000000002</c:v>
                </c:pt>
                <c:pt idx="6">
                  <c:v>1</c:v>
                </c:pt>
                <c:pt idx="7">
                  <c:v>0.78</c:v>
                </c:pt>
                <c:pt idx="8">
                  <c:v>1</c:v>
                </c:pt>
                <c:pt idx="9">
                  <c:v>0.16375000000000001</c:v>
                </c:pt>
                <c:pt idx="10">
                  <c:v>0.99999999999999989</c:v>
                </c:pt>
                <c:pt idx="11">
                  <c:v>7.0833333333333331E-2</c:v>
                </c:pt>
                <c:pt idx="12">
                  <c:v>1</c:v>
                </c:pt>
                <c:pt idx="13">
                  <c:v>0</c:v>
                </c:pt>
                <c:pt idx="14">
                  <c:v>1</c:v>
                </c:pt>
                <c:pt idx="15">
                  <c:v>0</c:v>
                </c:pt>
              </c:numCache>
            </c:numRef>
          </c:val>
          <c:extLst>
            <c:ext xmlns:c16="http://schemas.microsoft.com/office/drawing/2014/chart" uri="{C3380CC4-5D6E-409C-BE32-E72D297353CC}">
              <c16:uniqueId val="{0000001C-0B7F-4310-B215-854B7494C7CE}"/>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 pss-12</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PSS-12'!$J$41</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E18F-49E1-B433-9F489527EC5C}"/>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E18F-49E1-B433-9F489527EC5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PSS-12'!$B$42:$C$43,'PPT PSS-12'!$J$42:$J$43)</c:f>
              <c:multiLvlStrCache>
                <c:ptCount val="4"/>
                <c:lvl>
                  <c:pt idx="0">
                    <c:v>Plan</c:v>
                  </c:pt>
                  <c:pt idx="1">
                    <c:v>Actual</c:v>
                  </c:pt>
                  <c:pt idx="2">
                    <c:v>100%</c:v>
                  </c:pt>
                  <c:pt idx="3">
                    <c:v>62%</c:v>
                  </c:pt>
                </c:lvl>
                <c:lvl>
                  <c:pt idx="0">
                    <c:v>BCF</c:v>
                  </c:pt>
                </c:lvl>
              </c:multiLvlStrCache>
            </c:multiLvlStrRef>
          </c:cat>
          <c:val>
            <c:numRef>
              <c:f>'PPT PSS-12'!$J$42:$J$43</c:f>
              <c:numCache>
                <c:formatCode>0%</c:formatCode>
                <c:ptCount val="2"/>
                <c:pt idx="0">
                  <c:v>1</c:v>
                </c:pt>
                <c:pt idx="1">
                  <c:v>0.6150000000000001</c:v>
                </c:pt>
              </c:numCache>
            </c:numRef>
          </c:val>
          <c:extLst>
            <c:ext xmlns:c16="http://schemas.microsoft.com/office/drawing/2014/chart" uri="{C3380CC4-5D6E-409C-BE32-E72D297353CC}">
              <c16:uniqueId val="{00000004-E18F-49E1-B433-9F489527EC5C}"/>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 PSS-10(B)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PSS-10B'!$J$1</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40CC-4D51-BD90-54782A4EA3B2}"/>
              </c:ext>
            </c:extLst>
          </c:dPt>
          <c:dPt>
            <c:idx val="1"/>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3-40CC-4D51-BD90-54782A4EA3B2}"/>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40CC-4D51-BD90-54782A4EA3B2}"/>
              </c:ext>
            </c:extLst>
          </c:dPt>
          <c:dPt>
            <c:idx val="3"/>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7-40CC-4D51-BD90-54782A4EA3B2}"/>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40CC-4D51-BD90-54782A4EA3B2}"/>
              </c:ext>
            </c:extLst>
          </c:dPt>
          <c:dPt>
            <c:idx val="5"/>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B-40CC-4D51-BD90-54782A4EA3B2}"/>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40CC-4D51-BD90-54782A4EA3B2}"/>
              </c:ext>
            </c:extLst>
          </c:dPt>
          <c:dPt>
            <c:idx val="7"/>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F-40CC-4D51-BD90-54782A4EA3B2}"/>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40CC-4D51-BD90-54782A4EA3B2}"/>
              </c:ext>
            </c:extLst>
          </c:dPt>
          <c:dPt>
            <c:idx val="9"/>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13-40CC-4D51-BD90-54782A4EA3B2}"/>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40CC-4D51-BD90-54782A4EA3B2}"/>
              </c:ext>
            </c:extLst>
          </c:dPt>
          <c:dPt>
            <c:idx val="11"/>
            <c:invertIfNegative val="0"/>
            <c:bubble3D val="0"/>
            <c:spPr>
              <a:solidFill>
                <a:srgbClr val="FF0000"/>
              </a:solidFill>
              <a:ln>
                <a:solidFill>
                  <a:srgbClr val="FF0000"/>
                </a:solidFill>
              </a:ln>
              <a:effectLst>
                <a:innerShdw blurRad="114300">
                  <a:schemeClr val="accent1"/>
                </a:innerShdw>
              </a:effectLst>
            </c:spPr>
            <c:extLst>
              <c:ext xmlns:c16="http://schemas.microsoft.com/office/drawing/2014/chart" uri="{C3380CC4-5D6E-409C-BE32-E72D297353CC}">
                <c16:uniqueId val="{00000017-40CC-4D51-BD90-54782A4EA3B2}"/>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40CC-4D51-BD90-54782A4EA3B2}"/>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B-40CC-4D51-BD90-54782A4EA3B2}"/>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PSS-10B'!$B$2:$C$7,'PPT PSS-10B'!$B$9:$C$18)</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PSS-10B'!$J$2:$J$7,'PPT PSS-10B'!$J$9:$J$18)</c:f>
              <c:numCache>
                <c:formatCode>0%</c:formatCode>
                <c:ptCount val="16"/>
                <c:pt idx="0">
                  <c:v>1</c:v>
                </c:pt>
                <c:pt idx="1">
                  <c:v>0.246</c:v>
                </c:pt>
                <c:pt idx="2">
                  <c:v>1</c:v>
                </c:pt>
                <c:pt idx="3">
                  <c:v>0.25600000000000001</c:v>
                </c:pt>
                <c:pt idx="4">
                  <c:v>1</c:v>
                </c:pt>
                <c:pt idx="5">
                  <c:v>0.156</c:v>
                </c:pt>
                <c:pt idx="6">
                  <c:v>1</c:v>
                </c:pt>
                <c:pt idx="7">
                  <c:v>0.10400000000000001</c:v>
                </c:pt>
                <c:pt idx="8">
                  <c:v>1</c:v>
                </c:pt>
                <c:pt idx="9">
                  <c:v>3.2000000000000001E-2</c:v>
                </c:pt>
                <c:pt idx="10">
                  <c:v>0.99999999999999989</c:v>
                </c:pt>
                <c:pt idx="11">
                  <c:v>0</c:v>
                </c:pt>
                <c:pt idx="12">
                  <c:v>1</c:v>
                </c:pt>
                <c:pt idx="13">
                  <c:v>0</c:v>
                </c:pt>
                <c:pt idx="14">
                  <c:v>1</c:v>
                </c:pt>
                <c:pt idx="15">
                  <c:v>0</c:v>
                </c:pt>
              </c:numCache>
            </c:numRef>
          </c:val>
          <c:extLst>
            <c:ext xmlns:c16="http://schemas.microsoft.com/office/drawing/2014/chart" uri="{C3380CC4-5D6E-409C-BE32-E72D297353CC}">
              <c16:uniqueId val="{0000001C-40CC-4D51-BD90-54782A4EA3B2}"/>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Progress-PSS-10(B)</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PSS-10B'!$J$41</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E39B-4819-9889-B079547306C2}"/>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E39B-4819-9889-B079547306C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PSS-10B'!$B$42:$C$43</c:f>
              <c:multiLvlStrCache>
                <c:ptCount val="2"/>
                <c:lvl>
                  <c:pt idx="0">
                    <c:v>Plan</c:v>
                  </c:pt>
                  <c:pt idx="1">
                    <c:v>Actual</c:v>
                  </c:pt>
                </c:lvl>
                <c:lvl>
                  <c:pt idx="0">
                    <c:v>BCF</c:v>
                  </c:pt>
                </c:lvl>
              </c:multiLvlStrCache>
            </c:multiLvlStrRef>
          </c:cat>
          <c:val>
            <c:numRef>
              <c:f>'PPT PSS-10B'!$J$42:$J$43</c:f>
              <c:numCache>
                <c:formatCode>0%</c:formatCode>
                <c:ptCount val="2"/>
                <c:pt idx="0">
                  <c:v>1</c:v>
                </c:pt>
                <c:pt idx="1">
                  <c:v>0.78766666666666674</c:v>
                </c:pt>
              </c:numCache>
            </c:numRef>
          </c:val>
          <c:extLst>
            <c:ext xmlns:c16="http://schemas.microsoft.com/office/drawing/2014/chart" uri="{C3380CC4-5D6E-409C-BE32-E72D297353CC}">
              <c16:uniqueId val="{00000004-E39B-4819-9889-B079547306C2}"/>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Progress-PSS-09 </a:t>
            </a:r>
          </a:p>
        </c:rich>
      </c:tx>
      <c:layout>
        <c:manualLayout>
          <c:xMode val="edge"/>
          <c:yMode val="edge"/>
          <c:x val="0.28471071430415151"/>
          <c:y val="0"/>
        </c:manualLayout>
      </c:layout>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PSS-09'!$J$2</c:f>
              <c:strCache>
                <c:ptCount val="1"/>
                <c:pt idx="0">
                  <c:v>Progress</c:v>
                </c:pt>
              </c:strCache>
            </c:strRef>
          </c:tx>
          <c:spPr>
            <a:pattFill prst="narHorz">
              <a:fgClr>
                <a:schemeClr val="accent1"/>
              </a:fgClr>
              <a:bgClr>
                <a:schemeClr val="accent1">
                  <a:lumMod val="20000"/>
                  <a:lumOff val="80000"/>
                </a:schemeClr>
              </a:bgClr>
            </a:pattFill>
            <a:ln>
              <a:solidFill>
                <a:schemeClr val="accent1"/>
              </a:solidFill>
            </a:ln>
            <a:effectLst>
              <a:innerShdw blurRad="114300">
                <a:schemeClr val="accent1"/>
              </a:innerShdw>
            </a:effectLst>
          </c:spPr>
          <c:invertIfNegative val="0"/>
          <c:dPt>
            <c:idx val="0"/>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01-76BB-4A0A-A770-A8D8B03E42FF}"/>
              </c:ext>
            </c:extLst>
          </c:dPt>
          <c:dPt>
            <c:idx val="1"/>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03-76BB-4A0A-A770-A8D8B03E42FF}"/>
              </c:ext>
            </c:extLst>
          </c:dPt>
          <c:dPt>
            <c:idx val="2"/>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05-76BB-4A0A-A770-A8D8B03E42FF}"/>
              </c:ext>
            </c:extLst>
          </c:dPt>
          <c:dPt>
            <c:idx val="3"/>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07-76BB-4A0A-A770-A8D8B03E42FF}"/>
              </c:ext>
            </c:extLst>
          </c:dPt>
          <c:dPt>
            <c:idx val="4"/>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09-76BB-4A0A-A770-A8D8B03E42FF}"/>
              </c:ext>
            </c:extLst>
          </c:dPt>
          <c:dPt>
            <c:idx val="5"/>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0B-76BB-4A0A-A770-A8D8B03E42FF}"/>
              </c:ext>
            </c:extLst>
          </c:dPt>
          <c:dPt>
            <c:idx val="6"/>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0D-76BB-4A0A-A770-A8D8B03E42FF}"/>
              </c:ext>
            </c:extLst>
          </c:dPt>
          <c:dPt>
            <c:idx val="7"/>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0F-76BB-4A0A-A770-A8D8B03E42FF}"/>
              </c:ext>
            </c:extLst>
          </c:dPt>
          <c:dPt>
            <c:idx val="8"/>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11-76BB-4A0A-A770-A8D8B03E42FF}"/>
              </c:ext>
            </c:extLst>
          </c:dPt>
          <c:dPt>
            <c:idx val="9"/>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13-76BB-4A0A-A770-A8D8B03E42FF}"/>
              </c:ext>
            </c:extLst>
          </c:dPt>
          <c:dPt>
            <c:idx val="10"/>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15-76BB-4A0A-A770-A8D8B03E42FF}"/>
              </c:ext>
            </c:extLst>
          </c:dPt>
          <c:dPt>
            <c:idx val="11"/>
            <c:invertIfNegative val="0"/>
            <c:bubble3D val="0"/>
            <c:spPr>
              <a:solidFill>
                <a:srgbClr val="FF0000"/>
              </a:solidFill>
              <a:ln>
                <a:solidFill>
                  <a:schemeClr val="accent1"/>
                </a:solidFill>
              </a:ln>
              <a:effectLst>
                <a:innerShdw blurRad="114300">
                  <a:schemeClr val="accent1"/>
                </a:innerShdw>
              </a:effectLst>
            </c:spPr>
            <c:extLst>
              <c:ext xmlns:c16="http://schemas.microsoft.com/office/drawing/2014/chart" uri="{C3380CC4-5D6E-409C-BE32-E72D297353CC}">
                <c16:uniqueId val="{00000017-76BB-4A0A-A770-A8D8B03E42FF}"/>
              </c:ext>
            </c:extLst>
          </c:dPt>
          <c:dPt>
            <c:idx val="12"/>
            <c:invertIfNegative val="0"/>
            <c:bubble3D val="0"/>
            <c:spPr>
              <a:solidFill>
                <a:srgbClr val="0070C0"/>
              </a:solidFill>
              <a:ln>
                <a:solidFill>
                  <a:schemeClr val="accent1"/>
                </a:solidFill>
              </a:ln>
              <a:effectLst>
                <a:innerShdw blurRad="114300">
                  <a:schemeClr val="accent1"/>
                </a:innerShdw>
              </a:effectLst>
            </c:spPr>
            <c:extLst>
              <c:ext xmlns:c16="http://schemas.microsoft.com/office/drawing/2014/chart" uri="{C3380CC4-5D6E-409C-BE32-E72D297353CC}">
                <c16:uniqueId val="{00000019-76BB-4A0A-A770-A8D8B03E42FF}"/>
              </c:ext>
            </c:extLst>
          </c:dPt>
          <c:dPt>
            <c:idx val="14"/>
            <c:invertIfNegative val="0"/>
            <c:bubble3D val="0"/>
            <c:spPr>
              <a:solidFill>
                <a:srgbClr val="0070C0"/>
              </a:solidFill>
              <a:ln>
                <a:solidFill>
                  <a:srgbClr val="00B0F0"/>
                </a:solidFill>
              </a:ln>
              <a:effectLst>
                <a:innerShdw blurRad="114300">
                  <a:schemeClr val="accent1"/>
                </a:innerShdw>
              </a:effectLst>
            </c:spPr>
            <c:extLst>
              <c:ext xmlns:c16="http://schemas.microsoft.com/office/drawing/2014/chart" uri="{C3380CC4-5D6E-409C-BE32-E72D297353CC}">
                <c16:uniqueId val="{0000001B-76BB-4A0A-A770-A8D8B03E42FF}"/>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PSS-09'!$B$3:$C$8,'PPT PSS-09'!$B$10:$C$19)</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PSS-09'!$J$3:$J$8,'PPT PSS-09'!$J$10:$J$19)</c:f>
              <c:numCache>
                <c:formatCode>0%</c:formatCode>
                <c:ptCount val="16"/>
                <c:pt idx="0">
                  <c:v>1</c:v>
                </c:pt>
                <c:pt idx="1">
                  <c:v>0.21185185185185185</c:v>
                </c:pt>
                <c:pt idx="2">
                  <c:v>1</c:v>
                </c:pt>
                <c:pt idx="3">
                  <c:v>0.29333333333333333</c:v>
                </c:pt>
                <c:pt idx="4">
                  <c:v>1</c:v>
                </c:pt>
                <c:pt idx="5">
                  <c:v>0.38666666666666666</c:v>
                </c:pt>
                <c:pt idx="6">
                  <c:v>1</c:v>
                </c:pt>
                <c:pt idx="7">
                  <c:v>0.38629629629629625</c:v>
                </c:pt>
                <c:pt idx="8">
                  <c:v>1</c:v>
                </c:pt>
                <c:pt idx="9">
                  <c:v>0</c:v>
                </c:pt>
                <c:pt idx="10">
                  <c:v>0.99999999999999989</c:v>
                </c:pt>
                <c:pt idx="11">
                  <c:v>0</c:v>
                </c:pt>
                <c:pt idx="12">
                  <c:v>1</c:v>
                </c:pt>
                <c:pt idx="13">
                  <c:v>0</c:v>
                </c:pt>
                <c:pt idx="14">
                  <c:v>1</c:v>
                </c:pt>
                <c:pt idx="15">
                  <c:v>0</c:v>
                </c:pt>
              </c:numCache>
            </c:numRef>
          </c:val>
          <c:extLst>
            <c:ext xmlns:c16="http://schemas.microsoft.com/office/drawing/2014/chart" uri="{C3380CC4-5D6E-409C-BE32-E72D297353CC}">
              <c16:uniqueId val="{0000001C-76BB-4A0A-A770-A8D8B03E42FF}"/>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Progress-PSS-09</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PSS-09'!$J$42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F65C-4CD6-9495-8F1FB559AA2E}"/>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F65C-4CD6-9495-8F1FB559AA2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PSS-09'!$B$43:$C$44,'PPT PSS-09'!$J$43:$J$44)</c:f>
              <c:multiLvlStrCache>
                <c:ptCount val="4"/>
                <c:lvl>
                  <c:pt idx="0">
                    <c:v>Plan</c:v>
                  </c:pt>
                  <c:pt idx="1">
                    <c:v>Actual</c:v>
                  </c:pt>
                  <c:pt idx="2">
                    <c:v>100%</c:v>
                  </c:pt>
                  <c:pt idx="3">
                    <c:v>44%</c:v>
                  </c:pt>
                </c:lvl>
                <c:lvl>
                  <c:pt idx="0">
                    <c:v>BCF</c:v>
                  </c:pt>
                </c:lvl>
              </c:multiLvlStrCache>
            </c:multiLvlStrRef>
          </c:cat>
          <c:val>
            <c:numRef>
              <c:f>'PPT PSS-09'!$J$43:$J$44</c:f>
              <c:numCache>
                <c:formatCode>0%</c:formatCode>
                <c:ptCount val="2"/>
                <c:pt idx="0">
                  <c:v>1</c:v>
                </c:pt>
                <c:pt idx="1">
                  <c:v>0.44000000000000006</c:v>
                </c:pt>
              </c:numCache>
            </c:numRef>
          </c:val>
          <c:extLst>
            <c:ext xmlns:c16="http://schemas.microsoft.com/office/drawing/2014/chart" uri="{C3380CC4-5D6E-409C-BE32-E72D297353CC}">
              <c16:uniqueId val="{00000004-F65C-4CD6-9495-8F1FB559AA2E}"/>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Progress-PSS-05(B) </a:t>
            </a:r>
          </a:p>
        </c:rich>
      </c:tx>
      <c:layout>
        <c:manualLayout>
          <c:xMode val="edge"/>
          <c:yMode val="edge"/>
          <c:x val="0.28471071430415151"/>
          <c:y val="0"/>
        </c:manualLayout>
      </c:layout>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PSS-05(B)'!$J$2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9732-4E8A-BA60-B113C2553C25}"/>
              </c:ext>
            </c:extLst>
          </c:dPt>
          <c:dPt>
            <c:idx val="1"/>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3-9732-4E8A-BA60-B113C2553C25}"/>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9732-4E8A-BA60-B113C2553C25}"/>
              </c:ext>
            </c:extLst>
          </c:dPt>
          <c:dPt>
            <c:idx val="3"/>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7-9732-4E8A-BA60-B113C2553C25}"/>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9732-4E8A-BA60-B113C2553C25}"/>
              </c:ext>
            </c:extLst>
          </c:dPt>
          <c:dPt>
            <c:idx val="5"/>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B-9732-4E8A-BA60-B113C2553C25}"/>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9732-4E8A-BA60-B113C2553C25}"/>
              </c:ext>
            </c:extLst>
          </c:dPt>
          <c:dPt>
            <c:idx val="7"/>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F-9732-4E8A-BA60-B113C2553C25}"/>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9732-4E8A-BA60-B113C2553C25}"/>
              </c:ext>
            </c:extLst>
          </c:dPt>
          <c:dPt>
            <c:idx val="9"/>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13-9732-4E8A-BA60-B113C2553C25}"/>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9732-4E8A-BA60-B113C2553C25}"/>
              </c:ext>
            </c:extLst>
          </c:dPt>
          <c:dPt>
            <c:idx val="11"/>
            <c:invertIfNegative val="0"/>
            <c:bubble3D val="0"/>
            <c:spPr>
              <a:solidFill>
                <a:srgbClr val="FF0000"/>
              </a:solidFill>
              <a:ln>
                <a:solidFill>
                  <a:srgbClr val="FF0000"/>
                </a:solidFill>
              </a:ln>
              <a:effectLst>
                <a:innerShdw blurRad="114300">
                  <a:schemeClr val="accent1"/>
                </a:innerShdw>
              </a:effectLst>
            </c:spPr>
            <c:extLst>
              <c:ext xmlns:c16="http://schemas.microsoft.com/office/drawing/2014/chart" uri="{C3380CC4-5D6E-409C-BE32-E72D297353CC}">
                <c16:uniqueId val="{00000017-9732-4E8A-BA60-B113C2553C25}"/>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9732-4E8A-BA60-B113C2553C25}"/>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B-9732-4E8A-BA60-B113C2553C25}"/>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PSS-05(B)'!$B$3:$C$8,'PPT PSS-05(B)'!$B$10:$C$19)</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PSS-05(B)'!$J$3:$J$8,'PPT PSS-05(B)'!$J$10:$J$19)</c:f>
              <c:numCache>
                <c:formatCode>0%</c:formatCode>
                <c:ptCount val="16"/>
                <c:pt idx="0">
                  <c:v>1</c:v>
                </c:pt>
                <c:pt idx="1">
                  <c:v>8.8571428571428579E-2</c:v>
                </c:pt>
                <c:pt idx="2">
                  <c:v>1</c:v>
                </c:pt>
                <c:pt idx="3">
                  <c:v>0.08</c:v>
                </c:pt>
                <c:pt idx="4">
                  <c:v>0.996</c:v>
                </c:pt>
                <c:pt idx="5">
                  <c:v>0.08</c:v>
                </c:pt>
                <c:pt idx="6">
                  <c:v>1</c:v>
                </c:pt>
                <c:pt idx="7">
                  <c:v>0.10178571428571428</c:v>
                </c:pt>
                <c:pt idx="8">
                  <c:v>1</c:v>
                </c:pt>
                <c:pt idx="9">
                  <c:v>0</c:v>
                </c:pt>
                <c:pt idx="10">
                  <c:v>0.99999999999999989</c:v>
                </c:pt>
                <c:pt idx="11">
                  <c:v>0</c:v>
                </c:pt>
                <c:pt idx="12">
                  <c:v>1</c:v>
                </c:pt>
                <c:pt idx="13">
                  <c:v>0</c:v>
                </c:pt>
                <c:pt idx="14">
                  <c:v>1</c:v>
                </c:pt>
                <c:pt idx="15">
                  <c:v>0</c:v>
                </c:pt>
              </c:numCache>
            </c:numRef>
          </c:val>
          <c:extLst>
            <c:ext xmlns:c16="http://schemas.microsoft.com/office/drawing/2014/chart" uri="{C3380CC4-5D6E-409C-BE32-E72D297353CC}">
              <c16:uniqueId val="{0000001C-9732-4E8A-BA60-B113C2553C25}"/>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Progress-PSS-05(B)</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PSS-05(B)'!$J$42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4EA1-47EB-8B47-CBA65A44B690}"/>
              </c:ext>
            </c:extLst>
          </c:dPt>
          <c:dPt>
            <c:idx val="1"/>
            <c:invertIfNegative val="0"/>
            <c:bubble3D val="0"/>
            <c:spPr>
              <a:solidFill>
                <a:srgbClr val="FFFF00"/>
              </a:solidFill>
              <a:ln>
                <a:noFill/>
              </a:ln>
              <a:effectLst>
                <a:innerShdw blurRad="114300">
                  <a:schemeClr val="accent1"/>
                </a:innerShdw>
              </a:effectLst>
            </c:spPr>
            <c:extLst>
              <c:ext xmlns:c16="http://schemas.microsoft.com/office/drawing/2014/chart" uri="{C3380CC4-5D6E-409C-BE32-E72D297353CC}">
                <c16:uniqueId val="{00000003-4EA1-47EB-8B47-CBA65A44B69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PSS-05(B)'!$B$43:$C$44,'PPT PSS-05(B)'!$J$43:$J$44)</c:f>
              <c:multiLvlStrCache>
                <c:ptCount val="4"/>
                <c:lvl>
                  <c:pt idx="0">
                    <c:v>Plan</c:v>
                  </c:pt>
                  <c:pt idx="1">
                    <c:v>Actual</c:v>
                  </c:pt>
                  <c:pt idx="2">
                    <c:v>100%</c:v>
                  </c:pt>
                  <c:pt idx="3">
                    <c:v>43%</c:v>
                  </c:pt>
                </c:lvl>
                <c:lvl>
                  <c:pt idx="0">
                    <c:v>BCF</c:v>
                  </c:pt>
                </c:lvl>
              </c:multiLvlStrCache>
            </c:multiLvlStrRef>
          </c:cat>
          <c:val>
            <c:numRef>
              <c:f>'PPT PSS-05(B)'!$J$43:$J$44</c:f>
              <c:numCache>
                <c:formatCode>0%</c:formatCode>
                <c:ptCount val="2"/>
                <c:pt idx="0">
                  <c:v>1</c:v>
                </c:pt>
                <c:pt idx="1">
                  <c:v>0.42785714285714294</c:v>
                </c:pt>
              </c:numCache>
            </c:numRef>
          </c:val>
          <c:extLst>
            <c:ext xmlns:c16="http://schemas.microsoft.com/office/drawing/2014/chart" uri="{C3380CC4-5D6E-409C-BE32-E72D297353CC}">
              <c16:uniqueId val="{00000004-4EA1-47EB-8B47-CBA65A44B690}"/>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Progress-PSS-08(B) </a:t>
            </a:r>
          </a:p>
        </c:rich>
      </c:tx>
      <c:layout>
        <c:manualLayout>
          <c:xMode val="edge"/>
          <c:yMode val="edge"/>
          <c:x val="0.28471071430415151"/>
          <c:y val="0"/>
        </c:manualLayout>
      </c:layout>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PSS-08(B)'!$J$2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240B-4DBA-BBF6-2FF48085D61E}"/>
              </c:ext>
            </c:extLst>
          </c:dPt>
          <c:dPt>
            <c:idx val="1"/>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3-240B-4DBA-BBF6-2FF48085D61E}"/>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240B-4DBA-BBF6-2FF48085D61E}"/>
              </c:ext>
            </c:extLst>
          </c:dPt>
          <c:dPt>
            <c:idx val="3"/>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7-240B-4DBA-BBF6-2FF48085D61E}"/>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240B-4DBA-BBF6-2FF48085D61E}"/>
              </c:ext>
            </c:extLst>
          </c:dPt>
          <c:dPt>
            <c:idx val="5"/>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B-240B-4DBA-BBF6-2FF48085D61E}"/>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240B-4DBA-BBF6-2FF48085D61E}"/>
              </c:ext>
            </c:extLst>
          </c:dPt>
          <c:dPt>
            <c:idx val="7"/>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F-240B-4DBA-BBF6-2FF48085D61E}"/>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240B-4DBA-BBF6-2FF48085D61E}"/>
              </c:ext>
            </c:extLst>
          </c:dPt>
          <c:dPt>
            <c:idx val="9"/>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13-240B-4DBA-BBF6-2FF48085D61E}"/>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240B-4DBA-BBF6-2FF48085D61E}"/>
              </c:ext>
            </c:extLst>
          </c:dPt>
          <c:dPt>
            <c:idx val="11"/>
            <c:invertIfNegative val="0"/>
            <c:bubble3D val="0"/>
            <c:spPr>
              <a:solidFill>
                <a:srgbClr val="FF0000"/>
              </a:solidFill>
              <a:ln>
                <a:solidFill>
                  <a:srgbClr val="FF0000"/>
                </a:solidFill>
              </a:ln>
              <a:effectLst>
                <a:innerShdw blurRad="114300">
                  <a:schemeClr val="accent1"/>
                </a:innerShdw>
              </a:effectLst>
            </c:spPr>
            <c:extLst>
              <c:ext xmlns:c16="http://schemas.microsoft.com/office/drawing/2014/chart" uri="{C3380CC4-5D6E-409C-BE32-E72D297353CC}">
                <c16:uniqueId val="{00000017-240B-4DBA-BBF6-2FF48085D61E}"/>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240B-4DBA-BBF6-2FF48085D61E}"/>
              </c:ext>
            </c:extLst>
          </c:dPt>
          <c:dPt>
            <c:idx val="1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B-240B-4DBA-BBF6-2FF48085D61E}"/>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PSS-08(B)'!$B$3:$C$8,'PPT PSS-08(B)'!$B$10:$C$19)</c:f>
              <c:multiLvlStrCache>
                <c:ptCount val="16"/>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pt idx="14">
                    <c:v>Plan</c:v>
                  </c:pt>
                  <c:pt idx="15">
                    <c:v>Actual</c:v>
                  </c:pt>
                </c:lvl>
                <c:lvl>
                  <c:pt idx="0">
                    <c:v>PCS</c:v>
                  </c:pt>
                  <c:pt idx="2">
                    <c:v>SGR</c:v>
                  </c:pt>
                  <c:pt idx="4">
                    <c:v>MCR</c:v>
                  </c:pt>
                  <c:pt idx="6">
                    <c:v>CT</c:v>
                  </c:pt>
                  <c:pt idx="8">
                    <c:v>CSS</c:v>
                  </c:pt>
                  <c:pt idx="10">
                    <c:v>BOT </c:v>
                  </c:pt>
                  <c:pt idx="12">
                    <c:v>NIFPS</c:v>
                  </c:pt>
                  <c:pt idx="14">
                    <c:v>HF</c:v>
                  </c:pt>
                </c:lvl>
              </c:multiLvlStrCache>
            </c:multiLvlStrRef>
          </c:cat>
          <c:val>
            <c:numRef>
              <c:f>('PPT PSS-08(B)'!$J$3:$J$8,'PPT PSS-08(B)'!$J$10:$J$19)</c:f>
              <c:numCache>
                <c:formatCode>0%</c:formatCode>
                <c:ptCount val="16"/>
                <c:pt idx="0">
                  <c:v>1</c:v>
                </c:pt>
                <c:pt idx="1">
                  <c:v>0.20952380952380953</c:v>
                </c:pt>
                <c:pt idx="2">
                  <c:v>1</c:v>
                </c:pt>
                <c:pt idx="3">
                  <c:v>0.08</c:v>
                </c:pt>
                <c:pt idx="4">
                  <c:v>1</c:v>
                </c:pt>
                <c:pt idx="5">
                  <c:v>0.08</c:v>
                </c:pt>
                <c:pt idx="6">
                  <c:v>1</c:v>
                </c:pt>
                <c:pt idx="7">
                  <c:v>0.35142857142857142</c:v>
                </c:pt>
                <c:pt idx="8">
                  <c:v>1</c:v>
                </c:pt>
                <c:pt idx="9">
                  <c:v>0.08</c:v>
                </c:pt>
                <c:pt idx="10">
                  <c:v>0.99999999999999989</c:v>
                </c:pt>
                <c:pt idx="11">
                  <c:v>0</c:v>
                </c:pt>
                <c:pt idx="12">
                  <c:v>1</c:v>
                </c:pt>
                <c:pt idx="13">
                  <c:v>0</c:v>
                </c:pt>
                <c:pt idx="14">
                  <c:v>1</c:v>
                </c:pt>
                <c:pt idx="15">
                  <c:v>0</c:v>
                </c:pt>
              </c:numCache>
            </c:numRef>
          </c:val>
          <c:extLst>
            <c:ext xmlns:c16="http://schemas.microsoft.com/office/drawing/2014/chart" uri="{C3380CC4-5D6E-409C-BE32-E72D297353CC}">
              <c16:uniqueId val="{0000001C-240B-4DBA-BBF6-2FF48085D61E}"/>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Progress-PSS-08(B)</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PSS-08(B)'!$J$42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CF4E-4F35-8FC1-7C5C6578BC72}"/>
              </c:ext>
            </c:extLst>
          </c:dPt>
          <c:dPt>
            <c:idx val="1"/>
            <c:invertIfNegative val="0"/>
            <c:bubble3D val="0"/>
            <c:spPr>
              <a:solidFill>
                <a:srgbClr val="FF0000"/>
              </a:solidFill>
              <a:ln>
                <a:noFill/>
              </a:ln>
              <a:effectLst>
                <a:innerShdw blurRad="114300">
                  <a:schemeClr val="accent1"/>
                </a:innerShdw>
              </a:effectLst>
            </c:spPr>
            <c:extLst>
              <c:ext xmlns:c16="http://schemas.microsoft.com/office/drawing/2014/chart" uri="{C3380CC4-5D6E-409C-BE32-E72D297353CC}">
                <c16:uniqueId val="{00000003-CF4E-4F35-8FC1-7C5C6578BC7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PSS-08(B)'!$B$43:$C$44,'PPT PSS-08(B)'!$J$43:$J$44)</c:f>
              <c:multiLvlStrCache>
                <c:ptCount val="4"/>
                <c:lvl>
                  <c:pt idx="0">
                    <c:v>Plan</c:v>
                  </c:pt>
                  <c:pt idx="1">
                    <c:v>Actual</c:v>
                  </c:pt>
                  <c:pt idx="2">
                    <c:v>100%</c:v>
                  </c:pt>
                  <c:pt idx="3">
                    <c:v>34%</c:v>
                  </c:pt>
                </c:lvl>
                <c:lvl>
                  <c:pt idx="0">
                    <c:v>BCF</c:v>
                  </c:pt>
                </c:lvl>
              </c:multiLvlStrCache>
            </c:multiLvlStrRef>
          </c:cat>
          <c:val>
            <c:numRef>
              <c:f>'PPT PSS-08(B)'!$J$43:$J$44</c:f>
              <c:numCache>
                <c:formatCode>0%</c:formatCode>
                <c:ptCount val="2"/>
                <c:pt idx="0">
                  <c:v>1</c:v>
                </c:pt>
                <c:pt idx="1">
                  <c:v>0.34285714285714286</c:v>
                </c:pt>
              </c:numCache>
            </c:numRef>
          </c:val>
          <c:extLst>
            <c:ext xmlns:c16="http://schemas.microsoft.com/office/drawing/2014/chart" uri="{C3380CC4-5D6E-409C-BE32-E72D297353CC}">
              <c16:uniqueId val="{00000004-CF4E-4F35-8FC1-7C5C6578BC72}"/>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0"/>
        <c:lblAlgn val="ctr"/>
        <c:lblOffset val="100"/>
        <c:noMultiLvlLbl val="0"/>
      </c:catAx>
      <c:valAx>
        <c:axId val="1105326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1130869267658259E-2"/>
          <c:y val="4.1859267179946494E-2"/>
          <c:w val="0.89068340898774956"/>
          <c:h val="0.72135189938161193"/>
        </c:manualLayout>
      </c:layout>
      <c:barChart>
        <c:barDir val="col"/>
        <c:grouping val="stacked"/>
        <c:varyColors val="0"/>
        <c:ser>
          <c:idx val="0"/>
          <c:order val="0"/>
          <c:tx>
            <c:strRef>
              <c:f>Curve!$B$4</c:f>
              <c:strCache>
                <c:ptCount val="1"/>
                <c:pt idx="0">
                  <c:v>PSS-11</c:v>
                </c:pt>
              </c:strCache>
            </c:strRef>
          </c:tx>
          <c:spPr>
            <a:solidFill>
              <a:schemeClr val="accent1"/>
            </a:solidFill>
            <a:ln>
              <a:noFill/>
            </a:ln>
            <a:effectLst/>
          </c:spPr>
          <c:invertIfNegative val="0"/>
          <c:cat>
            <c:multiLvlStrRef>
              <c:f>Curve!$C$2:$N$3</c:f>
              <c:multiLvlStrCache>
                <c:ptCount val="12"/>
                <c:lvl>
                  <c:pt idx="0">
                    <c:v>Plan</c:v>
                  </c:pt>
                  <c:pt idx="1">
                    <c:v>Act</c:v>
                  </c:pt>
                  <c:pt idx="2">
                    <c:v>Plan</c:v>
                  </c:pt>
                  <c:pt idx="3">
                    <c:v>Act</c:v>
                  </c:pt>
                  <c:pt idx="4">
                    <c:v>Plan</c:v>
                  </c:pt>
                  <c:pt idx="5">
                    <c:v>Act</c:v>
                  </c:pt>
                  <c:pt idx="6">
                    <c:v>Plan</c:v>
                  </c:pt>
                  <c:pt idx="7">
                    <c:v>Act</c:v>
                  </c:pt>
                  <c:pt idx="8">
                    <c:v>Plan</c:v>
                  </c:pt>
                  <c:pt idx="9">
                    <c:v>Act</c:v>
                  </c:pt>
                  <c:pt idx="10">
                    <c:v>Plan</c:v>
                  </c:pt>
                  <c:pt idx="11">
                    <c:v>Act</c:v>
                  </c:pt>
                </c:lvl>
                <c:lvl>
                  <c:pt idx="0">
                    <c:v>Dec-25</c:v>
                  </c:pt>
                  <c:pt idx="2">
                    <c:v>Jan-26</c:v>
                  </c:pt>
                  <c:pt idx="4">
                    <c:v>Feb-26</c:v>
                  </c:pt>
                  <c:pt idx="6">
                    <c:v>Mar-26</c:v>
                  </c:pt>
                  <c:pt idx="8">
                    <c:v>Apr-26</c:v>
                  </c:pt>
                  <c:pt idx="10">
                    <c:v>May-26</c:v>
                  </c:pt>
                </c:lvl>
              </c:multiLvlStrCache>
            </c:multiLvlStrRef>
          </c:cat>
          <c:val>
            <c:numRef>
              <c:f>Curve!$C$4:$N$4</c:f>
              <c:numCache>
                <c:formatCode>0</c:formatCode>
                <c:ptCount val="12"/>
                <c:pt idx="0">
                  <c:v>3720</c:v>
                </c:pt>
                <c:pt idx="1">
                  <c:v>3304.6</c:v>
                </c:pt>
                <c:pt idx="2">
                  <c:v>10981.75</c:v>
                </c:pt>
                <c:pt idx="3">
                  <c:v>3495.25</c:v>
                </c:pt>
                <c:pt idx="4">
                  <c:v>15113</c:v>
                </c:pt>
                <c:pt idx="5">
                  <c:v>3318</c:v>
                </c:pt>
                <c:pt idx="6">
                  <c:v>15028.800000000001</c:v>
                </c:pt>
                <c:pt idx="7">
                  <c:v>4395.8</c:v>
                </c:pt>
                <c:pt idx="8">
                  <c:v>23790</c:v>
                </c:pt>
                <c:pt idx="9">
                  <c:v>4965</c:v>
                </c:pt>
                <c:pt idx="10">
                  <c:v>19111.5</c:v>
                </c:pt>
                <c:pt idx="11">
                  <c:v>6424.75</c:v>
                </c:pt>
              </c:numCache>
            </c:numRef>
          </c:val>
          <c:extLst>
            <c:ext xmlns:c16="http://schemas.microsoft.com/office/drawing/2014/chart" uri="{C3380CC4-5D6E-409C-BE32-E72D297353CC}">
              <c16:uniqueId val="{00000000-2FB3-4618-97F4-400ED344FC84}"/>
            </c:ext>
          </c:extLst>
        </c:ser>
        <c:ser>
          <c:idx val="1"/>
          <c:order val="1"/>
          <c:tx>
            <c:strRef>
              <c:f>Curve!$B$5</c:f>
              <c:strCache>
                <c:ptCount val="1"/>
                <c:pt idx="0">
                  <c:v>PSS-12</c:v>
                </c:pt>
              </c:strCache>
            </c:strRef>
          </c:tx>
          <c:spPr>
            <a:solidFill>
              <a:schemeClr val="accent2"/>
            </a:solidFill>
            <a:ln>
              <a:noFill/>
            </a:ln>
            <a:effectLst/>
          </c:spPr>
          <c:invertIfNegative val="0"/>
          <c:dLbls>
            <c:dLbl>
              <c:idx val="1"/>
              <c:layout>
                <c:manualLayout>
                  <c:x val="-3.0931291251108908E-3"/>
                  <c:y val="-1.11303530863505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FB3-4618-97F4-400ED344FC84}"/>
                </c:ext>
              </c:extLst>
            </c:dLbl>
            <c:dLbl>
              <c:idx val="2"/>
              <c:layout>
                <c:manualLayout>
                  <c:x val="0"/>
                  <c:y val="-4.81821591833300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FB3-4618-97F4-400ED344FC84}"/>
                </c:ext>
              </c:extLst>
            </c:dLbl>
            <c:dLbl>
              <c:idx val="3"/>
              <c:layout>
                <c:manualLayout>
                  <c:x val="2.6303166353477195E-2"/>
                  <c:y val="7.409134251339011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FB3-4618-97F4-400ED344FC84}"/>
                </c:ext>
              </c:extLst>
            </c:dLbl>
            <c:dLbl>
              <c:idx val="4"/>
              <c:layout>
                <c:manualLayout>
                  <c:x val="0"/>
                  <c:y val="-4.44556718027942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FB3-4618-97F4-400ED344FC84}"/>
                </c:ext>
              </c:extLst>
            </c:dLbl>
            <c:dLbl>
              <c:idx val="6"/>
              <c:delete val="1"/>
              <c:extLst>
                <c:ext xmlns:c15="http://schemas.microsoft.com/office/drawing/2012/chart" uri="{CE6537A1-D6FC-4f65-9D91-7224C49458BB}"/>
                <c:ext xmlns:c16="http://schemas.microsoft.com/office/drawing/2014/chart" uri="{C3380CC4-5D6E-409C-BE32-E72D297353CC}">
                  <c16:uniqueId val="{00000005-2FB3-4618-97F4-400ED344FC84}"/>
                </c:ext>
              </c:extLst>
            </c:dLbl>
            <c:dLbl>
              <c:idx val="8"/>
              <c:layout>
                <c:manualLayout>
                  <c:x val="-3.24778558136640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FB3-4618-97F4-400ED344FC84}"/>
                </c:ext>
              </c:extLst>
            </c:dLbl>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Curve!$C$2:$N$3</c:f>
              <c:multiLvlStrCache>
                <c:ptCount val="12"/>
                <c:lvl>
                  <c:pt idx="0">
                    <c:v>Plan</c:v>
                  </c:pt>
                  <c:pt idx="1">
                    <c:v>Act</c:v>
                  </c:pt>
                  <c:pt idx="2">
                    <c:v>Plan</c:v>
                  </c:pt>
                  <c:pt idx="3">
                    <c:v>Act</c:v>
                  </c:pt>
                  <c:pt idx="4">
                    <c:v>Plan</c:v>
                  </c:pt>
                  <c:pt idx="5">
                    <c:v>Act</c:v>
                  </c:pt>
                  <c:pt idx="6">
                    <c:v>Plan</c:v>
                  </c:pt>
                  <c:pt idx="7">
                    <c:v>Act</c:v>
                  </c:pt>
                  <c:pt idx="8">
                    <c:v>Plan</c:v>
                  </c:pt>
                  <c:pt idx="9">
                    <c:v>Act</c:v>
                  </c:pt>
                  <c:pt idx="10">
                    <c:v>Plan</c:v>
                  </c:pt>
                  <c:pt idx="11">
                    <c:v>Act</c:v>
                  </c:pt>
                </c:lvl>
                <c:lvl>
                  <c:pt idx="0">
                    <c:v>Dec-25</c:v>
                  </c:pt>
                  <c:pt idx="2">
                    <c:v>Jan-26</c:v>
                  </c:pt>
                  <c:pt idx="4">
                    <c:v>Feb-26</c:v>
                  </c:pt>
                  <c:pt idx="6">
                    <c:v>Mar-26</c:v>
                  </c:pt>
                  <c:pt idx="8">
                    <c:v>Apr-26</c:v>
                  </c:pt>
                  <c:pt idx="10">
                    <c:v>May-26</c:v>
                  </c:pt>
                </c:lvl>
              </c:multiLvlStrCache>
            </c:multiLvlStrRef>
          </c:cat>
          <c:val>
            <c:numRef>
              <c:f>Curve!$C$5:$N$5</c:f>
              <c:numCache>
                <c:formatCode>0</c:formatCode>
                <c:ptCount val="12"/>
                <c:pt idx="0">
                  <c:v>1860</c:v>
                </c:pt>
                <c:pt idx="1">
                  <c:v>527</c:v>
                </c:pt>
                <c:pt idx="2">
                  <c:v>11183.25</c:v>
                </c:pt>
                <c:pt idx="3">
                  <c:v>2092.5</c:v>
                </c:pt>
                <c:pt idx="4">
                  <c:v>17591</c:v>
                </c:pt>
                <c:pt idx="5">
                  <c:v>2821</c:v>
                </c:pt>
                <c:pt idx="6">
                  <c:v>13472.6</c:v>
                </c:pt>
                <c:pt idx="7">
                  <c:v>4321.4000000000005</c:v>
                </c:pt>
                <c:pt idx="8">
                  <c:v>17407.5</c:v>
                </c:pt>
                <c:pt idx="9">
                  <c:v>3195</c:v>
                </c:pt>
                <c:pt idx="10">
                  <c:v>20243</c:v>
                </c:pt>
                <c:pt idx="11">
                  <c:v>7261.75</c:v>
                </c:pt>
              </c:numCache>
            </c:numRef>
          </c:val>
          <c:extLst>
            <c:ext xmlns:c16="http://schemas.microsoft.com/office/drawing/2014/chart" uri="{C3380CC4-5D6E-409C-BE32-E72D297353CC}">
              <c16:uniqueId val="{00000007-2FB3-4618-97F4-400ED344FC84}"/>
            </c:ext>
          </c:extLst>
        </c:ser>
        <c:ser>
          <c:idx val="2"/>
          <c:order val="2"/>
          <c:tx>
            <c:strRef>
              <c:f>Curve!$B$6</c:f>
              <c:strCache>
                <c:ptCount val="1"/>
                <c:pt idx="0">
                  <c:v>PSS-05B</c:v>
                </c:pt>
              </c:strCache>
            </c:strRef>
          </c:tx>
          <c:spPr>
            <a:solidFill>
              <a:schemeClr val="accent2">
                <a:lumMod val="40000"/>
                <a:lumOff val="60000"/>
              </a:schemeClr>
            </a:solidFill>
            <a:ln>
              <a:noFill/>
            </a:ln>
            <a:effectLst/>
          </c:spPr>
          <c:invertIfNegative val="0"/>
          <c:dLbls>
            <c:dLbl>
              <c:idx val="3"/>
              <c:layout>
                <c:manualLayout>
                  <c:x val="9.2793873753325307E-3"/>
                  <c:y val="-3.71011769545016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FB3-4618-97F4-400ED344FC84}"/>
                </c:ext>
              </c:extLst>
            </c:dLbl>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Adani Regular"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Curve!$C$2:$N$3</c:f>
              <c:multiLvlStrCache>
                <c:ptCount val="12"/>
                <c:lvl>
                  <c:pt idx="0">
                    <c:v>Plan</c:v>
                  </c:pt>
                  <c:pt idx="1">
                    <c:v>Act</c:v>
                  </c:pt>
                  <c:pt idx="2">
                    <c:v>Plan</c:v>
                  </c:pt>
                  <c:pt idx="3">
                    <c:v>Act</c:v>
                  </c:pt>
                  <c:pt idx="4">
                    <c:v>Plan</c:v>
                  </c:pt>
                  <c:pt idx="5">
                    <c:v>Act</c:v>
                  </c:pt>
                  <c:pt idx="6">
                    <c:v>Plan</c:v>
                  </c:pt>
                  <c:pt idx="7">
                    <c:v>Act</c:v>
                  </c:pt>
                  <c:pt idx="8">
                    <c:v>Plan</c:v>
                  </c:pt>
                  <c:pt idx="9">
                    <c:v>Act</c:v>
                  </c:pt>
                  <c:pt idx="10">
                    <c:v>Plan</c:v>
                  </c:pt>
                  <c:pt idx="11">
                    <c:v>Act</c:v>
                  </c:pt>
                </c:lvl>
                <c:lvl>
                  <c:pt idx="0">
                    <c:v>Dec-25</c:v>
                  </c:pt>
                  <c:pt idx="2">
                    <c:v>Jan-26</c:v>
                  </c:pt>
                  <c:pt idx="4">
                    <c:v>Feb-26</c:v>
                  </c:pt>
                  <c:pt idx="6">
                    <c:v>Mar-26</c:v>
                  </c:pt>
                  <c:pt idx="8">
                    <c:v>Apr-26</c:v>
                  </c:pt>
                  <c:pt idx="10">
                    <c:v>May-26</c:v>
                  </c:pt>
                </c:lvl>
              </c:multiLvlStrCache>
            </c:multiLvlStrRef>
          </c:cat>
          <c:val>
            <c:numRef>
              <c:f>Curve!$C$6:$N$6</c:f>
              <c:numCache>
                <c:formatCode>General</c:formatCode>
                <c:ptCount val="12"/>
                <c:pt idx="2" formatCode="0">
                  <c:v>5270</c:v>
                </c:pt>
                <c:pt idx="3" formatCode="0">
                  <c:v>232.5</c:v>
                </c:pt>
                <c:pt idx="4" formatCode="0">
                  <c:v>6160</c:v>
                </c:pt>
                <c:pt idx="5" formatCode="0">
                  <c:v>700</c:v>
                </c:pt>
                <c:pt idx="6" formatCode="0">
                  <c:v>15134.199999999999</c:v>
                </c:pt>
                <c:pt idx="7" formatCode="0">
                  <c:v>1333</c:v>
                </c:pt>
                <c:pt idx="8" formatCode="0">
                  <c:v>17302.5</c:v>
                </c:pt>
                <c:pt idx="9" formatCode="0">
                  <c:v>2175</c:v>
                </c:pt>
                <c:pt idx="10" formatCode="0">
                  <c:v>6719.25</c:v>
                </c:pt>
                <c:pt idx="11" formatCode="0">
                  <c:v>1581</c:v>
                </c:pt>
              </c:numCache>
            </c:numRef>
          </c:val>
          <c:extLst>
            <c:ext xmlns:c16="http://schemas.microsoft.com/office/drawing/2014/chart" uri="{C3380CC4-5D6E-409C-BE32-E72D297353CC}">
              <c16:uniqueId val="{00000009-2FB3-4618-97F4-400ED344FC84}"/>
            </c:ext>
          </c:extLst>
        </c:ser>
        <c:ser>
          <c:idx val="3"/>
          <c:order val="3"/>
          <c:tx>
            <c:strRef>
              <c:f>Curve!$B$7</c:f>
              <c:strCache>
                <c:ptCount val="1"/>
                <c:pt idx="0">
                  <c:v>PSS-08B</c:v>
                </c:pt>
              </c:strCache>
            </c:strRef>
          </c:tx>
          <c:spPr>
            <a:solidFill>
              <a:schemeClr val="accent4"/>
            </a:solidFill>
            <a:ln>
              <a:noFill/>
            </a:ln>
            <a:effectLst/>
          </c:spPr>
          <c:invertIfNegative val="0"/>
          <c:dLbls>
            <c:dLbl>
              <c:idx val="8"/>
              <c:layout>
                <c:manualLayout>
                  <c:x val="-2.9384726688553194E-2"/>
                  <c:y val="-7.420235390900337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FB3-4618-97F4-400ED344FC84}"/>
                </c:ext>
              </c:extLst>
            </c:dLbl>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Adani Regular"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Curve!$C$2:$N$3</c:f>
              <c:multiLvlStrCache>
                <c:ptCount val="12"/>
                <c:lvl>
                  <c:pt idx="0">
                    <c:v>Plan</c:v>
                  </c:pt>
                  <c:pt idx="1">
                    <c:v>Act</c:v>
                  </c:pt>
                  <c:pt idx="2">
                    <c:v>Plan</c:v>
                  </c:pt>
                  <c:pt idx="3">
                    <c:v>Act</c:v>
                  </c:pt>
                  <c:pt idx="4">
                    <c:v>Plan</c:v>
                  </c:pt>
                  <c:pt idx="5">
                    <c:v>Act</c:v>
                  </c:pt>
                  <c:pt idx="6">
                    <c:v>Plan</c:v>
                  </c:pt>
                  <c:pt idx="7">
                    <c:v>Act</c:v>
                  </c:pt>
                  <c:pt idx="8">
                    <c:v>Plan</c:v>
                  </c:pt>
                  <c:pt idx="9">
                    <c:v>Act</c:v>
                  </c:pt>
                  <c:pt idx="10">
                    <c:v>Plan</c:v>
                  </c:pt>
                  <c:pt idx="11">
                    <c:v>Act</c:v>
                  </c:pt>
                </c:lvl>
                <c:lvl>
                  <c:pt idx="0">
                    <c:v>Dec-25</c:v>
                  </c:pt>
                  <c:pt idx="2">
                    <c:v>Jan-26</c:v>
                  </c:pt>
                  <c:pt idx="4">
                    <c:v>Feb-26</c:v>
                  </c:pt>
                  <c:pt idx="6">
                    <c:v>Mar-26</c:v>
                  </c:pt>
                  <c:pt idx="8">
                    <c:v>Apr-26</c:v>
                  </c:pt>
                  <c:pt idx="10">
                    <c:v>May-26</c:v>
                  </c:pt>
                </c:lvl>
              </c:multiLvlStrCache>
            </c:multiLvlStrRef>
          </c:cat>
          <c:val>
            <c:numRef>
              <c:f>Curve!$C$7:$N$7</c:f>
              <c:numCache>
                <c:formatCode>General</c:formatCode>
                <c:ptCount val="12"/>
                <c:pt idx="2" formatCode="0">
                  <c:v>1867.75</c:v>
                </c:pt>
                <c:pt idx="3" formatCode="0">
                  <c:v>0</c:v>
                </c:pt>
                <c:pt idx="4" formatCode="0">
                  <c:v>3864</c:v>
                </c:pt>
                <c:pt idx="5" formatCode="0">
                  <c:v>357</c:v>
                </c:pt>
                <c:pt idx="6" formatCode="0">
                  <c:v>8450.6</c:v>
                </c:pt>
                <c:pt idx="7" formatCode="0">
                  <c:v>1357.8</c:v>
                </c:pt>
                <c:pt idx="8" formatCode="0">
                  <c:v>12000</c:v>
                </c:pt>
                <c:pt idx="9" formatCode="0">
                  <c:v>1162.5</c:v>
                </c:pt>
                <c:pt idx="10" formatCode="0">
                  <c:v>8943.5</c:v>
                </c:pt>
                <c:pt idx="11" formatCode="0">
                  <c:v>1751.5</c:v>
                </c:pt>
              </c:numCache>
            </c:numRef>
          </c:val>
          <c:extLst>
            <c:ext xmlns:c16="http://schemas.microsoft.com/office/drawing/2014/chart" uri="{C3380CC4-5D6E-409C-BE32-E72D297353CC}">
              <c16:uniqueId val="{0000000B-2FB3-4618-97F4-400ED344FC84}"/>
            </c:ext>
          </c:extLst>
        </c:ser>
        <c:dLbls>
          <c:showLegendKey val="0"/>
          <c:showVal val="0"/>
          <c:showCatName val="0"/>
          <c:showSerName val="0"/>
          <c:showPercent val="0"/>
          <c:showBubbleSize val="0"/>
        </c:dLbls>
        <c:gapWidth val="150"/>
        <c:overlap val="100"/>
        <c:axId val="1528008864"/>
        <c:axId val="1528012704"/>
      </c:barChart>
      <c:barChart>
        <c:barDir val="col"/>
        <c:grouping val="stacked"/>
        <c:varyColors val="0"/>
        <c:ser>
          <c:idx val="4"/>
          <c:order val="4"/>
          <c:tx>
            <c:strRef>
              <c:f>Curve!$B$8</c:f>
              <c:strCache>
                <c:ptCount val="1"/>
                <c:pt idx="0">
                  <c:v>PSS-09</c:v>
                </c:pt>
              </c:strCache>
            </c:strRef>
          </c:tx>
          <c:spPr>
            <a:solidFill>
              <a:schemeClr val="accent5"/>
            </a:solidFill>
            <a:ln>
              <a:noFill/>
            </a:ln>
            <a:effectLst/>
          </c:spPr>
          <c:invertIfNegative val="0"/>
          <c:dLbls>
            <c:dLbl>
              <c:idx val="5"/>
              <c:layout>
                <c:manualLayout>
                  <c:x val="-2.7838162125997764E-2"/>
                  <c:y val="-1.11303530863505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FB3-4618-97F4-400ED344FC84}"/>
                </c:ext>
              </c:extLst>
            </c:dLbl>
            <c:dLbl>
              <c:idx val="8"/>
              <c:layout>
                <c:manualLayout>
                  <c:x val="-1.5465645625554313E-3"/>
                  <c:y val="-3.7101176954501686E-3"/>
                </c:manualLayout>
              </c:layout>
              <c:spPr>
                <a:noFill/>
                <a:ln>
                  <a:noFill/>
                </a:ln>
                <a:effectLst/>
              </c:spPr>
              <c:txPr>
                <a:bodyPr rot="0" spcFirstLastPara="1" vertOverflow="ellipsis" vert="horz" wrap="square" lIns="38100" tIns="19050" rIns="38100" bIns="19050" anchor="ctr" anchorCtr="1">
                  <a:spAutoFit/>
                </a:bodyPr>
                <a:lstStyle/>
                <a:p>
                  <a:pPr>
                    <a:defRPr sz="300" b="1" i="0" u="none" strike="noStrike" kern="1200" baseline="0">
                      <a:solidFill>
                        <a:schemeClr val="tx1"/>
                      </a:solidFill>
                      <a:latin typeface="Adani Regular" panose="02000503000000020004" pitchFamily="2"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FB3-4618-97F4-400ED344FC84}"/>
                </c:ext>
              </c:extLst>
            </c:dLbl>
            <c:spPr>
              <a:noFill/>
              <a:ln>
                <a:noFill/>
              </a:ln>
              <a:effectLst/>
            </c:spPr>
            <c:txPr>
              <a:bodyPr rot="0" spcFirstLastPara="1" vertOverflow="ellipsis" vert="horz" wrap="square" lIns="38100" tIns="19050" rIns="38100" bIns="19050" anchor="ctr" anchorCtr="1">
                <a:spAutoFit/>
              </a:bodyPr>
              <a:lstStyle/>
              <a:p>
                <a:pPr>
                  <a:defRPr sz="300" b="0" i="0" u="none" strike="noStrike" kern="1200" baseline="0">
                    <a:solidFill>
                      <a:schemeClr val="tx1">
                        <a:lumMod val="75000"/>
                        <a:lumOff val="25000"/>
                      </a:schemeClr>
                    </a:solidFill>
                    <a:latin typeface="Adani Regular"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Curve!$C$2:$N$3</c:f>
              <c:multiLvlStrCache>
                <c:ptCount val="12"/>
                <c:lvl>
                  <c:pt idx="0">
                    <c:v>Plan</c:v>
                  </c:pt>
                  <c:pt idx="1">
                    <c:v>Act</c:v>
                  </c:pt>
                  <c:pt idx="2">
                    <c:v>Plan</c:v>
                  </c:pt>
                  <c:pt idx="3">
                    <c:v>Act</c:v>
                  </c:pt>
                  <c:pt idx="4">
                    <c:v>Plan</c:v>
                  </c:pt>
                  <c:pt idx="5">
                    <c:v>Act</c:v>
                  </c:pt>
                  <c:pt idx="6">
                    <c:v>Plan</c:v>
                  </c:pt>
                  <c:pt idx="7">
                    <c:v>Act</c:v>
                  </c:pt>
                  <c:pt idx="8">
                    <c:v>Plan</c:v>
                  </c:pt>
                  <c:pt idx="9">
                    <c:v>Act</c:v>
                  </c:pt>
                  <c:pt idx="10">
                    <c:v>Plan</c:v>
                  </c:pt>
                  <c:pt idx="11">
                    <c:v>Act</c:v>
                  </c:pt>
                </c:lvl>
                <c:lvl>
                  <c:pt idx="0">
                    <c:v>Dec-25</c:v>
                  </c:pt>
                  <c:pt idx="2">
                    <c:v>Jan-26</c:v>
                  </c:pt>
                  <c:pt idx="4">
                    <c:v>Feb-26</c:v>
                  </c:pt>
                  <c:pt idx="6">
                    <c:v>Mar-26</c:v>
                  </c:pt>
                  <c:pt idx="8">
                    <c:v>Apr-26</c:v>
                  </c:pt>
                  <c:pt idx="10">
                    <c:v>May-26</c:v>
                  </c:pt>
                </c:lvl>
              </c:multiLvlStrCache>
            </c:multiLvlStrRef>
          </c:cat>
          <c:val>
            <c:numRef>
              <c:f>Curve!$C$8:$N$8</c:f>
              <c:numCache>
                <c:formatCode>General</c:formatCode>
                <c:ptCount val="12"/>
                <c:pt idx="2" formatCode="0">
                  <c:v>4293.5</c:v>
                </c:pt>
                <c:pt idx="3" formatCode="0">
                  <c:v>240.25</c:v>
                </c:pt>
                <c:pt idx="4" formatCode="0">
                  <c:v>9051</c:v>
                </c:pt>
                <c:pt idx="5" formatCode="0">
                  <c:v>1057</c:v>
                </c:pt>
                <c:pt idx="6" formatCode="0">
                  <c:v>18110.2</c:v>
                </c:pt>
                <c:pt idx="7" formatCode="0">
                  <c:v>3850.2000000000003</c:v>
                </c:pt>
                <c:pt idx="8" formatCode="0">
                  <c:v>25320</c:v>
                </c:pt>
                <c:pt idx="9" formatCode="0">
                  <c:v>3530</c:v>
                </c:pt>
                <c:pt idx="10" formatCode="0">
                  <c:v>6665</c:v>
                </c:pt>
                <c:pt idx="11" formatCode="0">
                  <c:v>2154.5</c:v>
                </c:pt>
              </c:numCache>
            </c:numRef>
          </c:val>
          <c:extLst>
            <c:ext xmlns:c16="http://schemas.microsoft.com/office/drawing/2014/chart" uri="{C3380CC4-5D6E-409C-BE32-E72D297353CC}">
              <c16:uniqueId val="{0000000E-2FB3-4618-97F4-400ED344FC84}"/>
            </c:ext>
          </c:extLst>
        </c:ser>
        <c:ser>
          <c:idx val="5"/>
          <c:order val="5"/>
          <c:tx>
            <c:strRef>
              <c:f>Curve!$B$9</c:f>
              <c:strCache>
                <c:ptCount val="1"/>
                <c:pt idx="0">
                  <c:v>PSS-10B</c:v>
                </c:pt>
              </c:strCache>
            </c:strRef>
          </c:tx>
          <c:spPr>
            <a:solidFill>
              <a:schemeClr val="accent6"/>
            </a:solidFill>
            <a:ln>
              <a:noFill/>
            </a:ln>
            <a:effectLst/>
          </c:spPr>
          <c:invertIfNegative val="0"/>
          <c:dLbls>
            <c:dLbl>
              <c:idx val="3"/>
              <c:layout>
                <c:manualLayout>
                  <c:x val="-3.0931291251108627E-2"/>
                  <c:y val="-7.420235390900337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2FB3-4618-97F4-400ED344FC84}"/>
                </c:ext>
              </c:extLst>
            </c:dLbl>
            <c:dLbl>
              <c:idx val="5"/>
              <c:layout>
                <c:manualLayout>
                  <c:x val="2.4756601790921706E-2"/>
                  <c:y val="3.699016555888979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2FB3-4618-97F4-400ED344FC84}"/>
                </c:ext>
              </c:extLst>
            </c:dLbl>
            <c:dLbl>
              <c:idx val="6"/>
              <c:layout>
                <c:manualLayout>
                  <c:x val="-3.7130802510178688E-2"/>
                  <c:y val="-2.63315344561012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2FB3-4618-97F4-400ED344FC84}"/>
                </c:ext>
              </c:extLst>
            </c:dLbl>
            <c:dLbl>
              <c:idx val="8"/>
              <c:layout>
                <c:manualLayout>
                  <c:x val="-3.247785581366406E-2"/>
                  <c:y val="-1.48404707818008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2FB3-4618-97F4-400ED344FC84}"/>
                </c:ext>
              </c:extLst>
            </c:dLbl>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Adani Regular"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Curve!$C$2:$N$3</c:f>
              <c:multiLvlStrCache>
                <c:ptCount val="12"/>
                <c:lvl>
                  <c:pt idx="0">
                    <c:v>Plan</c:v>
                  </c:pt>
                  <c:pt idx="1">
                    <c:v>Act</c:v>
                  </c:pt>
                  <c:pt idx="2">
                    <c:v>Plan</c:v>
                  </c:pt>
                  <c:pt idx="3">
                    <c:v>Act</c:v>
                  </c:pt>
                  <c:pt idx="4">
                    <c:v>Plan</c:v>
                  </c:pt>
                  <c:pt idx="5">
                    <c:v>Act</c:v>
                  </c:pt>
                  <c:pt idx="6">
                    <c:v>Plan</c:v>
                  </c:pt>
                  <c:pt idx="7">
                    <c:v>Act</c:v>
                  </c:pt>
                  <c:pt idx="8">
                    <c:v>Plan</c:v>
                  </c:pt>
                  <c:pt idx="9">
                    <c:v>Act</c:v>
                  </c:pt>
                  <c:pt idx="10">
                    <c:v>Plan</c:v>
                  </c:pt>
                  <c:pt idx="11">
                    <c:v>Act</c:v>
                  </c:pt>
                </c:lvl>
                <c:lvl>
                  <c:pt idx="0">
                    <c:v>Dec-25</c:v>
                  </c:pt>
                  <c:pt idx="2">
                    <c:v>Jan-26</c:v>
                  </c:pt>
                  <c:pt idx="4">
                    <c:v>Feb-26</c:v>
                  </c:pt>
                  <c:pt idx="6">
                    <c:v>Mar-26</c:v>
                  </c:pt>
                  <c:pt idx="8">
                    <c:v>Apr-26</c:v>
                  </c:pt>
                  <c:pt idx="10">
                    <c:v>May-26</c:v>
                  </c:pt>
                </c:lvl>
              </c:multiLvlStrCache>
            </c:multiLvlStrRef>
          </c:cat>
          <c:val>
            <c:numRef>
              <c:f>Curve!$C$9:$N$9</c:f>
              <c:numCache>
                <c:formatCode>0</c:formatCode>
                <c:ptCount val="12"/>
                <c:pt idx="0">
                  <c:v>3554.666666666667</c:v>
                </c:pt>
                <c:pt idx="1">
                  <c:v>1787.6666666666665</c:v>
                </c:pt>
                <c:pt idx="2">
                  <c:v>10555.5</c:v>
                </c:pt>
                <c:pt idx="3">
                  <c:v>1170.25</c:v>
                </c:pt>
                <c:pt idx="4">
                  <c:v>12047</c:v>
                </c:pt>
                <c:pt idx="5">
                  <c:v>980</c:v>
                </c:pt>
                <c:pt idx="6">
                  <c:v>6900.5999999999995</c:v>
                </c:pt>
                <c:pt idx="7">
                  <c:v>899</c:v>
                </c:pt>
                <c:pt idx="8">
                  <c:v>8895</c:v>
                </c:pt>
                <c:pt idx="9">
                  <c:v>780</c:v>
                </c:pt>
                <c:pt idx="10">
                  <c:v>8664.5</c:v>
                </c:pt>
                <c:pt idx="11">
                  <c:v>1131.5</c:v>
                </c:pt>
              </c:numCache>
            </c:numRef>
          </c:val>
          <c:extLst>
            <c:ext xmlns:c16="http://schemas.microsoft.com/office/drawing/2014/chart" uri="{C3380CC4-5D6E-409C-BE32-E72D297353CC}">
              <c16:uniqueId val="{00000013-2FB3-4618-97F4-400ED344FC84}"/>
            </c:ext>
          </c:extLst>
        </c:ser>
        <c:dLbls>
          <c:showLegendKey val="0"/>
          <c:showVal val="0"/>
          <c:showCatName val="0"/>
          <c:showSerName val="0"/>
          <c:showPercent val="0"/>
          <c:showBubbleSize val="0"/>
        </c:dLbls>
        <c:gapWidth val="150"/>
        <c:overlap val="100"/>
        <c:axId val="1166738303"/>
        <c:axId val="1166744543"/>
      </c:barChart>
      <c:scatterChart>
        <c:scatterStyle val="smoothMarker"/>
        <c:varyColors val="0"/>
        <c:ser>
          <c:idx val="6"/>
          <c:order val="6"/>
          <c:tx>
            <c:strRef>
              <c:f>Curve!$B$10</c:f>
              <c:strCache>
                <c:ptCount val="1"/>
                <c:pt idx="0">
                  <c:v>Overall Plan</c:v>
                </c:pt>
              </c:strCache>
            </c:strRef>
          </c:tx>
          <c:spPr>
            <a:ln w="28575" cap="rnd">
              <a:solidFill>
                <a:srgbClr val="0070C0"/>
              </a:solidFill>
              <a:round/>
            </a:ln>
            <a:effectLst/>
          </c:spPr>
          <c:marker>
            <c:symbol val="none"/>
          </c:marker>
          <c:dLbls>
            <c:dLbl>
              <c:idx val="0"/>
              <c:layout>
                <c:manualLayout>
                  <c:x val="-3.4036568967663806E-2"/>
                  <c:y val="-5.678070397938852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2FB3-4618-97F4-400ED344FC84}"/>
                </c:ext>
              </c:extLst>
            </c:dLbl>
            <c:dLbl>
              <c:idx val="2"/>
              <c:layout>
                <c:manualLayout>
                  <c:x val="-4.9507736680238279E-2"/>
                  <c:y val="-6.8136695744547116E-2"/>
                </c:manualLayout>
              </c:layout>
              <c:showLegendKey val="0"/>
              <c:showVal val="1"/>
              <c:showCatName val="0"/>
              <c:showSerName val="0"/>
              <c:showPercent val="0"/>
              <c:showBubbleSize val="0"/>
              <c:extLst>
                <c:ext xmlns:c15="http://schemas.microsoft.com/office/drawing/2012/chart" uri="{CE6537A1-D6FC-4f65-9D91-7224C49458BB}">
                  <c15:layout>
                    <c:manualLayout>
                      <c:w val="3.7502110535280478E-2"/>
                      <c:h val="8.700711442846866E-2"/>
                    </c:manualLayout>
                  </c15:layout>
                </c:ext>
                <c:ext xmlns:c16="http://schemas.microsoft.com/office/drawing/2014/chart" uri="{C3380CC4-5D6E-409C-BE32-E72D297353CC}">
                  <c16:uniqueId val="{00000015-2FB3-4618-97F4-400ED344FC84}"/>
                </c:ext>
              </c:extLst>
            </c:dLbl>
            <c:dLbl>
              <c:idx val="4"/>
              <c:layout>
                <c:manualLayout>
                  <c:x val="-5.7243320536525477E-2"/>
                  <c:y val="-3.78538026529256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2FB3-4618-97F4-400ED344FC84}"/>
                </c:ext>
              </c:extLst>
            </c:dLbl>
            <c:dLbl>
              <c:idx val="6"/>
              <c:layout>
                <c:manualLayout>
                  <c:x val="-2.3206751568861681E-2"/>
                  <c:y val="-3.78538026529256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2FB3-4618-97F4-400ED344FC84}"/>
                </c:ext>
              </c:extLst>
            </c:dLbl>
            <c:dLbl>
              <c:idx val="8"/>
              <c:layout>
                <c:manualLayout>
                  <c:x val="-3.0942335425148907E-3"/>
                  <c:y val="-2.27122815917554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2FB3-4618-97F4-400ED344FC84}"/>
                </c:ext>
              </c:extLst>
            </c:dLbl>
            <c:spPr>
              <a:solidFill>
                <a:schemeClr val="accent4">
                  <a:lumMod val="20000"/>
                  <a:lumOff val="80000"/>
                </a:schemeClr>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xVal>
            <c:multiLvlStrRef>
              <c:f>Curve!$C$2:$N$3</c:f>
              <c:multiLvlStrCache>
                <c:ptCount val="12"/>
                <c:lvl>
                  <c:pt idx="0">
                    <c:v>Plan</c:v>
                  </c:pt>
                  <c:pt idx="1">
                    <c:v>Act</c:v>
                  </c:pt>
                  <c:pt idx="2">
                    <c:v>Plan</c:v>
                  </c:pt>
                  <c:pt idx="3">
                    <c:v>Act</c:v>
                  </c:pt>
                  <c:pt idx="4">
                    <c:v>Plan</c:v>
                  </c:pt>
                  <c:pt idx="5">
                    <c:v>Act</c:v>
                  </c:pt>
                  <c:pt idx="6">
                    <c:v>Plan</c:v>
                  </c:pt>
                  <c:pt idx="7">
                    <c:v>Act</c:v>
                  </c:pt>
                  <c:pt idx="8">
                    <c:v>Plan</c:v>
                  </c:pt>
                  <c:pt idx="9">
                    <c:v>Act</c:v>
                  </c:pt>
                  <c:pt idx="10">
                    <c:v>Plan</c:v>
                  </c:pt>
                  <c:pt idx="11">
                    <c:v>Act</c:v>
                  </c:pt>
                </c:lvl>
                <c:lvl>
                  <c:pt idx="0">
                    <c:v>Dec-25</c:v>
                  </c:pt>
                  <c:pt idx="2">
                    <c:v>Jan-26</c:v>
                  </c:pt>
                  <c:pt idx="4">
                    <c:v>Feb-26</c:v>
                  </c:pt>
                  <c:pt idx="6">
                    <c:v>Mar-26</c:v>
                  </c:pt>
                  <c:pt idx="8">
                    <c:v>Apr-26</c:v>
                  </c:pt>
                  <c:pt idx="10">
                    <c:v>May-26</c:v>
                  </c:pt>
                </c:lvl>
              </c:multiLvlStrCache>
            </c:multiLvlStrRef>
          </c:xVal>
          <c:yVal>
            <c:numRef>
              <c:f>Curve!$C$10:$N$10</c:f>
              <c:numCache>
                <c:formatCode>General</c:formatCode>
                <c:ptCount val="12"/>
                <c:pt idx="0" formatCode="0">
                  <c:v>9134.6666666666679</c:v>
                </c:pt>
                <c:pt idx="2" formatCode="0">
                  <c:v>44151.75</c:v>
                </c:pt>
                <c:pt idx="4" formatCode="0">
                  <c:v>63826</c:v>
                </c:pt>
                <c:pt idx="6" formatCode="0">
                  <c:v>77097</c:v>
                </c:pt>
                <c:pt idx="8" formatCode="0">
                  <c:v>104715</c:v>
                </c:pt>
                <c:pt idx="10" formatCode="0">
                  <c:v>70346.75</c:v>
                </c:pt>
              </c:numCache>
            </c:numRef>
          </c:yVal>
          <c:smooth val="1"/>
          <c:extLst>
            <c:ext xmlns:c16="http://schemas.microsoft.com/office/drawing/2014/chart" uri="{C3380CC4-5D6E-409C-BE32-E72D297353CC}">
              <c16:uniqueId val="{00000019-2FB3-4618-97F4-400ED344FC84}"/>
            </c:ext>
          </c:extLst>
        </c:ser>
        <c:ser>
          <c:idx val="7"/>
          <c:order val="7"/>
          <c:tx>
            <c:strRef>
              <c:f>Curve!$B$11</c:f>
              <c:strCache>
                <c:ptCount val="1"/>
                <c:pt idx="0">
                  <c:v>Overall Actual</c:v>
                </c:pt>
              </c:strCache>
            </c:strRef>
          </c:tx>
          <c:spPr>
            <a:ln w="28575" cap="rnd">
              <a:solidFill>
                <a:schemeClr val="accent2">
                  <a:lumMod val="60000"/>
                </a:schemeClr>
              </a:solidFill>
              <a:round/>
            </a:ln>
            <a:effectLst/>
          </c:spPr>
          <c:marker>
            <c:symbol val="none"/>
          </c:marker>
          <c:dLbls>
            <c:dLbl>
              <c:idx val="1"/>
              <c:layout>
                <c:manualLayout>
                  <c:x val="-9.2827006275446999E-3"/>
                  <c:y val="-8.52067042886888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2FB3-4618-97F4-400ED344FC84}"/>
                </c:ext>
              </c:extLst>
            </c:dLbl>
            <c:dLbl>
              <c:idx val="3"/>
              <c:layout>
                <c:manualLayout>
                  <c:x val="-1.70182844838319E-2"/>
                  <c:y val="-0.1000252615562868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2FB3-4618-97F4-400ED344FC84}"/>
                </c:ext>
              </c:extLst>
            </c:dLbl>
            <c:dLbl>
              <c:idx val="5"/>
              <c:layout>
                <c:manualLayout>
                  <c:x val="-1.2376934170059563E-2"/>
                  <c:y val="-8.52067042886887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2FB3-4618-97F4-400ED344FC84}"/>
                </c:ext>
              </c:extLst>
            </c:dLbl>
            <c:dLbl>
              <c:idx val="7"/>
              <c:layout>
                <c:manualLayout>
                  <c:x val="-2.0112518026346789E-2"/>
                  <c:y val="-3.3664876900828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2FB3-4618-97F4-400ED344FC84}"/>
                </c:ext>
              </c:extLst>
            </c:dLbl>
            <c:spPr>
              <a:solidFill>
                <a:schemeClr val="accent6">
                  <a:lumMod val="20000"/>
                  <a:lumOff val="80000"/>
                </a:schemeClr>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1"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xVal>
            <c:multiLvlStrRef>
              <c:f>Curve!$C$2:$N$3</c:f>
              <c:multiLvlStrCache>
                <c:ptCount val="12"/>
                <c:lvl>
                  <c:pt idx="0">
                    <c:v>Plan</c:v>
                  </c:pt>
                  <c:pt idx="1">
                    <c:v>Act</c:v>
                  </c:pt>
                  <c:pt idx="2">
                    <c:v>Plan</c:v>
                  </c:pt>
                  <c:pt idx="3">
                    <c:v>Act</c:v>
                  </c:pt>
                  <c:pt idx="4">
                    <c:v>Plan</c:v>
                  </c:pt>
                  <c:pt idx="5">
                    <c:v>Act</c:v>
                  </c:pt>
                  <c:pt idx="6">
                    <c:v>Plan</c:v>
                  </c:pt>
                  <c:pt idx="7">
                    <c:v>Act</c:v>
                  </c:pt>
                  <c:pt idx="8">
                    <c:v>Plan</c:v>
                  </c:pt>
                  <c:pt idx="9">
                    <c:v>Act</c:v>
                  </c:pt>
                  <c:pt idx="10">
                    <c:v>Plan</c:v>
                  </c:pt>
                  <c:pt idx="11">
                    <c:v>Act</c:v>
                  </c:pt>
                </c:lvl>
                <c:lvl>
                  <c:pt idx="0">
                    <c:v>Dec-25</c:v>
                  </c:pt>
                  <c:pt idx="2">
                    <c:v>Jan-26</c:v>
                  </c:pt>
                  <c:pt idx="4">
                    <c:v>Feb-26</c:v>
                  </c:pt>
                  <c:pt idx="6">
                    <c:v>Mar-26</c:v>
                  </c:pt>
                  <c:pt idx="8">
                    <c:v>Apr-26</c:v>
                  </c:pt>
                  <c:pt idx="10">
                    <c:v>May-26</c:v>
                  </c:pt>
                </c:lvl>
              </c:multiLvlStrCache>
            </c:multiLvlStrRef>
          </c:xVal>
          <c:yVal>
            <c:numRef>
              <c:f>Curve!$C$11:$N$11</c:f>
              <c:numCache>
                <c:formatCode>0</c:formatCode>
                <c:ptCount val="12"/>
                <c:pt idx="1">
                  <c:v>5619.2666666666664</c:v>
                </c:pt>
                <c:pt idx="3">
                  <c:v>7230.75</c:v>
                </c:pt>
                <c:pt idx="5">
                  <c:v>9233</c:v>
                </c:pt>
                <c:pt idx="7">
                  <c:v>16157.2</c:v>
                </c:pt>
                <c:pt idx="9">
                  <c:v>15807.5</c:v>
                </c:pt>
                <c:pt idx="11">
                  <c:v>20305</c:v>
                </c:pt>
              </c:numCache>
            </c:numRef>
          </c:yVal>
          <c:smooth val="1"/>
          <c:extLst>
            <c:ext xmlns:c16="http://schemas.microsoft.com/office/drawing/2014/chart" uri="{C3380CC4-5D6E-409C-BE32-E72D297353CC}">
              <c16:uniqueId val="{0000001E-2FB3-4618-97F4-400ED344FC84}"/>
            </c:ext>
          </c:extLst>
        </c:ser>
        <c:dLbls>
          <c:showLegendKey val="0"/>
          <c:showVal val="0"/>
          <c:showCatName val="0"/>
          <c:showSerName val="0"/>
          <c:showPercent val="0"/>
          <c:showBubbleSize val="0"/>
        </c:dLbls>
        <c:axId val="1166738303"/>
        <c:axId val="1166744543"/>
      </c:scatterChart>
      <c:catAx>
        <c:axId val="1528008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8012704"/>
        <c:crosses val="autoZero"/>
        <c:auto val="1"/>
        <c:lblAlgn val="ctr"/>
        <c:lblOffset val="100"/>
        <c:noMultiLvlLbl val="0"/>
      </c:catAx>
      <c:valAx>
        <c:axId val="1528012704"/>
        <c:scaling>
          <c:orientation val="minMax"/>
          <c:max val="150000"/>
          <c:min val="10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8008864"/>
        <c:crosses val="autoZero"/>
        <c:crossBetween val="between"/>
      </c:valAx>
      <c:valAx>
        <c:axId val="1166744543"/>
        <c:scaling>
          <c:orientation val="minMax"/>
          <c:max val="150000"/>
          <c:min val="10000"/>
        </c:scaling>
        <c:delete val="0"/>
        <c:axPos val="r"/>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6738303"/>
        <c:crosses val="max"/>
        <c:crossBetween val="between"/>
        <c:majorUnit val="20000"/>
        <c:minorUnit val="10000"/>
      </c:valAx>
      <c:catAx>
        <c:axId val="1166738303"/>
        <c:scaling>
          <c:orientation val="minMax"/>
        </c:scaling>
        <c:delete val="1"/>
        <c:axPos val="t"/>
        <c:numFmt formatCode="General" sourceLinked="1"/>
        <c:majorTickMark val="out"/>
        <c:minorTickMark val="none"/>
        <c:tickLblPos val="nextTo"/>
        <c:crossAx val="1166744543"/>
        <c:crosses val="max"/>
        <c:auto val="1"/>
        <c:lblAlgn val="ctr"/>
        <c:lblOffset val="100"/>
        <c:tickMarkSkip val="1"/>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span"/>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1"/>
          <c:order val="1"/>
          <c:tx>
            <c:strRef>
              <c:f>'Final Sheet (2)'!$A$3</c:f>
              <c:strCache>
                <c:ptCount val="1"/>
                <c:pt idx="0">
                  <c:v>Monthly Budgeted</c:v>
                </c:pt>
              </c:strCache>
            </c:strRef>
          </c:tx>
          <c:spPr>
            <a:solidFill>
              <a:srgbClr val="00B0F0"/>
            </a:solidFill>
            <a:ln>
              <a:noFill/>
            </a:ln>
            <a:effectLst/>
          </c:spPr>
          <c:invertIfNegative val="0"/>
          <c:cat>
            <c:strRef>
              <c:f>'Final Sheet (2)'!$B$1:$O$1</c:f>
              <c:strCache>
                <c:ptCount val="14"/>
                <c:pt idx="0">
                  <c:v>FY-26</c:v>
                </c:pt>
                <c:pt idx="1">
                  <c:v>Apr-26</c:v>
                </c:pt>
                <c:pt idx="2">
                  <c:v>May-26</c:v>
                </c:pt>
                <c:pt idx="3">
                  <c:v>Jun-26</c:v>
                </c:pt>
                <c:pt idx="4">
                  <c:v>Jul-26</c:v>
                </c:pt>
                <c:pt idx="5">
                  <c:v>Aug-26</c:v>
                </c:pt>
                <c:pt idx="6">
                  <c:v>Sep-26</c:v>
                </c:pt>
                <c:pt idx="7">
                  <c:v>Oct-26</c:v>
                </c:pt>
                <c:pt idx="8">
                  <c:v>Nov-26</c:v>
                </c:pt>
                <c:pt idx="9">
                  <c:v>Dec-26</c:v>
                </c:pt>
                <c:pt idx="10">
                  <c:v>Jan-27</c:v>
                </c:pt>
                <c:pt idx="11">
                  <c:v>Feb-27</c:v>
                </c:pt>
                <c:pt idx="12">
                  <c:v>Mar-27</c:v>
                </c:pt>
                <c:pt idx="13">
                  <c:v>Apr-27</c:v>
                </c:pt>
              </c:strCache>
            </c:strRef>
          </c:cat>
          <c:val>
            <c:numRef>
              <c:f>'Final Sheet (2)'!$B$3:$O$3</c:f>
              <c:numCache>
                <c:formatCode>_ * #,##0_ ;_ * \-#,##0_ ;_ * "-"??_ ;_ @_ </c:formatCode>
                <c:ptCount val="14"/>
                <c:pt idx="0">
                  <c:v>0</c:v>
                </c:pt>
                <c:pt idx="1">
                  <c:v>485.1726253528318</c:v>
                </c:pt>
                <c:pt idx="2">
                  <c:v>660.06598591026841</c:v>
                </c:pt>
                <c:pt idx="3">
                  <c:v>1704.5290440302474</c:v>
                </c:pt>
                <c:pt idx="4">
                  <c:v>863.14398747554787</c:v>
                </c:pt>
                <c:pt idx="5">
                  <c:v>742.7320925427548</c:v>
                </c:pt>
                <c:pt idx="6">
                  <c:v>955.89708289642567</c:v>
                </c:pt>
                <c:pt idx="7">
                  <c:v>1743.4709212951911</c:v>
                </c:pt>
                <c:pt idx="8">
                  <c:v>2516.0622337518598</c:v>
                </c:pt>
                <c:pt idx="9">
                  <c:v>2108.4044803614324</c:v>
                </c:pt>
                <c:pt idx="10">
                  <c:v>1368.6362453590918</c:v>
                </c:pt>
                <c:pt idx="11">
                  <c:v>1359.4788522723647</c:v>
                </c:pt>
                <c:pt idx="12">
                  <c:v>214.88109715640894</c:v>
                </c:pt>
                <c:pt idx="13">
                  <c:v>10.735116650355849</c:v>
                </c:pt>
              </c:numCache>
            </c:numRef>
          </c:val>
          <c:extLst>
            <c:ext xmlns:c16="http://schemas.microsoft.com/office/drawing/2014/chart" uri="{C3380CC4-5D6E-409C-BE32-E72D297353CC}">
              <c16:uniqueId val="{00000001-B54D-4E18-A1E2-955FD56D5956}"/>
            </c:ext>
          </c:extLst>
        </c:ser>
        <c:ser>
          <c:idx val="3"/>
          <c:order val="3"/>
          <c:tx>
            <c:strRef>
              <c:f>'Final Sheet (2)'!$A$5</c:f>
              <c:strCache>
                <c:ptCount val="1"/>
                <c:pt idx="0">
                  <c:v>Monthly Actual</c:v>
                </c:pt>
              </c:strCache>
            </c:strRef>
          </c:tx>
          <c:spPr>
            <a:solidFill>
              <a:srgbClr val="92D050"/>
            </a:solidFill>
            <a:ln>
              <a:noFill/>
            </a:ln>
            <a:effectLst/>
          </c:spPr>
          <c:invertIfNegative val="0"/>
          <c:cat>
            <c:strRef>
              <c:f>'Final Sheet (2)'!$B$1:$O$1</c:f>
              <c:strCache>
                <c:ptCount val="14"/>
                <c:pt idx="0">
                  <c:v>FY-26</c:v>
                </c:pt>
                <c:pt idx="1">
                  <c:v>Apr-26</c:v>
                </c:pt>
                <c:pt idx="2">
                  <c:v>May-26</c:v>
                </c:pt>
                <c:pt idx="3">
                  <c:v>Jun-26</c:v>
                </c:pt>
                <c:pt idx="4">
                  <c:v>Jul-26</c:v>
                </c:pt>
                <c:pt idx="5">
                  <c:v>Aug-26</c:v>
                </c:pt>
                <c:pt idx="6">
                  <c:v>Sep-26</c:v>
                </c:pt>
                <c:pt idx="7">
                  <c:v>Oct-26</c:v>
                </c:pt>
                <c:pt idx="8">
                  <c:v>Nov-26</c:v>
                </c:pt>
                <c:pt idx="9">
                  <c:v>Dec-26</c:v>
                </c:pt>
                <c:pt idx="10">
                  <c:v>Jan-27</c:v>
                </c:pt>
                <c:pt idx="11">
                  <c:v>Feb-27</c:v>
                </c:pt>
                <c:pt idx="12">
                  <c:v>Mar-27</c:v>
                </c:pt>
                <c:pt idx="13">
                  <c:v>Apr-27</c:v>
                </c:pt>
              </c:strCache>
            </c:strRef>
          </c:cat>
          <c:val>
            <c:numRef>
              <c:f>'Final Sheet (2)'!$B$5:$O$5</c:f>
              <c:numCache>
                <c:formatCode>0.00</c:formatCode>
                <c:ptCount val="14"/>
                <c:pt idx="0" formatCode="General">
                  <c:v>0</c:v>
                </c:pt>
                <c:pt idx="1">
                  <c:v>253.8210508542</c:v>
                </c:pt>
                <c:pt idx="2">
                  <c:v>217.77303262814007</c:v>
                </c:pt>
              </c:numCache>
            </c:numRef>
          </c:val>
          <c:extLst>
            <c:ext xmlns:c16="http://schemas.microsoft.com/office/drawing/2014/chart" uri="{C3380CC4-5D6E-409C-BE32-E72D297353CC}">
              <c16:uniqueId val="{00000003-B54D-4E18-A1E2-955FD56D5956}"/>
            </c:ext>
          </c:extLst>
        </c:ser>
        <c:dLbls>
          <c:showLegendKey val="0"/>
          <c:showVal val="0"/>
          <c:showCatName val="0"/>
          <c:showSerName val="0"/>
          <c:showPercent val="0"/>
          <c:showBubbleSize val="0"/>
        </c:dLbls>
        <c:gapWidth val="219"/>
        <c:axId val="747523584"/>
        <c:axId val="747527904"/>
      </c:barChart>
      <c:lineChart>
        <c:grouping val="standard"/>
        <c:varyColors val="0"/>
        <c:ser>
          <c:idx val="0"/>
          <c:order val="0"/>
          <c:tx>
            <c:strRef>
              <c:f>'Final Sheet (2)'!$A$2</c:f>
              <c:strCache>
                <c:ptCount val="1"/>
                <c:pt idx="0">
                  <c:v>Budgeted- cumulative</c:v>
                </c:pt>
              </c:strCache>
            </c:strRef>
          </c:tx>
          <c:spPr>
            <a:ln w="28575" cap="rnd">
              <a:solidFill>
                <a:srgbClr val="00B0F0"/>
              </a:solidFill>
              <a:round/>
            </a:ln>
            <a:effectLst/>
          </c:spPr>
          <c:marker>
            <c:symbol val="none"/>
          </c:marker>
          <c:dLbls>
            <c:dLbl>
              <c:idx val="2"/>
              <c:layout>
                <c:manualLayout>
                  <c:x val="-2.7053140096618394E-2"/>
                  <c:y val="-0.111975098357829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026-4C6D-AF07-F540B56F4ED4}"/>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'Final Sheet (2)'!$B$1:$O$1</c:f>
              <c:strCache>
                <c:ptCount val="14"/>
                <c:pt idx="0">
                  <c:v>FY-26</c:v>
                </c:pt>
                <c:pt idx="1">
                  <c:v>Apr-26</c:v>
                </c:pt>
                <c:pt idx="2">
                  <c:v>May-26</c:v>
                </c:pt>
                <c:pt idx="3">
                  <c:v>Jun-26</c:v>
                </c:pt>
                <c:pt idx="4">
                  <c:v>Jul-26</c:v>
                </c:pt>
                <c:pt idx="5">
                  <c:v>Aug-26</c:v>
                </c:pt>
                <c:pt idx="6">
                  <c:v>Sep-26</c:v>
                </c:pt>
                <c:pt idx="7">
                  <c:v>Oct-26</c:v>
                </c:pt>
                <c:pt idx="8">
                  <c:v>Nov-26</c:v>
                </c:pt>
                <c:pt idx="9">
                  <c:v>Dec-26</c:v>
                </c:pt>
                <c:pt idx="10">
                  <c:v>Jan-27</c:v>
                </c:pt>
                <c:pt idx="11">
                  <c:v>Feb-27</c:v>
                </c:pt>
                <c:pt idx="12">
                  <c:v>Mar-27</c:v>
                </c:pt>
                <c:pt idx="13">
                  <c:v>Apr-27</c:v>
                </c:pt>
              </c:strCache>
            </c:strRef>
          </c:cat>
          <c:val>
            <c:numRef>
              <c:f>'Final Sheet (2)'!$B$2:$O$2</c:f>
              <c:numCache>
                <c:formatCode>0</c:formatCode>
                <c:ptCount val="14"/>
                <c:pt idx="0">
                  <c:v>1624.6702349452221</c:v>
                </c:pt>
                <c:pt idx="1">
                  <c:v>2109.8428602980539</c:v>
                </c:pt>
                <c:pt idx="2">
                  <c:v>2769.9088462083223</c:v>
                </c:pt>
                <c:pt idx="3">
                  <c:v>4474.4378902385697</c:v>
                </c:pt>
                <c:pt idx="4">
                  <c:v>5337.5818777141176</c:v>
                </c:pt>
                <c:pt idx="5">
                  <c:v>6080.3139702568724</c:v>
                </c:pt>
                <c:pt idx="6">
                  <c:v>7036.2110531532981</c:v>
                </c:pt>
                <c:pt idx="7">
                  <c:v>8779.6819744484892</c:v>
                </c:pt>
                <c:pt idx="8">
                  <c:v>11295.744208200349</c:v>
                </c:pt>
                <c:pt idx="9">
                  <c:v>13404.148688561781</c:v>
                </c:pt>
                <c:pt idx="10">
                  <c:v>14772.784933920873</c:v>
                </c:pt>
                <c:pt idx="11">
                  <c:v>16132.263786193238</c:v>
                </c:pt>
                <c:pt idx="12">
                  <c:v>16347.144883349647</c:v>
                </c:pt>
                <c:pt idx="13">
                  <c:v>16357.880000000003</c:v>
                </c:pt>
              </c:numCache>
            </c:numRef>
          </c:val>
          <c:smooth val="0"/>
          <c:extLst>
            <c:ext xmlns:c16="http://schemas.microsoft.com/office/drawing/2014/chart" uri="{C3380CC4-5D6E-409C-BE32-E72D297353CC}">
              <c16:uniqueId val="{00000000-B54D-4E18-A1E2-955FD56D5956}"/>
            </c:ext>
          </c:extLst>
        </c:ser>
        <c:ser>
          <c:idx val="2"/>
          <c:order val="2"/>
          <c:tx>
            <c:strRef>
              <c:f>'Final Sheet (2)'!$A$4</c:f>
              <c:strCache>
                <c:ptCount val="1"/>
                <c:pt idx="0">
                  <c:v>Actual Cumulative</c:v>
                </c:pt>
              </c:strCache>
            </c:strRef>
          </c:tx>
          <c:spPr>
            <a:ln w="28575" cap="rnd">
              <a:solidFill>
                <a:srgbClr val="92D050"/>
              </a:solidFill>
              <a:round/>
            </a:ln>
            <a:effectLst/>
          </c:spPr>
          <c:marker>
            <c:symbol val="none"/>
          </c:marker>
          <c:dLbls>
            <c:dLbl>
              <c:idx val="2"/>
              <c:layout>
                <c:manualLayout>
                  <c:x val="-5.1660911876111437E-2"/>
                  <c:y val="-4.2290146123504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026-4C6D-AF07-F540B56F4ED4}"/>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'Final Sheet (2)'!$B$1:$O$1</c:f>
              <c:strCache>
                <c:ptCount val="14"/>
                <c:pt idx="0">
                  <c:v>FY-26</c:v>
                </c:pt>
                <c:pt idx="1">
                  <c:v>Apr-26</c:v>
                </c:pt>
                <c:pt idx="2">
                  <c:v>May-26</c:v>
                </c:pt>
                <c:pt idx="3">
                  <c:v>Jun-26</c:v>
                </c:pt>
                <c:pt idx="4">
                  <c:v>Jul-26</c:v>
                </c:pt>
                <c:pt idx="5">
                  <c:v>Aug-26</c:v>
                </c:pt>
                <c:pt idx="6">
                  <c:v>Sep-26</c:v>
                </c:pt>
                <c:pt idx="7">
                  <c:v>Oct-26</c:v>
                </c:pt>
                <c:pt idx="8">
                  <c:v>Nov-26</c:v>
                </c:pt>
                <c:pt idx="9">
                  <c:v>Dec-26</c:v>
                </c:pt>
                <c:pt idx="10">
                  <c:v>Jan-27</c:v>
                </c:pt>
                <c:pt idx="11">
                  <c:v>Feb-27</c:v>
                </c:pt>
                <c:pt idx="12">
                  <c:v>Mar-27</c:v>
                </c:pt>
                <c:pt idx="13">
                  <c:v>Apr-27</c:v>
                </c:pt>
              </c:strCache>
            </c:strRef>
          </c:cat>
          <c:val>
            <c:numRef>
              <c:f>'Final Sheet (2)'!$B$4:$O$4</c:f>
              <c:numCache>
                <c:formatCode>0.00</c:formatCode>
                <c:ptCount val="14"/>
                <c:pt idx="0" formatCode="General">
                  <c:v>284.91000000000003</c:v>
                </c:pt>
                <c:pt idx="1">
                  <c:v>538.73105085420002</c:v>
                </c:pt>
                <c:pt idx="2">
                  <c:v>756.50408348234009</c:v>
                </c:pt>
              </c:numCache>
            </c:numRef>
          </c:val>
          <c:smooth val="0"/>
          <c:extLst>
            <c:ext xmlns:c16="http://schemas.microsoft.com/office/drawing/2014/chart" uri="{C3380CC4-5D6E-409C-BE32-E72D297353CC}">
              <c16:uniqueId val="{00000002-B54D-4E18-A1E2-955FD56D5956}"/>
            </c:ext>
          </c:extLst>
        </c:ser>
        <c:dLbls>
          <c:showLegendKey val="0"/>
          <c:showVal val="0"/>
          <c:showCatName val="0"/>
          <c:showSerName val="0"/>
          <c:showPercent val="0"/>
          <c:showBubbleSize val="0"/>
        </c:dLbls>
        <c:marker val="1"/>
        <c:smooth val="0"/>
        <c:axId val="747518304"/>
        <c:axId val="747524544"/>
      </c:lineChart>
      <c:catAx>
        <c:axId val="747523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7527904"/>
        <c:crosses val="autoZero"/>
        <c:auto val="1"/>
        <c:lblAlgn val="ctr"/>
        <c:lblOffset val="100"/>
        <c:noMultiLvlLbl val="0"/>
      </c:catAx>
      <c:valAx>
        <c:axId val="747527904"/>
        <c:scaling>
          <c:orientation val="minMax"/>
        </c:scaling>
        <c:delete val="0"/>
        <c:axPos val="l"/>
        <c:majorGridlines>
          <c:spPr>
            <a:ln w="9525" cap="flat" cmpd="sng" algn="ctr">
              <a:solidFill>
                <a:schemeClr val="tx1">
                  <a:lumMod val="15000"/>
                  <a:lumOff val="85000"/>
                </a:schemeClr>
              </a:solidFill>
              <a:round/>
            </a:ln>
            <a:effectLst/>
          </c:spPr>
        </c:majorGridlines>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7523584"/>
        <c:crosses val="autoZero"/>
        <c:crossBetween val="between"/>
      </c:valAx>
      <c:valAx>
        <c:axId val="747524544"/>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7518304"/>
        <c:crosses val="max"/>
        <c:crossBetween val="between"/>
      </c:valAx>
      <c:catAx>
        <c:axId val="747518304"/>
        <c:scaling>
          <c:orientation val="minMax"/>
        </c:scaling>
        <c:delete val="1"/>
        <c:axPos val="b"/>
        <c:numFmt formatCode="General" sourceLinked="1"/>
        <c:majorTickMark val="out"/>
        <c:minorTickMark val="none"/>
        <c:tickLblPos val="nextTo"/>
        <c:crossAx val="74752454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472665916760405"/>
          <c:y val="4.6640959359500044E-2"/>
          <c:w val="0.82942717211894901"/>
          <c:h val="0.6615438382553479"/>
        </c:manualLayout>
      </c:layout>
      <c:barChart>
        <c:barDir val="col"/>
        <c:grouping val="clustered"/>
        <c:varyColors val="0"/>
        <c:ser>
          <c:idx val="1"/>
          <c:order val="1"/>
          <c:tx>
            <c:strRef>
              <c:f>'S-Curve-PSS10A'!$A$12</c:f>
              <c:strCache>
                <c:ptCount val="1"/>
                <c:pt idx="0">
                  <c:v>Monthly Plan</c:v>
                </c:pt>
              </c:strCache>
            </c:strRef>
          </c:tx>
          <c:spPr>
            <a:solidFill>
              <a:srgbClr val="00B0F0"/>
            </a:solidFill>
            <a:ln>
              <a:noFill/>
            </a:ln>
            <a:effectLst/>
          </c:spPr>
          <c:invertIfNegative val="0"/>
          <c:cat>
            <c:numRef>
              <c:f>'S-Curve-PSS10A'!$B$9:$Q$9</c:f>
              <c:numCache>
                <c:formatCode>[$-409]mmm/yy;@</c:formatCode>
                <c:ptCount val="16"/>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pt idx="12">
                  <c:v>46054</c:v>
                </c:pt>
                <c:pt idx="13">
                  <c:v>46082</c:v>
                </c:pt>
                <c:pt idx="14">
                  <c:v>46113</c:v>
                </c:pt>
                <c:pt idx="15">
                  <c:v>46143</c:v>
                </c:pt>
              </c:numCache>
            </c:numRef>
          </c:cat>
          <c:val>
            <c:numRef>
              <c:f>'S-Curve-PSS10A'!$B$12:$Q$12</c:f>
              <c:numCache>
                <c:formatCode>0.00%</c:formatCode>
                <c:ptCount val="16"/>
                <c:pt idx="0">
                  <c:v>1E-4</c:v>
                </c:pt>
                <c:pt idx="1">
                  <c:v>2.6700000000000002E-2</c:v>
                </c:pt>
                <c:pt idx="2">
                  <c:v>4.1099999999999998E-2</c:v>
                </c:pt>
                <c:pt idx="3">
                  <c:v>0.11310000000000001</c:v>
                </c:pt>
                <c:pt idx="4">
                  <c:v>8.3199999999999996E-2</c:v>
                </c:pt>
                <c:pt idx="5">
                  <c:v>0.1263</c:v>
                </c:pt>
                <c:pt idx="6">
                  <c:v>2.4E-2</c:v>
                </c:pt>
                <c:pt idx="7">
                  <c:v>0.13059999999999999</c:v>
                </c:pt>
                <c:pt idx="8">
                  <c:v>0.1124</c:v>
                </c:pt>
                <c:pt idx="9">
                  <c:v>0.1258</c:v>
                </c:pt>
                <c:pt idx="10">
                  <c:v>0.10440000000000001</c:v>
                </c:pt>
                <c:pt idx="11">
                  <c:v>7.1499999999999994E-2</c:v>
                </c:pt>
                <c:pt idx="12">
                  <c:v>2.4299999999999999E-2</c:v>
                </c:pt>
                <c:pt idx="13">
                  <c:v>1.5699999999999999E-2</c:v>
                </c:pt>
                <c:pt idx="14">
                  <c:v>8.0000000000002292E-4</c:v>
                </c:pt>
                <c:pt idx="15">
                  <c:v>0</c:v>
                </c:pt>
              </c:numCache>
            </c:numRef>
          </c:val>
          <c:extLst>
            <c:ext xmlns:c16="http://schemas.microsoft.com/office/drawing/2014/chart" uri="{C3380CC4-5D6E-409C-BE32-E72D297353CC}">
              <c16:uniqueId val="{00000000-A903-4CCE-AEC6-5550E304CD2F}"/>
            </c:ext>
          </c:extLst>
        </c:ser>
        <c:ser>
          <c:idx val="3"/>
          <c:order val="3"/>
          <c:tx>
            <c:strRef>
              <c:f>'S-Curve-PSS10A'!$A$13</c:f>
              <c:strCache>
                <c:ptCount val="1"/>
                <c:pt idx="0">
                  <c:v>Monthly Actual</c:v>
                </c:pt>
              </c:strCache>
            </c:strRef>
          </c:tx>
          <c:spPr>
            <a:solidFill>
              <a:srgbClr val="92D050"/>
            </a:solidFill>
            <a:ln>
              <a:noFill/>
            </a:ln>
            <a:effectLst/>
          </c:spPr>
          <c:invertIfNegative val="0"/>
          <c:cat>
            <c:numRef>
              <c:f>'S-Curve-PSS10A'!$B$9:$Q$9</c:f>
              <c:numCache>
                <c:formatCode>[$-409]mmm/yy;@</c:formatCode>
                <c:ptCount val="16"/>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pt idx="12">
                  <c:v>46054</c:v>
                </c:pt>
                <c:pt idx="13">
                  <c:v>46082</c:v>
                </c:pt>
                <c:pt idx="14">
                  <c:v>46113</c:v>
                </c:pt>
                <c:pt idx="15">
                  <c:v>46143</c:v>
                </c:pt>
              </c:numCache>
            </c:numRef>
          </c:cat>
          <c:val>
            <c:numRef>
              <c:f>'S-Curve-PSS10A'!$B$13:$Q$13</c:f>
              <c:numCache>
                <c:formatCode>0.00%</c:formatCode>
                <c:ptCount val="16"/>
                <c:pt idx="0">
                  <c:v>7.7999999999999996E-3</c:v>
                </c:pt>
                <c:pt idx="1">
                  <c:v>1.8200000000000001E-2</c:v>
                </c:pt>
                <c:pt idx="2">
                  <c:v>4.0599999999999997E-2</c:v>
                </c:pt>
                <c:pt idx="3">
                  <c:v>8.0399999999999999E-2</c:v>
                </c:pt>
                <c:pt idx="4">
                  <c:v>2.7E-2</c:v>
                </c:pt>
                <c:pt idx="5">
                  <c:v>3.6499999999999998E-2</c:v>
                </c:pt>
                <c:pt idx="6">
                  <c:v>4.4499999999999998E-2</c:v>
                </c:pt>
                <c:pt idx="7">
                  <c:v>6.4899999999999999E-2</c:v>
                </c:pt>
                <c:pt idx="8">
                  <c:v>6.8900000000000003E-2</c:v>
                </c:pt>
                <c:pt idx="9">
                  <c:v>6.5699999999999995E-2</c:v>
                </c:pt>
                <c:pt idx="10">
                  <c:v>0.14630000000000001</c:v>
                </c:pt>
                <c:pt idx="11">
                  <c:v>9.2700000000000005E-2</c:v>
                </c:pt>
                <c:pt idx="12">
                  <c:v>7.9000000000000001E-2</c:v>
                </c:pt>
                <c:pt idx="13">
                  <c:v>0.1285</c:v>
                </c:pt>
                <c:pt idx="14">
                  <c:v>3.317297809396981E-2</c:v>
                </c:pt>
                <c:pt idx="15">
                  <c:v>1.1331948548738703E-2</c:v>
                </c:pt>
              </c:numCache>
            </c:numRef>
          </c:val>
          <c:extLst>
            <c:ext xmlns:c16="http://schemas.microsoft.com/office/drawing/2014/chart" uri="{C3380CC4-5D6E-409C-BE32-E72D297353CC}">
              <c16:uniqueId val="{00000001-A903-4CCE-AEC6-5550E304CD2F}"/>
            </c:ext>
          </c:extLst>
        </c:ser>
        <c:dLbls>
          <c:showLegendKey val="0"/>
          <c:showVal val="0"/>
          <c:showCatName val="0"/>
          <c:showSerName val="0"/>
          <c:showPercent val="0"/>
          <c:showBubbleSize val="0"/>
        </c:dLbls>
        <c:gapWidth val="219"/>
        <c:axId val="1394000927"/>
        <c:axId val="1394010527"/>
      </c:barChart>
      <c:lineChart>
        <c:grouping val="standard"/>
        <c:varyColors val="0"/>
        <c:ser>
          <c:idx val="0"/>
          <c:order val="0"/>
          <c:tx>
            <c:strRef>
              <c:f>'S-Curve-PSS10A'!$A$9</c:f>
              <c:strCache>
                <c:ptCount val="1"/>
                <c:pt idx="0">
                  <c:v>Month</c:v>
                </c:pt>
              </c:strCache>
            </c:strRef>
          </c:tx>
          <c:spPr>
            <a:ln w="28575" cap="rnd">
              <a:solidFill>
                <a:srgbClr val="00B0F0"/>
              </a:solidFill>
              <a:round/>
            </a:ln>
            <a:effectLst/>
          </c:spPr>
          <c:marker>
            <c:symbol val="none"/>
          </c:marker>
          <c:dLbls>
            <c:dLbl>
              <c:idx val="15"/>
              <c:layout>
                <c:manualLayout>
                  <c:x val="-2.7491408934707903E-2"/>
                  <c:y val="-2.3862794568113965E-2"/>
                </c:manualLayout>
              </c:layout>
              <c:spPr>
                <a:no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0070C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903-4CCE-AEC6-5550E304CD2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'S-Curve-PSS10A'!$B$9:$Q$9</c:f>
              <c:numCache>
                <c:formatCode>[$-409]mmm/yy;@</c:formatCode>
                <c:ptCount val="16"/>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pt idx="12">
                  <c:v>46054</c:v>
                </c:pt>
                <c:pt idx="13">
                  <c:v>46082</c:v>
                </c:pt>
                <c:pt idx="14">
                  <c:v>46113</c:v>
                </c:pt>
                <c:pt idx="15">
                  <c:v>46143</c:v>
                </c:pt>
              </c:numCache>
            </c:numRef>
          </c:cat>
          <c:val>
            <c:numRef>
              <c:f>'S-Curve-PSS10A'!$B$10:$Q$10</c:f>
              <c:numCache>
                <c:formatCode>0.00%</c:formatCode>
                <c:ptCount val="16"/>
                <c:pt idx="0">
                  <c:v>1E-4</c:v>
                </c:pt>
                <c:pt idx="1">
                  <c:v>2.6800000000000001E-2</c:v>
                </c:pt>
                <c:pt idx="2">
                  <c:v>6.7900000000000002E-2</c:v>
                </c:pt>
                <c:pt idx="3">
                  <c:v>0.18099999999999999</c:v>
                </c:pt>
                <c:pt idx="4">
                  <c:v>0.26419999999999999</c:v>
                </c:pt>
                <c:pt idx="5">
                  <c:v>0.39050000000000001</c:v>
                </c:pt>
                <c:pt idx="6">
                  <c:v>0.41449999999999998</c:v>
                </c:pt>
                <c:pt idx="7">
                  <c:v>0.54510000000000003</c:v>
                </c:pt>
                <c:pt idx="8">
                  <c:v>0.65749999999999997</c:v>
                </c:pt>
                <c:pt idx="9">
                  <c:v>0.7833</c:v>
                </c:pt>
                <c:pt idx="10">
                  <c:v>0.88770000000000004</c:v>
                </c:pt>
                <c:pt idx="11">
                  <c:v>0.95920000000000005</c:v>
                </c:pt>
                <c:pt idx="12">
                  <c:v>0.98350000000000004</c:v>
                </c:pt>
                <c:pt idx="13">
                  <c:v>0.99919999999999998</c:v>
                </c:pt>
                <c:pt idx="14">
                  <c:v>1</c:v>
                </c:pt>
                <c:pt idx="15">
                  <c:v>1</c:v>
                </c:pt>
              </c:numCache>
            </c:numRef>
          </c:val>
          <c:smooth val="0"/>
          <c:extLst>
            <c:ext xmlns:c16="http://schemas.microsoft.com/office/drawing/2014/chart" uri="{C3380CC4-5D6E-409C-BE32-E72D297353CC}">
              <c16:uniqueId val="{00000003-A903-4CCE-AEC6-5550E304CD2F}"/>
            </c:ext>
          </c:extLst>
        </c:ser>
        <c:ser>
          <c:idx val="2"/>
          <c:order val="2"/>
          <c:tx>
            <c:strRef>
              <c:f>'S-Curve-PSS10A'!$A$11</c:f>
              <c:strCache>
                <c:ptCount val="1"/>
                <c:pt idx="0">
                  <c:v>Actual</c:v>
                </c:pt>
              </c:strCache>
            </c:strRef>
          </c:tx>
          <c:spPr>
            <a:ln w="28575" cap="rnd">
              <a:solidFill>
                <a:srgbClr val="92D050"/>
              </a:solidFill>
              <a:round/>
            </a:ln>
            <a:effectLst/>
          </c:spPr>
          <c:marker>
            <c:symbol val="none"/>
          </c:marker>
          <c:dLbls>
            <c:dLbl>
              <c:idx val="15"/>
              <c:layout>
                <c:manualLayout>
                  <c:x val="-2.0618556701030927E-2"/>
                  <c:y val="2.0879945247099681E-2"/>
                </c:manualLayout>
              </c:layout>
              <c:spPr>
                <a:no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00B05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903-4CCE-AEC6-5550E304CD2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'S-Curve-PSS10A'!$B$9:$Q$9</c:f>
              <c:numCache>
                <c:formatCode>[$-409]mmm/yy;@</c:formatCode>
                <c:ptCount val="16"/>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pt idx="12">
                  <c:v>46054</c:v>
                </c:pt>
                <c:pt idx="13">
                  <c:v>46082</c:v>
                </c:pt>
                <c:pt idx="14">
                  <c:v>46113</c:v>
                </c:pt>
                <c:pt idx="15">
                  <c:v>46143</c:v>
                </c:pt>
              </c:numCache>
            </c:numRef>
          </c:cat>
          <c:val>
            <c:numRef>
              <c:f>'S-Curve-PSS10A'!$B$11:$Q$11</c:f>
              <c:numCache>
                <c:formatCode>0.00%</c:formatCode>
                <c:ptCount val="16"/>
                <c:pt idx="0">
                  <c:v>7.7999999999999996E-3</c:v>
                </c:pt>
                <c:pt idx="1">
                  <c:v>2.6100000000000002E-2</c:v>
                </c:pt>
                <c:pt idx="2">
                  <c:v>6.6699999999999995E-2</c:v>
                </c:pt>
                <c:pt idx="3">
                  <c:v>0.14710000000000001</c:v>
                </c:pt>
                <c:pt idx="4">
                  <c:v>0.17399999999999999</c:v>
                </c:pt>
                <c:pt idx="5">
                  <c:v>0.21060000000000001</c:v>
                </c:pt>
                <c:pt idx="6">
                  <c:v>0.255</c:v>
                </c:pt>
                <c:pt idx="7">
                  <c:v>0.31990000000000002</c:v>
                </c:pt>
                <c:pt idx="8">
                  <c:v>0.38879999999999998</c:v>
                </c:pt>
                <c:pt idx="9">
                  <c:v>0.45450000000000002</c:v>
                </c:pt>
                <c:pt idx="10">
                  <c:v>0.6008</c:v>
                </c:pt>
                <c:pt idx="11">
                  <c:v>0.69350000000000001</c:v>
                </c:pt>
                <c:pt idx="12">
                  <c:v>0.77249999999999996</c:v>
                </c:pt>
                <c:pt idx="13">
                  <c:v>0.90100000000000002</c:v>
                </c:pt>
                <c:pt idx="14">
                  <c:v>0.93449021618402328</c:v>
                </c:pt>
                <c:pt idx="15">
                  <c:v>0.94406988950702697</c:v>
                </c:pt>
              </c:numCache>
            </c:numRef>
          </c:val>
          <c:smooth val="0"/>
          <c:extLst>
            <c:ext xmlns:c16="http://schemas.microsoft.com/office/drawing/2014/chart" uri="{C3380CC4-5D6E-409C-BE32-E72D297353CC}">
              <c16:uniqueId val="{00000005-A903-4CCE-AEC6-5550E304CD2F}"/>
            </c:ext>
          </c:extLst>
        </c:ser>
        <c:dLbls>
          <c:showLegendKey val="0"/>
          <c:showVal val="0"/>
          <c:showCatName val="0"/>
          <c:showSerName val="0"/>
          <c:showPercent val="0"/>
          <c:showBubbleSize val="0"/>
        </c:dLbls>
        <c:marker val="1"/>
        <c:smooth val="0"/>
        <c:axId val="1581861120"/>
        <c:axId val="1581862560"/>
      </c:lineChart>
      <c:catAx>
        <c:axId val="1581861120"/>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581862560"/>
        <c:crosses val="autoZero"/>
        <c:auto val="0"/>
        <c:lblAlgn val="ctr"/>
        <c:lblOffset val="100"/>
        <c:noMultiLvlLbl val="0"/>
      </c:catAx>
      <c:valAx>
        <c:axId val="158186256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1120"/>
        <c:crosses val="autoZero"/>
        <c:crossBetween val="between"/>
        <c:majorUnit val="0.2"/>
      </c:valAx>
      <c:valAx>
        <c:axId val="1394010527"/>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4000927"/>
        <c:crosses val="max"/>
        <c:crossBetween val="between"/>
      </c:valAx>
      <c:dateAx>
        <c:axId val="1394000927"/>
        <c:scaling>
          <c:orientation val="minMax"/>
        </c:scaling>
        <c:delete val="1"/>
        <c:axPos val="b"/>
        <c:numFmt formatCode="[$-409]mmm/yy;@" sourceLinked="1"/>
        <c:majorTickMark val="out"/>
        <c:minorTickMark val="none"/>
        <c:tickLblPos val="nextTo"/>
        <c:crossAx val="1394010527"/>
        <c:crosses val="autoZero"/>
        <c:auto val="1"/>
        <c:lblOffset val="100"/>
        <c:baseTimeUnit val="months"/>
        <c:majorUnit val="1"/>
        <c:minorUnit val="1"/>
      </c:date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820345067160724E-2"/>
          <c:y val="4.962389834043978E-2"/>
          <c:w val="0.833384566569076"/>
          <c:h val="0.6433566637503646"/>
        </c:manualLayout>
      </c:layout>
      <c:barChart>
        <c:barDir val="col"/>
        <c:grouping val="clustered"/>
        <c:varyColors val="0"/>
        <c:ser>
          <c:idx val="2"/>
          <c:order val="2"/>
          <c:tx>
            <c:strRef>
              <c:f>'S-Curve-PSS05'!$A$12</c:f>
              <c:strCache>
                <c:ptCount val="1"/>
                <c:pt idx="0">
                  <c:v>Monthly Plan</c:v>
                </c:pt>
              </c:strCache>
            </c:strRef>
          </c:tx>
          <c:spPr>
            <a:solidFill>
              <a:srgbClr val="00B0F0"/>
            </a:solidFill>
            <a:ln>
              <a:noFill/>
            </a:ln>
            <a:effectLst/>
          </c:spPr>
          <c:invertIfNegative val="0"/>
          <c:cat>
            <c:numRef>
              <c:f>'S-Curve-PSS05'!$B$9:$Q$9</c:f>
              <c:numCache>
                <c:formatCode>[$-409]mmm/yy;@</c:formatCode>
                <c:ptCount val="16"/>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pt idx="12">
                  <c:v>46054</c:v>
                </c:pt>
                <c:pt idx="13">
                  <c:v>46082</c:v>
                </c:pt>
                <c:pt idx="14">
                  <c:v>46113</c:v>
                </c:pt>
                <c:pt idx="15">
                  <c:v>46143</c:v>
                </c:pt>
              </c:numCache>
            </c:numRef>
          </c:cat>
          <c:val>
            <c:numRef>
              <c:f>'S-Curve-PSS05'!$B$12:$Q$12</c:f>
              <c:numCache>
                <c:formatCode>0.00%</c:formatCode>
                <c:ptCount val="16"/>
                <c:pt idx="0">
                  <c:v>7.7999999999999996E-3</c:v>
                </c:pt>
                <c:pt idx="1">
                  <c:v>1.9E-2</c:v>
                </c:pt>
                <c:pt idx="2">
                  <c:v>3.8600000000000002E-2</c:v>
                </c:pt>
                <c:pt idx="3">
                  <c:v>0.11890000000000001</c:v>
                </c:pt>
                <c:pt idx="4">
                  <c:v>0.1084</c:v>
                </c:pt>
                <c:pt idx="5">
                  <c:v>6.8699999999999997E-2</c:v>
                </c:pt>
                <c:pt idx="6">
                  <c:v>3.3099999999999997E-2</c:v>
                </c:pt>
                <c:pt idx="7">
                  <c:v>9.9599999999999994E-2</c:v>
                </c:pt>
                <c:pt idx="8">
                  <c:v>8.9800000000000005E-2</c:v>
                </c:pt>
                <c:pt idx="9">
                  <c:v>9.0999999999999998E-2</c:v>
                </c:pt>
                <c:pt idx="10">
                  <c:v>0.12609999999999999</c:v>
                </c:pt>
                <c:pt idx="11">
                  <c:v>9.01E-2</c:v>
                </c:pt>
                <c:pt idx="12">
                  <c:v>6.7799999999999999E-2</c:v>
                </c:pt>
                <c:pt idx="13">
                  <c:v>2.5499999999999998E-2</c:v>
                </c:pt>
                <c:pt idx="14">
                  <c:v>1.5599999999999999E-2</c:v>
                </c:pt>
                <c:pt idx="15">
                  <c:v>1.5599999999999999E-2</c:v>
                </c:pt>
              </c:numCache>
            </c:numRef>
          </c:val>
          <c:extLst>
            <c:ext xmlns:c16="http://schemas.microsoft.com/office/drawing/2014/chart" uri="{C3380CC4-5D6E-409C-BE32-E72D297353CC}">
              <c16:uniqueId val="{00000000-7E57-4974-8E18-8ABA663D3008}"/>
            </c:ext>
          </c:extLst>
        </c:ser>
        <c:ser>
          <c:idx val="1"/>
          <c:order val="3"/>
          <c:tx>
            <c:strRef>
              <c:f>'S-Curve-PSS05'!$A$13</c:f>
              <c:strCache>
                <c:ptCount val="1"/>
                <c:pt idx="0">
                  <c:v>Monthly Actual</c:v>
                </c:pt>
              </c:strCache>
            </c:strRef>
          </c:tx>
          <c:spPr>
            <a:solidFill>
              <a:srgbClr val="92D050"/>
            </a:solidFill>
            <a:ln>
              <a:noFill/>
            </a:ln>
            <a:effectLst/>
          </c:spPr>
          <c:invertIfNegative val="0"/>
          <c:cat>
            <c:numRef>
              <c:f>'S-Curve-PSS05'!$B$9:$Q$9</c:f>
              <c:numCache>
                <c:formatCode>[$-409]mmm/yy;@</c:formatCode>
                <c:ptCount val="16"/>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pt idx="12">
                  <c:v>46054</c:v>
                </c:pt>
                <c:pt idx="13">
                  <c:v>46082</c:v>
                </c:pt>
                <c:pt idx="14">
                  <c:v>46113</c:v>
                </c:pt>
                <c:pt idx="15">
                  <c:v>46143</c:v>
                </c:pt>
              </c:numCache>
            </c:numRef>
          </c:cat>
          <c:val>
            <c:numRef>
              <c:f>'S-Curve-PSS05'!$B$13:$Q$13</c:f>
              <c:numCache>
                <c:formatCode>0.00%</c:formatCode>
                <c:ptCount val="16"/>
                <c:pt idx="0">
                  <c:v>7.7999999999999996E-3</c:v>
                </c:pt>
                <c:pt idx="1">
                  <c:v>1.9E-2</c:v>
                </c:pt>
                <c:pt idx="2">
                  <c:v>4.3499999999999997E-2</c:v>
                </c:pt>
                <c:pt idx="3">
                  <c:v>8.1199999999999994E-2</c:v>
                </c:pt>
                <c:pt idx="4">
                  <c:v>0.02</c:v>
                </c:pt>
                <c:pt idx="5">
                  <c:v>1.78E-2</c:v>
                </c:pt>
                <c:pt idx="6">
                  <c:v>2.98E-2</c:v>
                </c:pt>
                <c:pt idx="7">
                  <c:v>0.08</c:v>
                </c:pt>
                <c:pt idx="8">
                  <c:v>4.0099999999999997E-2</c:v>
                </c:pt>
                <c:pt idx="9">
                  <c:v>8.8700000000000001E-2</c:v>
                </c:pt>
                <c:pt idx="10">
                  <c:v>0.13819999999999999</c:v>
                </c:pt>
                <c:pt idx="11">
                  <c:v>8.7599999999999997E-2</c:v>
                </c:pt>
                <c:pt idx="12">
                  <c:v>5.6899999999999999E-2</c:v>
                </c:pt>
                <c:pt idx="13">
                  <c:v>0.11890000000000001</c:v>
                </c:pt>
                <c:pt idx="14">
                  <c:v>0.10094386593078317</c:v>
                </c:pt>
                <c:pt idx="15">
                  <c:v>2.0164815957144266E-2</c:v>
                </c:pt>
              </c:numCache>
            </c:numRef>
          </c:val>
          <c:extLst>
            <c:ext xmlns:c16="http://schemas.microsoft.com/office/drawing/2014/chart" uri="{C3380CC4-5D6E-409C-BE32-E72D297353CC}">
              <c16:uniqueId val="{00000001-7E57-4974-8E18-8ABA663D3008}"/>
            </c:ext>
          </c:extLst>
        </c:ser>
        <c:dLbls>
          <c:showLegendKey val="0"/>
          <c:showVal val="0"/>
          <c:showCatName val="0"/>
          <c:showSerName val="0"/>
          <c:showPercent val="0"/>
          <c:showBubbleSize val="0"/>
        </c:dLbls>
        <c:gapWidth val="150"/>
        <c:axId val="1193359999"/>
        <c:axId val="1193363839"/>
      </c:barChart>
      <c:lineChart>
        <c:grouping val="standard"/>
        <c:varyColors val="0"/>
        <c:ser>
          <c:idx val="4"/>
          <c:order val="0"/>
          <c:tx>
            <c:strRef>
              <c:f>'S-Curve-PSS05'!$A$10</c:f>
              <c:strCache>
                <c:ptCount val="1"/>
                <c:pt idx="0">
                  <c:v>Planned</c:v>
                </c:pt>
              </c:strCache>
            </c:strRef>
          </c:tx>
          <c:spPr>
            <a:ln w="28575" cap="rnd">
              <a:solidFill>
                <a:srgbClr val="00B0F0"/>
              </a:solidFill>
              <a:round/>
            </a:ln>
            <a:effectLst/>
          </c:spPr>
          <c:marker>
            <c:symbol val="none"/>
          </c:marker>
          <c:dLbls>
            <c:dLbl>
              <c:idx val="15"/>
              <c:layout>
                <c:manualLayout>
                  <c:x val="-2.857959416976279E-2"/>
                  <c:y val="-3.12581375761701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70C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E57-4974-8E18-8ABA663D300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'S-Curve-PSS05'!$B$9:$Q$9</c:f>
              <c:numCache>
                <c:formatCode>[$-409]mmm/yy;@</c:formatCode>
                <c:ptCount val="16"/>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pt idx="12">
                  <c:v>46054</c:v>
                </c:pt>
                <c:pt idx="13">
                  <c:v>46082</c:v>
                </c:pt>
                <c:pt idx="14">
                  <c:v>46113</c:v>
                </c:pt>
                <c:pt idx="15">
                  <c:v>46143</c:v>
                </c:pt>
              </c:numCache>
            </c:numRef>
          </c:cat>
          <c:val>
            <c:numRef>
              <c:f>'S-Curve-PSS05'!$B$10:$Q$10</c:f>
              <c:numCache>
                <c:formatCode>0.00%</c:formatCode>
                <c:ptCount val="16"/>
                <c:pt idx="0">
                  <c:v>7.7999999999999996E-3</c:v>
                </c:pt>
                <c:pt idx="1">
                  <c:v>2.6800000000000001E-2</c:v>
                </c:pt>
                <c:pt idx="2">
                  <c:v>6.54E-2</c:v>
                </c:pt>
                <c:pt idx="3">
                  <c:v>0.18429999999999999</c:v>
                </c:pt>
                <c:pt idx="4">
                  <c:v>0.29270000000000002</c:v>
                </c:pt>
                <c:pt idx="5">
                  <c:v>0.3614</c:v>
                </c:pt>
                <c:pt idx="6">
                  <c:v>0.39450000000000002</c:v>
                </c:pt>
                <c:pt idx="7">
                  <c:v>0.49409999999999998</c:v>
                </c:pt>
                <c:pt idx="8">
                  <c:v>0.58389999999999997</c:v>
                </c:pt>
                <c:pt idx="9">
                  <c:v>0.67490000000000006</c:v>
                </c:pt>
                <c:pt idx="10">
                  <c:v>0.80100000000000005</c:v>
                </c:pt>
                <c:pt idx="11">
                  <c:v>0.8911</c:v>
                </c:pt>
                <c:pt idx="12">
                  <c:v>0.95889999999999997</c:v>
                </c:pt>
                <c:pt idx="13">
                  <c:v>0.98440000000000005</c:v>
                </c:pt>
                <c:pt idx="14">
                  <c:v>1</c:v>
                </c:pt>
                <c:pt idx="15">
                  <c:v>1</c:v>
                </c:pt>
              </c:numCache>
            </c:numRef>
          </c:val>
          <c:smooth val="0"/>
          <c:extLst>
            <c:ext xmlns:c16="http://schemas.microsoft.com/office/drawing/2014/chart" uri="{C3380CC4-5D6E-409C-BE32-E72D297353CC}">
              <c16:uniqueId val="{00000003-7E57-4974-8E18-8ABA663D3008}"/>
            </c:ext>
          </c:extLst>
        </c:ser>
        <c:ser>
          <c:idx val="0"/>
          <c:order val="1"/>
          <c:tx>
            <c:strRef>
              <c:f>'S-Curve-PSS05'!$A$11</c:f>
              <c:strCache>
                <c:ptCount val="1"/>
                <c:pt idx="0">
                  <c:v>Actual</c:v>
                </c:pt>
              </c:strCache>
            </c:strRef>
          </c:tx>
          <c:spPr>
            <a:ln w="28575" cap="rnd">
              <a:solidFill>
                <a:srgbClr val="92D050"/>
              </a:solidFill>
              <a:round/>
            </a:ln>
            <a:effectLst/>
          </c:spPr>
          <c:marker>
            <c:symbol val="none"/>
          </c:marker>
          <c:dLbls>
            <c:dLbl>
              <c:idx val="15"/>
              <c:layout>
                <c:manualLayout>
                  <c:x val="-2.6293226636181766E-2"/>
                  <c:y val="3.12581375761701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B05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E57-4974-8E18-8ABA663D300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'S-Curve-PSS05'!$B$9:$Q$9</c:f>
              <c:numCache>
                <c:formatCode>[$-409]mmm/yy;@</c:formatCode>
                <c:ptCount val="16"/>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pt idx="12">
                  <c:v>46054</c:v>
                </c:pt>
                <c:pt idx="13">
                  <c:v>46082</c:v>
                </c:pt>
                <c:pt idx="14">
                  <c:v>46113</c:v>
                </c:pt>
                <c:pt idx="15">
                  <c:v>46143</c:v>
                </c:pt>
              </c:numCache>
            </c:numRef>
          </c:cat>
          <c:val>
            <c:numRef>
              <c:f>'S-Curve-PSS05'!$B$11:$Q$11</c:f>
              <c:numCache>
                <c:formatCode>0.00%</c:formatCode>
                <c:ptCount val="16"/>
                <c:pt idx="0">
                  <c:v>7.7999999999999996E-3</c:v>
                </c:pt>
                <c:pt idx="1">
                  <c:v>2.6800000000000001E-2</c:v>
                </c:pt>
                <c:pt idx="2">
                  <c:v>7.0300000000000001E-2</c:v>
                </c:pt>
                <c:pt idx="3">
                  <c:v>0.1515</c:v>
                </c:pt>
                <c:pt idx="4">
                  <c:v>0.17150000000000001</c:v>
                </c:pt>
                <c:pt idx="5">
                  <c:v>0.1893</c:v>
                </c:pt>
                <c:pt idx="6">
                  <c:v>0.21909999999999999</c:v>
                </c:pt>
                <c:pt idx="7">
                  <c:v>0.29909999999999998</c:v>
                </c:pt>
                <c:pt idx="8">
                  <c:v>0.3392</c:v>
                </c:pt>
                <c:pt idx="9">
                  <c:v>0.42780000000000001</c:v>
                </c:pt>
                <c:pt idx="10">
                  <c:v>0.56599999999999995</c:v>
                </c:pt>
                <c:pt idx="11">
                  <c:v>0.65359999999999996</c:v>
                </c:pt>
                <c:pt idx="12">
                  <c:v>0.71050000000000002</c:v>
                </c:pt>
                <c:pt idx="13">
                  <c:v>0.82940000000000003</c:v>
                </c:pt>
                <c:pt idx="14">
                  <c:v>0.94940053960806303</c:v>
                </c:pt>
                <c:pt idx="15">
                  <c:v>0.96926140840800956</c:v>
                </c:pt>
              </c:numCache>
            </c:numRef>
          </c:val>
          <c:smooth val="0"/>
          <c:extLst>
            <c:ext xmlns:c16="http://schemas.microsoft.com/office/drawing/2014/chart" uri="{C3380CC4-5D6E-409C-BE32-E72D297353CC}">
              <c16:uniqueId val="{00000005-7E57-4974-8E18-8ABA663D3008}"/>
            </c:ext>
          </c:extLst>
        </c:ser>
        <c:dLbls>
          <c:showLegendKey val="0"/>
          <c:showVal val="0"/>
          <c:showCatName val="0"/>
          <c:showSerName val="0"/>
          <c:showPercent val="0"/>
          <c:showBubbleSize val="0"/>
        </c:dLbls>
        <c:marker val="1"/>
        <c:smooth val="0"/>
        <c:axId val="1581861120"/>
        <c:axId val="1581862560"/>
      </c:lineChart>
      <c:catAx>
        <c:axId val="1581861120"/>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581862560"/>
        <c:crosses val="autoZero"/>
        <c:auto val="0"/>
        <c:lblAlgn val="ctr"/>
        <c:lblOffset val="100"/>
        <c:noMultiLvlLbl val="0"/>
      </c:catAx>
      <c:valAx>
        <c:axId val="158186256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1120"/>
        <c:crosses val="autoZero"/>
        <c:crossBetween val="between"/>
        <c:majorUnit val="0.2"/>
      </c:valAx>
      <c:valAx>
        <c:axId val="1193363839"/>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359999"/>
        <c:crosses val="max"/>
        <c:crossBetween val="between"/>
      </c:valAx>
      <c:dateAx>
        <c:axId val="1193359999"/>
        <c:scaling>
          <c:orientation val="minMax"/>
        </c:scaling>
        <c:delete val="1"/>
        <c:axPos val="b"/>
        <c:numFmt formatCode="[$-409]mmm/yy;@" sourceLinked="1"/>
        <c:majorTickMark val="out"/>
        <c:minorTickMark val="none"/>
        <c:tickLblPos val="nextTo"/>
        <c:crossAx val="1193363839"/>
        <c:crosses val="autoZero"/>
        <c:auto val="1"/>
        <c:lblOffset val="100"/>
        <c:baseTimeUnit val="months"/>
      </c:date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791657167575654E-2"/>
          <c:y val="4.5888969761132797E-2"/>
          <c:w val="0.87994411611688861"/>
          <c:h val="0.62733378176974108"/>
        </c:manualLayout>
      </c:layout>
      <c:barChart>
        <c:barDir val="col"/>
        <c:grouping val="clustered"/>
        <c:varyColors val="0"/>
        <c:ser>
          <c:idx val="6"/>
          <c:order val="2"/>
          <c:tx>
            <c:strRef>
              <c:f>'S-Curve-PSS08'!$A$12</c:f>
              <c:strCache>
                <c:ptCount val="1"/>
                <c:pt idx="0">
                  <c:v>Monthly Plan</c:v>
                </c:pt>
              </c:strCache>
            </c:strRef>
          </c:tx>
          <c:spPr>
            <a:solidFill>
              <a:srgbClr val="00B0F0"/>
            </a:solidFill>
            <a:ln>
              <a:noFill/>
            </a:ln>
            <a:effectLst/>
          </c:spPr>
          <c:invertIfNegative val="0"/>
          <c:cat>
            <c:numRef>
              <c:f>'S-Curve-PSS08'!$C$9:$Q$9</c:f>
              <c:numCache>
                <c:formatCode>[$-409]mmm/yy;@</c:formatCode>
                <c:ptCount val="15"/>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pt idx="13">
                  <c:v>46113</c:v>
                </c:pt>
                <c:pt idx="14">
                  <c:v>46143</c:v>
                </c:pt>
              </c:numCache>
            </c:numRef>
          </c:cat>
          <c:val>
            <c:numRef>
              <c:f>'S-Curve-PSS08'!$C$12:$Q$12</c:f>
              <c:numCache>
                <c:formatCode>0.00%</c:formatCode>
                <c:ptCount val="15"/>
                <c:pt idx="0">
                  <c:v>0</c:v>
                </c:pt>
                <c:pt idx="1">
                  <c:v>0.02</c:v>
                </c:pt>
                <c:pt idx="2">
                  <c:v>0.03</c:v>
                </c:pt>
                <c:pt idx="3">
                  <c:v>0.05</c:v>
                </c:pt>
                <c:pt idx="4">
                  <c:v>7.8E-2</c:v>
                </c:pt>
                <c:pt idx="5">
                  <c:v>7.1599999999999997E-2</c:v>
                </c:pt>
                <c:pt idx="6">
                  <c:v>0.10299999999999999</c:v>
                </c:pt>
                <c:pt idx="7">
                  <c:v>0.15129999999999999</c:v>
                </c:pt>
                <c:pt idx="8">
                  <c:v>0.1132</c:v>
                </c:pt>
                <c:pt idx="9">
                  <c:v>0.10050000000000001</c:v>
                </c:pt>
                <c:pt idx="10">
                  <c:v>0.13109999999999999</c:v>
                </c:pt>
                <c:pt idx="11">
                  <c:v>8.2000000000000003E-2</c:v>
                </c:pt>
                <c:pt idx="12">
                  <c:v>6.93E-2</c:v>
                </c:pt>
                <c:pt idx="13">
                  <c:v>8.0000000000000004E-4</c:v>
                </c:pt>
                <c:pt idx="14">
                  <c:v>8.0000000000000004E-4</c:v>
                </c:pt>
              </c:numCache>
            </c:numRef>
          </c:val>
          <c:extLst>
            <c:ext xmlns:c16="http://schemas.microsoft.com/office/drawing/2014/chart" uri="{C3380CC4-5D6E-409C-BE32-E72D297353CC}">
              <c16:uniqueId val="{00000000-CD2F-4F34-824C-0C8439C99BA7}"/>
            </c:ext>
          </c:extLst>
        </c:ser>
        <c:ser>
          <c:idx val="7"/>
          <c:order val="3"/>
          <c:tx>
            <c:strRef>
              <c:f>'S-Curve-PSS08'!$A$13</c:f>
              <c:strCache>
                <c:ptCount val="1"/>
                <c:pt idx="0">
                  <c:v>Monthly Actual</c:v>
                </c:pt>
              </c:strCache>
            </c:strRef>
          </c:tx>
          <c:spPr>
            <a:solidFill>
              <a:srgbClr val="92D050"/>
            </a:solidFill>
            <a:ln>
              <a:noFill/>
            </a:ln>
            <a:effectLst/>
          </c:spPr>
          <c:invertIfNegative val="0"/>
          <c:cat>
            <c:numRef>
              <c:f>'S-Curve-PSS08'!$C$9:$Q$9</c:f>
              <c:numCache>
                <c:formatCode>[$-409]mmm/yy;@</c:formatCode>
                <c:ptCount val="15"/>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pt idx="13">
                  <c:v>46113</c:v>
                </c:pt>
                <c:pt idx="14">
                  <c:v>46143</c:v>
                </c:pt>
              </c:numCache>
            </c:numRef>
          </c:cat>
          <c:val>
            <c:numRef>
              <c:f>'S-Curve-PSS08'!$C$13:$Q$13</c:f>
              <c:numCache>
                <c:formatCode>0.00%</c:formatCode>
                <c:ptCount val="15"/>
                <c:pt idx="0">
                  <c:v>0</c:v>
                </c:pt>
                <c:pt idx="1">
                  <c:v>5.0000000000000001E-3</c:v>
                </c:pt>
                <c:pt idx="2">
                  <c:v>0.02</c:v>
                </c:pt>
                <c:pt idx="3">
                  <c:v>0.04</c:v>
                </c:pt>
                <c:pt idx="4">
                  <c:v>4.7300000000000002E-2</c:v>
                </c:pt>
                <c:pt idx="5">
                  <c:v>3.32E-2</c:v>
                </c:pt>
                <c:pt idx="6">
                  <c:v>4.4999999999999997E-3</c:v>
                </c:pt>
                <c:pt idx="7">
                  <c:v>5.04E-2</c:v>
                </c:pt>
                <c:pt idx="8">
                  <c:v>8.48E-2</c:v>
                </c:pt>
                <c:pt idx="9">
                  <c:v>0.18479999999999999</c:v>
                </c:pt>
                <c:pt idx="10">
                  <c:v>0.13009999999999999</c:v>
                </c:pt>
                <c:pt idx="11">
                  <c:v>0.1067</c:v>
                </c:pt>
                <c:pt idx="12">
                  <c:v>4.7300000000000002E-2</c:v>
                </c:pt>
                <c:pt idx="13">
                  <c:v>0.10459185341052919</c:v>
                </c:pt>
                <c:pt idx="14">
                  <c:v>0.10786166959889187</c:v>
                </c:pt>
              </c:numCache>
            </c:numRef>
          </c:val>
          <c:extLst>
            <c:ext xmlns:c16="http://schemas.microsoft.com/office/drawing/2014/chart" uri="{C3380CC4-5D6E-409C-BE32-E72D297353CC}">
              <c16:uniqueId val="{00000001-CD2F-4F34-824C-0C8439C99BA7}"/>
            </c:ext>
          </c:extLst>
        </c:ser>
        <c:dLbls>
          <c:showLegendKey val="0"/>
          <c:showVal val="0"/>
          <c:showCatName val="0"/>
          <c:showSerName val="0"/>
          <c:showPercent val="0"/>
          <c:showBubbleSize val="0"/>
        </c:dLbls>
        <c:gapWidth val="150"/>
        <c:axId val="914815519"/>
        <c:axId val="914813599"/>
      </c:barChart>
      <c:lineChart>
        <c:grouping val="standard"/>
        <c:varyColors val="0"/>
        <c:ser>
          <c:idx val="4"/>
          <c:order val="0"/>
          <c:tx>
            <c:strRef>
              <c:f>'S-Curve-PSS08'!$A$10</c:f>
              <c:strCache>
                <c:ptCount val="1"/>
                <c:pt idx="0">
                  <c:v>Cumm. Planned</c:v>
                </c:pt>
              </c:strCache>
            </c:strRef>
          </c:tx>
          <c:spPr>
            <a:ln w="28575" cap="rnd">
              <a:solidFill>
                <a:srgbClr val="00B0F0"/>
              </a:solidFill>
              <a:round/>
            </a:ln>
            <a:effectLst/>
          </c:spPr>
          <c:marker>
            <c:symbol val="none"/>
          </c:marker>
          <c:dLbls>
            <c:dLbl>
              <c:idx val="14"/>
              <c:layout>
                <c:manualLayout>
                  <c:x val="-3.002388263391334E-2"/>
                  <c:y val="-3.218325907954359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70C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D2F-4F34-824C-0C8439C99BA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'S-Curve-PSS08'!$C$9:$Q$9</c:f>
              <c:numCache>
                <c:formatCode>[$-409]mmm/yy;@</c:formatCode>
                <c:ptCount val="15"/>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pt idx="13">
                  <c:v>46113</c:v>
                </c:pt>
                <c:pt idx="14">
                  <c:v>46143</c:v>
                </c:pt>
              </c:numCache>
            </c:numRef>
          </c:cat>
          <c:val>
            <c:numRef>
              <c:f>'S-Curve-PSS08'!$C$10:$Q$10</c:f>
              <c:numCache>
                <c:formatCode>0.00%</c:formatCode>
                <c:ptCount val="15"/>
                <c:pt idx="0">
                  <c:v>0</c:v>
                </c:pt>
                <c:pt idx="1">
                  <c:v>0.02</c:v>
                </c:pt>
                <c:pt idx="2">
                  <c:v>0.05</c:v>
                </c:pt>
                <c:pt idx="3">
                  <c:v>0.1</c:v>
                </c:pt>
                <c:pt idx="4">
                  <c:v>0.17799999999999999</c:v>
                </c:pt>
                <c:pt idx="5">
                  <c:v>0.24959999999999999</c:v>
                </c:pt>
                <c:pt idx="6">
                  <c:v>0.35260000000000002</c:v>
                </c:pt>
                <c:pt idx="7">
                  <c:v>0.50390000000000001</c:v>
                </c:pt>
                <c:pt idx="8">
                  <c:v>0.61709999999999998</c:v>
                </c:pt>
                <c:pt idx="9">
                  <c:v>0.71760000000000002</c:v>
                </c:pt>
                <c:pt idx="10">
                  <c:v>0.84870000000000001</c:v>
                </c:pt>
                <c:pt idx="11">
                  <c:v>0.93069999999999997</c:v>
                </c:pt>
                <c:pt idx="12">
                  <c:v>1</c:v>
                </c:pt>
                <c:pt idx="13">
                  <c:v>1</c:v>
                </c:pt>
                <c:pt idx="14">
                  <c:v>1</c:v>
                </c:pt>
              </c:numCache>
            </c:numRef>
          </c:val>
          <c:smooth val="0"/>
          <c:extLst>
            <c:ext xmlns:c16="http://schemas.microsoft.com/office/drawing/2014/chart" uri="{C3380CC4-5D6E-409C-BE32-E72D297353CC}">
              <c16:uniqueId val="{00000003-CD2F-4F34-824C-0C8439C99BA7}"/>
            </c:ext>
          </c:extLst>
        </c:ser>
        <c:ser>
          <c:idx val="5"/>
          <c:order val="1"/>
          <c:tx>
            <c:strRef>
              <c:f>'S-Curve-PSS08'!$A$11</c:f>
              <c:strCache>
                <c:ptCount val="1"/>
                <c:pt idx="0">
                  <c:v>Cumm. Actual</c:v>
                </c:pt>
              </c:strCache>
            </c:strRef>
          </c:tx>
          <c:spPr>
            <a:ln w="28575" cap="rnd">
              <a:solidFill>
                <a:srgbClr val="92D050"/>
              </a:solidFill>
              <a:round/>
            </a:ln>
            <a:effectLst/>
          </c:spPr>
          <c:marker>
            <c:symbol val="none"/>
          </c:marker>
          <c:dLbls>
            <c:dLbl>
              <c:idx val="14"/>
              <c:layout>
                <c:manualLayout>
                  <c:x val="-2.8659160696008389E-2"/>
                  <c:y val="3.861991089545230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B05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D2F-4F34-824C-0C8439C99BA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'S-Curve-PSS08'!$C$9:$Q$9</c:f>
              <c:numCache>
                <c:formatCode>[$-409]mmm/yy;@</c:formatCode>
                <c:ptCount val="15"/>
                <c:pt idx="0">
                  <c:v>45717</c:v>
                </c:pt>
                <c:pt idx="1">
                  <c:v>45748</c:v>
                </c:pt>
                <c:pt idx="2">
                  <c:v>45778</c:v>
                </c:pt>
                <c:pt idx="3">
                  <c:v>45809</c:v>
                </c:pt>
                <c:pt idx="4">
                  <c:v>45839</c:v>
                </c:pt>
                <c:pt idx="5">
                  <c:v>45870</c:v>
                </c:pt>
                <c:pt idx="6">
                  <c:v>45901</c:v>
                </c:pt>
                <c:pt idx="7">
                  <c:v>45931</c:v>
                </c:pt>
                <c:pt idx="8">
                  <c:v>45962</c:v>
                </c:pt>
                <c:pt idx="9">
                  <c:v>45992</c:v>
                </c:pt>
                <c:pt idx="10">
                  <c:v>46023</c:v>
                </c:pt>
                <c:pt idx="11">
                  <c:v>46054</c:v>
                </c:pt>
                <c:pt idx="12">
                  <c:v>46082</c:v>
                </c:pt>
                <c:pt idx="13">
                  <c:v>46113</c:v>
                </c:pt>
                <c:pt idx="14">
                  <c:v>46143</c:v>
                </c:pt>
              </c:numCache>
            </c:numRef>
          </c:cat>
          <c:val>
            <c:numRef>
              <c:f>'S-Curve-PSS08'!$C$11:$Q$11</c:f>
              <c:numCache>
                <c:formatCode>0.00%</c:formatCode>
                <c:ptCount val="15"/>
                <c:pt idx="0">
                  <c:v>0</c:v>
                </c:pt>
                <c:pt idx="1">
                  <c:v>5.0000000000000001E-3</c:v>
                </c:pt>
                <c:pt idx="2">
                  <c:v>2.5000000000000001E-2</c:v>
                </c:pt>
                <c:pt idx="3">
                  <c:v>6.5000000000000002E-2</c:v>
                </c:pt>
                <c:pt idx="4">
                  <c:v>0.1123</c:v>
                </c:pt>
                <c:pt idx="5">
                  <c:v>0.14549999999999999</c:v>
                </c:pt>
                <c:pt idx="6">
                  <c:v>0.15</c:v>
                </c:pt>
                <c:pt idx="7">
                  <c:v>0.20039999999999999</c:v>
                </c:pt>
                <c:pt idx="8">
                  <c:v>0.28520000000000001</c:v>
                </c:pt>
                <c:pt idx="9">
                  <c:v>0.47</c:v>
                </c:pt>
                <c:pt idx="10">
                  <c:v>0.60009999999999997</c:v>
                </c:pt>
                <c:pt idx="11">
                  <c:v>0.70679999999999998</c:v>
                </c:pt>
                <c:pt idx="12">
                  <c:v>0.75409999999999999</c:v>
                </c:pt>
                <c:pt idx="13">
                  <c:v>0.86508897547187036</c:v>
                </c:pt>
                <c:pt idx="14">
                  <c:v>0.97295064507076223</c:v>
                </c:pt>
              </c:numCache>
            </c:numRef>
          </c:val>
          <c:smooth val="0"/>
          <c:extLst>
            <c:ext xmlns:c16="http://schemas.microsoft.com/office/drawing/2014/chart" uri="{C3380CC4-5D6E-409C-BE32-E72D297353CC}">
              <c16:uniqueId val="{00000005-CD2F-4F34-824C-0C8439C99BA7}"/>
            </c:ext>
          </c:extLst>
        </c:ser>
        <c:dLbls>
          <c:showLegendKey val="0"/>
          <c:showVal val="0"/>
          <c:showCatName val="0"/>
          <c:showSerName val="0"/>
          <c:showPercent val="0"/>
          <c:showBubbleSize val="0"/>
        </c:dLbls>
        <c:marker val="1"/>
        <c:smooth val="0"/>
        <c:axId val="1581861120"/>
        <c:axId val="1581862560"/>
      </c:lineChart>
      <c:catAx>
        <c:axId val="1581861120"/>
        <c:scaling>
          <c:orientation val="minMax"/>
        </c:scaling>
        <c:delete val="0"/>
        <c:axPos val="b"/>
        <c:numFmt formatCode="mmm\-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2560"/>
        <c:crosses val="autoZero"/>
        <c:auto val="0"/>
        <c:lblAlgn val="ctr"/>
        <c:lblOffset val="100"/>
        <c:noMultiLvlLbl val="0"/>
      </c:catAx>
      <c:valAx>
        <c:axId val="1581862560"/>
        <c:scaling>
          <c:orientation val="minMax"/>
          <c:max val="1.1000000000000001"/>
          <c:min val="0"/>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1861120"/>
        <c:crosses val="autoZero"/>
        <c:crossBetween val="between"/>
      </c:valAx>
      <c:valAx>
        <c:axId val="914813599"/>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4815519"/>
        <c:crosses val="max"/>
        <c:crossBetween val="between"/>
      </c:valAx>
      <c:dateAx>
        <c:axId val="914815519"/>
        <c:scaling>
          <c:orientation val="minMax"/>
        </c:scaling>
        <c:delete val="1"/>
        <c:axPos val="b"/>
        <c:numFmt formatCode="[$-409]mmm/yy;@" sourceLinked="1"/>
        <c:majorTickMark val="out"/>
        <c:minorTickMark val="none"/>
        <c:tickLblPos val="nextTo"/>
        <c:crossAx val="914813599"/>
        <c:crosses val="autoZero"/>
        <c:auto val="1"/>
        <c:lblOffset val="100"/>
        <c:baseTimeUnit val="months"/>
        <c:majorUnit val="1"/>
        <c:minorUnit val="1"/>
      </c:date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 PSS-10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PSS-10'!$J$2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B2E0-4181-8079-626786A6E6F8}"/>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B2E0-4181-8079-626786A6E6F8}"/>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B2E0-4181-8079-626786A6E6F8}"/>
              </c:ext>
            </c:extLst>
          </c:dPt>
          <c:dPt>
            <c:idx val="3"/>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7-B2E0-4181-8079-626786A6E6F8}"/>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B2E0-4181-8079-626786A6E6F8}"/>
              </c:ext>
            </c:extLst>
          </c:dPt>
          <c:dPt>
            <c:idx val="5"/>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B-B2E0-4181-8079-626786A6E6F8}"/>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B2E0-4181-8079-626786A6E6F8}"/>
              </c:ext>
            </c:extLst>
          </c:dPt>
          <c:dPt>
            <c:idx val="7"/>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F-B2E0-4181-8079-626786A6E6F8}"/>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B2E0-4181-8079-626786A6E6F8}"/>
              </c:ext>
            </c:extLst>
          </c:dPt>
          <c:dPt>
            <c:idx val="9"/>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13-B2E0-4181-8079-626786A6E6F8}"/>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B2E0-4181-8079-626786A6E6F8}"/>
              </c:ext>
            </c:extLst>
          </c:dPt>
          <c:dPt>
            <c:idx val="11"/>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17-B2E0-4181-8079-626786A6E6F8}"/>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B2E0-4181-8079-626786A6E6F8}"/>
              </c:ext>
            </c:extLst>
          </c:dPt>
          <c:dPt>
            <c:idx val="13"/>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1B-B2E0-4181-8079-626786A6E6F8}"/>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PSS-10'!$B$3:$C$16</c:f>
              <c:multiLvlStrCache>
                <c:ptCount val="14"/>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lvl>
                <c:lvl>
                  <c:pt idx="0">
                    <c:v>PCS</c:v>
                  </c:pt>
                  <c:pt idx="2">
                    <c:v>SGR</c:v>
                  </c:pt>
                  <c:pt idx="4">
                    <c:v>MCR</c:v>
                  </c:pt>
                  <c:pt idx="6">
                    <c:v>CT</c:v>
                  </c:pt>
                  <c:pt idx="8">
                    <c:v>CSS</c:v>
                  </c:pt>
                  <c:pt idx="10">
                    <c:v>BOT </c:v>
                  </c:pt>
                  <c:pt idx="12">
                    <c:v>NIFPS</c:v>
                  </c:pt>
                </c:lvl>
              </c:multiLvlStrCache>
            </c:multiLvlStrRef>
          </c:cat>
          <c:val>
            <c:numRef>
              <c:f>'PPT PSS-10'!$J$3:$J$16</c:f>
              <c:numCache>
                <c:formatCode>0%</c:formatCode>
                <c:ptCount val="14"/>
                <c:pt idx="0">
                  <c:v>1</c:v>
                </c:pt>
                <c:pt idx="1">
                  <c:v>1</c:v>
                </c:pt>
                <c:pt idx="2">
                  <c:v>1</c:v>
                </c:pt>
                <c:pt idx="3">
                  <c:v>1</c:v>
                </c:pt>
                <c:pt idx="4">
                  <c:v>1</c:v>
                </c:pt>
                <c:pt idx="5">
                  <c:v>1</c:v>
                </c:pt>
                <c:pt idx="6">
                  <c:v>1</c:v>
                </c:pt>
                <c:pt idx="7">
                  <c:v>1</c:v>
                </c:pt>
                <c:pt idx="8">
                  <c:v>1</c:v>
                </c:pt>
                <c:pt idx="9">
                  <c:v>1</c:v>
                </c:pt>
                <c:pt idx="10">
                  <c:v>1</c:v>
                </c:pt>
                <c:pt idx="11">
                  <c:v>1</c:v>
                </c:pt>
                <c:pt idx="12">
                  <c:v>1</c:v>
                </c:pt>
                <c:pt idx="13">
                  <c:v>1</c:v>
                </c:pt>
              </c:numCache>
            </c:numRef>
          </c:val>
          <c:extLst>
            <c:ext xmlns:c16="http://schemas.microsoft.com/office/drawing/2014/chart" uri="{C3380CC4-5D6E-409C-BE32-E72D297353CC}">
              <c16:uniqueId val="{00000018-504B-494A-A8AE-6B568B19093B}"/>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4">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 PSS-10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PSS-10'!$J$27</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C97E-4A56-8710-9FD46B60B582}"/>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C97E-4A56-8710-9FD46B60B582}"/>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C97E-4A56-8710-9FD46B60B582}"/>
              </c:ext>
            </c:extLst>
          </c:dPt>
          <c:dPt>
            <c:idx val="3"/>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7-C97E-4A56-8710-9FD46B60B582}"/>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C97E-4A56-8710-9FD46B60B582}"/>
              </c:ext>
            </c:extLst>
          </c:dPt>
          <c:dPt>
            <c:idx val="5"/>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B-C97E-4A56-8710-9FD46B60B58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PSS-10'!$B$28:$C$33</c:f>
              <c:multiLvlStrCache>
                <c:ptCount val="6"/>
                <c:lvl>
                  <c:pt idx="0">
                    <c:v>Plan</c:v>
                  </c:pt>
                  <c:pt idx="1">
                    <c:v>Actual</c:v>
                  </c:pt>
                  <c:pt idx="2">
                    <c:v>Plan</c:v>
                  </c:pt>
                  <c:pt idx="3">
                    <c:v>Actual</c:v>
                  </c:pt>
                  <c:pt idx="4">
                    <c:v>Plan</c:v>
                  </c:pt>
                  <c:pt idx="5">
                    <c:v>Actual</c:v>
                  </c:pt>
                </c:lvl>
                <c:lvl>
                  <c:pt idx="0">
                    <c:v>BCF Total</c:v>
                  </c:pt>
                  <c:pt idx="2">
                    <c:v>BCF Shreeji</c:v>
                  </c:pt>
                  <c:pt idx="4">
                    <c:v>BCF Radhe Radhe/Ankit/VAB</c:v>
                  </c:pt>
                </c:lvl>
              </c:multiLvlStrCache>
            </c:multiLvlStrRef>
          </c:cat>
          <c:val>
            <c:numRef>
              <c:f>'PPT PSS-10'!$J$28:$J$33</c:f>
              <c:numCache>
                <c:formatCode>0%</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C97E-4A56-8710-9FD46B60B582}"/>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4">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dk1"/>
                </a:solidFill>
                <a:latin typeface="Adani Regular" panose="02000503000000020004" pitchFamily="2" charset="0"/>
                <a:ea typeface="+mn-ea"/>
                <a:cs typeface="+mn-cs"/>
              </a:defRPr>
            </a:pPr>
            <a:r>
              <a:rPr lang="en-US" sz="1600" b="1">
                <a:latin typeface="Adani Regular" panose="02000503000000020004" pitchFamily="2" charset="0"/>
              </a:rPr>
              <a:t>Electrical Progress PSS - 10</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dk1"/>
              </a:solidFill>
              <a:latin typeface="Adani Regular" panose="02000503000000020004" pitchFamily="2" charset="0"/>
              <a:ea typeface="+mn-ea"/>
              <a:cs typeface="+mn-cs"/>
            </a:defRPr>
          </a:pPr>
          <a:endParaRPr lang="en-US"/>
        </a:p>
      </c:txPr>
    </c:title>
    <c:autoTitleDeleted val="0"/>
    <c:plotArea>
      <c:layout/>
      <c:barChart>
        <c:barDir val="col"/>
        <c:grouping val="clustered"/>
        <c:varyColors val="0"/>
        <c:ser>
          <c:idx val="0"/>
          <c:order val="0"/>
          <c:tx>
            <c:strRef>
              <c:f>'PPT PSS-10'!$G$41</c:f>
              <c:strCache>
                <c:ptCount val="1"/>
                <c:pt idx="0">
                  <c:v>Plan %</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Adani Regular" panose="02000503000000020004"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PSS-10'!$B$77:$B$84</c:f>
              <c:strCache>
                <c:ptCount val="8"/>
                <c:pt idx="0">
                  <c:v>HT Cable</c:v>
                </c:pt>
                <c:pt idx="1">
                  <c:v>Aux Cable</c:v>
                </c:pt>
                <c:pt idx="2">
                  <c:v>LT Cable</c:v>
                </c:pt>
                <c:pt idx="3">
                  <c:v>FO Cable</c:v>
                </c:pt>
                <c:pt idx="4">
                  <c:v> DC Cable</c:v>
                </c:pt>
                <c:pt idx="5">
                  <c:v>Communication Cable</c:v>
                </c:pt>
                <c:pt idx="6">
                  <c:v>EMS Control Cable</c:v>
                </c:pt>
                <c:pt idx="7">
                  <c:v>CT Control Cable</c:v>
                </c:pt>
              </c:strCache>
            </c:strRef>
          </c:cat>
          <c:val>
            <c:numRef>
              <c:f>'PPT PSS-10'!$G$77:$G$84</c:f>
              <c:numCache>
                <c:formatCode>0%</c:formatCode>
                <c:ptCount val="8"/>
                <c:pt idx="0">
                  <c:v>1</c:v>
                </c:pt>
                <c:pt idx="1">
                  <c:v>1</c:v>
                </c:pt>
                <c:pt idx="2">
                  <c:v>1</c:v>
                </c:pt>
                <c:pt idx="3">
                  <c:v>1</c:v>
                </c:pt>
                <c:pt idx="4">
                  <c:v>1</c:v>
                </c:pt>
                <c:pt idx="5">
                  <c:v>1</c:v>
                </c:pt>
                <c:pt idx="6">
                  <c:v>1</c:v>
                </c:pt>
                <c:pt idx="7">
                  <c:v>1</c:v>
                </c:pt>
              </c:numCache>
            </c:numRef>
          </c:val>
          <c:extLst>
            <c:ext xmlns:c16="http://schemas.microsoft.com/office/drawing/2014/chart" uri="{C3380CC4-5D6E-409C-BE32-E72D297353CC}">
              <c16:uniqueId val="{00000000-4248-4CA9-A706-C997981300DB}"/>
            </c:ext>
          </c:extLst>
        </c:ser>
        <c:ser>
          <c:idx val="1"/>
          <c:order val="1"/>
          <c:tx>
            <c:strRef>
              <c:f>'PPT PSS-10'!$H$41</c:f>
              <c:strCache>
                <c:ptCount val="1"/>
                <c:pt idx="0">
                  <c:v>Actual %</c:v>
                </c:pt>
              </c:strCache>
            </c:strRef>
          </c:tx>
          <c:spPr>
            <a:solidFill>
              <a:srgbClr val="00B050"/>
            </a:solidFill>
            <a:ln>
              <a:noFill/>
            </a:ln>
            <a:effectLst/>
          </c:spPr>
          <c:invertIfNegative val="0"/>
          <c:dPt>
            <c:idx val="0"/>
            <c:invertIfNegative val="0"/>
            <c:bubble3D val="0"/>
            <c:spPr>
              <a:solidFill>
                <a:srgbClr val="00B050"/>
              </a:solidFill>
              <a:ln>
                <a:noFill/>
              </a:ln>
              <a:effectLst/>
            </c:spPr>
            <c:extLst>
              <c:ext xmlns:c16="http://schemas.microsoft.com/office/drawing/2014/chart" uri="{C3380CC4-5D6E-409C-BE32-E72D297353CC}">
                <c16:uniqueId val="{00000002-4248-4CA9-A706-C997981300DB}"/>
              </c:ext>
            </c:extLst>
          </c:dPt>
          <c:dPt>
            <c:idx val="1"/>
            <c:invertIfNegative val="0"/>
            <c:bubble3D val="0"/>
            <c:spPr>
              <a:solidFill>
                <a:srgbClr val="00B050"/>
              </a:solidFill>
              <a:ln>
                <a:noFill/>
              </a:ln>
              <a:effectLst/>
            </c:spPr>
            <c:extLst>
              <c:ext xmlns:c16="http://schemas.microsoft.com/office/drawing/2014/chart" uri="{C3380CC4-5D6E-409C-BE32-E72D297353CC}">
                <c16:uniqueId val="{00000004-4248-4CA9-A706-C997981300DB}"/>
              </c:ext>
            </c:extLst>
          </c:dPt>
          <c:dPt>
            <c:idx val="2"/>
            <c:invertIfNegative val="0"/>
            <c:bubble3D val="0"/>
            <c:spPr>
              <a:solidFill>
                <a:srgbClr val="00B050"/>
              </a:solidFill>
              <a:ln>
                <a:noFill/>
              </a:ln>
              <a:effectLst/>
            </c:spPr>
            <c:extLst>
              <c:ext xmlns:c16="http://schemas.microsoft.com/office/drawing/2014/chart" uri="{C3380CC4-5D6E-409C-BE32-E72D297353CC}">
                <c16:uniqueId val="{00000006-4248-4CA9-A706-C997981300DB}"/>
              </c:ext>
            </c:extLst>
          </c:dPt>
          <c:dPt>
            <c:idx val="3"/>
            <c:invertIfNegative val="0"/>
            <c:bubble3D val="0"/>
            <c:spPr>
              <a:solidFill>
                <a:srgbClr val="00B050"/>
              </a:solidFill>
              <a:ln>
                <a:noFill/>
              </a:ln>
              <a:effectLst/>
            </c:spPr>
            <c:extLst>
              <c:ext xmlns:c16="http://schemas.microsoft.com/office/drawing/2014/chart" uri="{C3380CC4-5D6E-409C-BE32-E72D297353CC}">
                <c16:uniqueId val="{00000008-4248-4CA9-A706-C997981300DB}"/>
              </c:ext>
            </c:extLst>
          </c:dPt>
          <c:dPt>
            <c:idx val="4"/>
            <c:invertIfNegative val="0"/>
            <c:bubble3D val="0"/>
            <c:spPr>
              <a:solidFill>
                <a:srgbClr val="00B050"/>
              </a:solidFill>
              <a:ln>
                <a:noFill/>
              </a:ln>
              <a:effectLst/>
            </c:spPr>
            <c:extLst>
              <c:ext xmlns:c16="http://schemas.microsoft.com/office/drawing/2014/chart" uri="{C3380CC4-5D6E-409C-BE32-E72D297353CC}">
                <c16:uniqueId val="{0000000A-4248-4CA9-A706-C997981300DB}"/>
              </c:ext>
            </c:extLst>
          </c:dPt>
          <c:dPt>
            <c:idx val="5"/>
            <c:invertIfNegative val="0"/>
            <c:bubble3D val="0"/>
            <c:spPr>
              <a:solidFill>
                <a:srgbClr val="00B050"/>
              </a:solidFill>
              <a:ln>
                <a:noFill/>
              </a:ln>
              <a:effectLst/>
            </c:spPr>
            <c:extLst>
              <c:ext xmlns:c16="http://schemas.microsoft.com/office/drawing/2014/chart" uri="{C3380CC4-5D6E-409C-BE32-E72D297353CC}">
                <c16:uniqueId val="{0000000C-4248-4CA9-A706-C997981300DB}"/>
              </c:ext>
            </c:extLst>
          </c:dPt>
          <c:dPt>
            <c:idx val="6"/>
            <c:invertIfNegative val="0"/>
            <c:bubble3D val="0"/>
            <c:spPr>
              <a:solidFill>
                <a:srgbClr val="00B050"/>
              </a:solidFill>
              <a:ln>
                <a:noFill/>
              </a:ln>
              <a:effectLst/>
            </c:spPr>
            <c:extLst>
              <c:ext xmlns:c16="http://schemas.microsoft.com/office/drawing/2014/chart" uri="{C3380CC4-5D6E-409C-BE32-E72D297353CC}">
                <c16:uniqueId val="{0000000E-4248-4CA9-A706-C997981300DB}"/>
              </c:ext>
            </c:extLst>
          </c:dPt>
          <c:dPt>
            <c:idx val="7"/>
            <c:invertIfNegative val="0"/>
            <c:bubble3D val="0"/>
            <c:spPr>
              <a:solidFill>
                <a:srgbClr val="00B050"/>
              </a:solidFill>
              <a:ln>
                <a:noFill/>
              </a:ln>
              <a:effectLst/>
            </c:spPr>
            <c:extLst>
              <c:ext xmlns:c16="http://schemas.microsoft.com/office/drawing/2014/chart" uri="{C3380CC4-5D6E-409C-BE32-E72D297353CC}">
                <c16:uniqueId val="{00000010-4248-4CA9-A706-C997981300DB}"/>
              </c:ext>
            </c:extLst>
          </c:dPt>
          <c:dLbls>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Adani Regular" panose="02000503000000020004"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PSS-10'!$B$77:$B$84</c:f>
              <c:strCache>
                <c:ptCount val="8"/>
                <c:pt idx="0">
                  <c:v>HT Cable</c:v>
                </c:pt>
                <c:pt idx="1">
                  <c:v>Aux Cable</c:v>
                </c:pt>
                <c:pt idx="2">
                  <c:v>LT Cable</c:v>
                </c:pt>
                <c:pt idx="3">
                  <c:v>FO Cable</c:v>
                </c:pt>
                <c:pt idx="4">
                  <c:v> DC Cable</c:v>
                </c:pt>
                <c:pt idx="5">
                  <c:v>Communication Cable</c:v>
                </c:pt>
                <c:pt idx="6">
                  <c:v>EMS Control Cable</c:v>
                </c:pt>
                <c:pt idx="7">
                  <c:v>CT Control Cable</c:v>
                </c:pt>
              </c:strCache>
            </c:strRef>
          </c:cat>
          <c:val>
            <c:numRef>
              <c:f>'PPT PSS-10'!$H$77:$H$84</c:f>
              <c:numCache>
                <c:formatCode>0%</c:formatCode>
                <c:ptCount val="8"/>
                <c:pt idx="0">
                  <c:v>1</c:v>
                </c:pt>
                <c:pt idx="1">
                  <c:v>1</c:v>
                </c:pt>
                <c:pt idx="2">
                  <c:v>0.99880910374029641</c:v>
                </c:pt>
                <c:pt idx="3">
                  <c:v>1</c:v>
                </c:pt>
                <c:pt idx="4">
                  <c:v>1</c:v>
                </c:pt>
                <c:pt idx="5">
                  <c:v>0.98251832755981627</c:v>
                </c:pt>
                <c:pt idx="6">
                  <c:v>0.98406698226524414</c:v>
                </c:pt>
                <c:pt idx="7">
                  <c:v>1</c:v>
                </c:pt>
              </c:numCache>
            </c:numRef>
          </c:val>
          <c:extLst>
            <c:ext xmlns:c16="http://schemas.microsoft.com/office/drawing/2014/chart" uri="{C3380CC4-5D6E-409C-BE32-E72D297353CC}">
              <c16:uniqueId val="{00000011-4248-4CA9-A706-C997981300DB}"/>
            </c:ext>
          </c:extLst>
        </c:ser>
        <c:dLbls>
          <c:showLegendKey val="0"/>
          <c:showVal val="0"/>
          <c:showCatName val="0"/>
          <c:showSerName val="0"/>
          <c:showPercent val="0"/>
          <c:showBubbleSize val="0"/>
        </c:dLbls>
        <c:gapWidth val="129"/>
        <c:overlap val="-20"/>
        <c:axId val="1469368320"/>
        <c:axId val="1469373120"/>
      </c:barChart>
      <c:catAx>
        <c:axId val="146936832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5400000" spcFirstLastPara="1" vertOverflow="ellipsis" wrap="square" anchor="ctr" anchorCtr="1"/>
          <a:lstStyle/>
          <a:p>
            <a:pPr>
              <a:defRPr sz="1100" b="1" i="0" u="none" strike="noStrike" kern="1200" baseline="0">
                <a:ln w="3175">
                  <a:noFill/>
                </a:ln>
                <a:solidFill>
                  <a:schemeClr val="tx1"/>
                </a:solidFill>
                <a:latin typeface="Adani Regular" panose="02000503000000020004" pitchFamily="2" charset="0"/>
                <a:ea typeface="+mn-ea"/>
                <a:cs typeface="+mn-cs"/>
              </a:defRPr>
            </a:pPr>
            <a:endParaRPr lang="en-US"/>
          </a:p>
        </c:txPr>
        <c:crossAx val="1469373120"/>
        <c:crosses val="autoZero"/>
        <c:auto val="1"/>
        <c:lblAlgn val="ctr"/>
        <c:lblOffset val="100"/>
        <c:noMultiLvlLbl val="0"/>
      </c:catAx>
      <c:valAx>
        <c:axId val="1469373120"/>
        <c:scaling>
          <c:orientation val="minMax"/>
          <c:max val="1"/>
          <c:min val="0"/>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dk1"/>
                </a:solidFill>
                <a:latin typeface="Adani Regular" panose="02000503000000020004" pitchFamily="2" charset="0"/>
                <a:ea typeface="+mn-ea"/>
                <a:cs typeface="+mn-cs"/>
              </a:defRPr>
            </a:pPr>
            <a:endParaRPr lang="en-US"/>
          </a:p>
        </c:txPr>
        <c:crossAx val="1469368320"/>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12700" cap="flat" cmpd="sng" algn="ctr">
      <a:solidFill>
        <a:schemeClr val="dk1"/>
      </a:solidFill>
      <a:prstDash val="solid"/>
      <a:miter lim="800000"/>
    </a:ln>
    <a:effectLst/>
  </c:spPr>
  <c:txPr>
    <a:bodyPr/>
    <a:lstStyle/>
    <a:p>
      <a:pPr>
        <a:defRPr>
          <a:solidFill>
            <a:schemeClr val="dk1"/>
          </a:solidFill>
          <a:latin typeface="+mn-lt"/>
          <a:ea typeface="+mn-ea"/>
          <a:cs typeface="+mn-cs"/>
        </a:defRPr>
      </a:pPr>
      <a:endParaRPr lang="en-US"/>
    </a:p>
  </c:txPr>
  <c:externalData r:id="rId4">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 PSS-05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PSS-05'!$J$33</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2B73-42EC-99D2-2305B98A3594}"/>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2B73-42EC-99D2-2305B98A3594}"/>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2B73-42EC-99D2-2305B98A3594}"/>
              </c:ext>
            </c:extLst>
          </c:dPt>
          <c:dPt>
            <c:idx val="3"/>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7-2B73-42EC-99D2-2305B98A3594}"/>
              </c:ext>
            </c:extLst>
          </c:dPt>
          <c:dPt>
            <c:idx val="4"/>
            <c:invertIfNegative val="0"/>
            <c:bubble3D val="0"/>
            <c:spPr>
              <a:solidFill>
                <a:schemeClr val="accent5"/>
              </a:solidFill>
              <a:ln>
                <a:noFill/>
              </a:ln>
              <a:effectLst>
                <a:innerShdw blurRad="114300">
                  <a:schemeClr val="accent1"/>
                </a:innerShdw>
              </a:effectLst>
            </c:spPr>
            <c:extLst>
              <c:ext xmlns:c16="http://schemas.microsoft.com/office/drawing/2014/chart" uri="{C3380CC4-5D6E-409C-BE32-E72D297353CC}">
                <c16:uniqueId val="{00000009-2B73-42EC-99D2-2305B98A3594}"/>
              </c:ext>
            </c:extLst>
          </c:dPt>
          <c:dPt>
            <c:idx val="5"/>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B-2B73-42EC-99D2-2305B98A3594}"/>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2B73-42EC-99D2-2305B98A3594}"/>
              </c:ext>
            </c:extLst>
          </c:dPt>
          <c:dPt>
            <c:idx val="7"/>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F-2B73-42EC-99D2-2305B98A3594}"/>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PSS-05'!$B$34:$C$42</c:f>
              <c:multiLvlStrCache>
                <c:ptCount val="8"/>
                <c:lvl>
                  <c:pt idx="0">
                    <c:v>Plan</c:v>
                  </c:pt>
                  <c:pt idx="1">
                    <c:v>Actual</c:v>
                  </c:pt>
                  <c:pt idx="2">
                    <c:v>Plan</c:v>
                  </c:pt>
                  <c:pt idx="3">
                    <c:v>Actual</c:v>
                  </c:pt>
                  <c:pt idx="4">
                    <c:v>Plan</c:v>
                  </c:pt>
                  <c:pt idx="5">
                    <c:v>Actual</c:v>
                  </c:pt>
                  <c:pt idx="6">
                    <c:v>Plan</c:v>
                  </c:pt>
                  <c:pt idx="7">
                    <c:v>Actual</c:v>
                  </c:pt>
                </c:lvl>
                <c:lvl>
                  <c:pt idx="0">
                    <c:v>BCF Total</c:v>
                  </c:pt>
                  <c:pt idx="2">
                    <c:v>BCF Shreeji</c:v>
                  </c:pt>
                  <c:pt idx="4">
                    <c:v>BCF RR/VAB</c:v>
                  </c:pt>
                  <c:pt idx="6">
                    <c:v>BCF Cemindia/Ankit</c:v>
                  </c:pt>
                </c:lvl>
              </c:multiLvlStrCache>
            </c:multiLvlStrRef>
          </c:cat>
          <c:val>
            <c:numRef>
              <c:f>'PPT PSS-05'!$J$34:$J$42</c:f>
              <c:numCache>
                <c:formatCode>0%</c:formatCode>
                <c:ptCount val="8"/>
                <c:pt idx="0">
                  <c:v>1</c:v>
                </c:pt>
                <c:pt idx="1">
                  <c:v>1</c:v>
                </c:pt>
                <c:pt idx="2">
                  <c:v>1</c:v>
                </c:pt>
                <c:pt idx="3">
                  <c:v>1</c:v>
                </c:pt>
                <c:pt idx="4">
                  <c:v>1</c:v>
                </c:pt>
                <c:pt idx="5">
                  <c:v>1</c:v>
                </c:pt>
                <c:pt idx="6">
                  <c:v>1</c:v>
                </c:pt>
                <c:pt idx="7">
                  <c:v>1</c:v>
                </c:pt>
              </c:numCache>
            </c:numRef>
          </c:val>
          <c:extLst>
            <c:ext xmlns:c16="http://schemas.microsoft.com/office/drawing/2014/chart" uri="{C3380CC4-5D6E-409C-BE32-E72D297353CC}">
              <c16:uniqueId val="{00000010-2B73-42EC-99D2-2305B98A3594}"/>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 PSS-05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PSS-05'!$J$2</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1-B51F-49C0-9902-77DB56BD4E20}"/>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B51F-49C0-9902-77DB56BD4E20}"/>
              </c:ext>
            </c:extLst>
          </c:dPt>
          <c:dPt>
            <c:idx val="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5-B51F-49C0-9902-77DB56BD4E20}"/>
              </c:ext>
            </c:extLst>
          </c:dPt>
          <c:dPt>
            <c:idx val="3"/>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7-B51F-49C0-9902-77DB56BD4E20}"/>
              </c:ext>
            </c:extLst>
          </c:dPt>
          <c:dPt>
            <c:idx val="4"/>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9-B51F-49C0-9902-77DB56BD4E20}"/>
              </c:ext>
            </c:extLst>
          </c:dPt>
          <c:dPt>
            <c:idx val="5"/>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B-B51F-49C0-9902-77DB56BD4E20}"/>
              </c:ext>
            </c:extLst>
          </c:dPt>
          <c:dPt>
            <c:idx val="6"/>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0D-B51F-49C0-9902-77DB56BD4E20}"/>
              </c:ext>
            </c:extLst>
          </c:dPt>
          <c:dPt>
            <c:idx val="7"/>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F-B51F-49C0-9902-77DB56BD4E20}"/>
              </c:ext>
            </c:extLst>
          </c:dPt>
          <c:dPt>
            <c:idx val="8"/>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1-B51F-49C0-9902-77DB56BD4E20}"/>
              </c:ext>
            </c:extLst>
          </c:dPt>
          <c:dPt>
            <c:idx val="9"/>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13-B51F-49C0-9902-77DB56BD4E20}"/>
              </c:ext>
            </c:extLst>
          </c:dPt>
          <c:dPt>
            <c:idx val="10"/>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5-B51F-49C0-9902-77DB56BD4E20}"/>
              </c:ext>
            </c:extLst>
          </c:dPt>
          <c:dPt>
            <c:idx val="11"/>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17-B51F-49C0-9902-77DB56BD4E20}"/>
              </c:ext>
            </c:extLst>
          </c:dPt>
          <c:dPt>
            <c:idx val="12"/>
            <c:invertIfNegative val="0"/>
            <c:bubble3D val="0"/>
            <c:spPr>
              <a:solidFill>
                <a:srgbClr val="0070C0"/>
              </a:solidFill>
              <a:ln>
                <a:noFill/>
              </a:ln>
              <a:effectLst>
                <a:innerShdw blurRad="114300">
                  <a:schemeClr val="accent1"/>
                </a:innerShdw>
              </a:effectLst>
            </c:spPr>
            <c:extLst>
              <c:ext xmlns:c16="http://schemas.microsoft.com/office/drawing/2014/chart" uri="{C3380CC4-5D6E-409C-BE32-E72D297353CC}">
                <c16:uniqueId val="{00000019-B51F-49C0-9902-77DB56BD4E20}"/>
              </c:ext>
            </c:extLst>
          </c:dPt>
          <c:dPt>
            <c:idx val="13"/>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1B-B51F-49C0-9902-77DB56BD4E20}"/>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PSS-05'!$B$3:$C$16</c:f>
              <c:multiLvlStrCache>
                <c:ptCount val="14"/>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lvl>
                <c:lvl>
                  <c:pt idx="0">
                    <c:v>PCS</c:v>
                  </c:pt>
                  <c:pt idx="2">
                    <c:v>SGR</c:v>
                  </c:pt>
                  <c:pt idx="4">
                    <c:v>MCR</c:v>
                  </c:pt>
                  <c:pt idx="6">
                    <c:v>CT</c:v>
                  </c:pt>
                  <c:pt idx="8">
                    <c:v>CSS</c:v>
                  </c:pt>
                  <c:pt idx="10">
                    <c:v>BOT </c:v>
                  </c:pt>
                  <c:pt idx="12">
                    <c:v>NIFPS</c:v>
                  </c:pt>
                </c:lvl>
              </c:multiLvlStrCache>
            </c:multiLvlStrRef>
          </c:cat>
          <c:val>
            <c:numRef>
              <c:f>'PPT PSS-05'!$J$3:$J$16</c:f>
              <c:numCache>
                <c:formatCode>0%</c:formatCode>
                <c:ptCount val="14"/>
                <c:pt idx="0">
                  <c:v>1</c:v>
                </c:pt>
                <c:pt idx="1">
                  <c:v>1</c:v>
                </c:pt>
                <c:pt idx="2">
                  <c:v>1</c:v>
                </c:pt>
                <c:pt idx="3">
                  <c:v>1</c:v>
                </c:pt>
                <c:pt idx="4">
                  <c:v>1</c:v>
                </c:pt>
                <c:pt idx="5">
                  <c:v>1</c:v>
                </c:pt>
                <c:pt idx="6">
                  <c:v>1</c:v>
                </c:pt>
                <c:pt idx="7">
                  <c:v>1</c:v>
                </c:pt>
                <c:pt idx="8">
                  <c:v>1</c:v>
                </c:pt>
                <c:pt idx="9">
                  <c:v>1</c:v>
                </c:pt>
                <c:pt idx="10">
                  <c:v>1</c:v>
                </c:pt>
                <c:pt idx="11">
                  <c:v>1</c:v>
                </c:pt>
                <c:pt idx="12">
                  <c:v>1</c:v>
                </c:pt>
                <c:pt idx="13">
                  <c:v>1</c:v>
                </c:pt>
              </c:numCache>
            </c:numRef>
          </c:val>
          <c:extLst>
            <c:ext xmlns:c16="http://schemas.microsoft.com/office/drawing/2014/chart" uri="{C3380CC4-5D6E-409C-BE32-E72D297353CC}">
              <c16:uniqueId val="{0000001C-B51F-49C0-9902-77DB56BD4E20}"/>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100000000000000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4">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Electrical Progress PSS 05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1248092985763735E-2"/>
          <c:y val="9.8341720243177042E-2"/>
          <c:w val="0.94870886250790898"/>
          <c:h val="0.43154457362533055"/>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PSS-05'!$B$82:$B$89</c:f>
              <c:strCache>
                <c:ptCount val="8"/>
                <c:pt idx="0">
                  <c:v>HT Cable</c:v>
                </c:pt>
                <c:pt idx="1">
                  <c:v>Aux Cable</c:v>
                </c:pt>
                <c:pt idx="2">
                  <c:v>LT Cable</c:v>
                </c:pt>
                <c:pt idx="3">
                  <c:v>FO Cable</c:v>
                </c:pt>
                <c:pt idx="4">
                  <c:v> DC Cable</c:v>
                </c:pt>
                <c:pt idx="5">
                  <c:v>Communication Cable</c:v>
                </c:pt>
                <c:pt idx="6">
                  <c:v>EMS Control Cable</c:v>
                </c:pt>
                <c:pt idx="7">
                  <c:v>CT Control Cable</c:v>
                </c:pt>
              </c:strCache>
            </c:strRef>
          </c:cat>
          <c:val>
            <c:numRef>
              <c:f>'PPT PSS-05'!$G$82:$G$89</c:f>
              <c:numCache>
                <c:formatCode>0%</c:formatCode>
                <c:ptCount val="8"/>
                <c:pt idx="0">
                  <c:v>1</c:v>
                </c:pt>
                <c:pt idx="1">
                  <c:v>1</c:v>
                </c:pt>
                <c:pt idx="2">
                  <c:v>1</c:v>
                </c:pt>
                <c:pt idx="3">
                  <c:v>1</c:v>
                </c:pt>
                <c:pt idx="4">
                  <c:v>1</c:v>
                </c:pt>
                <c:pt idx="5">
                  <c:v>1</c:v>
                </c:pt>
                <c:pt idx="6">
                  <c:v>1</c:v>
                </c:pt>
                <c:pt idx="7">
                  <c:v>1</c:v>
                </c:pt>
              </c:numCache>
            </c:numRef>
          </c:val>
          <c:extLst>
            <c:ext xmlns:c16="http://schemas.microsoft.com/office/drawing/2014/chart" uri="{C3380CC4-5D6E-409C-BE32-E72D297353CC}">
              <c16:uniqueId val="{00000000-7247-4DF8-B8F3-4181A3EB3352}"/>
            </c:ext>
          </c:extLst>
        </c:ser>
        <c:ser>
          <c:idx val="1"/>
          <c:order val="1"/>
          <c:spPr>
            <a:solidFill>
              <a:schemeClr val="accent2"/>
            </a:solidFill>
            <a:ln>
              <a:noFill/>
            </a:ln>
            <a:effectLst/>
          </c:spPr>
          <c:invertIfNegative val="0"/>
          <c:dPt>
            <c:idx val="0"/>
            <c:invertIfNegative val="0"/>
            <c:bubble3D val="0"/>
            <c:spPr>
              <a:solidFill>
                <a:srgbClr val="00B050"/>
              </a:solidFill>
              <a:ln>
                <a:noFill/>
              </a:ln>
              <a:effectLst/>
            </c:spPr>
            <c:extLst>
              <c:ext xmlns:c16="http://schemas.microsoft.com/office/drawing/2014/chart" uri="{C3380CC4-5D6E-409C-BE32-E72D297353CC}">
                <c16:uniqueId val="{00000002-7247-4DF8-B8F3-4181A3EB3352}"/>
              </c:ext>
            </c:extLst>
          </c:dPt>
          <c:dPt>
            <c:idx val="1"/>
            <c:invertIfNegative val="0"/>
            <c:bubble3D val="0"/>
            <c:spPr>
              <a:solidFill>
                <a:srgbClr val="00B050"/>
              </a:solidFill>
              <a:ln>
                <a:noFill/>
              </a:ln>
              <a:effectLst/>
            </c:spPr>
            <c:extLst>
              <c:ext xmlns:c16="http://schemas.microsoft.com/office/drawing/2014/chart" uri="{C3380CC4-5D6E-409C-BE32-E72D297353CC}">
                <c16:uniqueId val="{00000004-7247-4DF8-B8F3-4181A3EB3352}"/>
              </c:ext>
            </c:extLst>
          </c:dPt>
          <c:dPt>
            <c:idx val="2"/>
            <c:invertIfNegative val="0"/>
            <c:bubble3D val="0"/>
            <c:spPr>
              <a:solidFill>
                <a:srgbClr val="00B050"/>
              </a:solidFill>
              <a:ln>
                <a:noFill/>
              </a:ln>
              <a:effectLst/>
            </c:spPr>
            <c:extLst>
              <c:ext xmlns:c16="http://schemas.microsoft.com/office/drawing/2014/chart" uri="{C3380CC4-5D6E-409C-BE32-E72D297353CC}">
                <c16:uniqueId val="{00000006-7247-4DF8-B8F3-4181A3EB3352}"/>
              </c:ext>
            </c:extLst>
          </c:dPt>
          <c:dPt>
            <c:idx val="3"/>
            <c:invertIfNegative val="0"/>
            <c:bubble3D val="0"/>
            <c:spPr>
              <a:solidFill>
                <a:srgbClr val="00B050"/>
              </a:solidFill>
              <a:ln>
                <a:noFill/>
              </a:ln>
              <a:effectLst/>
            </c:spPr>
            <c:extLst>
              <c:ext xmlns:c16="http://schemas.microsoft.com/office/drawing/2014/chart" uri="{C3380CC4-5D6E-409C-BE32-E72D297353CC}">
                <c16:uniqueId val="{00000008-7247-4DF8-B8F3-4181A3EB3352}"/>
              </c:ext>
            </c:extLst>
          </c:dPt>
          <c:dPt>
            <c:idx val="4"/>
            <c:invertIfNegative val="0"/>
            <c:bubble3D val="0"/>
            <c:spPr>
              <a:solidFill>
                <a:srgbClr val="00B050"/>
              </a:solidFill>
              <a:ln>
                <a:noFill/>
              </a:ln>
              <a:effectLst/>
            </c:spPr>
            <c:extLst>
              <c:ext xmlns:c16="http://schemas.microsoft.com/office/drawing/2014/chart" uri="{C3380CC4-5D6E-409C-BE32-E72D297353CC}">
                <c16:uniqueId val="{0000000A-7247-4DF8-B8F3-4181A3EB3352}"/>
              </c:ext>
            </c:extLst>
          </c:dPt>
          <c:dPt>
            <c:idx val="5"/>
            <c:invertIfNegative val="0"/>
            <c:bubble3D val="0"/>
            <c:spPr>
              <a:solidFill>
                <a:srgbClr val="00B050"/>
              </a:solidFill>
              <a:ln>
                <a:noFill/>
              </a:ln>
              <a:effectLst/>
            </c:spPr>
            <c:extLst>
              <c:ext xmlns:c16="http://schemas.microsoft.com/office/drawing/2014/chart" uri="{C3380CC4-5D6E-409C-BE32-E72D297353CC}">
                <c16:uniqueId val="{0000000C-7247-4DF8-B8F3-4181A3EB3352}"/>
              </c:ext>
            </c:extLst>
          </c:dPt>
          <c:dPt>
            <c:idx val="6"/>
            <c:invertIfNegative val="0"/>
            <c:bubble3D val="0"/>
            <c:spPr>
              <a:solidFill>
                <a:srgbClr val="00B050"/>
              </a:solidFill>
              <a:ln>
                <a:noFill/>
              </a:ln>
              <a:effectLst/>
            </c:spPr>
            <c:extLst>
              <c:ext xmlns:c16="http://schemas.microsoft.com/office/drawing/2014/chart" uri="{C3380CC4-5D6E-409C-BE32-E72D297353CC}">
                <c16:uniqueId val="{0000000E-7247-4DF8-B8F3-4181A3EB3352}"/>
              </c:ext>
            </c:extLst>
          </c:dPt>
          <c:dPt>
            <c:idx val="7"/>
            <c:invertIfNegative val="0"/>
            <c:bubble3D val="0"/>
            <c:spPr>
              <a:solidFill>
                <a:srgbClr val="00B050"/>
              </a:solidFill>
              <a:ln>
                <a:noFill/>
              </a:ln>
              <a:effectLst/>
            </c:spPr>
            <c:extLst>
              <c:ext xmlns:c16="http://schemas.microsoft.com/office/drawing/2014/chart" uri="{C3380CC4-5D6E-409C-BE32-E72D297353CC}">
                <c16:uniqueId val="{00000010-7247-4DF8-B8F3-4181A3EB335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PSS-05'!$B$82:$B$89</c:f>
              <c:strCache>
                <c:ptCount val="8"/>
                <c:pt idx="0">
                  <c:v>HT Cable</c:v>
                </c:pt>
                <c:pt idx="1">
                  <c:v>Aux Cable</c:v>
                </c:pt>
                <c:pt idx="2">
                  <c:v>LT Cable</c:v>
                </c:pt>
                <c:pt idx="3">
                  <c:v>FO Cable</c:v>
                </c:pt>
                <c:pt idx="4">
                  <c:v> DC Cable</c:v>
                </c:pt>
                <c:pt idx="5">
                  <c:v>Communication Cable</c:v>
                </c:pt>
                <c:pt idx="6">
                  <c:v>EMS Control Cable</c:v>
                </c:pt>
                <c:pt idx="7">
                  <c:v>CT Control Cable</c:v>
                </c:pt>
              </c:strCache>
            </c:strRef>
          </c:cat>
          <c:val>
            <c:numRef>
              <c:f>'PPT PSS-05'!$H$82:$H$89</c:f>
              <c:numCache>
                <c:formatCode>0%</c:formatCode>
                <c:ptCount val="8"/>
                <c:pt idx="0">
                  <c:v>1</c:v>
                </c:pt>
                <c:pt idx="1">
                  <c:v>0.99762836475750027</c:v>
                </c:pt>
                <c:pt idx="2">
                  <c:v>1</c:v>
                </c:pt>
                <c:pt idx="3">
                  <c:v>1</c:v>
                </c:pt>
                <c:pt idx="4">
                  <c:v>0.98813406960318484</c:v>
                </c:pt>
                <c:pt idx="5">
                  <c:v>0.98813243600528777</c:v>
                </c:pt>
                <c:pt idx="6">
                  <c:v>0.96680271234373494</c:v>
                </c:pt>
                <c:pt idx="7">
                  <c:v>0.98187128058188233</c:v>
                </c:pt>
              </c:numCache>
            </c:numRef>
          </c:val>
          <c:extLst>
            <c:ext xmlns:c16="http://schemas.microsoft.com/office/drawing/2014/chart" uri="{C3380CC4-5D6E-409C-BE32-E72D297353CC}">
              <c16:uniqueId val="{00000011-7247-4DF8-B8F3-4181A3EB3352}"/>
            </c:ext>
          </c:extLst>
        </c:ser>
        <c:dLbls>
          <c:dLblPos val="outEnd"/>
          <c:showLegendKey val="0"/>
          <c:showVal val="1"/>
          <c:showCatName val="0"/>
          <c:showSerName val="0"/>
          <c:showPercent val="0"/>
          <c:showBubbleSize val="0"/>
        </c:dLbls>
        <c:gapWidth val="219"/>
        <c:overlap val="-27"/>
        <c:axId val="1848760896"/>
        <c:axId val="1848763776"/>
      </c:barChart>
      <c:catAx>
        <c:axId val="1848760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8763776"/>
        <c:crosses val="autoZero"/>
        <c:auto val="1"/>
        <c:lblAlgn val="ctr"/>
        <c:lblOffset val="100"/>
        <c:noMultiLvlLbl val="0"/>
      </c:catAx>
      <c:valAx>
        <c:axId val="1848763776"/>
        <c:scaling>
          <c:orientation val="minMax"/>
          <c:max val="1.2"/>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8760896"/>
        <c:crosses val="autoZero"/>
        <c:crossBetween val="between"/>
        <c:majorUnit val="0.2"/>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ysClr val="window" lastClr="FFFFFF"/>
    </a:solidFill>
    <a:ln>
      <a:noFill/>
    </a:ln>
    <a:effectLst/>
  </c:spPr>
  <c:txPr>
    <a:bodyPr/>
    <a:lstStyle/>
    <a:p>
      <a:pPr>
        <a:defRPr/>
      </a:pPr>
      <a:endParaRPr lang="en-US"/>
    </a:p>
  </c:txPr>
  <c:externalData r:id="rId4">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400">
                <a:latin typeface="Adani Light" panose="02000503000000020004" pitchFamily="2" charset="0"/>
              </a:rPr>
              <a:t>BCF Progress PSS-08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PSS-08'!$H$31</c:f>
              <c:strCache>
                <c:ptCount val="1"/>
                <c:pt idx="0">
                  <c:v>Progress</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Pt>
            <c:idx val="0"/>
            <c:invertIfNegative val="0"/>
            <c:bubble3D val="0"/>
            <c:spPr>
              <a:solidFill>
                <a:srgbClr val="0070C0"/>
              </a:solidFill>
              <a:ln>
                <a:solidFill>
                  <a:srgbClr val="0070C0"/>
                </a:solidFill>
              </a:ln>
              <a:effectLst>
                <a:innerShdw blurRad="114300">
                  <a:schemeClr val="accent1"/>
                </a:innerShdw>
              </a:effectLst>
            </c:spPr>
            <c:extLst>
              <c:ext xmlns:c16="http://schemas.microsoft.com/office/drawing/2014/chart" uri="{C3380CC4-5D6E-409C-BE32-E72D297353CC}">
                <c16:uniqueId val="{00000001-31F7-4876-AD99-1336F970F4BF}"/>
              </c:ext>
            </c:extLst>
          </c:dPt>
          <c:dPt>
            <c:idx val="1"/>
            <c:invertIfNegative val="0"/>
            <c:bubble3D val="0"/>
            <c:spPr>
              <a:solidFill>
                <a:srgbClr val="00B050"/>
              </a:solidFill>
              <a:ln>
                <a:noFill/>
              </a:ln>
              <a:effectLst>
                <a:innerShdw blurRad="114300">
                  <a:schemeClr val="accent1"/>
                </a:innerShdw>
              </a:effectLst>
            </c:spPr>
            <c:extLst>
              <c:ext xmlns:c16="http://schemas.microsoft.com/office/drawing/2014/chart" uri="{C3380CC4-5D6E-409C-BE32-E72D297353CC}">
                <c16:uniqueId val="{00000003-31F7-4876-AD99-1336F970F4BF}"/>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PSS-08'!$A$32:$B$33</c:f>
              <c:multiLvlStrCache>
                <c:ptCount val="2"/>
                <c:lvl>
                  <c:pt idx="0">
                    <c:v>Plan</c:v>
                  </c:pt>
                  <c:pt idx="1">
                    <c:v>Actual</c:v>
                  </c:pt>
                </c:lvl>
                <c:lvl>
                  <c:pt idx="0">
                    <c:v>BCF</c:v>
                  </c:pt>
                </c:lvl>
              </c:multiLvlStrCache>
            </c:multiLvlStrRef>
          </c:cat>
          <c:val>
            <c:numRef>
              <c:f>'PPT PSS-08'!$H$32:$H$33</c:f>
              <c:numCache>
                <c:formatCode>0%</c:formatCode>
                <c:ptCount val="2"/>
                <c:pt idx="0">
                  <c:v>1</c:v>
                </c:pt>
                <c:pt idx="1">
                  <c:v>1</c:v>
                </c:pt>
              </c:numCache>
            </c:numRef>
          </c:val>
          <c:extLst>
            <c:ext xmlns:c16="http://schemas.microsoft.com/office/drawing/2014/chart" uri="{C3380CC4-5D6E-409C-BE32-E72D297353CC}">
              <c16:uniqueId val="{0000000C-FBC2-4C61-8B64-0D03B0F8CE0E}"/>
            </c:ext>
          </c:extLst>
        </c:ser>
        <c:dLbls>
          <c:dLblPos val="outEnd"/>
          <c:showLegendKey val="0"/>
          <c:showVal val="1"/>
          <c:showCatName val="0"/>
          <c:showSerName val="0"/>
          <c:showPercent val="0"/>
          <c:showBubbleSize val="0"/>
        </c:dLbls>
        <c:gapWidth val="164"/>
        <c:overlap val="-22"/>
        <c:axId val="1105330784"/>
        <c:axId val="1105326464"/>
      </c:barChart>
      <c:catAx>
        <c:axId val="110533078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26464"/>
        <c:crosses val="autoZero"/>
        <c:auto val="1"/>
        <c:lblAlgn val="ctr"/>
        <c:lblOffset val="100"/>
        <c:noMultiLvlLbl val="0"/>
      </c:catAx>
      <c:valAx>
        <c:axId val="1105326464"/>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30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200">
                <a:latin typeface="Adani Light" panose="02000503000000020004" pitchFamily="2" charset="0"/>
              </a:rPr>
              <a:t>BOP Civil Progress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'PPT PSS-08'!$I$3</c:f>
              <c:strCache>
                <c:ptCount val="1"/>
                <c:pt idx="0">
                  <c:v>Progress</c:v>
                </c:pt>
              </c:strCache>
            </c:strRef>
          </c:tx>
          <c:spPr>
            <a:pattFill prst="narHorz">
              <a:fgClr>
                <a:schemeClr val="accent1"/>
              </a:fgClr>
              <a:bgClr>
                <a:schemeClr val="accent1">
                  <a:lumMod val="20000"/>
                  <a:lumOff val="80000"/>
                </a:schemeClr>
              </a:bgClr>
            </a:pattFill>
            <a:ln>
              <a:solidFill>
                <a:schemeClr val="bg1"/>
              </a:solidFill>
            </a:ln>
            <a:effectLst>
              <a:innerShdw blurRad="114300">
                <a:schemeClr val="accent1"/>
              </a:innerShdw>
            </a:effectLst>
          </c:spPr>
          <c:invertIfNegative val="0"/>
          <c:dPt>
            <c:idx val="0"/>
            <c:invertIfNegative val="0"/>
            <c:bubble3D val="0"/>
            <c:spPr>
              <a:solidFill>
                <a:srgbClr val="0070C0"/>
              </a:solidFill>
              <a:ln>
                <a:solidFill>
                  <a:schemeClr val="bg1"/>
                </a:solidFill>
              </a:ln>
              <a:effectLst>
                <a:innerShdw blurRad="114300">
                  <a:schemeClr val="accent1"/>
                </a:innerShdw>
              </a:effectLst>
            </c:spPr>
            <c:extLst>
              <c:ext xmlns:c16="http://schemas.microsoft.com/office/drawing/2014/chart" uri="{C3380CC4-5D6E-409C-BE32-E72D297353CC}">
                <c16:uniqueId val="{00000001-985D-4EEF-9D9E-9A4BB2929D29}"/>
              </c:ext>
            </c:extLst>
          </c:dPt>
          <c:dPt>
            <c:idx val="1"/>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03-985D-4EEF-9D9E-9A4BB2929D29}"/>
              </c:ext>
            </c:extLst>
          </c:dPt>
          <c:dPt>
            <c:idx val="2"/>
            <c:invertIfNegative val="0"/>
            <c:bubble3D val="0"/>
            <c:spPr>
              <a:solidFill>
                <a:srgbClr val="0070C0"/>
              </a:solidFill>
              <a:ln>
                <a:solidFill>
                  <a:schemeClr val="bg1"/>
                </a:solidFill>
              </a:ln>
              <a:effectLst>
                <a:innerShdw blurRad="114300">
                  <a:schemeClr val="accent1"/>
                </a:innerShdw>
              </a:effectLst>
            </c:spPr>
            <c:extLst>
              <c:ext xmlns:c16="http://schemas.microsoft.com/office/drawing/2014/chart" uri="{C3380CC4-5D6E-409C-BE32-E72D297353CC}">
                <c16:uniqueId val="{00000005-985D-4EEF-9D9E-9A4BB2929D29}"/>
              </c:ext>
            </c:extLst>
          </c:dPt>
          <c:dPt>
            <c:idx val="3"/>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07-985D-4EEF-9D9E-9A4BB2929D29}"/>
              </c:ext>
            </c:extLst>
          </c:dPt>
          <c:dPt>
            <c:idx val="4"/>
            <c:invertIfNegative val="0"/>
            <c:bubble3D val="0"/>
            <c:spPr>
              <a:solidFill>
                <a:srgbClr val="0070C0"/>
              </a:solidFill>
              <a:ln>
                <a:solidFill>
                  <a:schemeClr val="bg1"/>
                </a:solidFill>
              </a:ln>
              <a:effectLst>
                <a:innerShdw blurRad="114300">
                  <a:schemeClr val="accent1"/>
                </a:innerShdw>
              </a:effectLst>
            </c:spPr>
            <c:extLst>
              <c:ext xmlns:c16="http://schemas.microsoft.com/office/drawing/2014/chart" uri="{C3380CC4-5D6E-409C-BE32-E72D297353CC}">
                <c16:uniqueId val="{00000009-985D-4EEF-9D9E-9A4BB2929D29}"/>
              </c:ext>
            </c:extLst>
          </c:dPt>
          <c:dPt>
            <c:idx val="5"/>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0B-985D-4EEF-9D9E-9A4BB2929D29}"/>
              </c:ext>
            </c:extLst>
          </c:dPt>
          <c:dPt>
            <c:idx val="6"/>
            <c:invertIfNegative val="0"/>
            <c:bubble3D val="0"/>
            <c:spPr>
              <a:solidFill>
                <a:srgbClr val="0070C0"/>
              </a:solidFill>
              <a:ln>
                <a:solidFill>
                  <a:schemeClr val="bg1"/>
                </a:solidFill>
              </a:ln>
              <a:effectLst>
                <a:innerShdw blurRad="114300">
                  <a:schemeClr val="accent1"/>
                </a:innerShdw>
              </a:effectLst>
            </c:spPr>
            <c:extLst>
              <c:ext xmlns:c16="http://schemas.microsoft.com/office/drawing/2014/chart" uri="{C3380CC4-5D6E-409C-BE32-E72D297353CC}">
                <c16:uniqueId val="{0000000D-985D-4EEF-9D9E-9A4BB2929D29}"/>
              </c:ext>
            </c:extLst>
          </c:dPt>
          <c:dPt>
            <c:idx val="7"/>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0F-985D-4EEF-9D9E-9A4BB2929D29}"/>
              </c:ext>
            </c:extLst>
          </c:dPt>
          <c:dPt>
            <c:idx val="8"/>
            <c:invertIfNegative val="0"/>
            <c:bubble3D val="0"/>
            <c:spPr>
              <a:solidFill>
                <a:srgbClr val="0070C0"/>
              </a:solidFill>
              <a:ln>
                <a:solidFill>
                  <a:schemeClr val="bg1"/>
                </a:solidFill>
              </a:ln>
              <a:effectLst>
                <a:innerShdw blurRad="114300">
                  <a:schemeClr val="accent1"/>
                </a:innerShdw>
              </a:effectLst>
            </c:spPr>
            <c:extLst>
              <c:ext xmlns:c16="http://schemas.microsoft.com/office/drawing/2014/chart" uri="{C3380CC4-5D6E-409C-BE32-E72D297353CC}">
                <c16:uniqueId val="{00000011-985D-4EEF-9D9E-9A4BB2929D29}"/>
              </c:ext>
            </c:extLst>
          </c:dPt>
          <c:dPt>
            <c:idx val="9"/>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13-985D-4EEF-9D9E-9A4BB2929D29}"/>
              </c:ext>
            </c:extLst>
          </c:dPt>
          <c:dPt>
            <c:idx val="10"/>
            <c:invertIfNegative val="0"/>
            <c:bubble3D val="0"/>
            <c:spPr>
              <a:solidFill>
                <a:srgbClr val="0070C0"/>
              </a:solidFill>
              <a:ln>
                <a:solidFill>
                  <a:schemeClr val="bg1"/>
                </a:solidFill>
              </a:ln>
              <a:effectLst>
                <a:innerShdw blurRad="114300">
                  <a:schemeClr val="accent1"/>
                </a:innerShdw>
              </a:effectLst>
            </c:spPr>
            <c:extLst>
              <c:ext xmlns:c16="http://schemas.microsoft.com/office/drawing/2014/chart" uri="{C3380CC4-5D6E-409C-BE32-E72D297353CC}">
                <c16:uniqueId val="{00000015-985D-4EEF-9D9E-9A4BB2929D29}"/>
              </c:ext>
            </c:extLst>
          </c:dPt>
          <c:dPt>
            <c:idx val="11"/>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17-985D-4EEF-9D9E-9A4BB2929D29}"/>
              </c:ext>
            </c:extLst>
          </c:dPt>
          <c:dPt>
            <c:idx val="12"/>
            <c:invertIfNegative val="0"/>
            <c:bubble3D val="0"/>
            <c:spPr>
              <a:solidFill>
                <a:srgbClr val="0070C0"/>
              </a:solidFill>
              <a:ln>
                <a:solidFill>
                  <a:schemeClr val="bg1"/>
                </a:solidFill>
              </a:ln>
              <a:effectLst>
                <a:innerShdw blurRad="114300">
                  <a:schemeClr val="accent1"/>
                </a:innerShdw>
              </a:effectLst>
            </c:spPr>
            <c:extLst>
              <c:ext xmlns:c16="http://schemas.microsoft.com/office/drawing/2014/chart" uri="{C3380CC4-5D6E-409C-BE32-E72D297353CC}">
                <c16:uniqueId val="{00000019-985D-4EEF-9D9E-9A4BB2929D29}"/>
              </c:ext>
            </c:extLst>
          </c:dPt>
          <c:dPt>
            <c:idx val="13"/>
            <c:invertIfNegative val="0"/>
            <c:bubble3D val="0"/>
            <c:spPr>
              <a:solidFill>
                <a:srgbClr val="00B050"/>
              </a:solidFill>
              <a:ln>
                <a:solidFill>
                  <a:schemeClr val="bg1"/>
                </a:solidFill>
              </a:ln>
              <a:effectLst>
                <a:innerShdw blurRad="114300">
                  <a:schemeClr val="accent1"/>
                </a:innerShdw>
              </a:effectLst>
            </c:spPr>
            <c:extLst>
              <c:ext xmlns:c16="http://schemas.microsoft.com/office/drawing/2014/chart" uri="{C3380CC4-5D6E-409C-BE32-E72D297353CC}">
                <c16:uniqueId val="{0000001B-985D-4EEF-9D9E-9A4BB2929D29}"/>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Adani Light" panose="02000503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('PPT PSS-08'!$A$4:$B$9,'PPT PSS-08'!$A$11:$B$18)</c:f>
              <c:multiLvlStrCache>
                <c:ptCount val="14"/>
                <c:lvl>
                  <c:pt idx="0">
                    <c:v>Plan</c:v>
                  </c:pt>
                  <c:pt idx="1">
                    <c:v>Actual</c:v>
                  </c:pt>
                  <c:pt idx="2">
                    <c:v>Plan</c:v>
                  </c:pt>
                  <c:pt idx="3">
                    <c:v>Actual</c:v>
                  </c:pt>
                  <c:pt idx="4">
                    <c:v>Plan</c:v>
                  </c:pt>
                  <c:pt idx="5">
                    <c:v>Actual</c:v>
                  </c:pt>
                  <c:pt idx="6">
                    <c:v>Plan</c:v>
                  </c:pt>
                  <c:pt idx="7">
                    <c:v>Actual</c:v>
                  </c:pt>
                  <c:pt idx="8">
                    <c:v>Plan</c:v>
                  </c:pt>
                  <c:pt idx="9">
                    <c:v>Actual</c:v>
                  </c:pt>
                  <c:pt idx="10">
                    <c:v>Plan</c:v>
                  </c:pt>
                  <c:pt idx="11">
                    <c:v>Actual</c:v>
                  </c:pt>
                  <c:pt idx="12">
                    <c:v>Plan</c:v>
                  </c:pt>
                  <c:pt idx="13">
                    <c:v>Actual</c:v>
                  </c:pt>
                </c:lvl>
                <c:lvl>
                  <c:pt idx="0">
                    <c:v>LT Panel Found.</c:v>
                  </c:pt>
                  <c:pt idx="2">
                    <c:v>SGR</c:v>
                  </c:pt>
                  <c:pt idx="4">
                    <c:v>MCR</c:v>
                  </c:pt>
                  <c:pt idx="6">
                    <c:v>CT</c:v>
                  </c:pt>
                  <c:pt idx="8">
                    <c:v>CSS</c:v>
                  </c:pt>
                  <c:pt idx="10">
                    <c:v>BOT </c:v>
                  </c:pt>
                  <c:pt idx="12">
                    <c:v>NIFPS</c:v>
                  </c:pt>
                </c:lvl>
              </c:multiLvlStrCache>
            </c:multiLvlStrRef>
          </c:cat>
          <c:val>
            <c:numRef>
              <c:f>('PPT PSS-08'!$I$4:$I$9,'PPT PSS-08'!$I$11:$I$18)</c:f>
              <c:numCache>
                <c:formatCode>0%</c:formatCode>
                <c:ptCount val="14"/>
                <c:pt idx="0">
                  <c:v>1</c:v>
                </c:pt>
                <c:pt idx="1">
                  <c:v>1</c:v>
                </c:pt>
                <c:pt idx="2">
                  <c:v>1</c:v>
                </c:pt>
                <c:pt idx="3">
                  <c:v>1</c:v>
                </c:pt>
                <c:pt idx="4">
                  <c:v>1</c:v>
                </c:pt>
                <c:pt idx="5">
                  <c:v>1</c:v>
                </c:pt>
                <c:pt idx="6">
                  <c:v>1</c:v>
                </c:pt>
                <c:pt idx="7">
                  <c:v>1</c:v>
                </c:pt>
                <c:pt idx="8">
                  <c:v>1</c:v>
                </c:pt>
                <c:pt idx="9">
                  <c:v>1</c:v>
                </c:pt>
                <c:pt idx="10">
                  <c:v>0.99999999999999989</c:v>
                </c:pt>
                <c:pt idx="11">
                  <c:v>0.99999999999999989</c:v>
                </c:pt>
                <c:pt idx="12">
                  <c:v>1</c:v>
                </c:pt>
                <c:pt idx="13">
                  <c:v>1</c:v>
                </c:pt>
              </c:numCache>
            </c:numRef>
          </c:val>
          <c:extLst>
            <c:ext xmlns:c16="http://schemas.microsoft.com/office/drawing/2014/chart" uri="{C3380CC4-5D6E-409C-BE32-E72D297353CC}">
              <c16:uniqueId val="{0000001C-985D-4EEF-9D9E-9A4BB2929D29}"/>
            </c:ext>
          </c:extLst>
        </c:ser>
        <c:dLbls>
          <c:showLegendKey val="0"/>
          <c:showVal val="0"/>
          <c:showCatName val="0"/>
          <c:showSerName val="0"/>
          <c:showPercent val="0"/>
          <c:showBubbleSize val="0"/>
        </c:dLbls>
        <c:gapWidth val="164"/>
        <c:overlap val="-22"/>
        <c:axId val="520753280"/>
        <c:axId val="520769120"/>
      </c:barChart>
      <c:catAx>
        <c:axId val="520753280"/>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69120"/>
        <c:crosses val="autoZero"/>
        <c:auto val="1"/>
        <c:lblAlgn val="ctr"/>
        <c:lblOffset val="100"/>
        <c:noMultiLvlLbl val="0"/>
      </c:catAx>
      <c:valAx>
        <c:axId val="520769120"/>
        <c:scaling>
          <c:orientation val="minMax"/>
          <c:max val="1"/>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0753280"/>
        <c:crosses val="autoZero"/>
        <c:crossBetween val="between"/>
      </c:valAx>
      <c:spPr>
        <a:noFill/>
        <a:ln>
          <a:noFill/>
        </a:ln>
        <a:effectLst/>
      </c:spPr>
    </c:plotArea>
    <c:plotVisOnly val="1"/>
    <c:dispBlanksAs val="gap"/>
    <c:showDLblsOverMax val="0"/>
  </c:chart>
  <c:spPr>
    <a:solidFill>
      <a:schemeClr val="bg1"/>
    </a:solidFill>
    <a:ln w="19050" cap="flat" cmpd="sng" algn="ctr">
      <a:solidFill>
        <a:schemeClr val="tx1"/>
      </a:solidFill>
      <a:round/>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Electrical Progress PSS 08</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1248092985763735E-2"/>
          <c:y val="9.8341720243177042E-2"/>
          <c:w val="0.94870886250790898"/>
          <c:h val="0.43154457362533055"/>
        </c:manualLayout>
      </c:layout>
      <c:barChart>
        <c:barDir val="col"/>
        <c:grouping val="clustered"/>
        <c:varyColors val="0"/>
        <c:ser>
          <c:idx val="0"/>
          <c:order val="0"/>
          <c:tx>
            <c:strRef>
              <c:f>'PPT PSS-08'!$G$78</c:f>
              <c:strCache>
                <c:ptCount val="1"/>
                <c:pt idx="0">
                  <c:v>Plan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PSS-08'!$B$79:$B$85</c:f>
              <c:strCache>
                <c:ptCount val="7"/>
                <c:pt idx="0">
                  <c:v>HT Cable</c:v>
                </c:pt>
                <c:pt idx="1">
                  <c:v>Aux Cable</c:v>
                </c:pt>
                <c:pt idx="2">
                  <c:v>LT Cable</c:v>
                </c:pt>
                <c:pt idx="3">
                  <c:v>FO Cable</c:v>
                </c:pt>
                <c:pt idx="4">
                  <c:v>Communication Cable</c:v>
                </c:pt>
                <c:pt idx="5">
                  <c:v>EMS Control Cable</c:v>
                </c:pt>
                <c:pt idx="6">
                  <c:v>CT Control Cable</c:v>
                </c:pt>
              </c:strCache>
            </c:strRef>
          </c:cat>
          <c:val>
            <c:numRef>
              <c:f>'PPT PSS-08'!$G$79:$G$85</c:f>
              <c:numCache>
                <c:formatCode>0%</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0-3AE3-4951-B80D-D4D0E038D7A3}"/>
            </c:ext>
          </c:extLst>
        </c:ser>
        <c:ser>
          <c:idx val="1"/>
          <c:order val="1"/>
          <c:tx>
            <c:strRef>
              <c:f>'PPT PSS-08'!$H$78</c:f>
              <c:strCache>
                <c:ptCount val="1"/>
                <c:pt idx="0">
                  <c:v>Actual %</c:v>
                </c:pt>
              </c:strCache>
            </c:strRef>
          </c:tx>
          <c:spPr>
            <a:solidFill>
              <a:schemeClr val="accent2"/>
            </a:solidFill>
            <a:ln>
              <a:noFill/>
            </a:ln>
            <a:effectLst/>
          </c:spPr>
          <c:invertIfNegative val="0"/>
          <c:dPt>
            <c:idx val="0"/>
            <c:invertIfNegative val="0"/>
            <c:bubble3D val="0"/>
            <c:spPr>
              <a:solidFill>
                <a:srgbClr val="00B050"/>
              </a:solidFill>
              <a:ln>
                <a:noFill/>
              </a:ln>
              <a:effectLst/>
            </c:spPr>
            <c:extLst>
              <c:ext xmlns:c16="http://schemas.microsoft.com/office/drawing/2014/chart" uri="{C3380CC4-5D6E-409C-BE32-E72D297353CC}">
                <c16:uniqueId val="{00000002-3AE3-4951-B80D-D4D0E038D7A3}"/>
              </c:ext>
            </c:extLst>
          </c:dPt>
          <c:dPt>
            <c:idx val="1"/>
            <c:invertIfNegative val="0"/>
            <c:bubble3D val="0"/>
            <c:spPr>
              <a:solidFill>
                <a:srgbClr val="00B050"/>
              </a:solidFill>
              <a:ln>
                <a:noFill/>
              </a:ln>
              <a:effectLst/>
            </c:spPr>
            <c:extLst>
              <c:ext xmlns:c16="http://schemas.microsoft.com/office/drawing/2014/chart" uri="{C3380CC4-5D6E-409C-BE32-E72D297353CC}">
                <c16:uniqueId val="{00000004-3AE3-4951-B80D-D4D0E038D7A3}"/>
              </c:ext>
            </c:extLst>
          </c:dPt>
          <c:dPt>
            <c:idx val="2"/>
            <c:invertIfNegative val="0"/>
            <c:bubble3D val="0"/>
            <c:spPr>
              <a:solidFill>
                <a:srgbClr val="00B050"/>
              </a:solidFill>
              <a:ln>
                <a:noFill/>
              </a:ln>
              <a:effectLst/>
            </c:spPr>
            <c:extLst>
              <c:ext xmlns:c16="http://schemas.microsoft.com/office/drawing/2014/chart" uri="{C3380CC4-5D6E-409C-BE32-E72D297353CC}">
                <c16:uniqueId val="{00000006-3AE3-4951-B80D-D4D0E038D7A3}"/>
              </c:ext>
            </c:extLst>
          </c:dPt>
          <c:dPt>
            <c:idx val="3"/>
            <c:invertIfNegative val="0"/>
            <c:bubble3D val="0"/>
            <c:spPr>
              <a:solidFill>
                <a:srgbClr val="00B050"/>
              </a:solidFill>
              <a:ln>
                <a:noFill/>
              </a:ln>
              <a:effectLst/>
            </c:spPr>
            <c:extLst>
              <c:ext xmlns:c16="http://schemas.microsoft.com/office/drawing/2014/chart" uri="{C3380CC4-5D6E-409C-BE32-E72D297353CC}">
                <c16:uniqueId val="{00000008-3AE3-4951-B80D-D4D0E038D7A3}"/>
              </c:ext>
            </c:extLst>
          </c:dPt>
          <c:dPt>
            <c:idx val="4"/>
            <c:invertIfNegative val="0"/>
            <c:bubble3D val="0"/>
            <c:spPr>
              <a:solidFill>
                <a:srgbClr val="00B050"/>
              </a:solidFill>
              <a:ln>
                <a:noFill/>
              </a:ln>
              <a:effectLst/>
            </c:spPr>
            <c:extLst>
              <c:ext xmlns:c16="http://schemas.microsoft.com/office/drawing/2014/chart" uri="{C3380CC4-5D6E-409C-BE32-E72D297353CC}">
                <c16:uniqueId val="{0000000A-3AE3-4951-B80D-D4D0E038D7A3}"/>
              </c:ext>
            </c:extLst>
          </c:dPt>
          <c:dPt>
            <c:idx val="5"/>
            <c:invertIfNegative val="0"/>
            <c:bubble3D val="0"/>
            <c:spPr>
              <a:solidFill>
                <a:srgbClr val="00B050"/>
              </a:solidFill>
              <a:ln>
                <a:noFill/>
              </a:ln>
              <a:effectLst/>
            </c:spPr>
            <c:extLst>
              <c:ext xmlns:c16="http://schemas.microsoft.com/office/drawing/2014/chart" uri="{C3380CC4-5D6E-409C-BE32-E72D297353CC}">
                <c16:uniqueId val="{0000000C-3AE3-4951-B80D-D4D0E038D7A3}"/>
              </c:ext>
            </c:extLst>
          </c:dPt>
          <c:dPt>
            <c:idx val="6"/>
            <c:invertIfNegative val="0"/>
            <c:bubble3D val="0"/>
            <c:spPr>
              <a:solidFill>
                <a:srgbClr val="00B050"/>
              </a:solidFill>
              <a:ln>
                <a:noFill/>
              </a:ln>
              <a:effectLst/>
            </c:spPr>
            <c:extLst>
              <c:ext xmlns:c16="http://schemas.microsoft.com/office/drawing/2014/chart" uri="{C3380CC4-5D6E-409C-BE32-E72D297353CC}">
                <c16:uniqueId val="{0000000E-3AE3-4951-B80D-D4D0E038D7A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'PPT PSS-08'!$B$79:$B$85</c:f>
              <c:strCache>
                <c:ptCount val="7"/>
                <c:pt idx="0">
                  <c:v>HT Cable</c:v>
                </c:pt>
                <c:pt idx="1">
                  <c:v>Aux Cable</c:v>
                </c:pt>
                <c:pt idx="2">
                  <c:v>LT Cable</c:v>
                </c:pt>
                <c:pt idx="3">
                  <c:v>FO Cable</c:v>
                </c:pt>
                <c:pt idx="4">
                  <c:v>Communication Cable</c:v>
                </c:pt>
                <c:pt idx="5">
                  <c:v>EMS Control Cable</c:v>
                </c:pt>
                <c:pt idx="6">
                  <c:v>CT Control Cable</c:v>
                </c:pt>
              </c:strCache>
            </c:strRef>
          </c:cat>
          <c:val>
            <c:numRef>
              <c:f>'PPT PSS-08'!$H$79:$H$85</c:f>
              <c:numCache>
                <c:formatCode>0%</c:formatCode>
                <c:ptCount val="7"/>
                <c:pt idx="0">
                  <c:v>1</c:v>
                </c:pt>
                <c:pt idx="1">
                  <c:v>0.95639860758746831</c:v>
                </c:pt>
                <c:pt idx="2">
                  <c:v>1</c:v>
                </c:pt>
                <c:pt idx="3">
                  <c:v>1</c:v>
                </c:pt>
                <c:pt idx="4">
                  <c:v>0.97498999599839931</c:v>
                </c:pt>
                <c:pt idx="5">
                  <c:v>0.9898026390497604</c:v>
                </c:pt>
                <c:pt idx="6">
                  <c:v>0.989471631897056</c:v>
                </c:pt>
              </c:numCache>
            </c:numRef>
          </c:val>
          <c:extLst>
            <c:ext xmlns:c16="http://schemas.microsoft.com/office/drawing/2014/chart" uri="{C3380CC4-5D6E-409C-BE32-E72D297353CC}">
              <c16:uniqueId val="{0000000F-3AE3-4951-B80D-D4D0E038D7A3}"/>
            </c:ext>
          </c:extLst>
        </c:ser>
        <c:dLbls>
          <c:dLblPos val="outEnd"/>
          <c:showLegendKey val="0"/>
          <c:showVal val="1"/>
          <c:showCatName val="0"/>
          <c:showSerName val="0"/>
          <c:showPercent val="0"/>
          <c:showBubbleSize val="0"/>
        </c:dLbls>
        <c:gapWidth val="219"/>
        <c:overlap val="-27"/>
        <c:axId val="1848760896"/>
        <c:axId val="1848763776"/>
      </c:barChart>
      <c:catAx>
        <c:axId val="1848760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8763776"/>
        <c:crosses val="autoZero"/>
        <c:auto val="1"/>
        <c:lblAlgn val="ctr"/>
        <c:lblOffset val="100"/>
        <c:noMultiLvlLbl val="0"/>
      </c:catAx>
      <c:valAx>
        <c:axId val="1848763776"/>
        <c:scaling>
          <c:orientation val="minMax"/>
          <c:max val="1.2"/>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8760896"/>
        <c:crosses val="autoZero"/>
        <c:crossBetween val="between"/>
        <c:majorUnit val="0.2"/>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ysClr val="window" lastClr="FFFFFF"/>
    </a:solidFill>
    <a:ln>
      <a:noFill/>
    </a:ln>
    <a:effectLst/>
  </c:spPr>
  <c:txPr>
    <a:bodyPr/>
    <a:lstStyle/>
    <a:p>
      <a:pPr>
        <a:defRPr/>
      </a:pPr>
      <a:endParaRPr lang="en-US"/>
    </a:p>
  </c:txPr>
  <c:externalData r:id="rId4">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Sheet1!$B$2</c:f>
              <c:strCache>
                <c:ptCount val="1"/>
                <c:pt idx="0">
                  <c:v>Budgeted- cummulative </c:v>
                </c:pt>
              </c:strCache>
            </c:strRef>
          </c:tx>
          <c:spPr>
            <a:ln w="28575" cap="rnd">
              <a:solidFill>
                <a:schemeClr val="accent1"/>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485-47BC-8FD6-DF558B6F9FFA}"/>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dani Regular" panose="02000503000000020004" pitchFamily="2"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Sheet1!$C$1:$P$1</c:f>
              <c:numCache>
                <c:formatCode>mmm\-yy</c:formatCode>
                <c:ptCount val="14"/>
                <c:pt idx="0">
                  <c:v>45777</c:v>
                </c:pt>
                <c:pt idx="1">
                  <c:v>45808</c:v>
                </c:pt>
                <c:pt idx="2">
                  <c:v>45838</c:v>
                </c:pt>
                <c:pt idx="3">
                  <c:v>45869</c:v>
                </c:pt>
                <c:pt idx="4">
                  <c:v>45900</c:v>
                </c:pt>
                <c:pt idx="5">
                  <c:v>45930</c:v>
                </c:pt>
                <c:pt idx="6">
                  <c:v>45961</c:v>
                </c:pt>
                <c:pt idx="7">
                  <c:v>45991</c:v>
                </c:pt>
                <c:pt idx="8">
                  <c:v>46022</c:v>
                </c:pt>
                <c:pt idx="9">
                  <c:v>46053</c:v>
                </c:pt>
                <c:pt idx="10">
                  <c:v>46081</c:v>
                </c:pt>
                <c:pt idx="11">
                  <c:v>46112</c:v>
                </c:pt>
                <c:pt idx="12">
                  <c:v>46142</c:v>
                </c:pt>
                <c:pt idx="13">
                  <c:v>46173</c:v>
                </c:pt>
              </c:numCache>
            </c:numRef>
          </c:cat>
          <c:val>
            <c:numRef>
              <c:f>Sheet1!$C$2:$P$2</c:f>
              <c:numCache>
                <c:formatCode>General</c:formatCode>
                <c:ptCount val="14"/>
                <c:pt idx="0">
                  <c:v>0</c:v>
                </c:pt>
                <c:pt idx="1">
                  <c:v>365</c:v>
                </c:pt>
                <c:pt idx="2">
                  <c:v>558</c:v>
                </c:pt>
                <c:pt idx="3">
                  <c:v>1129</c:v>
                </c:pt>
                <c:pt idx="4">
                  <c:v>2391</c:v>
                </c:pt>
                <c:pt idx="5">
                  <c:v>3202</c:v>
                </c:pt>
                <c:pt idx="6">
                  <c:v>3723</c:v>
                </c:pt>
                <c:pt idx="7">
                  <c:v>3834</c:v>
                </c:pt>
                <c:pt idx="8">
                  <c:v>4185</c:v>
                </c:pt>
                <c:pt idx="9">
                  <c:v>4480</c:v>
                </c:pt>
                <c:pt idx="10">
                  <c:v>4621</c:v>
                </c:pt>
                <c:pt idx="11">
                  <c:v>4744</c:v>
                </c:pt>
                <c:pt idx="12">
                  <c:v>4750</c:v>
                </c:pt>
                <c:pt idx="13">
                  <c:v>4750</c:v>
                </c:pt>
              </c:numCache>
            </c:numRef>
          </c:val>
          <c:smooth val="0"/>
          <c:extLst>
            <c:ext xmlns:c16="http://schemas.microsoft.com/office/drawing/2014/chart" uri="{C3380CC4-5D6E-409C-BE32-E72D297353CC}">
              <c16:uniqueId val="{00000001-C485-47BC-8FD6-DF558B6F9FFA}"/>
            </c:ext>
          </c:extLst>
        </c:ser>
        <c:ser>
          <c:idx val="1"/>
          <c:order val="1"/>
          <c:tx>
            <c:strRef>
              <c:f>Sheet1!$B$5</c:f>
              <c:strCache>
                <c:ptCount val="1"/>
                <c:pt idx="0">
                  <c:v>Actal Cummulative</c:v>
                </c:pt>
              </c:strCache>
            </c:strRef>
          </c:tx>
          <c:spPr>
            <a:ln w="28575" cap="rnd">
              <a:solidFill>
                <a:srgbClr val="00B050"/>
              </a:solidFill>
              <a:round/>
            </a:ln>
            <a:effectLst/>
          </c:spPr>
          <c:marker>
            <c:symbol val="none"/>
          </c:marker>
          <c:dLbls>
            <c:dLbl>
              <c:idx val="13"/>
              <c:layout>
                <c:manualLayout>
                  <c:x val="-5.9478286444617518E-3"/>
                  <c:y val="8.31486268064298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85-47BC-8FD6-DF558B6F9FFA}"/>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dani Regular" panose="02000503000000020004" pitchFamily="2"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Sheet1!$C$1:$P$1</c:f>
              <c:numCache>
                <c:formatCode>mmm\-yy</c:formatCode>
                <c:ptCount val="14"/>
                <c:pt idx="0">
                  <c:v>45777</c:v>
                </c:pt>
                <c:pt idx="1">
                  <c:v>45808</c:v>
                </c:pt>
                <c:pt idx="2">
                  <c:v>45838</c:v>
                </c:pt>
                <c:pt idx="3">
                  <c:v>45869</c:v>
                </c:pt>
                <c:pt idx="4">
                  <c:v>45900</c:v>
                </c:pt>
                <c:pt idx="5">
                  <c:v>45930</c:v>
                </c:pt>
                <c:pt idx="6">
                  <c:v>45961</c:v>
                </c:pt>
                <c:pt idx="7">
                  <c:v>45991</c:v>
                </c:pt>
                <c:pt idx="8">
                  <c:v>46022</c:v>
                </c:pt>
                <c:pt idx="9">
                  <c:v>46053</c:v>
                </c:pt>
                <c:pt idx="10">
                  <c:v>46081</c:v>
                </c:pt>
                <c:pt idx="11">
                  <c:v>46112</c:v>
                </c:pt>
                <c:pt idx="12">
                  <c:v>46142</c:v>
                </c:pt>
                <c:pt idx="13">
                  <c:v>46173</c:v>
                </c:pt>
              </c:numCache>
            </c:numRef>
          </c:cat>
          <c:val>
            <c:numRef>
              <c:f>Sheet1!$C$5:$P$5</c:f>
              <c:numCache>
                <c:formatCode>_(* #,##0.00_);_(* \(#,##0.00\);_(* "-"??_);_(@_)</c:formatCode>
                <c:ptCount val="14"/>
                <c:pt idx="0">
                  <c:v>0</c:v>
                </c:pt>
                <c:pt idx="1">
                  <c:v>0</c:v>
                </c:pt>
                <c:pt idx="2">
                  <c:v>2</c:v>
                </c:pt>
                <c:pt idx="3">
                  <c:v>266.48593440591708</c:v>
                </c:pt>
                <c:pt idx="4">
                  <c:v>355.38672203791714</c:v>
                </c:pt>
                <c:pt idx="5">
                  <c:v>579.32000000000005</c:v>
                </c:pt>
                <c:pt idx="6" formatCode="_ * #,##0_ ;_ * \-#,##0_ ;_ * &quot;-&quot;??_ ;_ @_ ">
                  <c:v>651.32000000000005</c:v>
                </c:pt>
                <c:pt idx="7" formatCode="_ * #,##0_ ;_ * \-#,##0_ ;_ * &quot;-&quot;??_ ;_ @_ ">
                  <c:v>735</c:v>
                </c:pt>
                <c:pt idx="8">
                  <c:v>775</c:v>
                </c:pt>
                <c:pt idx="9">
                  <c:v>3084</c:v>
                </c:pt>
                <c:pt idx="10">
                  <c:v>3513.5</c:v>
                </c:pt>
                <c:pt idx="11">
                  <c:v>3744</c:v>
                </c:pt>
                <c:pt idx="12" formatCode="General">
                  <c:v>3843</c:v>
                </c:pt>
                <c:pt idx="13" formatCode="#,##0.00">
                  <c:v>4064</c:v>
                </c:pt>
              </c:numCache>
            </c:numRef>
          </c:val>
          <c:smooth val="0"/>
          <c:extLst>
            <c:ext xmlns:c16="http://schemas.microsoft.com/office/drawing/2014/chart" uri="{C3380CC4-5D6E-409C-BE32-E72D297353CC}">
              <c16:uniqueId val="{00000003-C485-47BC-8FD6-DF558B6F9FFA}"/>
            </c:ext>
          </c:extLst>
        </c:ser>
        <c:dLbls>
          <c:showLegendKey val="0"/>
          <c:showVal val="0"/>
          <c:showCatName val="0"/>
          <c:showSerName val="0"/>
          <c:showPercent val="0"/>
          <c:showBubbleSize val="0"/>
        </c:dLbls>
        <c:smooth val="0"/>
        <c:axId val="1299146368"/>
        <c:axId val="1299139648"/>
      </c:lineChart>
      <c:dateAx>
        <c:axId val="1299146368"/>
        <c:scaling>
          <c:orientation val="minMax"/>
        </c:scaling>
        <c:delete val="0"/>
        <c:axPos val="b"/>
        <c:numFmt formatCode="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dani Regular" panose="02000503000000020004" pitchFamily="2" charset="0"/>
                <a:ea typeface="+mn-ea"/>
                <a:cs typeface="+mn-cs"/>
              </a:defRPr>
            </a:pPr>
            <a:endParaRPr lang="en-US"/>
          </a:p>
        </c:txPr>
        <c:crossAx val="1299139648"/>
        <c:crosses val="autoZero"/>
        <c:auto val="1"/>
        <c:lblOffset val="100"/>
        <c:baseTimeUnit val="months"/>
      </c:dateAx>
      <c:valAx>
        <c:axId val="129913964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dani Regular" panose="02000503000000020004" pitchFamily="2" charset="0"/>
                <a:ea typeface="+mn-ea"/>
                <a:cs typeface="+mn-cs"/>
              </a:defRPr>
            </a:pPr>
            <a:endParaRPr lang="en-US"/>
          </a:p>
        </c:txPr>
        <c:crossAx val="12991463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Adani Regular" panose="02000503000000020004"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latin typeface="Adani Regular" panose="02000503000000020004" pitchFamily="2" charset="0"/>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Curve!$B$4</c:f>
              <c:strCache>
                <c:ptCount val="1"/>
                <c:pt idx="0">
                  <c:v>PSS10</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Curve!$C$2:$P$3</c:f>
              <c:multiLvlStrCache>
                <c:ptCount val="10"/>
                <c:lvl>
                  <c:pt idx="0">
                    <c:v>Plan</c:v>
                  </c:pt>
                  <c:pt idx="1">
                    <c:v>Act</c:v>
                  </c:pt>
                  <c:pt idx="2">
                    <c:v>Plan</c:v>
                  </c:pt>
                  <c:pt idx="3">
                    <c:v>Act</c:v>
                  </c:pt>
                  <c:pt idx="4">
                    <c:v>Plan</c:v>
                  </c:pt>
                  <c:pt idx="5">
                    <c:v>Act</c:v>
                  </c:pt>
                  <c:pt idx="6">
                    <c:v>Plan</c:v>
                  </c:pt>
                  <c:pt idx="7">
                    <c:v>Act</c:v>
                  </c:pt>
                  <c:pt idx="8">
                    <c:v>Plan</c:v>
                  </c:pt>
                  <c:pt idx="9">
                    <c:v>Act</c:v>
                  </c:pt>
                </c:lvl>
                <c:lvl>
                  <c:pt idx="0">
                    <c:v>Dec-25</c:v>
                  </c:pt>
                  <c:pt idx="2">
                    <c:v>Jan-26</c:v>
                  </c:pt>
                  <c:pt idx="4">
                    <c:v>Feb-26</c:v>
                  </c:pt>
                  <c:pt idx="6">
                    <c:v>Mar-26</c:v>
                  </c:pt>
                  <c:pt idx="8">
                    <c:v>Apr-26</c:v>
                  </c:pt>
                </c:lvl>
              </c:multiLvlStrCache>
            </c:multiLvlStrRef>
          </c:cat>
          <c:val>
            <c:numRef>
              <c:f>Curve!$C$4:$P$4</c:f>
              <c:numCache>
                <c:formatCode>0</c:formatCode>
                <c:ptCount val="10"/>
                <c:pt idx="0">
                  <c:v>4612.8</c:v>
                </c:pt>
                <c:pt idx="1">
                  <c:v>2802.4</c:v>
                </c:pt>
                <c:pt idx="2">
                  <c:v>9354.25</c:v>
                </c:pt>
                <c:pt idx="3">
                  <c:v>8385.5</c:v>
                </c:pt>
                <c:pt idx="4">
                  <c:v>12439</c:v>
                </c:pt>
                <c:pt idx="5">
                  <c:v>10038</c:v>
                </c:pt>
                <c:pt idx="6">
                  <c:v>13903.5</c:v>
                </c:pt>
                <c:pt idx="7">
                  <c:v>7564</c:v>
                </c:pt>
                <c:pt idx="8">
                  <c:v>5250</c:v>
                </c:pt>
                <c:pt idx="9">
                  <c:v>1282.5</c:v>
                </c:pt>
              </c:numCache>
            </c:numRef>
          </c:val>
          <c:extLst>
            <c:ext xmlns:c16="http://schemas.microsoft.com/office/drawing/2014/chart" uri="{C3380CC4-5D6E-409C-BE32-E72D297353CC}">
              <c16:uniqueId val="{00000000-20C6-4732-B107-79C3AFDB7456}"/>
            </c:ext>
          </c:extLst>
        </c:ser>
        <c:ser>
          <c:idx val="1"/>
          <c:order val="1"/>
          <c:tx>
            <c:strRef>
              <c:f>Curve!$B$5</c:f>
              <c:strCache>
                <c:ptCount val="1"/>
                <c:pt idx="0">
                  <c:v>PSS05</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Curve!$C$2:$P$3</c:f>
              <c:multiLvlStrCache>
                <c:ptCount val="10"/>
                <c:lvl>
                  <c:pt idx="0">
                    <c:v>Plan</c:v>
                  </c:pt>
                  <c:pt idx="1">
                    <c:v>Act</c:v>
                  </c:pt>
                  <c:pt idx="2">
                    <c:v>Plan</c:v>
                  </c:pt>
                  <c:pt idx="3">
                    <c:v>Act</c:v>
                  </c:pt>
                  <c:pt idx="4">
                    <c:v>Plan</c:v>
                  </c:pt>
                  <c:pt idx="5">
                    <c:v>Act</c:v>
                  </c:pt>
                  <c:pt idx="6">
                    <c:v>Plan</c:v>
                  </c:pt>
                  <c:pt idx="7">
                    <c:v>Act</c:v>
                  </c:pt>
                  <c:pt idx="8">
                    <c:v>Plan</c:v>
                  </c:pt>
                  <c:pt idx="9">
                    <c:v>Act</c:v>
                  </c:pt>
                </c:lvl>
                <c:lvl>
                  <c:pt idx="0">
                    <c:v>Dec-25</c:v>
                  </c:pt>
                  <c:pt idx="2">
                    <c:v>Jan-26</c:v>
                  </c:pt>
                  <c:pt idx="4">
                    <c:v>Feb-26</c:v>
                  </c:pt>
                  <c:pt idx="6">
                    <c:v>Mar-26</c:v>
                  </c:pt>
                  <c:pt idx="8">
                    <c:v>Apr-26</c:v>
                  </c:pt>
                </c:lvl>
              </c:multiLvlStrCache>
            </c:multiLvlStrRef>
          </c:cat>
          <c:val>
            <c:numRef>
              <c:f>Curve!$C$5:$P$5</c:f>
              <c:numCache>
                <c:formatCode>0</c:formatCode>
                <c:ptCount val="10"/>
                <c:pt idx="0">
                  <c:v>7111.4000000000005</c:v>
                </c:pt>
                <c:pt idx="1">
                  <c:v>3019.4</c:v>
                </c:pt>
                <c:pt idx="2">
                  <c:v>8168.5</c:v>
                </c:pt>
                <c:pt idx="3">
                  <c:v>5223.5</c:v>
                </c:pt>
                <c:pt idx="4">
                  <c:v>12600</c:v>
                </c:pt>
                <c:pt idx="5">
                  <c:v>6111</c:v>
                </c:pt>
                <c:pt idx="6">
                  <c:v>13950</c:v>
                </c:pt>
                <c:pt idx="7" formatCode="General">
                  <c:v>7176.5</c:v>
                </c:pt>
                <c:pt idx="8">
                  <c:v>13500</c:v>
                </c:pt>
                <c:pt idx="9">
                  <c:v>7620</c:v>
                </c:pt>
              </c:numCache>
            </c:numRef>
          </c:val>
          <c:extLst>
            <c:ext xmlns:c16="http://schemas.microsoft.com/office/drawing/2014/chart" uri="{C3380CC4-5D6E-409C-BE32-E72D297353CC}">
              <c16:uniqueId val="{00000001-20C6-4732-B107-79C3AFDB7456}"/>
            </c:ext>
          </c:extLst>
        </c:ser>
        <c:ser>
          <c:idx val="2"/>
          <c:order val="2"/>
          <c:tx>
            <c:strRef>
              <c:f>Curve!$B$6</c:f>
              <c:strCache>
                <c:ptCount val="1"/>
                <c:pt idx="0">
                  <c:v>PSS08</c:v>
                </c:pt>
              </c:strCache>
            </c:strRef>
          </c:tx>
          <c:spPr>
            <a:solidFill>
              <a:schemeClr val="accent3"/>
            </a:solidFill>
            <a:ln>
              <a:noFill/>
            </a:ln>
            <a:effectLst/>
          </c:spPr>
          <c:invertIfNegative val="0"/>
          <c:dLbls>
            <c:dLbl>
              <c:idx val="7"/>
              <c:layout>
                <c:manualLayout>
                  <c:x val="1.0089522703535218E-16"/>
                  <c:y val="2.72108668632266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0C6-4732-B107-79C3AFDB745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Curve!$C$2:$P$3</c:f>
              <c:multiLvlStrCache>
                <c:ptCount val="10"/>
                <c:lvl>
                  <c:pt idx="0">
                    <c:v>Plan</c:v>
                  </c:pt>
                  <c:pt idx="1">
                    <c:v>Act</c:v>
                  </c:pt>
                  <c:pt idx="2">
                    <c:v>Plan</c:v>
                  </c:pt>
                  <c:pt idx="3">
                    <c:v>Act</c:v>
                  </c:pt>
                  <c:pt idx="4">
                    <c:v>Plan</c:v>
                  </c:pt>
                  <c:pt idx="5">
                    <c:v>Act</c:v>
                  </c:pt>
                  <c:pt idx="6">
                    <c:v>Plan</c:v>
                  </c:pt>
                  <c:pt idx="7">
                    <c:v>Act</c:v>
                  </c:pt>
                  <c:pt idx="8">
                    <c:v>Plan</c:v>
                  </c:pt>
                  <c:pt idx="9">
                    <c:v>Act</c:v>
                  </c:pt>
                </c:lvl>
                <c:lvl>
                  <c:pt idx="0">
                    <c:v>Dec-25</c:v>
                  </c:pt>
                  <c:pt idx="2">
                    <c:v>Jan-26</c:v>
                  </c:pt>
                  <c:pt idx="4">
                    <c:v>Feb-26</c:v>
                  </c:pt>
                  <c:pt idx="6">
                    <c:v>Mar-26</c:v>
                  </c:pt>
                  <c:pt idx="8">
                    <c:v>Apr-26</c:v>
                  </c:pt>
                </c:lvl>
              </c:multiLvlStrCache>
            </c:multiLvlStrRef>
          </c:cat>
          <c:val>
            <c:numRef>
              <c:f>Curve!$C$6:$P$6</c:f>
              <c:numCache>
                <c:formatCode>0</c:formatCode>
                <c:ptCount val="10"/>
                <c:pt idx="0">
                  <c:v>6789</c:v>
                </c:pt>
                <c:pt idx="1">
                  <c:v>4191.2</c:v>
                </c:pt>
                <c:pt idx="2">
                  <c:v>9935.5</c:v>
                </c:pt>
                <c:pt idx="3">
                  <c:v>4758.5</c:v>
                </c:pt>
                <c:pt idx="4">
                  <c:v>13636</c:v>
                </c:pt>
                <c:pt idx="5">
                  <c:v>6237</c:v>
                </c:pt>
                <c:pt idx="6">
                  <c:v>11222</c:v>
                </c:pt>
                <c:pt idx="7" formatCode="General">
                  <c:v>5184.75</c:v>
                </c:pt>
                <c:pt idx="8">
                  <c:v>10185</c:v>
                </c:pt>
                <c:pt idx="9">
                  <c:v>7432.5</c:v>
                </c:pt>
              </c:numCache>
            </c:numRef>
          </c:val>
          <c:extLst>
            <c:ext xmlns:c16="http://schemas.microsoft.com/office/drawing/2014/chart" uri="{C3380CC4-5D6E-409C-BE32-E72D297353CC}">
              <c16:uniqueId val="{00000003-20C6-4732-B107-79C3AFDB7456}"/>
            </c:ext>
          </c:extLst>
        </c:ser>
        <c:dLbls>
          <c:showLegendKey val="0"/>
          <c:showVal val="1"/>
          <c:showCatName val="0"/>
          <c:showSerName val="0"/>
          <c:showPercent val="0"/>
          <c:showBubbleSize val="0"/>
        </c:dLbls>
        <c:gapWidth val="150"/>
        <c:overlap val="100"/>
        <c:axId val="72737695"/>
        <c:axId val="72740095"/>
      </c:barChart>
      <c:scatterChart>
        <c:scatterStyle val="smoothMarker"/>
        <c:varyColors val="0"/>
        <c:ser>
          <c:idx val="3"/>
          <c:order val="3"/>
          <c:tx>
            <c:strRef>
              <c:f>Curve!$B$7</c:f>
              <c:strCache>
                <c:ptCount val="1"/>
                <c:pt idx="0">
                  <c:v>Overall Plan</c:v>
                </c:pt>
              </c:strCache>
            </c:strRef>
          </c:tx>
          <c:spPr>
            <a:ln w="28575" cap="rnd">
              <a:solidFill>
                <a:srgbClr val="00B0F0"/>
              </a:solidFill>
              <a:round/>
              <a:headEnd w="sm" len="sm"/>
            </a:ln>
            <a:effectLst/>
          </c:spPr>
          <c:marker>
            <c:symbol val="none"/>
          </c:marker>
          <c:dLbls>
            <c:spPr>
              <a:solidFill>
                <a:schemeClr val="accent1">
                  <a:lumMod val="20000"/>
                  <a:lumOff val="80000"/>
                </a:schemeClr>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multiLvlStrRef>
              <c:f>Curve!$C$2:$P$3</c:f>
              <c:multiLvlStrCache>
                <c:ptCount val="10"/>
                <c:lvl>
                  <c:pt idx="0">
                    <c:v>Plan</c:v>
                  </c:pt>
                  <c:pt idx="1">
                    <c:v>Act</c:v>
                  </c:pt>
                  <c:pt idx="2">
                    <c:v>Plan</c:v>
                  </c:pt>
                  <c:pt idx="3">
                    <c:v>Act</c:v>
                  </c:pt>
                  <c:pt idx="4">
                    <c:v>Plan</c:v>
                  </c:pt>
                  <c:pt idx="5">
                    <c:v>Act</c:v>
                  </c:pt>
                  <c:pt idx="6">
                    <c:v>Plan</c:v>
                  </c:pt>
                  <c:pt idx="7">
                    <c:v>Act</c:v>
                  </c:pt>
                  <c:pt idx="8">
                    <c:v>Plan</c:v>
                  </c:pt>
                  <c:pt idx="9">
                    <c:v>Act</c:v>
                  </c:pt>
                </c:lvl>
                <c:lvl>
                  <c:pt idx="0">
                    <c:v>Dec-25</c:v>
                  </c:pt>
                  <c:pt idx="2">
                    <c:v>Jan-26</c:v>
                  </c:pt>
                  <c:pt idx="4">
                    <c:v>Feb-26</c:v>
                  </c:pt>
                  <c:pt idx="6">
                    <c:v>Mar-26</c:v>
                  </c:pt>
                  <c:pt idx="8">
                    <c:v>Apr-26</c:v>
                  </c:pt>
                </c:lvl>
              </c:multiLvlStrCache>
            </c:multiLvlStrRef>
          </c:xVal>
          <c:yVal>
            <c:numRef>
              <c:f>Curve!$C$7:$P$7</c:f>
              <c:numCache>
                <c:formatCode>General</c:formatCode>
                <c:ptCount val="10"/>
                <c:pt idx="0" formatCode="0">
                  <c:v>18513.2</c:v>
                </c:pt>
                <c:pt idx="2" formatCode="0">
                  <c:v>27458.25</c:v>
                </c:pt>
                <c:pt idx="4" formatCode="0">
                  <c:v>38675</c:v>
                </c:pt>
                <c:pt idx="6" formatCode="0">
                  <c:v>39075.5</c:v>
                </c:pt>
                <c:pt idx="8" formatCode="0">
                  <c:v>28935</c:v>
                </c:pt>
              </c:numCache>
            </c:numRef>
          </c:yVal>
          <c:smooth val="1"/>
          <c:extLst>
            <c:ext xmlns:c16="http://schemas.microsoft.com/office/drawing/2014/chart" uri="{C3380CC4-5D6E-409C-BE32-E72D297353CC}">
              <c16:uniqueId val="{00000004-20C6-4732-B107-79C3AFDB7456}"/>
            </c:ext>
          </c:extLst>
        </c:ser>
        <c:ser>
          <c:idx val="4"/>
          <c:order val="4"/>
          <c:tx>
            <c:strRef>
              <c:f>Curve!$B$8</c:f>
              <c:strCache>
                <c:ptCount val="1"/>
                <c:pt idx="0">
                  <c:v>Overall Actual</c:v>
                </c:pt>
              </c:strCache>
            </c:strRef>
          </c:tx>
          <c:spPr>
            <a:ln w="28575" cap="rnd">
              <a:solidFill>
                <a:schemeClr val="accent5"/>
              </a:solidFill>
              <a:round/>
            </a:ln>
            <a:effectLst/>
          </c:spPr>
          <c:marker>
            <c:symbol val="none"/>
          </c:marker>
          <c:dLbls>
            <c:spPr>
              <a:solidFill>
                <a:schemeClr val="accent6">
                  <a:lumMod val="20000"/>
                  <a:lumOff val="80000"/>
                </a:schemeClr>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multiLvlStrRef>
              <c:f>Curve!$C$2:$P$3</c:f>
              <c:multiLvlStrCache>
                <c:ptCount val="10"/>
                <c:lvl>
                  <c:pt idx="0">
                    <c:v>Plan</c:v>
                  </c:pt>
                  <c:pt idx="1">
                    <c:v>Act</c:v>
                  </c:pt>
                  <c:pt idx="2">
                    <c:v>Plan</c:v>
                  </c:pt>
                  <c:pt idx="3">
                    <c:v>Act</c:v>
                  </c:pt>
                  <c:pt idx="4">
                    <c:v>Plan</c:v>
                  </c:pt>
                  <c:pt idx="5">
                    <c:v>Act</c:v>
                  </c:pt>
                  <c:pt idx="6">
                    <c:v>Plan</c:v>
                  </c:pt>
                  <c:pt idx="7">
                    <c:v>Act</c:v>
                  </c:pt>
                  <c:pt idx="8">
                    <c:v>Plan</c:v>
                  </c:pt>
                  <c:pt idx="9">
                    <c:v>Act</c:v>
                  </c:pt>
                </c:lvl>
                <c:lvl>
                  <c:pt idx="0">
                    <c:v>Dec-25</c:v>
                  </c:pt>
                  <c:pt idx="2">
                    <c:v>Jan-26</c:v>
                  </c:pt>
                  <c:pt idx="4">
                    <c:v>Feb-26</c:v>
                  </c:pt>
                  <c:pt idx="6">
                    <c:v>Mar-26</c:v>
                  </c:pt>
                  <c:pt idx="8">
                    <c:v>Apr-26</c:v>
                  </c:pt>
                </c:lvl>
              </c:multiLvlStrCache>
            </c:multiLvlStrRef>
          </c:xVal>
          <c:yVal>
            <c:numRef>
              <c:f>Curve!$C$8:$P$8</c:f>
              <c:numCache>
                <c:formatCode>0</c:formatCode>
                <c:ptCount val="10"/>
                <c:pt idx="1">
                  <c:v>10013</c:v>
                </c:pt>
                <c:pt idx="3">
                  <c:v>18367.5</c:v>
                </c:pt>
                <c:pt idx="5">
                  <c:v>22386</c:v>
                </c:pt>
                <c:pt idx="7">
                  <c:v>19925.25</c:v>
                </c:pt>
                <c:pt idx="9">
                  <c:v>16335</c:v>
                </c:pt>
              </c:numCache>
            </c:numRef>
          </c:yVal>
          <c:smooth val="1"/>
          <c:extLst>
            <c:ext xmlns:c16="http://schemas.microsoft.com/office/drawing/2014/chart" uri="{C3380CC4-5D6E-409C-BE32-E72D297353CC}">
              <c16:uniqueId val="{00000005-20C6-4732-B107-79C3AFDB7456}"/>
            </c:ext>
          </c:extLst>
        </c:ser>
        <c:dLbls>
          <c:showLegendKey val="0"/>
          <c:showVal val="1"/>
          <c:showCatName val="0"/>
          <c:showSerName val="0"/>
          <c:showPercent val="0"/>
          <c:showBubbleSize val="0"/>
        </c:dLbls>
        <c:axId val="253467951"/>
        <c:axId val="1798102063"/>
      </c:scatterChart>
      <c:catAx>
        <c:axId val="727376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740095"/>
        <c:crosses val="autoZero"/>
        <c:auto val="1"/>
        <c:lblAlgn val="ctr"/>
        <c:lblOffset val="100"/>
        <c:noMultiLvlLbl val="0"/>
      </c:catAx>
      <c:valAx>
        <c:axId val="72740095"/>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737695"/>
        <c:crosses val="autoZero"/>
        <c:crossBetween val="between"/>
      </c:valAx>
      <c:valAx>
        <c:axId val="1798102063"/>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3467951"/>
        <c:crosses val="max"/>
        <c:crossBetween val="midCat"/>
      </c:valAx>
      <c:valAx>
        <c:axId val="253467951"/>
        <c:scaling>
          <c:orientation val="minMax"/>
        </c:scaling>
        <c:delete val="1"/>
        <c:axPos val="b"/>
        <c:majorTickMark val="out"/>
        <c:minorTickMark val="none"/>
        <c:tickLblPos val="nextTo"/>
        <c:crossAx val="1798102063"/>
        <c:crosses val="autoZero"/>
        <c:crossBetween val="midCat"/>
      </c:valAx>
      <c:spPr>
        <a:noFill/>
        <a:ln>
          <a:noFill/>
        </a:ln>
        <a:effectLst/>
      </c:spPr>
    </c:plotArea>
    <c:legend>
      <c:legendPos val="b"/>
      <c:legendEntry>
        <c:idx val="3"/>
        <c:txPr>
          <a:bodyPr rot="0" spcFirstLastPara="1" vertOverflow="ellipsis" vert="horz" wrap="square" anchor="ctr" anchorCtr="1"/>
          <a:lstStyle/>
          <a:p>
            <a:pPr>
              <a:defRPr sz="900" b="0" i="0" u="none" strike="noStrike" kern="1200" baseline="0">
                <a:ln>
                  <a:noFill/>
                </a:ln>
                <a:solidFill>
                  <a:schemeClr val="tx1">
                    <a:lumMod val="65000"/>
                    <a:lumOff val="35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span"/>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7.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5.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8.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FC32EF-7F26-FBF5-A4DB-863788E1EBFC}"/>
              </a:ext>
            </a:extLst>
          </p:cNvPr>
          <p:cNvSpPr>
            <a:spLocks noGrp="1"/>
          </p:cNvSpPr>
          <p:nvPr>
            <p:ph type="hdr" sz="quarter"/>
          </p:nvPr>
        </p:nvSpPr>
        <p:spPr>
          <a:xfrm>
            <a:off x="2" y="1"/>
            <a:ext cx="2945659" cy="49805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2C12DA0-A275-7762-DFB4-275780D204F8}"/>
              </a:ext>
            </a:extLst>
          </p:cNvPr>
          <p:cNvSpPr>
            <a:spLocks noGrp="1"/>
          </p:cNvSpPr>
          <p:nvPr>
            <p:ph type="dt" sz="quarter" idx="1"/>
          </p:nvPr>
        </p:nvSpPr>
        <p:spPr>
          <a:xfrm>
            <a:off x="3850445" y="1"/>
            <a:ext cx="2945659" cy="498055"/>
          </a:xfrm>
          <a:prstGeom prst="rect">
            <a:avLst/>
          </a:prstGeom>
        </p:spPr>
        <p:txBody>
          <a:bodyPr vert="horz" lIns="91440" tIns="45720" rIns="91440" bIns="45720" rtlCol="0"/>
          <a:lstStyle>
            <a:lvl1pPr algn="r">
              <a:defRPr sz="1200"/>
            </a:lvl1pPr>
          </a:lstStyle>
          <a:p>
            <a:fld id="{0313A120-FA9F-4253-8750-ADEFC14124A8}" type="datetimeFigureOut">
              <a:rPr lang="en-US" smtClean="0"/>
              <a:t>7/27/2026</a:t>
            </a:fld>
            <a:endParaRPr lang="en-US"/>
          </a:p>
        </p:txBody>
      </p:sp>
      <p:sp>
        <p:nvSpPr>
          <p:cNvPr id="4" name="Footer Placeholder 3">
            <a:extLst>
              <a:ext uri="{FF2B5EF4-FFF2-40B4-BE49-F238E27FC236}">
                <a16:creationId xmlns:a16="http://schemas.microsoft.com/office/drawing/2014/main" id="{F7EAD6E7-5E67-2263-9B48-8C92DBC77264}"/>
              </a:ext>
            </a:extLst>
          </p:cNvPr>
          <p:cNvSpPr>
            <a:spLocks noGrp="1"/>
          </p:cNvSpPr>
          <p:nvPr>
            <p:ph type="ftr" sz="quarter" idx="2"/>
          </p:nvPr>
        </p:nvSpPr>
        <p:spPr>
          <a:xfrm>
            <a:off x="2" y="9428586"/>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1426CE1-A1EF-C59D-1EAF-966039A4BEE1}"/>
              </a:ext>
            </a:extLst>
          </p:cNvPr>
          <p:cNvSpPr>
            <a:spLocks noGrp="1"/>
          </p:cNvSpPr>
          <p:nvPr>
            <p:ph type="sldNum" sz="quarter" idx="3"/>
          </p:nvPr>
        </p:nvSpPr>
        <p:spPr>
          <a:xfrm>
            <a:off x="3850445" y="9428586"/>
            <a:ext cx="2945659" cy="498055"/>
          </a:xfrm>
          <a:prstGeom prst="rect">
            <a:avLst/>
          </a:prstGeom>
        </p:spPr>
        <p:txBody>
          <a:bodyPr vert="horz" lIns="91440" tIns="45720" rIns="91440" bIns="45720" rtlCol="0" anchor="b"/>
          <a:lstStyle>
            <a:lvl1pPr algn="r">
              <a:defRPr sz="1200"/>
            </a:lvl1pPr>
          </a:lstStyle>
          <a:p>
            <a:fld id="{50EA9303-E99E-4461-883B-BF5028EA1DF8}" type="slidenum">
              <a:rPr lang="en-US" smtClean="0"/>
              <a:t>‹#›</a:t>
            </a:fld>
            <a:endParaRPr lang="en-US"/>
          </a:p>
        </p:txBody>
      </p:sp>
    </p:spTree>
    <p:extLst>
      <p:ext uri="{BB962C8B-B14F-4D97-AF65-F5344CB8AC3E}">
        <p14:creationId xmlns:p14="http://schemas.microsoft.com/office/powerpoint/2010/main" val="265858300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46400" cy="496889"/>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9" y="2"/>
            <a:ext cx="2946400" cy="496889"/>
          </a:xfrm>
          <a:prstGeom prst="rect">
            <a:avLst/>
          </a:prstGeom>
        </p:spPr>
        <p:txBody>
          <a:bodyPr vert="horz" lIns="91440" tIns="45720" rIns="91440" bIns="45720" rtlCol="0"/>
          <a:lstStyle>
            <a:lvl1pPr algn="r">
              <a:defRPr sz="1200"/>
            </a:lvl1pPr>
          </a:lstStyle>
          <a:p>
            <a:fld id="{E8809B9A-C4C1-4AD2-8C55-4EDBAF27EF72}" type="datetimeFigureOut">
              <a:rPr lang="en-US" smtClean="0"/>
              <a:t>7/27/2026</a:t>
            </a:fld>
            <a:endParaRPr lang="en-US"/>
          </a:p>
        </p:txBody>
      </p:sp>
      <p:sp>
        <p:nvSpPr>
          <p:cNvPr id="4" name="Slide Image Placeholder 3"/>
          <p:cNvSpPr>
            <a:spLocks noGrp="1" noRot="1" noChangeAspect="1"/>
          </p:cNvSpPr>
          <p:nvPr>
            <p:ph type="sldImg" idx="2"/>
          </p:nvPr>
        </p:nvSpPr>
        <p:spPr>
          <a:xfrm>
            <a:off x="425450" y="1243013"/>
            <a:ext cx="5946775" cy="3346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3" y="4776791"/>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3"/>
            <a:ext cx="2946400" cy="496889"/>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9" y="9429753"/>
            <a:ext cx="2946400" cy="496889"/>
          </a:xfrm>
          <a:prstGeom prst="rect">
            <a:avLst/>
          </a:prstGeom>
        </p:spPr>
        <p:txBody>
          <a:bodyPr vert="horz" lIns="91440" tIns="45720" rIns="91440" bIns="45720" rtlCol="0" anchor="b"/>
          <a:lstStyle>
            <a:lvl1pPr algn="r">
              <a:defRPr sz="1200"/>
            </a:lvl1pPr>
          </a:lstStyle>
          <a:p>
            <a:fld id="{8DBD3562-5CE4-49E3-A698-59ED55762543}" type="slidenum">
              <a:rPr lang="en-US" smtClean="0"/>
              <a:t>‹#›</a:t>
            </a:fld>
            <a:endParaRPr lang="en-US"/>
          </a:p>
        </p:txBody>
      </p:sp>
    </p:spTree>
    <p:extLst>
      <p:ext uri="{BB962C8B-B14F-4D97-AF65-F5344CB8AC3E}">
        <p14:creationId xmlns:p14="http://schemas.microsoft.com/office/powerpoint/2010/main" val="352445750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876D784-30E8-1456-E47D-98F83162DC84}"/>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737494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9968-89A7-74EA-4652-B98D040BC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6D935-5DC6-65A3-ED89-EBD041B6DB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DCBB87-20EA-90CD-D122-F42AEA5AD6F8}"/>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659832CF-8C54-8D01-B10B-D212A998EBB1}"/>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646844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958E7-74E0-7E56-07A9-20D5563E5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221B4-EFF1-B20E-C5B4-6E6DC52BC6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16B50D-F31B-B837-3969-1F32D2E1C0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803EB4-3118-0CFA-27E3-367F823054FB}"/>
              </a:ext>
            </a:extLst>
          </p:cNvPr>
          <p:cNvSpPr>
            <a:spLocks noGrp="1"/>
          </p:cNvSpPr>
          <p:nvPr>
            <p:ph type="sldNum" sz="quarter" idx="5"/>
          </p:nvPr>
        </p:nvSpPr>
        <p:spPr/>
        <p:txBody>
          <a:bodyPr/>
          <a:lstStyle/>
          <a:p>
            <a:fld id="{8DBD3562-5CE4-49E3-A698-59ED55762543}" type="slidenum">
              <a:rPr lang="en-US" smtClean="0"/>
              <a:t>12</a:t>
            </a:fld>
            <a:endParaRPr lang="en-US"/>
          </a:p>
        </p:txBody>
      </p:sp>
      <p:sp>
        <p:nvSpPr>
          <p:cNvPr id="5" name="Footer Placeholder 4">
            <a:extLst>
              <a:ext uri="{FF2B5EF4-FFF2-40B4-BE49-F238E27FC236}">
                <a16:creationId xmlns:a16="http://schemas.microsoft.com/office/drawing/2014/main" id="{4B718B43-11E2-DC5C-FF3E-231E4D90DD2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86768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EC0F-EBEF-9282-2E88-B9D18113E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98B73-3D66-239B-45A9-29949BE308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E57E087-1017-22C8-9DD1-680AE76D525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15512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8BB56-B086-A9E4-EF98-06E2566ED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5146D-F3A3-6C7F-08FB-28B535C53E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E5118C-585F-4283-E58C-62E378A234D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55597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456F1-7DC6-53C7-19A1-ACC152421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CC88F-CF0E-27C9-86B9-AEF89AA626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4271F0-1EEA-8D33-D066-9644E166D0E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31463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D0F51-69B6-8AAC-007D-B876B38DC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EE495-FAE5-B070-9C3B-C58EFAFCDD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D7A433-C16D-A79D-3CAD-DD8D2615DE1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85744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67746-28AC-C8EA-996F-135BBF0AD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30B10-AEF8-6C41-F0E3-4FFCB486FE0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3D218B-BAB5-87AC-C4A9-F029105DE44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21796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A00EA-A98F-E2DF-A7C6-1EDEE2BE0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D0127-8468-5746-DD11-1CA075B291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E0483F-0D5F-AA66-EC07-D3E558AEEA4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56560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72E15-5A1D-CB7A-8AD5-FCA707D44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C776D-74C8-9758-CB8E-4C6064D8B9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2719EC4-ADAA-3388-7A46-BCE13354254D}"/>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A7FA3DF2-6C40-8AF7-C31E-3419513E45C9}"/>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815903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IN"/>
          </a:p>
        </p:txBody>
      </p:sp>
    </p:spTree>
    <p:extLst>
      <p:ext uri="{BB962C8B-B14F-4D97-AF65-F5344CB8AC3E}">
        <p14:creationId xmlns:p14="http://schemas.microsoft.com/office/powerpoint/2010/main" val="4164493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807D4-62B1-73D3-27BA-511839019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726DE-2874-0450-AD39-642ABBADCB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99F3FA-EA7C-0714-7E05-489FE107B48F}"/>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9024C089-9876-EE9F-C759-6B4D93E7857F}"/>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1023312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98BB4-85D8-9876-8C36-69B7D6AA9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A1E5E-6ADB-4113-92B7-3E0BC124C2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C10DBF-1E03-F756-7A3F-E8F997F70B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91B8FF-FD78-CDE5-FEFF-DCFFEDA4FE3D}"/>
              </a:ext>
            </a:extLst>
          </p:cNvPr>
          <p:cNvSpPr>
            <a:spLocks noGrp="1"/>
          </p:cNvSpPr>
          <p:nvPr>
            <p:ph type="sldNum" sz="quarter" idx="5"/>
          </p:nvPr>
        </p:nvSpPr>
        <p:spPr/>
        <p:txBody>
          <a:bodyPr/>
          <a:lstStyle/>
          <a:p>
            <a:fld id="{8DBD3562-5CE4-49E3-A698-59ED55762543}" type="slidenum">
              <a:rPr lang="en-US" smtClean="0"/>
              <a:t>29</a:t>
            </a:fld>
            <a:endParaRPr lang="en-US"/>
          </a:p>
        </p:txBody>
      </p:sp>
    </p:spTree>
    <p:extLst>
      <p:ext uri="{BB962C8B-B14F-4D97-AF65-F5344CB8AC3E}">
        <p14:creationId xmlns:p14="http://schemas.microsoft.com/office/powerpoint/2010/main" val="1637498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7DE5-1A29-479D-4C75-6374642F4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C195-5BD6-B7B0-3940-7CE9ECE26D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C5226E-0DF7-10D0-69E7-4610F68F3E59}"/>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927CF910-8994-9D40-C2B1-4122D59E08AF}"/>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261123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5FC40-19E7-1922-D8CE-86C554F97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DFD46-36F1-C786-2D7F-F62BF5B45EE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8384E1-82B9-5DF8-0018-239BDDD7FB09}"/>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23B16B64-6965-69E4-E8FC-814CFF66C518}"/>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214462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C490A-A2E2-E08C-9E2D-8373916D9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E9CBA-590E-84FA-6190-350255592E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69FC12-F4CB-6CD5-12DB-799AFA456DD4}"/>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85A20E6D-26AE-868B-36F5-A419CD922415}"/>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001452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452A-E0C8-6856-1139-FF3CEB046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D556B-5735-AB0A-4912-7E9237DAFD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7F4F84-30C1-C1E8-77C7-7C27C1781007}"/>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3F935082-3388-70BE-1E51-203EB433AFBB}"/>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1283402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482B-8B2C-98E1-54D5-CA0A327EC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97D6D-BF63-FA25-17E1-BBA8F897CE3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85E0A7-6481-A63F-9A7D-D77BBE5BEF23}"/>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0A675FF7-C3D5-FB57-8F75-9AA29EB3E839}"/>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1528922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5C03-F296-C7F7-6EBC-798AC1AB4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CAD6C-A53B-3EDE-1870-F06DD42AAB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07A814-FD11-E837-700A-8BDEBE15091E}"/>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1352D443-0C52-3111-B3FE-658BA9A074D3}"/>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053824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7B92E-C513-540C-6263-4B864C2D0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B2A12-4426-109A-FAFF-6398D38C74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1F8F93-2732-DCC8-DF58-39E57AA2CA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526758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AAE9A-5EC5-A947-ADBE-F902B41F8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96ADA-2455-020F-D823-F673E268CE0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810495-4AD0-EC22-CA9F-512003D4B62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45741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0615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A8CDE-9666-19B2-8B61-D29FD9214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73C4A-6A5B-F426-D1B8-51E0F0447E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EC34C6-0901-683E-920D-B8A6B8198CC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42359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7C24B-0200-4222-16D8-5C0CB361F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40672-BF3D-EF6A-3269-6E51B342BA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F2F5088-9FDF-7580-5C4A-A48F28624634}"/>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569D1B05-FB9D-DBBE-1075-24D60D3CBC57}"/>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8584832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667D4-0BA5-69C5-E812-F78707156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740B8-C6A4-C8C1-D34A-2AF899B1F85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DEE8F7-5FFB-E2C8-4CBC-4CAA84C86A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1EF920-F933-2BC4-4A63-B432D9E15483}"/>
              </a:ext>
            </a:extLst>
          </p:cNvPr>
          <p:cNvSpPr>
            <a:spLocks noGrp="1"/>
          </p:cNvSpPr>
          <p:nvPr>
            <p:ph type="sldNum" sz="quarter" idx="5"/>
          </p:nvPr>
        </p:nvSpPr>
        <p:spPr/>
        <p:txBody>
          <a:bodyPr/>
          <a:lstStyle/>
          <a:p>
            <a:fld id="{DD6BAD34-B45B-407E-A1B8-52C038A48D05}" type="slidenum">
              <a:rPr lang="en-IN" smtClean="0"/>
              <a:t>41</a:t>
            </a:fld>
            <a:endParaRPr lang="en-IN"/>
          </a:p>
        </p:txBody>
      </p:sp>
    </p:spTree>
    <p:extLst>
      <p:ext uri="{BB962C8B-B14F-4D97-AF65-F5344CB8AC3E}">
        <p14:creationId xmlns:p14="http://schemas.microsoft.com/office/powerpoint/2010/main" val="10461277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8108D-DEB8-B998-6451-0774B5E5D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AC414-77C8-EFC4-CFD3-335EC77C3D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40F6D5-F2DA-C160-8C49-B19427EFDB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0D0A6F-AD50-2DD9-62CF-CBD37FAF83F1}"/>
              </a:ext>
            </a:extLst>
          </p:cNvPr>
          <p:cNvSpPr>
            <a:spLocks noGrp="1"/>
          </p:cNvSpPr>
          <p:nvPr>
            <p:ph type="sldNum" sz="quarter" idx="5"/>
          </p:nvPr>
        </p:nvSpPr>
        <p:spPr/>
        <p:txBody>
          <a:bodyPr/>
          <a:lstStyle/>
          <a:p>
            <a:fld id="{DD6BAD34-B45B-407E-A1B8-52C038A48D05}" type="slidenum">
              <a:rPr lang="en-IN" smtClean="0"/>
              <a:t>42</a:t>
            </a:fld>
            <a:endParaRPr lang="en-IN"/>
          </a:p>
        </p:txBody>
      </p:sp>
    </p:spTree>
    <p:extLst>
      <p:ext uri="{BB962C8B-B14F-4D97-AF65-F5344CB8AC3E}">
        <p14:creationId xmlns:p14="http://schemas.microsoft.com/office/powerpoint/2010/main" val="15865984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C2A2A-73F6-A4E9-3781-317558EF5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0DA48-95E8-5915-858F-F2DDCE4CA3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D05C92-5A3B-3790-9B9D-2223FA6F43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C751CC-2740-A4B2-3916-1F30AC31A570}"/>
              </a:ext>
            </a:extLst>
          </p:cNvPr>
          <p:cNvSpPr>
            <a:spLocks noGrp="1"/>
          </p:cNvSpPr>
          <p:nvPr>
            <p:ph type="sldNum" sz="quarter" idx="5"/>
          </p:nvPr>
        </p:nvSpPr>
        <p:spPr/>
        <p:txBody>
          <a:bodyPr/>
          <a:lstStyle/>
          <a:p>
            <a:fld id="{DD6BAD34-B45B-407E-A1B8-52C038A48D05}" type="slidenum">
              <a:rPr lang="en-IN" smtClean="0"/>
              <a:t>43</a:t>
            </a:fld>
            <a:endParaRPr lang="en-IN"/>
          </a:p>
        </p:txBody>
      </p:sp>
    </p:spTree>
    <p:extLst>
      <p:ext uri="{BB962C8B-B14F-4D97-AF65-F5344CB8AC3E}">
        <p14:creationId xmlns:p14="http://schemas.microsoft.com/office/powerpoint/2010/main" val="664893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E14CF-6AD2-F18D-7390-A8C4D1ADE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1E1D5-E9E1-F0E8-9909-CF0806BB3D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24F17D-96D0-254C-C750-BA6DD35296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882D98-6462-5625-6A6E-54DD57D062DB}"/>
              </a:ext>
            </a:extLst>
          </p:cNvPr>
          <p:cNvSpPr>
            <a:spLocks noGrp="1"/>
          </p:cNvSpPr>
          <p:nvPr>
            <p:ph type="sldNum" sz="quarter" idx="5"/>
          </p:nvPr>
        </p:nvSpPr>
        <p:spPr/>
        <p:txBody>
          <a:bodyPr/>
          <a:lstStyle/>
          <a:p>
            <a:fld id="{DD6BAD34-B45B-407E-A1B8-52C038A48D05}" type="slidenum">
              <a:rPr lang="en-IN" smtClean="0"/>
              <a:t>44</a:t>
            </a:fld>
            <a:endParaRPr lang="en-IN"/>
          </a:p>
        </p:txBody>
      </p:sp>
    </p:spTree>
    <p:extLst>
      <p:ext uri="{BB962C8B-B14F-4D97-AF65-F5344CB8AC3E}">
        <p14:creationId xmlns:p14="http://schemas.microsoft.com/office/powerpoint/2010/main" val="35855316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BE269-DF2E-E803-27C5-1B6563DCE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FC7F0-2965-FE9E-0F91-2CBD879199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85A280-3526-590D-B932-E6D243A52C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769531-4F84-2877-5526-F449D47F26D9}"/>
              </a:ext>
            </a:extLst>
          </p:cNvPr>
          <p:cNvSpPr>
            <a:spLocks noGrp="1"/>
          </p:cNvSpPr>
          <p:nvPr>
            <p:ph type="sldNum" sz="quarter" idx="5"/>
          </p:nvPr>
        </p:nvSpPr>
        <p:spPr/>
        <p:txBody>
          <a:bodyPr/>
          <a:lstStyle/>
          <a:p>
            <a:fld id="{DD6BAD34-B45B-407E-A1B8-52C038A48D05}" type="slidenum">
              <a:rPr lang="en-IN" smtClean="0"/>
              <a:t>45</a:t>
            </a:fld>
            <a:endParaRPr lang="en-IN"/>
          </a:p>
        </p:txBody>
      </p:sp>
    </p:spTree>
    <p:extLst>
      <p:ext uri="{BB962C8B-B14F-4D97-AF65-F5344CB8AC3E}">
        <p14:creationId xmlns:p14="http://schemas.microsoft.com/office/powerpoint/2010/main" val="22898133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2B0B-3113-1DB0-11E5-5E125FB67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3E47F-FAC2-C83D-5F0C-68275DF6D7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ECB37E-6449-354B-93F6-A73B92C06E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DADBF6-1359-00D1-778F-3FFA05884E98}"/>
              </a:ext>
            </a:extLst>
          </p:cNvPr>
          <p:cNvSpPr>
            <a:spLocks noGrp="1"/>
          </p:cNvSpPr>
          <p:nvPr>
            <p:ph type="sldNum" sz="quarter" idx="5"/>
          </p:nvPr>
        </p:nvSpPr>
        <p:spPr/>
        <p:txBody>
          <a:bodyPr/>
          <a:lstStyle/>
          <a:p>
            <a:fld id="{DD6BAD34-B45B-407E-A1B8-52C038A48D05}" type="slidenum">
              <a:rPr lang="en-IN" smtClean="0"/>
              <a:t>46</a:t>
            </a:fld>
            <a:endParaRPr lang="en-IN"/>
          </a:p>
        </p:txBody>
      </p:sp>
    </p:spTree>
    <p:extLst>
      <p:ext uri="{BB962C8B-B14F-4D97-AF65-F5344CB8AC3E}">
        <p14:creationId xmlns:p14="http://schemas.microsoft.com/office/powerpoint/2010/main" val="23767893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7B98-5D19-7759-B228-D2740A745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8FD43-C196-A1E1-A2BE-6E89CDAA2D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32DE34E-33D8-0616-25F6-CDD109745E88}"/>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4310D1AD-512C-6584-5B55-202DB1F8CA4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42255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B21D7-E668-EDBC-6BCA-4263D0D95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4A32A-EB87-6B1A-944E-16F0A32F10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1F491C8-679E-3706-9E4D-0A8CEC7074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1F9CDE-E0B5-2758-CE03-24274DBC6A66}"/>
              </a:ext>
            </a:extLst>
          </p:cNvPr>
          <p:cNvSpPr>
            <a:spLocks noGrp="1"/>
          </p:cNvSpPr>
          <p:nvPr>
            <p:ph type="sldNum" sz="quarter" idx="5"/>
          </p:nvPr>
        </p:nvSpPr>
        <p:spPr/>
        <p:txBody>
          <a:bodyPr/>
          <a:lstStyle/>
          <a:p>
            <a:fld id="{DD6BAD34-B45B-407E-A1B8-52C038A48D05}" type="slidenum">
              <a:rPr lang="en-IN" smtClean="0"/>
              <a:t>48</a:t>
            </a:fld>
            <a:endParaRPr lang="en-IN"/>
          </a:p>
        </p:txBody>
      </p:sp>
    </p:spTree>
    <p:extLst>
      <p:ext uri="{BB962C8B-B14F-4D97-AF65-F5344CB8AC3E}">
        <p14:creationId xmlns:p14="http://schemas.microsoft.com/office/powerpoint/2010/main" val="3147178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A0A1A-9E0C-FC0B-71CD-17C411977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2D4A2-5189-B120-05F3-3F6C1A0E70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8E03E7-5C89-9F02-0560-574E239635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D6683D-D4EA-72FC-650C-F6ABBCE79FAC}"/>
              </a:ext>
            </a:extLst>
          </p:cNvPr>
          <p:cNvSpPr>
            <a:spLocks noGrp="1"/>
          </p:cNvSpPr>
          <p:nvPr>
            <p:ph type="sldNum" sz="quarter" idx="5"/>
          </p:nvPr>
        </p:nvSpPr>
        <p:spPr/>
        <p:txBody>
          <a:bodyPr/>
          <a:lstStyle/>
          <a:p>
            <a:fld id="{DD6BAD34-B45B-407E-A1B8-52C038A48D05}" type="slidenum">
              <a:rPr lang="en-IN" smtClean="0"/>
              <a:t>49</a:t>
            </a:fld>
            <a:endParaRPr lang="en-IN"/>
          </a:p>
        </p:txBody>
      </p:sp>
    </p:spTree>
    <p:extLst>
      <p:ext uri="{BB962C8B-B14F-4D97-AF65-F5344CB8AC3E}">
        <p14:creationId xmlns:p14="http://schemas.microsoft.com/office/powerpoint/2010/main" val="29445961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C36C5-7265-C112-55F0-8D87F913D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3C5B5-6EAB-F81B-DFFA-B207C16956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73C339-C261-D9FC-4016-4AF89867D1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51FEAA-D21A-86CF-A605-2972681AA827}"/>
              </a:ext>
            </a:extLst>
          </p:cNvPr>
          <p:cNvSpPr>
            <a:spLocks noGrp="1"/>
          </p:cNvSpPr>
          <p:nvPr>
            <p:ph type="sldNum" sz="quarter" idx="5"/>
          </p:nvPr>
        </p:nvSpPr>
        <p:spPr/>
        <p:txBody>
          <a:bodyPr/>
          <a:lstStyle/>
          <a:p>
            <a:fld id="{DD6BAD34-B45B-407E-A1B8-52C038A48D05}" type="slidenum">
              <a:rPr lang="en-IN" smtClean="0"/>
              <a:t>50</a:t>
            </a:fld>
            <a:endParaRPr lang="en-IN"/>
          </a:p>
        </p:txBody>
      </p:sp>
    </p:spTree>
    <p:extLst>
      <p:ext uri="{BB962C8B-B14F-4D97-AF65-F5344CB8AC3E}">
        <p14:creationId xmlns:p14="http://schemas.microsoft.com/office/powerpoint/2010/main" val="19101572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84C5E-6451-C406-9C86-C93F9C909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B4493-4B32-7BF7-E11E-3B0C364271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1AE070-74B3-DA0E-CBD1-EB2F4990F1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FA720BF-9563-FAA0-F986-91C9D1C38C67}"/>
              </a:ext>
            </a:extLst>
          </p:cNvPr>
          <p:cNvSpPr>
            <a:spLocks noGrp="1"/>
          </p:cNvSpPr>
          <p:nvPr>
            <p:ph type="sldNum" sz="quarter" idx="5"/>
          </p:nvPr>
        </p:nvSpPr>
        <p:spPr/>
        <p:txBody>
          <a:bodyPr/>
          <a:lstStyle/>
          <a:p>
            <a:fld id="{DD6BAD34-B45B-407E-A1B8-52C038A48D05}" type="slidenum">
              <a:rPr lang="en-IN" smtClean="0"/>
              <a:t>51</a:t>
            </a:fld>
            <a:endParaRPr lang="en-IN"/>
          </a:p>
        </p:txBody>
      </p:sp>
    </p:spTree>
    <p:extLst>
      <p:ext uri="{BB962C8B-B14F-4D97-AF65-F5344CB8AC3E}">
        <p14:creationId xmlns:p14="http://schemas.microsoft.com/office/powerpoint/2010/main" val="4389980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2A44D-FF1F-3AA0-A43A-FF59644DD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222F9-D082-7BA5-BFB4-50C313024A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24155F-98AC-DB9B-3C38-E8B4152889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4E1627-503B-11E6-B99A-EC603909215D}"/>
              </a:ext>
            </a:extLst>
          </p:cNvPr>
          <p:cNvSpPr>
            <a:spLocks noGrp="1"/>
          </p:cNvSpPr>
          <p:nvPr>
            <p:ph type="sldNum" sz="quarter" idx="5"/>
          </p:nvPr>
        </p:nvSpPr>
        <p:spPr/>
        <p:txBody>
          <a:bodyPr/>
          <a:lstStyle/>
          <a:p>
            <a:fld id="{DD6BAD34-B45B-407E-A1B8-52C038A48D05}" type="slidenum">
              <a:rPr lang="en-IN" smtClean="0"/>
              <a:t>52</a:t>
            </a:fld>
            <a:endParaRPr lang="en-IN"/>
          </a:p>
        </p:txBody>
      </p:sp>
    </p:spTree>
    <p:extLst>
      <p:ext uri="{BB962C8B-B14F-4D97-AF65-F5344CB8AC3E}">
        <p14:creationId xmlns:p14="http://schemas.microsoft.com/office/powerpoint/2010/main" val="39023964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117B7-F6D4-2711-F90B-FF2FE474F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4C06E-AB15-127B-4E15-1FA3609262D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2E9198-056C-4B0A-ACCB-8960169DEB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2BFEDB-D4B2-EDF2-60AA-7AE35F38DEF5}"/>
              </a:ext>
            </a:extLst>
          </p:cNvPr>
          <p:cNvSpPr>
            <a:spLocks noGrp="1"/>
          </p:cNvSpPr>
          <p:nvPr>
            <p:ph type="sldNum" sz="quarter" idx="5"/>
          </p:nvPr>
        </p:nvSpPr>
        <p:spPr/>
        <p:txBody>
          <a:bodyPr/>
          <a:lstStyle/>
          <a:p>
            <a:fld id="{DD6BAD34-B45B-407E-A1B8-52C038A48D05}" type="slidenum">
              <a:rPr lang="en-IN" smtClean="0"/>
              <a:t>53</a:t>
            </a:fld>
            <a:endParaRPr lang="en-IN"/>
          </a:p>
        </p:txBody>
      </p:sp>
    </p:spTree>
    <p:extLst>
      <p:ext uri="{BB962C8B-B14F-4D97-AF65-F5344CB8AC3E}">
        <p14:creationId xmlns:p14="http://schemas.microsoft.com/office/powerpoint/2010/main" val="4993614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FDB8-0B19-4953-FD39-9193BE259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2034F-63D3-1071-E33D-21F0396F88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CA925F0-D739-A2C6-C577-01B8CA776103}"/>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1280B9FB-D12F-B355-3B4C-AEB0BFB73A96}"/>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9960232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04E92-671C-2A16-81B7-1DC70A265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E6D00-1BFB-FF59-002C-50071285540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0875A55-09F3-DCCD-D814-E770216367EB}"/>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17093922-680B-11B9-6481-86C5A59179E6}"/>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9438298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577FC-A035-79B1-CE9B-62DD01963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5BF1F-E4E4-2D79-9A04-1417B66370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60C44F0-8125-52EB-CE64-51FF33C7FEF2}"/>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E7DFBD22-A5EE-A88F-FFF5-FE2015A34BC1}"/>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9486622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5570A-0AC4-AC94-738B-B1CC0DBE2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4331F-BA91-FB33-5C8B-ED8917F94E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75BBBA-47F2-32AF-5D89-9E4AD45666B4}"/>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A2EDC6B7-204F-A9C0-B350-DE3D5FBE797C}"/>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8515987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FC756-6945-74FC-82CB-026044503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AA63F-062B-4530-4D09-E642B1D0351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A84ED70-4F23-23A8-D927-6BDF41AB1548}"/>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A1916A3F-9CC4-8986-E370-9BD607C31761}"/>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10969312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C0E86-5B79-133A-9A62-D696CF241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19089-2309-6658-B951-6E3B19567C6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C2A7349-29E8-D65C-8AC4-F8CBC7FD4911}"/>
              </a:ext>
            </a:extLst>
          </p:cNvPr>
          <p:cNvSpPr>
            <a:spLocks noGrp="1"/>
          </p:cNvSpPr>
          <p:nvPr>
            <p:ph type="body" idx="1"/>
          </p:nvPr>
        </p:nvSpPr>
        <p:spPr/>
        <p:txBody>
          <a:bodyPr/>
          <a:lstStyle/>
          <a:p>
            <a:endParaRPr lang="en-US"/>
          </a:p>
        </p:txBody>
      </p:sp>
      <p:sp>
        <p:nvSpPr>
          <p:cNvPr id="6" name="Header Placeholder 5">
            <a:extLst>
              <a:ext uri="{FF2B5EF4-FFF2-40B4-BE49-F238E27FC236}">
                <a16:creationId xmlns:a16="http://schemas.microsoft.com/office/drawing/2014/main" id="{1CA0686F-67F9-3D33-C1B1-654C9CAF1E19}"/>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15993116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319325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1C8417F2-9C4A-9534-A24B-B76E96EDB581}"/>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42762866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644E9-9239-E27C-460B-B78E07903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BDD25-6A2D-C4C9-5FEE-4F901743662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D1109F-BD99-451A-6902-FEA980FD43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288875-12EE-1E33-EDE2-60CC9C741EDC}"/>
              </a:ext>
            </a:extLst>
          </p:cNvPr>
          <p:cNvSpPr>
            <a:spLocks noGrp="1"/>
          </p:cNvSpPr>
          <p:nvPr>
            <p:ph type="sldNum" sz="quarter" idx="5"/>
          </p:nvPr>
        </p:nvSpPr>
        <p:spPr/>
        <p:txBody>
          <a:bodyPr/>
          <a:lstStyle/>
          <a:p>
            <a:fld id="{8DBD3562-5CE4-49E3-A698-59ED55762543}" type="slidenum">
              <a:rPr lang="en-US" smtClean="0"/>
              <a:t>69</a:t>
            </a:fld>
            <a:endParaRPr lang="en-US"/>
          </a:p>
        </p:txBody>
      </p:sp>
      <p:sp>
        <p:nvSpPr>
          <p:cNvPr id="5" name="Footer Placeholder 4">
            <a:extLst>
              <a:ext uri="{FF2B5EF4-FFF2-40B4-BE49-F238E27FC236}">
                <a16:creationId xmlns:a16="http://schemas.microsoft.com/office/drawing/2014/main" id="{95E13D77-EF69-FC99-06DB-D699AA4B3A8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558774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IN"/>
          </a:p>
        </p:txBody>
      </p:sp>
    </p:spTree>
    <p:extLst>
      <p:ext uri="{BB962C8B-B14F-4D97-AF65-F5344CB8AC3E}">
        <p14:creationId xmlns:p14="http://schemas.microsoft.com/office/powerpoint/2010/main" val="38511838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IN"/>
          </a:p>
        </p:txBody>
      </p:sp>
    </p:spTree>
    <p:extLst>
      <p:ext uri="{BB962C8B-B14F-4D97-AF65-F5344CB8AC3E}">
        <p14:creationId xmlns:p14="http://schemas.microsoft.com/office/powerpoint/2010/main" val="24715965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IN"/>
          </a:p>
        </p:txBody>
      </p:sp>
    </p:spTree>
    <p:extLst>
      <p:ext uri="{BB962C8B-B14F-4D97-AF65-F5344CB8AC3E}">
        <p14:creationId xmlns:p14="http://schemas.microsoft.com/office/powerpoint/2010/main" val="38932068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IN"/>
          </a:p>
        </p:txBody>
      </p:sp>
    </p:spTree>
    <p:extLst>
      <p:ext uri="{BB962C8B-B14F-4D97-AF65-F5344CB8AC3E}">
        <p14:creationId xmlns:p14="http://schemas.microsoft.com/office/powerpoint/2010/main" val="41555932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16A6B-06AE-B27C-6B80-50CCDC364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94BE4-DC01-2A01-EA88-BB676C09E93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CA69D4-F8B2-6623-0E0B-FE8EE350962C}"/>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541D5B56-46C8-1243-B5D9-7F2DCBE598CD}"/>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3324028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7B92E-C513-540C-6263-4B864C2D0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B2A12-4426-109A-FAFF-6398D38C74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1F8F93-2732-DCC8-DF58-39E57AA2CA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99597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001B6-FF4E-583C-B804-0EE5F8767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3A195-2467-6A50-7C62-9F4CC466C4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D4CBE2-97B6-24AC-D6F8-E47E3968A74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616162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0F60A-86A2-5693-FE97-709AFDCE9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8E4CE-37F0-E6F6-2ADE-9F3D3D7ACD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033E025-D109-DB57-083F-9BD32AC43BC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68117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117BF-1169-617D-A288-D23A39F64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05D77-1B9D-3BE2-F24A-CE12EB7DB12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C1652E-3D6C-DEC7-5649-F03CBE6193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06B924-F77F-50B5-FABF-E8B8030BC148}"/>
              </a:ext>
            </a:extLst>
          </p:cNvPr>
          <p:cNvSpPr>
            <a:spLocks noGrp="1"/>
          </p:cNvSpPr>
          <p:nvPr>
            <p:ph type="sldNum" sz="quarter" idx="5"/>
          </p:nvPr>
        </p:nvSpPr>
        <p:spPr/>
        <p:txBody>
          <a:bodyPr/>
          <a:lstStyle/>
          <a:p>
            <a:fld id="{8DBD3562-5CE4-49E3-A698-59ED55762543}" type="slidenum">
              <a:rPr lang="en-US" smtClean="0"/>
              <a:t>80</a:t>
            </a:fld>
            <a:endParaRPr lang="en-US"/>
          </a:p>
        </p:txBody>
      </p:sp>
    </p:spTree>
    <p:extLst>
      <p:ext uri="{BB962C8B-B14F-4D97-AF65-F5344CB8AC3E}">
        <p14:creationId xmlns:p14="http://schemas.microsoft.com/office/powerpoint/2010/main" val="7992096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11B58524-6D3D-5C93-88CB-9F6520DD0C5C}"/>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58759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1EB8C-0796-6261-BFA6-96B4D52CA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078DC4-9D10-7835-632A-E2C4E30579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D8EBA73-F9E0-AC2A-1E8A-8F87F594C113}"/>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6CBA8DDF-6C4B-A102-57D1-CDF5C0DFF256}"/>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220345116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7DE5-1A29-479D-4C75-6374642F4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C195-5BD6-B7B0-3940-7CE9ECE26D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C5226E-0DF7-10D0-69E7-4610F68F3E59}"/>
              </a:ext>
            </a:extLst>
          </p:cNvPr>
          <p:cNvSpPr>
            <a:spLocks noGrp="1"/>
          </p:cNvSpPr>
          <p:nvPr>
            <p:ph type="body" idx="1"/>
          </p:nvPr>
        </p:nvSpPr>
        <p:spPr/>
        <p:txBody>
          <a:bodyPr/>
          <a:lstStyle/>
          <a:p>
            <a:endParaRPr lang="en-IN"/>
          </a:p>
        </p:txBody>
      </p:sp>
      <p:sp>
        <p:nvSpPr>
          <p:cNvPr id="5" name="Header Placeholder 4">
            <a:extLst>
              <a:ext uri="{FF2B5EF4-FFF2-40B4-BE49-F238E27FC236}">
                <a16:creationId xmlns:a16="http://schemas.microsoft.com/office/drawing/2014/main" id="{927CF910-8994-9D40-C2B1-4122D59E08AF}"/>
              </a:ext>
            </a:extLst>
          </p:cNvPr>
          <p:cNvSpPr>
            <a:spLocks noGrp="1"/>
          </p:cNvSpPr>
          <p:nvPr>
            <p:ph type="hdr" sz="quarter"/>
          </p:nvPr>
        </p:nvSpPr>
        <p:spPr/>
        <p:txBody>
          <a:bodyPr/>
          <a:lstStyle/>
          <a:p>
            <a:endParaRPr lang="en-IN"/>
          </a:p>
        </p:txBody>
      </p:sp>
    </p:spTree>
    <p:extLst>
      <p:ext uri="{BB962C8B-B14F-4D97-AF65-F5344CB8AC3E}">
        <p14:creationId xmlns:p14="http://schemas.microsoft.com/office/powerpoint/2010/main" val="38193499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89788" y="518159"/>
            <a:ext cx="7213092" cy="50291"/>
          </a:xfrm>
          <a:prstGeom prst="rect">
            <a:avLst/>
          </a:prstGeom>
        </p:spPr>
      </p:pic>
      <p:sp>
        <p:nvSpPr>
          <p:cNvPr id="17" name="bg object 17"/>
          <p:cNvSpPr/>
          <p:nvPr/>
        </p:nvSpPr>
        <p:spPr>
          <a:xfrm>
            <a:off x="589788" y="569976"/>
            <a:ext cx="11376025" cy="0"/>
          </a:xfrm>
          <a:custGeom>
            <a:avLst/>
            <a:gdLst/>
            <a:ahLst/>
            <a:cxnLst/>
            <a:rect l="l" t="t" r="r" b="b"/>
            <a:pathLst>
              <a:path w="11376025">
                <a:moveTo>
                  <a:pt x="0" y="0"/>
                </a:moveTo>
                <a:lnTo>
                  <a:pt x="11376025" y="0"/>
                </a:lnTo>
              </a:path>
            </a:pathLst>
          </a:custGeom>
          <a:ln w="6350">
            <a:solidFill>
              <a:srgbClr val="A6A6A6"/>
            </a:solidFill>
          </a:ln>
        </p:spPr>
        <p:txBody>
          <a:bodyPr wrap="square" lIns="0" tIns="0" rIns="0" bIns="0" rtlCol="0"/>
          <a:lstStyle/>
          <a:p>
            <a:endParaRPr/>
          </a:p>
        </p:txBody>
      </p:sp>
      <p:pic>
        <p:nvPicPr>
          <p:cNvPr id="18" name="bg object 18"/>
          <p:cNvPicPr/>
          <p:nvPr/>
        </p:nvPicPr>
        <p:blipFill>
          <a:blip r:embed="rId3" cstate="print"/>
          <a:stretch>
            <a:fillRect/>
          </a:stretch>
        </p:blipFill>
        <p:spPr>
          <a:xfrm>
            <a:off x="0" y="0"/>
            <a:ext cx="12191999" cy="6857997"/>
          </a:xfrm>
          <a:prstGeom prst="rect">
            <a:avLst/>
          </a:prstGeom>
        </p:spPr>
      </p:pic>
      <p:pic>
        <p:nvPicPr>
          <p:cNvPr id="19" name="bg object 19"/>
          <p:cNvPicPr/>
          <p:nvPr/>
        </p:nvPicPr>
        <p:blipFill>
          <a:blip r:embed="rId4" cstate="print"/>
          <a:stretch>
            <a:fillRect/>
          </a:stretch>
        </p:blipFill>
        <p:spPr>
          <a:xfrm>
            <a:off x="397764" y="48767"/>
            <a:ext cx="2496312" cy="1440179"/>
          </a:xfrm>
          <a:prstGeom prst="rect">
            <a:avLst/>
          </a:prstGeom>
        </p:spPr>
      </p:pic>
      <p:pic>
        <p:nvPicPr>
          <p:cNvPr id="20" name="bg object 20"/>
          <p:cNvPicPr/>
          <p:nvPr/>
        </p:nvPicPr>
        <p:blipFill>
          <a:blip r:embed="rId5" cstate="print"/>
          <a:stretch>
            <a:fillRect/>
          </a:stretch>
        </p:blipFill>
        <p:spPr>
          <a:xfrm>
            <a:off x="4940807" y="2086355"/>
            <a:ext cx="6640068" cy="99060"/>
          </a:xfrm>
          <a:prstGeom prst="rect">
            <a:avLst/>
          </a:prstGeom>
        </p:spPr>
      </p:pic>
      <p:sp>
        <p:nvSpPr>
          <p:cNvPr id="2" name="Holder 2"/>
          <p:cNvSpPr>
            <a:spLocks noGrp="1"/>
          </p:cNvSpPr>
          <p:nvPr>
            <p:ph type="ctrTitle"/>
          </p:nvPr>
        </p:nvSpPr>
        <p:spPr>
          <a:xfrm>
            <a:off x="6319520" y="1371346"/>
            <a:ext cx="5246370" cy="654025"/>
          </a:xfrm>
          <a:prstGeom prst="rect">
            <a:avLst/>
          </a:prstGeom>
        </p:spPr>
        <p:txBody>
          <a:bodyPr wrap="square" lIns="0" tIns="0" rIns="0" bIns="0">
            <a:spAutoFit/>
          </a:bodyPr>
          <a:lstStyle>
            <a:lvl1pPr>
              <a:defRPr sz="4250" b="1" i="0">
                <a:solidFill>
                  <a:srgbClr val="006FC0"/>
                </a:solidFill>
                <a:latin typeface="Adani Regular" panose="02000503000000020004" pitchFamily="2" charset="0"/>
                <a:cs typeface="Arial"/>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atin typeface="Adani Regular" panose="02000503000000020004" pitchFamily="2" charset="0"/>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extLst>
      <p:ext uri="{BB962C8B-B14F-4D97-AF65-F5344CB8AC3E}">
        <p14:creationId xmlns:p14="http://schemas.microsoft.com/office/powerpoint/2010/main" val="1170504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8EC113A-FF9F-9CE2-D97C-814E3B6DD2DD}"/>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743944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A3673-ED7E-D140-BEB7-45A5D72802D7}"/>
              </a:ext>
            </a:extLst>
          </p:cNvPr>
          <p:cNvSpPr>
            <a:spLocks noGrp="1"/>
          </p:cNvSpPr>
          <p:nvPr>
            <p:ph type="ctrTitle"/>
          </p:nvPr>
        </p:nvSpPr>
        <p:spPr>
          <a:xfrm>
            <a:off x="1524000" y="1663304"/>
            <a:ext cx="9144000" cy="1846659"/>
          </a:xfrm>
          <a:prstGeom prst="rect">
            <a:avLst/>
          </a:prstGeom>
        </p:spPr>
        <p:txBody>
          <a:bodyPr anchor="b"/>
          <a:lstStyle>
            <a:lvl1pPr algn="ctr">
              <a:defRPr sz="6000">
                <a:latin typeface="Adani Regular" panose="02000503000000020004" pitchFamily="2" charset="0"/>
              </a:defRPr>
            </a:lvl1pPr>
          </a:lstStyle>
          <a:p>
            <a:r>
              <a:rPr lang="en-US"/>
              <a:t>Click to edit Master title style</a:t>
            </a:r>
          </a:p>
        </p:txBody>
      </p:sp>
      <p:sp>
        <p:nvSpPr>
          <p:cNvPr id="3" name="Subtitle 2">
            <a:extLst>
              <a:ext uri="{FF2B5EF4-FFF2-40B4-BE49-F238E27FC236}">
                <a16:creationId xmlns:a16="http://schemas.microsoft.com/office/drawing/2014/main" id="{15C17888-9A6C-A7C3-9F88-C87B575D78B6}"/>
              </a:ext>
            </a:extLst>
          </p:cNvPr>
          <p:cNvSpPr>
            <a:spLocks noGrp="1"/>
          </p:cNvSpPr>
          <p:nvPr>
            <p:ph type="subTitle" idx="1"/>
          </p:nvPr>
        </p:nvSpPr>
        <p:spPr>
          <a:xfrm>
            <a:off x="1524000" y="3602038"/>
            <a:ext cx="9144000" cy="369332"/>
          </a:xfrm>
          <a:prstGeom prst="rect">
            <a:avLst/>
          </a:prstGeom>
        </p:spPr>
        <p:txBody>
          <a:bodyPr/>
          <a:lstStyle>
            <a:lvl1pPr marL="0" indent="0" algn="ctr">
              <a:buNone/>
              <a:defRPr sz="2400">
                <a:latin typeface="Adani Regular" panose="0200050300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35F5B188-284F-B4A6-A3A7-E4D364DA8020}"/>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2475350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2EFA596E-9C25-4B56-8825-17376C69494E}"/>
              </a:ext>
            </a:extLst>
          </p:cNvPr>
          <p:cNvCxnSpPr/>
          <p:nvPr userDrawn="1"/>
        </p:nvCxnSpPr>
        <p:spPr>
          <a:xfrm>
            <a:off x="623394" y="599259"/>
            <a:ext cx="10404231" cy="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6BEC392-99E6-4439-9F09-DF75C16D7C3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997635" y="6337895"/>
            <a:ext cx="192925" cy="384048"/>
          </a:xfrm>
          <a:prstGeom prst="rect">
            <a:avLst/>
          </a:prstGeom>
        </p:spPr>
      </p:pic>
      <p:pic>
        <p:nvPicPr>
          <p:cNvPr id="18" name="Picture 17">
            <a:extLst>
              <a:ext uri="{FF2B5EF4-FFF2-40B4-BE49-F238E27FC236}">
                <a16:creationId xmlns:a16="http://schemas.microsoft.com/office/drawing/2014/main" id="{FE9E3304-643A-4DC4-92C5-DDC74D96CAD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161247" y="304775"/>
            <a:ext cx="669296" cy="449547"/>
          </a:xfrm>
          <a:prstGeom prst="rect">
            <a:avLst/>
          </a:prstGeom>
        </p:spPr>
      </p:pic>
      <p:cxnSp>
        <p:nvCxnSpPr>
          <p:cNvPr id="20" name="Straight Connector 19">
            <a:extLst>
              <a:ext uri="{FF2B5EF4-FFF2-40B4-BE49-F238E27FC236}">
                <a16:creationId xmlns:a16="http://schemas.microsoft.com/office/drawing/2014/main" id="{86D14F8A-0647-42E2-8F61-39C14DCBE946}"/>
              </a:ext>
            </a:extLst>
          </p:cNvPr>
          <p:cNvCxnSpPr/>
          <p:nvPr userDrawn="1"/>
        </p:nvCxnSpPr>
        <p:spPr>
          <a:xfrm>
            <a:off x="11892644" y="6532199"/>
            <a:ext cx="78544" cy="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3">
            <a:extLst>
              <a:ext uri="{FF2B5EF4-FFF2-40B4-BE49-F238E27FC236}">
                <a16:creationId xmlns:a16="http://schemas.microsoft.com/office/drawing/2014/main" id="{9F2FD689-93D7-F940-D85F-C3E9E11B6F0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2474182394"/>
      </p:ext>
    </p:extLst>
  </p:cSld>
  <p:clrMapOvr>
    <a:masterClrMapping/>
  </p:clrMapOvr>
  <p:extLst>
    <p:ext uri="{DCECCB84-F9BA-43D5-87BE-67443E8EF086}">
      <p15:sldGuideLst xmlns:p15="http://schemas.microsoft.com/office/powerpoint/2012/main">
        <p15:guide id="1" orient="horz" pos="764" userDrawn="1">
          <p15:clr>
            <a:srgbClr val="FBAE40"/>
          </p15:clr>
        </p15:guide>
        <p15:guide id="2" pos="283" userDrawn="1">
          <p15:clr>
            <a:srgbClr val="FBAE40"/>
          </p15:clr>
        </p15:guide>
        <p15:guide id="3" pos="5120" userDrawn="1">
          <p15:clr>
            <a:srgbClr val="FBAE40"/>
          </p15:clr>
        </p15:guide>
        <p15:guide id="4" pos="9957" userDrawn="1">
          <p15:clr>
            <a:srgbClr val="FBAE40"/>
          </p15:clr>
        </p15:guide>
        <p15:guide id="5" orient="horz" pos="5299" userDrawn="1">
          <p15:clr>
            <a:srgbClr val="FBAE40"/>
          </p15:clr>
        </p15:guide>
        <p15:guide id="6" orient="horz"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6617" y="-8246"/>
            <a:ext cx="10829385" cy="769676"/>
          </a:xfrm>
        </p:spPr>
        <p:txBody>
          <a:bodyPr anchor="b">
            <a:noAutofit/>
          </a:bodyPr>
          <a:lstStyle>
            <a:lvl1pPr>
              <a:defRPr sz="2200">
                <a:solidFill>
                  <a:srgbClr val="922682"/>
                </a:solidFill>
                <a:latin typeface="Adani Medium" panose="02000503000000020004" pitchFamily="2" charset="0"/>
              </a:defRPr>
            </a:lvl1pPr>
          </a:lstStyle>
          <a:p>
            <a:r>
              <a:rPr lang="en-US"/>
              <a:t>Click to edit Master title style</a:t>
            </a:r>
            <a:endParaRPr lang="en-IN"/>
          </a:p>
        </p:txBody>
      </p:sp>
      <p:grpSp>
        <p:nvGrpSpPr>
          <p:cNvPr id="3" name="Group 2">
            <a:extLst>
              <a:ext uri="{FF2B5EF4-FFF2-40B4-BE49-F238E27FC236}">
                <a16:creationId xmlns:a16="http://schemas.microsoft.com/office/drawing/2014/main" id="{F4BD06E0-24B3-41D4-9656-42FDF4FECC35}"/>
              </a:ext>
            </a:extLst>
          </p:cNvPr>
          <p:cNvGrpSpPr/>
          <p:nvPr userDrawn="1"/>
        </p:nvGrpSpPr>
        <p:grpSpPr>
          <a:xfrm>
            <a:off x="391851" y="746818"/>
            <a:ext cx="10744149" cy="60959"/>
            <a:chOff x="391437" y="755062"/>
            <a:chExt cx="10692000" cy="60959"/>
          </a:xfrm>
        </p:grpSpPr>
        <p:cxnSp>
          <p:nvCxnSpPr>
            <p:cNvPr id="10" name="Straight Connector 9"/>
            <p:cNvCxnSpPr/>
            <p:nvPr/>
          </p:nvCxnSpPr>
          <p:spPr>
            <a:xfrm>
              <a:off x="391437" y="816021"/>
              <a:ext cx="10692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2" descr="D:\Corp Comm Department Work 2015\Brand Adani 2012\adani_gradient_master.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91437" y="755062"/>
              <a:ext cx="7269694" cy="60959"/>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Slide Number Placeholder 3">
            <a:extLst>
              <a:ext uri="{FF2B5EF4-FFF2-40B4-BE49-F238E27FC236}">
                <a16:creationId xmlns:a16="http://schemas.microsoft.com/office/drawing/2014/main" id="{799D2EB3-5DD5-4CC7-3B2F-850E3091AB82}"/>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11690028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573">
          <p15:clr>
            <a:srgbClr val="FBAE40"/>
          </p15:clr>
        </p15:guide>
        <p15:guide id="3" pos="3840">
          <p15:clr>
            <a:srgbClr val="FBAE40"/>
          </p15:clr>
        </p15:guide>
        <p15:guide id="4" pos="7468">
          <p15:clr>
            <a:srgbClr val="FBAE40"/>
          </p15:clr>
        </p15:guide>
        <p15:guide id="5" orient="horz" pos="3974">
          <p15:clr>
            <a:srgbClr val="FBAE40"/>
          </p15:clr>
        </p15:guide>
        <p15:guide id="6" orient="horz" pos="2160">
          <p15:clr>
            <a:srgbClr val="FBAE40"/>
          </p15:clr>
        </p15:guide>
        <p15:guide id="7" pos="212">
          <p15:clr>
            <a:srgbClr val="FBAE40"/>
          </p15:clr>
        </p15:guide>
        <p15:guide id="8" pos="66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A3673-ED7E-D140-BEB7-45A5D72802D7}"/>
              </a:ext>
            </a:extLst>
          </p:cNvPr>
          <p:cNvSpPr>
            <a:spLocks noGrp="1"/>
          </p:cNvSpPr>
          <p:nvPr>
            <p:ph type="ctrTitle"/>
          </p:nvPr>
        </p:nvSpPr>
        <p:spPr>
          <a:xfrm>
            <a:off x="478971" y="107818"/>
            <a:ext cx="11498943" cy="424449"/>
          </a:xfrm>
          <a:prstGeom prst="rect">
            <a:avLst/>
          </a:prstGeom>
          <a:noFill/>
        </p:spPr>
        <p:txBody>
          <a:bodyPr vert="horz" wrap="square" lIns="91157" tIns="45580" rIns="91157" bIns="45580" rtlCol="0" anchor="b">
            <a:spAutoFit/>
          </a:bodyPr>
          <a:lstStyle>
            <a:lvl1pPr>
              <a:defRPr lang="en-US" sz="2400" b="1">
                <a:gradFill>
                  <a:gsLst>
                    <a:gs pos="9735">
                      <a:schemeClr val="tx2"/>
                    </a:gs>
                    <a:gs pos="63000">
                      <a:srgbClr val="8E278F"/>
                    </a:gs>
                    <a:gs pos="38000">
                      <a:srgbClr val="57499E"/>
                    </a:gs>
                  </a:gsLst>
                  <a:lin ang="0" scaled="0"/>
                </a:gradFill>
                <a:ea typeface="+mn-ea"/>
                <a:cs typeface="+mn-cs"/>
              </a:defRPr>
            </a:lvl1pPr>
          </a:lstStyle>
          <a:p>
            <a:pPr marL="109192" lvl="0" defTabSz="911377"/>
            <a:r>
              <a:rPr lang="en-US"/>
              <a:t>Click to edit Master title style</a:t>
            </a:r>
          </a:p>
        </p:txBody>
      </p:sp>
      <p:sp>
        <p:nvSpPr>
          <p:cNvPr id="3" name="Subtitle 2">
            <a:extLst>
              <a:ext uri="{FF2B5EF4-FFF2-40B4-BE49-F238E27FC236}">
                <a16:creationId xmlns:a16="http://schemas.microsoft.com/office/drawing/2014/main" id="{15C17888-9A6C-A7C3-9F88-C87B575D78B6}"/>
              </a:ext>
            </a:extLst>
          </p:cNvPr>
          <p:cNvSpPr>
            <a:spLocks noGrp="1"/>
          </p:cNvSpPr>
          <p:nvPr>
            <p:ph type="subTitle" idx="1"/>
          </p:nvPr>
        </p:nvSpPr>
        <p:spPr>
          <a:xfrm>
            <a:off x="478970" y="655637"/>
            <a:ext cx="11498943" cy="365125"/>
          </a:xfrm>
          <a:prstGeom prst="rect">
            <a:avLst/>
          </a:prstGeom>
        </p:spPr>
        <p:txBody>
          <a:bodyPr/>
          <a:lstStyle>
            <a:lvl1pPr marL="0" indent="0" algn="l">
              <a:buNone/>
              <a:defRPr sz="2000" b="1">
                <a:solidFill>
                  <a:srgbClr val="7030A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Content Placeholder 2">
            <a:extLst>
              <a:ext uri="{FF2B5EF4-FFF2-40B4-BE49-F238E27FC236}">
                <a16:creationId xmlns:a16="http://schemas.microsoft.com/office/drawing/2014/main" id="{311FDC09-5BC8-B895-A291-B9A8024BBADF}"/>
              </a:ext>
            </a:extLst>
          </p:cNvPr>
          <p:cNvSpPr>
            <a:spLocks noGrp="1"/>
          </p:cNvSpPr>
          <p:nvPr>
            <p:ph idx="13"/>
          </p:nvPr>
        </p:nvSpPr>
        <p:spPr>
          <a:xfrm>
            <a:off x="478969" y="1144132"/>
            <a:ext cx="11498943" cy="5061860"/>
          </a:xfrm>
          <a:prstGeom prst="rect">
            <a:avLst/>
          </a:prstGeom>
        </p:spPr>
        <p:txBody>
          <a:bodyPr/>
          <a:lstStyle>
            <a:lvl1pPr marL="228600" indent="-228600">
              <a:buFont typeface="Wingdings" panose="05000000000000000000" pitchFamily="2" charset="2"/>
              <a:buChar char="§"/>
              <a:defRPr sz="2000"/>
            </a:lvl1pPr>
            <a:lvl2pPr marL="685800" indent="-228600">
              <a:buFont typeface="Wingdings" panose="05000000000000000000" pitchFamily="2" charset="2"/>
              <a:buChar char="§"/>
              <a:defRPr sz="1800"/>
            </a:lvl2pPr>
            <a:lvl3pPr marL="1143000" indent="-228600">
              <a:buFont typeface="Wingdings" panose="05000000000000000000" pitchFamily="2" charset="2"/>
              <a:buChar char="§"/>
              <a:defRPr sz="1600"/>
            </a:lvl3pPr>
            <a:lvl4pPr marL="1600200" indent="-228600">
              <a:buFont typeface="Wingdings" panose="05000000000000000000" pitchFamily="2" charset="2"/>
              <a:buChar char="§"/>
              <a:defRPr sz="1400"/>
            </a:lvl4pPr>
            <a:lvl5pPr marL="2057400" indent="-228600">
              <a:buFont typeface="Wingdings" panose="05000000000000000000" pitchFamily="2"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615FF0D2-0874-80AB-5E01-138E3F27803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997635" y="6352804"/>
            <a:ext cx="194366" cy="386917"/>
          </a:xfrm>
          <a:prstGeom prst="rect">
            <a:avLst/>
          </a:prstGeom>
        </p:spPr>
      </p:pic>
      <p:cxnSp>
        <p:nvCxnSpPr>
          <p:cNvPr id="6" name="Straight Connector 5">
            <a:extLst>
              <a:ext uri="{FF2B5EF4-FFF2-40B4-BE49-F238E27FC236}">
                <a16:creationId xmlns:a16="http://schemas.microsoft.com/office/drawing/2014/main" id="{F0D8660E-D71A-5DE1-EB36-594448D56745}"/>
              </a:ext>
            </a:extLst>
          </p:cNvPr>
          <p:cNvCxnSpPr>
            <a:cxnSpLocks/>
          </p:cNvCxnSpPr>
          <p:nvPr userDrawn="1"/>
        </p:nvCxnSpPr>
        <p:spPr>
          <a:xfrm>
            <a:off x="418264" y="6342507"/>
            <a:ext cx="109694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B6B356C8-C561-9F7E-9DB5-EBD7A4CFA93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76691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D4B4AB-B102-4B52-9298-4FDE1139D9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017"/>
            <a:ext cx="12192000" cy="6855967"/>
          </a:xfrm>
          <a:prstGeom prst="rect">
            <a:avLst/>
          </a:prstGeom>
        </p:spPr>
      </p:pic>
      <p:sp>
        <p:nvSpPr>
          <p:cNvPr id="2" name="Title 1"/>
          <p:cNvSpPr>
            <a:spLocks noGrp="1"/>
          </p:cNvSpPr>
          <p:nvPr>
            <p:ph type="title"/>
          </p:nvPr>
        </p:nvSpPr>
        <p:spPr>
          <a:xfrm>
            <a:off x="914400" y="4038600"/>
            <a:ext cx="10363200" cy="1362075"/>
          </a:xfrm>
        </p:spPr>
        <p:txBody>
          <a:bodyPr anchor="t">
            <a:normAutofit/>
          </a:bodyPr>
          <a:lstStyle>
            <a:lvl1pPr algn="l">
              <a:defRPr sz="3733" b="0" cap="none" baseline="0">
                <a:solidFill>
                  <a:schemeClr val="bg1"/>
                </a:solidFill>
                <a:latin typeface="Adani Regular" pitchFamily="2" charset="0"/>
              </a:defRPr>
            </a:lvl1pPr>
          </a:lstStyle>
          <a:p>
            <a:r>
              <a:rPr lang="en-GB"/>
              <a:t>Click to edit Master title style</a:t>
            </a:r>
            <a:endParaRPr lang="en-US"/>
          </a:p>
        </p:txBody>
      </p:sp>
      <p:sp>
        <p:nvSpPr>
          <p:cNvPr id="6" name="Slide Number Placeholder 5"/>
          <p:cNvSpPr>
            <a:spLocks noGrp="1"/>
          </p:cNvSpPr>
          <p:nvPr>
            <p:ph type="sldNum" sz="quarter" idx="12"/>
          </p:nvPr>
        </p:nvSpPr>
        <p:spPr/>
        <p:txBody>
          <a:bodyPr/>
          <a:lstStyle/>
          <a:p>
            <a:fld id="{9759575B-79F4-462B-BD8B-0038BD3A3767}" type="slidenum">
              <a:rPr lang="en-US" smtClean="0"/>
              <a:t>‹#›</a:t>
            </a:fld>
            <a:endParaRPr lang="en-US"/>
          </a:p>
        </p:txBody>
      </p:sp>
      <p:pic>
        <p:nvPicPr>
          <p:cNvPr id="7" name="Picture 6" descr="Logo, company name&#10;&#10;Description automatically generated">
            <a:extLst>
              <a:ext uri="{FF2B5EF4-FFF2-40B4-BE49-F238E27FC236}">
                <a16:creationId xmlns:a16="http://schemas.microsoft.com/office/drawing/2014/main" id="{B635AB5C-6398-4F97-964A-F3E7F88C50C7}"/>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52733"/>
          <a:stretch/>
        </p:blipFill>
        <p:spPr>
          <a:xfrm>
            <a:off x="3977928" y="2108824"/>
            <a:ext cx="4200560" cy="1632608"/>
          </a:xfrm>
          <a:prstGeom prst="rect">
            <a:avLst/>
          </a:prstGeom>
        </p:spPr>
      </p:pic>
    </p:spTree>
    <p:extLst>
      <p:ext uri="{BB962C8B-B14F-4D97-AF65-F5344CB8AC3E}">
        <p14:creationId xmlns:p14="http://schemas.microsoft.com/office/powerpoint/2010/main" val="2613953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No Image - Title Cov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5BEDE2-0E01-44E6-ACC3-05ED4931C9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1908" y="1918905"/>
            <a:ext cx="3053323" cy="2510651"/>
          </a:xfrm>
          <a:prstGeom prst="rect">
            <a:avLst/>
          </a:prstGeom>
        </p:spPr>
      </p:pic>
      <p:sp>
        <p:nvSpPr>
          <p:cNvPr id="5" name="Subtitle 3"/>
          <p:cNvSpPr>
            <a:spLocks noGrp="1"/>
          </p:cNvSpPr>
          <p:nvPr>
            <p:ph type="subTitle" idx="1" hasCustomPrompt="1"/>
          </p:nvPr>
        </p:nvSpPr>
        <p:spPr>
          <a:xfrm>
            <a:off x="5343051" y="2108825"/>
            <a:ext cx="6840912" cy="1470671"/>
          </a:xfrm>
        </p:spPr>
        <p:txBody>
          <a:bodyPr>
            <a:normAutofit/>
          </a:bodyPr>
          <a:lstStyle>
            <a:lvl1pPr marL="0" indent="0">
              <a:buNone/>
              <a:defRPr baseline="0">
                <a:latin typeface="Adani Medium" pitchFamily="2" charset="0"/>
              </a:defRPr>
            </a:lvl1pPr>
          </a:lstStyle>
          <a:p>
            <a:pPr algn="l"/>
            <a:r>
              <a:rPr lang="en-IN">
                <a:solidFill>
                  <a:srgbClr val="000000"/>
                </a:solidFill>
              </a:rPr>
              <a:t>Click to add title</a:t>
            </a:r>
          </a:p>
        </p:txBody>
      </p:sp>
      <p:pic>
        <p:nvPicPr>
          <p:cNvPr id="6" name="Picture 2" descr="D:\Corp Comm Department Work 2015\Brand Adani 2012\adani_gradient_master.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495920" y="3549017"/>
            <a:ext cx="6696080" cy="6095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BE0FA753-E354-3768-7206-BC13819FAF18}"/>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961537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Content Placeholder 2"/>
          <p:cNvSpPr>
            <a:spLocks noGrp="1"/>
          </p:cNvSpPr>
          <p:nvPr>
            <p:ph idx="1"/>
          </p:nvPr>
        </p:nvSpPr>
        <p:spPr>
          <a:xfrm>
            <a:off x="609600" y="1663405"/>
            <a:ext cx="10972800" cy="4525963"/>
          </a:xfrm>
        </p:spPr>
        <p:txBody>
          <a:bodyPr>
            <a:normAutofit/>
          </a:bodyPr>
          <a:lstStyle>
            <a:lvl1pPr>
              <a:defRPr sz="3733"/>
            </a:lvl1pPr>
            <a:lvl2pPr>
              <a:defRPr sz="3200"/>
            </a:lvl2pPr>
            <a:lvl3pPr>
              <a:defRPr sz="2667"/>
            </a:lvl3pPr>
            <a:lvl4pPr>
              <a:defRPr sz="2400"/>
            </a:lvl4pPr>
            <a:lvl5pPr>
              <a:defRPr sz="2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10"/>
          </p:nvPr>
        </p:nvSpPr>
        <p:spPr/>
        <p:txBody>
          <a:bodyPr/>
          <a:lstStyle/>
          <a:p>
            <a:endParaRPr lang="en-IN"/>
          </a:p>
        </p:txBody>
      </p:sp>
      <p:sp>
        <p:nvSpPr>
          <p:cNvPr id="6" name="Slide Number Placeholder 5"/>
          <p:cNvSpPr>
            <a:spLocks noGrp="1"/>
          </p:cNvSpPr>
          <p:nvPr>
            <p:ph type="sldNum" sz="quarter" idx="12"/>
          </p:nvPr>
        </p:nvSpPr>
        <p:spPr/>
        <p:txBody>
          <a:bodyPr/>
          <a:lstStyle/>
          <a:p>
            <a:fld id="{98B285C1-D8A8-4E98-B28C-1FD972D8EC54}" type="slidenum">
              <a:rPr lang="en-IN" smtClean="0"/>
              <a:t>‹#›</a:t>
            </a:fld>
            <a:endParaRPr lang="en-IN"/>
          </a:p>
        </p:txBody>
      </p:sp>
      <p:grpSp>
        <p:nvGrpSpPr>
          <p:cNvPr id="8" name="Group 7"/>
          <p:cNvGrpSpPr/>
          <p:nvPr userDrawn="1"/>
        </p:nvGrpSpPr>
        <p:grpSpPr>
          <a:xfrm>
            <a:off x="575264" y="1441757"/>
            <a:ext cx="11041472" cy="62864"/>
            <a:chOff x="521460" y="771510"/>
            <a:chExt cx="7921056" cy="47148"/>
          </a:xfrm>
        </p:grpSpPr>
        <p:pic>
          <p:nvPicPr>
            <p:cNvPr id="9" name="Picture 2" descr="D:\Corp Comm Department Work 2015\Brand Adani 2012\adani_gradient_mast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460" y="771510"/>
              <a:ext cx="5022060" cy="45719"/>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p:cNvCxnSpPr/>
            <p:nvPr/>
          </p:nvCxnSpPr>
          <p:spPr>
            <a:xfrm>
              <a:off x="521460" y="818658"/>
              <a:ext cx="792105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p:cNvCxnSpPr/>
          <p:nvPr userDrawn="1"/>
        </p:nvCxnSpPr>
        <p:spPr>
          <a:xfrm>
            <a:off x="576768" y="6189368"/>
            <a:ext cx="1103996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descr="Logo, company name&#10;&#10;Description automatically generated">
            <a:extLst>
              <a:ext uri="{FF2B5EF4-FFF2-40B4-BE49-F238E27FC236}">
                <a16:creationId xmlns:a16="http://schemas.microsoft.com/office/drawing/2014/main" id="{D33B6580-E0B8-43FD-B516-6E10377D5B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92566" y="6094733"/>
            <a:ext cx="928245" cy="763267"/>
          </a:xfrm>
          <a:prstGeom prst="rect">
            <a:avLst/>
          </a:prstGeom>
        </p:spPr>
      </p:pic>
    </p:spTree>
    <p:extLst>
      <p:ext uri="{BB962C8B-B14F-4D97-AF65-F5344CB8AC3E}">
        <p14:creationId xmlns:p14="http://schemas.microsoft.com/office/powerpoint/2010/main" val="1005599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1" cstate="print"/>
          <a:stretch>
            <a:fillRect/>
          </a:stretch>
        </p:blipFill>
        <p:spPr>
          <a:xfrm>
            <a:off x="589787" y="518159"/>
            <a:ext cx="7213092" cy="50291"/>
          </a:xfrm>
          <a:prstGeom prst="rect">
            <a:avLst/>
          </a:prstGeom>
        </p:spPr>
      </p:pic>
      <p:sp>
        <p:nvSpPr>
          <p:cNvPr id="17" name="bg object 17"/>
          <p:cNvSpPr/>
          <p:nvPr/>
        </p:nvSpPr>
        <p:spPr>
          <a:xfrm>
            <a:off x="589787" y="569975"/>
            <a:ext cx="11376025" cy="0"/>
          </a:xfrm>
          <a:custGeom>
            <a:avLst/>
            <a:gdLst/>
            <a:ahLst/>
            <a:cxnLst/>
            <a:rect l="l" t="t" r="r" b="b"/>
            <a:pathLst>
              <a:path w="11376025">
                <a:moveTo>
                  <a:pt x="0" y="0"/>
                </a:moveTo>
                <a:lnTo>
                  <a:pt x="11376025" y="0"/>
                </a:lnTo>
              </a:path>
            </a:pathLst>
          </a:custGeom>
          <a:ln w="6350">
            <a:solidFill>
              <a:srgbClr val="A6A6A6"/>
            </a:solidFill>
          </a:ln>
        </p:spPr>
        <p:txBody>
          <a:bodyPr wrap="square" lIns="0" tIns="0" rIns="0" bIns="0" rtlCol="0"/>
          <a:lstStyle/>
          <a:p>
            <a:endParaRPr/>
          </a:p>
        </p:txBody>
      </p:sp>
      <p:sp>
        <p:nvSpPr>
          <p:cNvPr id="2" name="Holder 2"/>
          <p:cNvSpPr>
            <a:spLocks noGrp="1"/>
          </p:cNvSpPr>
          <p:nvPr>
            <p:ph type="title"/>
          </p:nvPr>
        </p:nvSpPr>
        <p:spPr>
          <a:xfrm>
            <a:off x="1331467" y="2681427"/>
            <a:ext cx="9079865" cy="676910"/>
          </a:xfrm>
          <a:prstGeom prst="rect">
            <a:avLst/>
          </a:prstGeom>
        </p:spPr>
        <p:txBody>
          <a:bodyPr wrap="square" lIns="0" tIns="0" rIns="0" bIns="0">
            <a:spAutoFit/>
          </a:bodyPr>
          <a:lstStyle>
            <a:lvl1pPr>
              <a:defRPr sz="4250" b="1" i="0">
                <a:solidFill>
                  <a:srgbClr val="006FC0"/>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pic>
        <p:nvPicPr>
          <p:cNvPr id="6" name="Picture 5">
            <a:extLst>
              <a:ext uri="{FF2B5EF4-FFF2-40B4-BE49-F238E27FC236}">
                <a16:creationId xmlns:a16="http://schemas.microsoft.com/office/drawing/2014/main" id="{CE9A07D5-EB06-D9FA-05F8-C3843DAF095A}"/>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1997635" y="6352804"/>
            <a:ext cx="194366" cy="386917"/>
          </a:xfrm>
          <a:prstGeom prst="rect">
            <a:avLst/>
          </a:prstGeom>
        </p:spPr>
      </p:pic>
      <p:cxnSp>
        <p:nvCxnSpPr>
          <p:cNvPr id="8" name="Straight Connector 7">
            <a:extLst>
              <a:ext uri="{FF2B5EF4-FFF2-40B4-BE49-F238E27FC236}">
                <a16:creationId xmlns:a16="http://schemas.microsoft.com/office/drawing/2014/main" id="{F345D21C-D128-05A0-E723-2419FCDCC9D0}"/>
              </a:ext>
            </a:extLst>
          </p:cNvPr>
          <p:cNvCxnSpPr>
            <a:cxnSpLocks/>
          </p:cNvCxnSpPr>
          <p:nvPr userDrawn="1"/>
        </p:nvCxnSpPr>
        <p:spPr>
          <a:xfrm>
            <a:off x="418264" y="6342507"/>
            <a:ext cx="109694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D2118FD-5B9D-83C4-99A9-CB685AA8E1C5}"/>
              </a:ext>
            </a:extLst>
          </p:cNvPr>
          <p:cNvSpPr>
            <a:spLocks noGrp="1"/>
          </p:cNvSpPr>
          <p:nvPr>
            <p:ph type="sldNum" sz="quarter" idx="4"/>
          </p:nvPr>
        </p:nvSpPr>
        <p:spPr>
          <a:xfrm>
            <a:off x="11683999" y="6488896"/>
            <a:ext cx="493311" cy="365125"/>
          </a:xfrm>
        </p:spPr>
        <p:txBody>
          <a:bodyPr/>
          <a:lstStyle/>
          <a:p>
            <a:fld id="{98B285C1-D8A8-4E98-B28C-1FD972D8EC54}" type="slidenum">
              <a:rPr lang="en-IN" smtClean="0"/>
              <a:t>‹#›</a:t>
            </a:fld>
            <a:endParaRPr lang="en-IN"/>
          </a:p>
        </p:txBody>
      </p:sp>
    </p:spTree>
    <p:extLst>
      <p:ext uri="{BB962C8B-B14F-4D97-AF65-F5344CB8AC3E}">
        <p14:creationId xmlns:p14="http://schemas.microsoft.com/office/powerpoint/2010/main" val="2047543468"/>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2" r:id="rId3"/>
    <p:sldLayoutId id="2147483673" r:id="rId4"/>
    <p:sldLayoutId id="2147483677" r:id="rId5"/>
    <p:sldLayoutId id="2147483678" r:id="rId6"/>
    <p:sldLayoutId id="2147483679" r:id="rId7"/>
    <p:sldLayoutId id="2147483680" r:id="rId8"/>
    <p:sldLayoutId id="2147483681" r:id="rId9"/>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6.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oleObject" Target="https://adaniltd-my.sharepoint.com/personal/30068692_adani_com/Documents/Work-BESS/General/BESS%20Deck/BESS%20Deck-26-27_Backup/Progress%20Dashbord_FY26-27.xlsx!PPT%20PSS-11!R2C2:R19C10" TargetMode="External"/><Relationship Id="rId7" Type="http://schemas.openxmlformats.org/officeDocument/2006/relationships/image" Target="../media/image22.emf"/><Relationship Id="rId2" Type="http://schemas.openxmlformats.org/officeDocument/2006/relationships/slide" Target="slide22.xml"/><Relationship Id="rId1" Type="http://schemas.openxmlformats.org/officeDocument/2006/relationships/slideLayout" Target="../slideLayouts/slideLayout2.xml"/><Relationship Id="rId6" Type="http://schemas.openxmlformats.org/officeDocument/2006/relationships/oleObject" Target="https://adaniltd-my.sharepoint.com/personal/30068692_adani_com/Documents/Work-BESS/General/BESS%20Deck/BESS%20Deck-26-27_Backup/Progress%20Dashbord_FY26-27.xlsx!PPT%20PSS-11!R44C2:R46C10" TargetMode="External"/><Relationship Id="rId5" Type="http://schemas.openxmlformats.org/officeDocument/2006/relationships/chart" Target="../charts/chart7.x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8" Type="http://schemas.openxmlformats.org/officeDocument/2006/relationships/oleObject" Target="https://adaniltd-my.sharepoint.com/personal/30068692_adani_com/Documents/Work-BESS/General/BESS%20Deck/BESS%20Deck-26-27_Backup/Progress%20Dashbord_FY26-27.xlsx!PPT%20PSS-12!R41C2:R43C10" TargetMode="External"/><Relationship Id="rId3" Type="http://schemas.openxmlformats.org/officeDocument/2006/relationships/slide" Target="slide23.xml"/><Relationship Id="rId7"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emf"/><Relationship Id="rId5" Type="http://schemas.openxmlformats.org/officeDocument/2006/relationships/oleObject" Target="https://adaniltd-my.sharepoint.com/personal/30068692_adani_com/Documents/Work-BESS/General/BESS%20Deck/BESS%20Deck-26-27_Backup/Progress%20Dashbord_FY26-27.xlsx!PPT%20PSS-12!R1C2:R18C10" TargetMode="External"/><Relationship Id="rId10" Type="http://schemas.openxmlformats.org/officeDocument/2006/relationships/chart" Target="../charts/chart10.xml"/><Relationship Id="rId4" Type="http://schemas.openxmlformats.org/officeDocument/2006/relationships/slide" Target="slide21.xml"/><Relationship Id="rId9" Type="http://schemas.openxmlformats.org/officeDocument/2006/relationships/image" Target="../media/image24.emf"/></Relationships>
</file>

<file path=ppt/slides/_rels/slide23.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slide" Target="slide25.xml"/><Relationship Id="rId7" Type="http://schemas.openxmlformats.org/officeDocument/2006/relationships/oleObject" Target="https://adaniltd-my.sharepoint.com/personal/30068692_adani_com/Documents/Work-BESS/General/BESS%20Deck/BESS%20Deck-26-27_Backup/Progress%20Dashbord_FY26-27.xlsx!PPT%20PSS-10B!R41C2:R43C10" TargetMode="External"/><Relationship Id="rId2" Type="http://schemas.openxmlformats.org/officeDocument/2006/relationships/slide" Target="slide22.xml"/><Relationship Id="rId1" Type="http://schemas.openxmlformats.org/officeDocument/2006/relationships/slideLayout" Target="../slideLayouts/slideLayout2.xml"/><Relationship Id="rId6" Type="http://schemas.openxmlformats.org/officeDocument/2006/relationships/chart" Target="../charts/chart11.xml"/><Relationship Id="rId5" Type="http://schemas.openxmlformats.org/officeDocument/2006/relationships/image" Target="../media/image25.emf"/><Relationship Id="rId4" Type="http://schemas.openxmlformats.org/officeDocument/2006/relationships/oleObject" Target="https://adaniltd-my.sharepoint.com/personal/30068692_adani_com/Documents/Work-BESS/General/BESS%20Deck/BESS%20Deck-26-27_Backup/Progress%20Dashbord_FY26-27.xlsx!PPT%20PSS-10B!R1C2:R18C10" TargetMode="External"/><Relationship Id="rId9" Type="http://schemas.openxmlformats.org/officeDocument/2006/relationships/chart" Target="../charts/char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slide" Target="slide23.xml"/><Relationship Id="rId7" Type="http://schemas.openxmlformats.org/officeDocument/2006/relationships/oleObject" Target="https://adaniltd-my.sharepoint.com/personal/30068692_adani_com/Documents/Work-BESS/General/BESS%20Deck/BESS%20Deck-26-27_Backup/Progress%20Dashbord_FY26-27.xlsx!PPT%20PSS-09!R42C2:R44C10" TargetMode="External"/><Relationship Id="rId2" Type="http://schemas.openxmlformats.org/officeDocument/2006/relationships/slide" Target="slide26.xml"/><Relationship Id="rId1" Type="http://schemas.openxmlformats.org/officeDocument/2006/relationships/slideLayout" Target="../slideLayouts/slideLayout2.xml"/><Relationship Id="rId6" Type="http://schemas.openxmlformats.org/officeDocument/2006/relationships/chart" Target="../charts/chart13.xml"/><Relationship Id="rId5" Type="http://schemas.openxmlformats.org/officeDocument/2006/relationships/image" Target="../media/image27.emf"/><Relationship Id="rId4" Type="http://schemas.openxmlformats.org/officeDocument/2006/relationships/oleObject" Target="https://adaniltd-my.sharepoint.com/personal/30068692_adani_com/Documents/Work-BESS/General/BESS%20Deck/BESS%20Deck-26-27_Backup/Progress%20Dashbord_FY26-27.xlsx!PPT%20PSS-09!R2C2:R19C10" TargetMode="External"/><Relationship Id="rId9" Type="http://schemas.openxmlformats.org/officeDocument/2006/relationships/chart" Target="../charts/chart14.xml"/></Relationships>
</file>

<file path=ppt/slides/_rels/slide26.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slide" Target="slide25.xml"/><Relationship Id="rId7" Type="http://schemas.openxmlformats.org/officeDocument/2006/relationships/oleObject" Target="https://adaniltd-my.sharepoint.com/personal/30068692_adani_com/Documents/Work-BESS/General/BESS%20Deck/BESS%20Deck-26-27_Backup/Progress%20Dashbord_FY26-27.xlsx!PPT%20PSS-05(B)!R42C2:R44C10" TargetMode="External"/><Relationship Id="rId2" Type="http://schemas.openxmlformats.org/officeDocument/2006/relationships/slide" Target="slide27.xml"/><Relationship Id="rId1" Type="http://schemas.openxmlformats.org/officeDocument/2006/relationships/slideLayout" Target="../slideLayouts/slideLayout2.xml"/><Relationship Id="rId6" Type="http://schemas.openxmlformats.org/officeDocument/2006/relationships/chart" Target="../charts/chart15.xml"/><Relationship Id="rId5" Type="http://schemas.openxmlformats.org/officeDocument/2006/relationships/image" Target="../media/image29.emf"/><Relationship Id="rId4" Type="http://schemas.openxmlformats.org/officeDocument/2006/relationships/oleObject" Target="https://adaniltd-my.sharepoint.com/personal/30068692_adani_com/Documents/Work-BESS/General/BESS%20Deck/BESS%20Deck-26-27_Backup/Progress%20Dashbord_FY26-27.xlsx!PPT%20PSS-05(B)!R2C2:R19C10" TargetMode="External"/><Relationship Id="rId9" Type="http://schemas.openxmlformats.org/officeDocument/2006/relationships/chart" Target="../charts/chart16.xml"/></Relationships>
</file>

<file path=ppt/slides/_rels/slide27.xml.rels><?xml version="1.0" encoding="UTF-8" standalone="yes"?>
<Relationships xmlns="http://schemas.openxmlformats.org/package/2006/relationships"><Relationship Id="rId8" Type="http://schemas.openxmlformats.org/officeDocument/2006/relationships/chart" Target="../charts/chart18.xml"/><Relationship Id="rId3" Type="http://schemas.openxmlformats.org/officeDocument/2006/relationships/oleObject" Target="https://adaniltd-my.sharepoint.com/personal/30068692_adani_com/Documents/Work-BESS/General/BESS%20Deck/BESS%20Deck-26-27_Backup/Progress%20Dashbord_FY26-27.xlsx!PPT%20PSS-08(B)!R2C2:R19C10" TargetMode="External"/><Relationship Id="rId7" Type="http://schemas.openxmlformats.org/officeDocument/2006/relationships/image" Target="../media/image32.emf"/><Relationship Id="rId2" Type="http://schemas.openxmlformats.org/officeDocument/2006/relationships/slide" Target="slide26.xml"/><Relationship Id="rId1" Type="http://schemas.openxmlformats.org/officeDocument/2006/relationships/slideLayout" Target="../slideLayouts/slideLayout2.xml"/><Relationship Id="rId6" Type="http://schemas.openxmlformats.org/officeDocument/2006/relationships/oleObject" Target="https://adaniltd-my.sharepoint.com/personal/30068692_adani_com/Documents/Work-BESS/General/BESS%20Deck/BESS%20Deck-26-27_Backup/Progress%20Dashbord_FY26-27.xlsx!PPT%20PSS-08(B)!R42C2:R44C10" TargetMode="External"/><Relationship Id="rId5" Type="http://schemas.openxmlformats.org/officeDocument/2006/relationships/chart" Target="../charts/chart17.xml"/><Relationship Id="rId4" Type="http://schemas.openxmlformats.org/officeDocument/2006/relationships/image" Target="../media/image31.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3.emf"/><Relationship Id="rId4" Type="http://schemas.openxmlformats.org/officeDocument/2006/relationships/oleObject" Target="https://adaniltd-my.sharepoint.com/personal/30068692_adani_com/Documents/Work-BESS/General/BESS%20Deck/BESS%20Deck-26-27_Backup/BESS%20Deck_FY%2026-27_Manpower%20Status.xlsx!PSS-11!R2C1:R26C40" TargetMode="Externa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oleObject" Target="https://adaniltd-my.sharepoint.com/personal/30068692_adani_com/Documents/Work-BESS/General/BESS%20Deck/BESS%20Deck-26-27_Backup/BESS%20Deck_FY%2026-27_Manpower%20Status.xlsx!PSS-12!R2C1:R26C57" TargetMode="External"/><Relationship Id="rId4" Type="http://schemas.openxmlformats.org/officeDocument/2006/relationships/slide" Target="slide30.xml"/></Relationships>
</file>

<file path=ppt/slides/_rels/slide32.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5.emf"/><Relationship Id="rId5" Type="http://schemas.openxmlformats.org/officeDocument/2006/relationships/oleObject" Target="https://adaniltd-my.sharepoint.com/personal/30068692_adani_com/Documents/Work-BESS/General/BESS%20Deck/BESS%20Deck-26-27_Backup/BESS%20Deck_FY%2026-27_Manpower%20Status.xlsx!PSS-10B!R2C1:R29C47" TargetMode="External"/><Relationship Id="rId4" Type="http://schemas.openxmlformats.org/officeDocument/2006/relationships/slide" Target="slide31.xml"/></Relationships>
</file>

<file path=ppt/slides/_rels/slide33.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6.emf"/><Relationship Id="rId5" Type="http://schemas.openxmlformats.org/officeDocument/2006/relationships/oleObject" Target="https://adaniltd-my.sharepoint.com/personal/30068692_adani_com/Documents/Work-BESS/General/BESS%20Deck/BESS%20Deck-26-27_Backup/BESS%20Deck_FY%2026-27_Manpower%20Status.xlsx!PSS-09!R2C1:R26C62" TargetMode="External"/><Relationship Id="rId4" Type="http://schemas.openxmlformats.org/officeDocument/2006/relationships/slide" Target="slide32.xml"/></Relationships>
</file>

<file path=ppt/slides/_rels/slide34.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oleObject" Target="https://adaniltd-my.sharepoint.com/personal/30068692_adani_com/Documents/Work-BESS/General/BESS%20Deck/BESS%20Deck-26-27_Backup/BESS%20Deck_FY%2026-27_Manpower%20Status.xlsx!PSS-05(B)!R2C1:R26C62" TargetMode="External"/><Relationship Id="rId4" Type="http://schemas.openxmlformats.org/officeDocument/2006/relationships/slide" Target="slide33.xml"/></Relationships>
</file>

<file path=ppt/slides/_rels/slide35.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oleObject" Target="https://adaniltd-my.sharepoint.com/personal/30068692_adani_com/Documents/Work-BESS/General/BESS%20Deck/BESS%20Deck-26-27_Backup/BESS%20Deck_FY%2026-27_Manpower%20Status.xlsx!PSS-08(B)!R2C1:R26C65"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6.xml"/><Relationship Id="rId4" Type="http://schemas.openxmlformats.org/officeDocument/2006/relationships/image" Target="../media/image12.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chart" Target="../charts/chart25.xml"/></Relationships>
</file>

<file path=ppt/slides/_rels/slide71.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chart" Target="../charts/chart28.xml"/></Relationships>
</file>

<file path=ppt/slides/_rels/slide73.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268DA-DCB3-D8A8-E324-29E45169DF31}"/>
            </a:ext>
          </a:extLst>
        </p:cNvPr>
        <p:cNvGrpSpPr/>
        <p:nvPr/>
      </p:nvGrpSpPr>
      <p:grpSpPr>
        <a:xfrm>
          <a:off x="0" y="0"/>
          <a:ext cx="0" cy="0"/>
          <a:chOff x="0" y="0"/>
          <a:chExt cx="0" cy="0"/>
        </a:xfrm>
      </p:grpSpPr>
      <p:pic>
        <p:nvPicPr>
          <p:cNvPr id="4" name="Picture 3" descr="A group of people sitting at a table&#10;&#10;Description generated with high confidence">
            <a:extLst>
              <a:ext uri="{FF2B5EF4-FFF2-40B4-BE49-F238E27FC236}">
                <a16:creationId xmlns:a16="http://schemas.microsoft.com/office/drawing/2014/main" id="{DCC7403D-42DA-8005-A696-897E301A1B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392"/>
            <a:ext cx="12192718" cy="6857598"/>
          </a:xfrm>
          <a:prstGeom prst="rect">
            <a:avLst/>
          </a:prstGeom>
        </p:spPr>
      </p:pic>
      <p:pic>
        <p:nvPicPr>
          <p:cNvPr id="5" name="Picture 3" descr="D:\Logos 2018\Adani logo\PNG\Adani logo _Original.png">
            <a:extLst>
              <a:ext uri="{FF2B5EF4-FFF2-40B4-BE49-F238E27FC236}">
                <a16:creationId xmlns:a16="http://schemas.microsoft.com/office/drawing/2014/main" id="{D374C364-09F8-62D6-07F5-D51615AEE9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8088" y="48778"/>
            <a:ext cx="2496474" cy="14401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D:\Corp Comm Department Work 2015\Brand Adani 2012\adani_gradient_master.jpg">
            <a:extLst>
              <a:ext uri="{FF2B5EF4-FFF2-40B4-BE49-F238E27FC236}">
                <a16:creationId xmlns:a16="http://schemas.microsoft.com/office/drawing/2014/main" id="{DBF784D5-F9C8-0296-89B3-32AC5EB08FD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75897" y="1311582"/>
            <a:ext cx="5022060" cy="4571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DC7B687-FE8E-7F4F-129D-B59B60727C89}"/>
              </a:ext>
            </a:extLst>
          </p:cNvPr>
          <p:cNvSpPr txBox="1"/>
          <p:nvPr/>
        </p:nvSpPr>
        <p:spPr>
          <a:xfrm>
            <a:off x="5325043" y="312409"/>
            <a:ext cx="6822182" cy="1600438"/>
          </a:xfrm>
          <a:prstGeom prst="rect">
            <a:avLst/>
          </a:prstGeom>
          <a:noFill/>
        </p:spPr>
        <p:txBody>
          <a:bodyPr wrap="square" lIns="91440" tIns="45720" rIns="91440" bIns="45720" rtlCol="0" anchor="t">
            <a:spAutoFit/>
          </a:bodyPr>
          <a:lstStyle/>
          <a:p>
            <a:r>
              <a:rPr lang="en-US" sz="3200" b="1" dirty="0">
                <a:latin typeface="Adani Regular"/>
              </a:rPr>
              <a:t>Battery Energy Storage Systems</a:t>
            </a:r>
          </a:p>
          <a:p>
            <a:r>
              <a:rPr lang="en-US" sz="2800" b="1" dirty="0">
                <a:solidFill>
                  <a:srgbClr val="0000FF"/>
                </a:solidFill>
                <a:latin typeface="Adani Regular"/>
              </a:rPr>
              <a:t>Projects : FY 2026 – 27</a:t>
            </a:r>
          </a:p>
          <a:p>
            <a:endParaRPr lang="en-US" sz="1400" b="1" dirty="0">
              <a:latin typeface="Adani Regular"/>
            </a:endParaRPr>
          </a:p>
          <a:p>
            <a:r>
              <a:rPr lang="en-US" sz="2400" b="1" dirty="0">
                <a:latin typeface="Adani Regular"/>
              </a:rPr>
              <a:t>10</a:t>
            </a:r>
            <a:r>
              <a:rPr lang="en-US" sz="2400" b="1" baseline="30000" dirty="0">
                <a:latin typeface="Adani Regular"/>
              </a:rPr>
              <a:t>th</a:t>
            </a:r>
            <a:r>
              <a:rPr lang="en-US" sz="2400" b="1" dirty="0">
                <a:latin typeface="Adani Regular"/>
              </a:rPr>
              <a:t> Jun 26</a:t>
            </a:r>
            <a:endParaRPr lang="en-US" sz="2400" dirty="0"/>
          </a:p>
        </p:txBody>
      </p:sp>
    </p:spTree>
    <p:extLst>
      <p:ext uri="{BB962C8B-B14F-4D97-AF65-F5344CB8AC3E}">
        <p14:creationId xmlns:p14="http://schemas.microsoft.com/office/powerpoint/2010/main" val="228516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Corp Comm Department Work 2015\Brand Adani 2012\adani_gradient_mast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35872" y="3549017"/>
            <a:ext cx="7056128" cy="6423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C0D18BC8-4E1E-3429-B3B8-CD8DA25B6583}"/>
              </a:ext>
            </a:extLst>
          </p:cNvPr>
          <p:cNvGraphicFramePr>
            <a:graphicFrameLocks noGrp="1"/>
          </p:cNvGraphicFramePr>
          <p:nvPr>
            <p:extLst>
              <p:ext uri="{D42A27DB-BD31-4B8C-83A1-F6EECF244321}">
                <p14:modId xmlns:p14="http://schemas.microsoft.com/office/powerpoint/2010/main" val="2922421837"/>
              </p:ext>
            </p:extLst>
          </p:nvPr>
        </p:nvGraphicFramePr>
        <p:xfrm>
          <a:off x="4587268" y="2193119"/>
          <a:ext cx="7056128" cy="3486638"/>
        </p:xfrm>
        <a:graphic>
          <a:graphicData uri="http://schemas.openxmlformats.org/drawingml/2006/table">
            <a:tbl>
              <a:tblPr/>
              <a:tblGrid>
                <a:gridCol w="1665303">
                  <a:extLst>
                    <a:ext uri="{9D8B030D-6E8A-4147-A177-3AD203B41FA5}">
                      <a16:colId xmlns:a16="http://schemas.microsoft.com/office/drawing/2014/main" val="1664107268"/>
                    </a:ext>
                  </a:extLst>
                </a:gridCol>
                <a:gridCol w="1806430">
                  <a:extLst>
                    <a:ext uri="{9D8B030D-6E8A-4147-A177-3AD203B41FA5}">
                      <a16:colId xmlns:a16="http://schemas.microsoft.com/office/drawing/2014/main" val="3298588687"/>
                    </a:ext>
                  </a:extLst>
                </a:gridCol>
                <a:gridCol w="1792317">
                  <a:extLst>
                    <a:ext uri="{9D8B030D-6E8A-4147-A177-3AD203B41FA5}">
                      <a16:colId xmlns:a16="http://schemas.microsoft.com/office/drawing/2014/main" val="541101217"/>
                    </a:ext>
                  </a:extLst>
                </a:gridCol>
                <a:gridCol w="1792078">
                  <a:extLst>
                    <a:ext uri="{9D8B030D-6E8A-4147-A177-3AD203B41FA5}">
                      <a16:colId xmlns:a16="http://schemas.microsoft.com/office/drawing/2014/main" val="3152189265"/>
                    </a:ext>
                  </a:extLst>
                </a:gridCol>
              </a:tblGrid>
              <a:tr h="765178">
                <a:tc>
                  <a:txBody>
                    <a:bodyPr/>
                    <a:lstStyle/>
                    <a:p>
                      <a:pPr marL="72000" algn="ctr" rtl="0" fontAlgn="ctr">
                        <a:buNone/>
                      </a:pPr>
                      <a:r>
                        <a:rPr lang="en-US" sz="1800" b="1" i="0" u="none" strike="noStrike">
                          <a:solidFill>
                            <a:srgbClr val="000000"/>
                          </a:solidFill>
                          <a:effectLst/>
                          <a:latin typeface="Adani Light" panose="02000503000000020004" pitchFamily="2" charset="0"/>
                        </a:rPr>
                        <a:t>PSS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64A2"/>
                    </a:solidFill>
                  </a:tcPr>
                </a:tc>
                <a:tc>
                  <a:txBody>
                    <a:bodyPr/>
                    <a:lstStyle/>
                    <a:p>
                      <a:pPr marL="72000" algn="ctr" rtl="0" fontAlgn="ctr">
                        <a:buNone/>
                      </a:pPr>
                      <a:r>
                        <a:rPr lang="en-US" sz="1800" b="1" i="0" u="none" strike="noStrike">
                          <a:solidFill>
                            <a:srgbClr val="000000"/>
                          </a:solidFill>
                          <a:effectLst/>
                          <a:latin typeface="Adani Light" panose="02000503000000020004" pitchFamily="2" charset="0"/>
                        </a:rPr>
                        <a:t>Power</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64A2"/>
                    </a:solidFill>
                  </a:tcPr>
                </a:tc>
                <a:tc>
                  <a:txBody>
                    <a:bodyPr/>
                    <a:lstStyle/>
                    <a:p>
                      <a:pPr marL="72000" algn="ctr" rtl="0" fontAlgn="ctr">
                        <a:buNone/>
                      </a:pPr>
                      <a:r>
                        <a:rPr lang="en-US" sz="1800" b="1" i="0" u="none" strike="noStrike">
                          <a:solidFill>
                            <a:srgbClr val="000000"/>
                          </a:solidFill>
                          <a:effectLst/>
                          <a:latin typeface="Adani Light" panose="02000503000000020004" pitchFamily="2" charset="0"/>
                        </a:rPr>
                        <a:t>Energy</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64A2"/>
                    </a:solidFill>
                  </a:tcPr>
                </a:tc>
                <a:tc>
                  <a:txBody>
                    <a:bodyPr/>
                    <a:lstStyle/>
                    <a:p>
                      <a:pPr marL="71755" algn="ctr" rtl="0" fontAlgn="ctr">
                        <a:buNone/>
                      </a:pPr>
                      <a:r>
                        <a:rPr lang="en-US" sz="1800" b="1" i="0" u="none" strike="noStrike">
                          <a:solidFill>
                            <a:srgbClr val="000000"/>
                          </a:solidFill>
                          <a:effectLst/>
                          <a:latin typeface="Adani Light"/>
                        </a:rPr>
                        <a:t>Dispatchable Energy</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64A2"/>
                    </a:solidFill>
                  </a:tcPr>
                </a:tc>
                <a:extLst>
                  <a:ext uri="{0D108BD9-81ED-4DB2-BD59-A6C34878D82A}">
                    <a16:rowId xmlns:a16="http://schemas.microsoft.com/office/drawing/2014/main" val="3693080176"/>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PSS-11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1080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2436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algn="ctr" rtl="0" fontAlgn="ctr">
                        <a:buNone/>
                      </a:pPr>
                      <a:r>
                        <a:rPr lang="en-US" sz="1800" b="0" i="0" u="none" strike="noStrike">
                          <a:solidFill>
                            <a:schemeClr val="tx1"/>
                          </a:solidFill>
                          <a:effectLst/>
                          <a:latin typeface="Adani Light"/>
                        </a:rPr>
                        <a:t>2210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2472785048"/>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960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2166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marR="0" lvl="0" indent="0" algn="ctr" defTabSz="1219170" rtl="0" eaLnBrk="1" fontAlgn="ctr" latinLnBrk="0" hangingPunct="1">
                        <a:lnSpc>
                          <a:spcPct val="100000"/>
                        </a:lnSpc>
                        <a:spcBef>
                          <a:spcPts val="0"/>
                        </a:spcBef>
                        <a:spcAft>
                          <a:spcPts val="0"/>
                        </a:spcAft>
                        <a:buClrTx/>
                        <a:buSzTx/>
                        <a:buFontTx/>
                        <a:buNone/>
                        <a:tabLst/>
                        <a:defRPr/>
                      </a:pPr>
                      <a:r>
                        <a:rPr lang="en-US" sz="1800" b="0" i="0" u="none" strike="noStrike">
                          <a:solidFill>
                            <a:schemeClr val="tx1"/>
                          </a:solidFill>
                          <a:effectLst/>
                          <a:latin typeface="Adani Light"/>
                        </a:rPr>
                        <a:t>1963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764867426"/>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PSS-10(B)</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600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1204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marR="0" lvl="0" indent="0" algn="ctr" defTabSz="1219170" rtl="0" eaLnBrk="1" fontAlgn="ctr" latinLnBrk="0" hangingPunct="1">
                        <a:lnSpc>
                          <a:spcPct val="100000"/>
                        </a:lnSpc>
                        <a:spcBef>
                          <a:spcPts val="0"/>
                        </a:spcBef>
                        <a:spcAft>
                          <a:spcPts val="0"/>
                        </a:spcAft>
                        <a:buClrTx/>
                        <a:buSzTx/>
                        <a:buFontTx/>
                        <a:buNone/>
                        <a:tabLst/>
                        <a:defRPr/>
                      </a:pPr>
                      <a:r>
                        <a:rPr lang="en-US" sz="1800" b="0" i="0" u="none" strike="noStrike">
                          <a:solidFill>
                            <a:schemeClr val="tx1"/>
                          </a:solidFill>
                          <a:effectLst/>
                          <a:latin typeface="Adani Light"/>
                        </a:rPr>
                        <a:t>1078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2874132325"/>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PSS-09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1080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kumimoji="0" lang="en-US" sz="1800" b="0" i="0" u="none" strike="noStrike" kern="1200" cap="none" spc="0" normalizeH="0" baseline="0" noProof="0">
                          <a:ln>
                            <a:noFill/>
                          </a:ln>
                          <a:solidFill>
                            <a:srgbClr val="000000"/>
                          </a:solidFill>
                          <a:effectLst/>
                          <a:uLnTx/>
                          <a:uFillTx/>
                          <a:latin typeface="Adani Light" panose="02000503000000020004" pitchFamily="2" charset="0"/>
                          <a:ea typeface="+mn-ea"/>
                          <a:cs typeface="+mn-cs"/>
                        </a:rPr>
                        <a:t>2436 MWh</a:t>
                      </a:r>
                      <a:endParaRPr lang="en-US" sz="1800" b="0" i="0" u="none" strike="noStrike">
                        <a:solidFill>
                          <a:srgbClr val="000000"/>
                        </a:solidFill>
                        <a:effectLst/>
                        <a:latin typeface="Adani Light" panose="02000503000000020004" pitchFamily="2"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marR="0" lvl="0" indent="0" algn="ctr" defTabSz="121917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dani Light"/>
                          <a:ea typeface="+mn-ea"/>
                          <a:cs typeface="+mn-cs"/>
                        </a:rPr>
                        <a:t>2209 MWh</a:t>
                      </a:r>
                      <a:endParaRPr lang="en-US" sz="1800" b="0" i="0" u="none" strike="noStrike">
                        <a:solidFill>
                          <a:schemeClr val="tx1"/>
                        </a:solidFill>
                        <a:effectLst/>
                        <a:latin typeface="Adani Light"/>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4120032120"/>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PSS-05(B)</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1120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2527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1755" marR="0" lvl="0" indent="0" algn="ctr" defTabSz="1219170" rtl="0" eaLnBrk="1" fontAlgn="ctr" latinLnBrk="0" hangingPunct="1">
                        <a:lnSpc>
                          <a:spcPct val="100000"/>
                        </a:lnSpc>
                        <a:spcBef>
                          <a:spcPts val="0"/>
                        </a:spcBef>
                        <a:spcAft>
                          <a:spcPts val="0"/>
                        </a:spcAft>
                        <a:buClrTx/>
                        <a:buSzTx/>
                        <a:buFontTx/>
                        <a:buNone/>
                        <a:tabLst/>
                        <a:defRPr/>
                      </a:pPr>
                      <a:r>
                        <a:rPr lang="en-US" sz="1800" b="0" i="0" u="none" strike="noStrike">
                          <a:solidFill>
                            <a:schemeClr val="tx1"/>
                          </a:solidFill>
                          <a:effectLst/>
                          <a:latin typeface="Adani Light"/>
                        </a:rPr>
                        <a:t>2284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50738570"/>
                  </a:ext>
                </a:extLst>
              </a:tr>
              <a:tr h="388780">
                <a:tc>
                  <a:txBody>
                    <a:bodyPr/>
                    <a:lstStyle/>
                    <a:p>
                      <a:pPr marL="72000" algn="ctr" rtl="0" fontAlgn="ctr">
                        <a:buNone/>
                      </a:pPr>
                      <a:r>
                        <a:rPr lang="en-US" sz="1800" b="0" i="0" u="none" strike="noStrike">
                          <a:solidFill>
                            <a:srgbClr val="000000"/>
                          </a:solidFill>
                          <a:effectLst/>
                          <a:latin typeface="Adani Light" panose="02000503000000020004" pitchFamily="2" charset="0"/>
                        </a:rPr>
                        <a:t>PSS-08(B)</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420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algn="ctr" rtl="0" fontAlgn="ctr">
                        <a:buNone/>
                      </a:pPr>
                      <a:r>
                        <a:rPr lang="en-US" sz="1800" b="0" i="0" u="none" strike="noStrike">
                          <a:solidFill>
                            <a:srgbClr val="000000"/>
                          </a:solidFill>
                          <a:effectLst/>
                          <a:latin typeface="Adani Light" panose="02000503000000020004" pitchFamily="2" charset="0"/>
                        </a:rPr>
                        <a:t>843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tc>
                  <a:txBody>
                    <a:bodyPr/>
                    <a:lstStyle/>
                    <a:p>
                      <a:pPr marL="72000" marR="0" lvl="0" indent="0" algn="ctr" defTabSz="1219170" rtl="0" eaLnBrk="1" fontAlgn="ctr" latinLnBrk="0" hangingPunct="1">
                        <a:lnSpc>
                          <a:spcPct val="100000"/>
                        </a:lnSpc>
                        <a:spcBef>
                          <a:spcPts val="0"/>
                        </a:spcBef>
                        <a:spcAft>
                          <a:spcPts val="0"/>
                        </a:spcAft>
                        <a:buClrTx/>
                        <a:buSzTx/>
                        <a:buFontTx/>
                        <a:buNone/>
                        <a:tabLst/>
                        <a:defRPr/>
                      </a:pPr>
                      <a:r>
                        <a:rPr lang="en-US" sz="1800" b="0" i="0" u="none" strike="noStrike">
                          <a:solidFill>
                            <a:schemeClr val="tx1"/>
                          </a:solidFill>
                          <a:effectLst/>
                          <a:latin typeface="Adani Light" panose="02000503000000020004" pitchFamily="2" charset="0"/>
                        </a:rPr>
                        <a:t>758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2380340560"/>
                  </a:ext>
                </a:extLst>
              </a:tr>
              <a:tr h="388780">
                <a:tc>
                  <a:txBody>
                    <a:bodyPr/>
                    <a:lstStyle/>
                    <a:p>
                      <a:pPr marL="72000" algn="ctr" defTabSz="1219170" rtl="0" eaLnBrk="1" fontAlgn="ctr" latinLnBrk="0" hangingPunct="1">
                        <a:buNone/>
                      </a:pPr>
                      <a:r>
                        <a:rPr lang="en-US" sz="1800" b="1" i="0" u="none" strike="noStrike" kern="1200">
                          <a:solidFill>
                            <a:srgbClr val="000000"/>
                          </a:solidFill>
                          <a:effectLst/>
                          <a:latin typeface="Adani Regular" panose="02000503000000020004" pitchFamily="2" charset="0"/>
                          <a:ea typeface="+mn-ea"/>
                          <a:cs typeface="+mn-cs"/>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3E0"/>
                    </a:solidFill>
                  </a:tcPr>
                </a:tc>
                <a:tc>
                  <a:txBody>
                    <a:bodyPr/>
                    <a:lstStyle/>
                    <a:p>
                      <a:pPr marL="72000" algn="ctr" defTabSz="1219170" rtl="0" eaLnBrk="1" fontAlgn="ctr" latinLnBrk="0" hangingPunct="1">
                        <a:buNone/>
                      </a:pPr>
                      <a:r>
                        <a:rPr lang="en-US" sz="1800" b="1" i="0" u="none" strike="noStrike" kern="1200">
                          <a:solidFill>
                            <a:srgbClr val="000000"/>
                          </a:solidFill>
                          <a:effectLst/>
                          <a:latin typeface="Adani Regular" panose="02000503000000020004" pitchFamily="2" charset="0"/>
                          <a:ea typeface="+mn-ea"/>
                          <a:cs typeface="+mn-cs"/>
                        </a:rPr>
                        <a:t>5260 MW</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3E0"/>
                    </a:solidFill>
                  </a:tcPr>
                </a:tc>
                <a:tc>
                  <a:txBody>
                    <a:bodyPr/>
                    <a:lstStyle/>
                    <a:p>
                      <a:pPr marL="72000" algn="ctr" defTabSz="1219170" rtl="0" eaLnBrk="1" fontAlgn="ctr" latinLnBrk="0" hangingPunct="1">
                        <a:buNone/>
                      </a:pPr>
                      <a:r>
                        <a:rPr lang="en-US" sz="1800" b="1" i="0" u="none" strike="noStrike" kern="1200">
                          <a:solidFill>
                            <a:srgbClr val="000000"/>
                          </a:solidFill>
                          <a:effectLst/>
                          <a:latin typeface="Adani Regular" panose="02000503000000020004" pitchFamily="2" charset="0"/>
                          <a:ea typeface="+mn-ea"/>
                          <a:cs typeface="+mn-cs"/>
                        </a:rPr>
                        <a:t>11612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3E0"/>
                    </a:solidFill>
                  </a:tcPr>
                </a:tc>
                <a:tc>
                  <a:txBody>
                    <a:bodyPr/>
                    <a:lstStyle/>
                    <a:p>
                      <a:pPr marL="72000" marR="0" lvl="0" indent="0" algn="ctr" defTabSz="1219170" rtl="0" eaLnBrk="1" fontAlgn="ctr" latinLnBrk="0" hangingPunct="1">
                        <a:lnSpc>
                          <a:spcPct val="100000"/>
                        </a:lnSpc>
                        <a:spcBef>
                          <a:spcPts val="0"/>
                        </a:spcBef>
                        <a:spcAft>
                          <a:spcPts val="0"/>
                        </a:spcAft>
                        <a:buClrTx/>
                        <a:buSzTx/>
                        <a:buFontTx/>
                        <a:buNone/>
                        <a:tabLst/>
                        <a:defRPr/>
                      </a:pPr>
                      <a:r>
                        <a:rPr lang="en-US" sz="1800" b="1" i="0" u="none" strike="noStrike" kern="1200">
                          <a:solidFill>
                            <a:srgbClr val="000000"/>
                          </a:solidFill>
                          <a:effectLst/>
                          <a:latin typeface="Adani Regular" panose="02000503000000020004" pitchFamily="2" charset="0"/>
                          <a:ea typeface="+mn-ea"/>
                          <a:cs typeface="+mn-cs"/>
                        </a:rPr>
                        <a:t>10502 MWh</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3E0"/>
                    </a:solidFill>
                  </a:tcPr>
                </a:tc>
                <a:extLst>
                  <a:ext uri="{0D108BD9-81ED-4DB2-BD59-A6C34878D82A}">
                    <a16:rowId xmlns:a16="http://schemas.microsoft.com/office/drawing/2014/main" val="2253787281"/>
                  </a:ext>
                </a:extLst>
              </a:tr>
            </a:tbl>
          </a:graphicData>
        </a:graphic>
      </p:graphicFrame>
      <p:sp>
        <p:nvSpPr>
          <p:cNvPr id="2" name="Slide Number Placeholder 2">
            <a:extLst>
              <a:ext uri="{FF2B5EF4-FFF2-40B4-BE49-F238E27FC236}">
                <a16:creationId xmlns:a16="http://schemas.microsoft.com/office/drawing/2014/main" id="{CAFB423B-C17F-99A8-C3B3-DCF746C19922}"/>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2</a:t>
            </a:fld>
            <a:endParaRPr lang="en-IN"/>
          </a:p>
        </p:txBody>
      </p:sp>
    </p:spTree>
    <p:extLst>
      <p:ext uri="{BB962C8B-B14F-4D97-AF65-F5344CB8AC3E}">
        <p14:creationId xmlns:p14="http://schemas.microsoft.com/office/powerpoint/2010/main" val="1733147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95D829-A873-3AC8-81D5-BE3837B78385}"/>
              </a:ext>
            </a:extLst>
          </p:cNvPr>
          <p:cNvSpPr txBox="1"/>
          <p:nvPr/>
        </p:nvSpPr>
        <p:spPr>
          <a:xfrm>
            <a:off x="316992" y="667699"/>
            <a:ext cx="11821319" cy="1892826"/>
          </a:xfrm>
          <a:prstGeom prst="rect">
            <a:avLst/>
          </a:prstGeom>
          <a:solidFill>
            <a:schemeClr val="bg1"/>
          </a:solidFill>
        </p:spPr>
        <p:txBody>
          <a:bodyPr wrap="square" lIns="91440" tIns="45720" rIns="91440" bIns="45720" rtlCol="0" anchor="t">
            <a:spAutoFit/>
          </a:bodyPr>
          <a:lstStyle/>
          <a:p>
            <a:pPr defTabSz="1219170" fontAlgn="b">
              <a:spcAft>
                <a:spcPts val="100"/>
              </a:spcAft>
            </a:pPr>
            <a:r>
              <a:rPr lang="en-US" sz="1600">
                <a:solidFill>
                  <a:prstClr val="black"/>
                </a:solidFill>
                <a:latin typeface="Adani Regular"/>
              </a:rPr>
              <a:t>Project Capacity</a:t>
            </a:r>
            <a:r>
              <a:rPr lang="en-US" sz="1600" b="1">
                <a:solidFill>
                  <a:prstClr val="black"/>
                </a:solidFill>
                <a:latin typeface="Adani Regular"/>
              </a:rPr>
              <a:t>	</a:t>
            </a:r>
            <a:r>
              <a:rPr lang="en-US" sz="1600">
                <a:solidFill>
                  <a:prstClr val="black"/>
                </a:solidFill>
                <a:latin typeface="Adani Regular"/>
              </a:rPr>
              <a:t>: 5260</a:t>
            </a:r>
            <a:r>
              <a:rPr lang="en-IN" sz="1600">
                <a:solidFill>
                  <a:prstClr val="black"/>
                </a:solidFill>
                <a:latin typeface="Adani Regular"/>
                <a:ea typeface="Calibri"/>
                <a:cs typeface="Calibri"/>
              </a:rPr>
              <a:t> MW / 11619 </a:t>
            </a:r>
            <a:r>
              <a:rPr lang="en-US" sz="1600">
                <a:solidFill>
                  <a:prstClr val="black"/>
                </a:solidFill>
                <a:latin typeface="Adani Regular"/>
              </a:rPr>
              <a:t>MWh (Dispatchable Power : 10508 MWh)</a:t>
            </a:r>
          </a:p>
          <a:p>
            <a:pPr defTabSz="1219170" fontAlgn="b">
              <a:spcAft>
                <a:spcPts val="100"/>
              </a:spcAft>
            </a:pPr>
            <a:r>
              <a:rPr lang="en-US" sz="1600">
                <a:solidFill>
                  <a:prstClr val="black"/>
                </a:solidFill>
                <a:latin typeface="Adani Regular"/>
              </a:rPr>
              <a:t>Capex NFA 		: Capex NFA cost INR </a:t>
            </a:r>
            <a:r>
              <a:rPr lang="en-US" sz="1600" strike="sngStrike">
                <a:solidFill>
                  <a:prstClr val="black"/>
                </a:solidFill>
                <a:latin typeface="Adani Regular"/>
              </a:rPr>
              <a:t>14758</a:t>
            </a:r>
            <a:r>
              <a:rPr lang="en-US" sz="1600">
                <a:solidFill>
                  <a:prstClr val="black"/>
                </a:solidFill>
                <a:latin typeface="Adani Regular"/>
              </a:rPr>
              <a:t> 16358 Cr. Initial proposal approved by CMN on </a:t>
            </a:r>
          </a:p>
          <a:p>
            <a:pPr defTabSz="1219170" fontAlgn="b">
              <a:spcAft>
                <a:spcPts val="100"/>
              </a:spcAft>
            </a:pPr>
            <a:r>
              <a:rPr lang="en-US" sz="1600">
                <a:solidFill>
                  <a:prstClr val="black"/>
                </a:solidFill>
                <a:latin typeface="Adani Regular"/>
              </a:rPr>
              <a:t>		  08-Dec-25 for PSS-11, 12, 10(B) &amp; 03-Jan-26 for PSS-09, 05(B) &amp; 08(B).</a:t>
            </a:r>
          </a:p>
          <a:p>
            <a:pPr defTabSz="1219170" fontAlgn="b">
              <a:spcAft>
                <a:spcPts val="100"/>
              </a:spcAft>
            </a:pPr>
            <a:r>
              <a:rPr lang="en-US" sz="1600">
                <a:solidFill>
                  <a:prstClr val="black"/>
                </a:solidFill>
                <a:latin typeface="Adani Regular"/>
              </a:rPr>
              <a:t>		  Revised NFAs approved on 04-Apr-26.</a:t>
            </a:r>
          </a:p>
          <a:p>
            <a:pPr defTabSz="1219170" fontAlgn="b">
              <a:spcAft>
                <a:spcPts val="100"/>
              </a:spcAft>
            </a:pPr>
            <a:r>
              <a:rPr lang="en-US" sz="1600">
                <a:solidFill>
                  <a:prstClr val="black"/>
                </a:solidFill>
                <a:latin typeface="Adani Regular"/>
              </a:rPr>
              <a:t>PPA Effective Date 	: Not applicable </a:t>
            </a:r>
          </a:p>
          <a:p>
            <a:pPr defTabSz="1219170" fontAlgn="b">
              <a:spcAft>
                <a:spcPts val="100"/>
              </a:spcAft>
            </a:pPr>
            <a:r>
              <a:rPr lang="en-US" sz="1600">
                <a:solidFill>
                  <a:prstClr val="black"/>
                </a:solidFill>
                <a:latin typeface="Adani Regular"/>
              </a:rPr>
              <a:t>Tariff		: Merchant Capacity only</a:t>
            </a:r>
          </a:p>
          <a:p>
            <a:pPr defTabSz="1219170" fontAlgn="b">
              <a:spcAft>
                <a:spcPts val="100"/>
              </a:spcAft>
            </a:pPr>
            <a:r>
              <a:rPr lang="en-US" sz="1600">
                <a:solidFill>
                  <a:prstClr val="black"/>
                </a:solidFill>
                <a:latin typeface="Adani Regular"/>
              </a:rPr>
              <a:t>Project Location	: Khavda RE Park, Gujarat</a:t>
            </a:r>
          </a:p>
        </p:txBody>
      </p:sp>
      <p:graphicFrame>
        <p:nvGraphicFramePr>
          <p:cNvPr id="6" name="Table 5">
            <a:extLst>
              <a:ext uri="{FF2B5EF4-FFF2-40B4-BE49-F238E27FC236}">
                <a16:creationId xmlns:a16="http://schemas.microsoft.com/office/drawing/2014/main" id="{8E1C6ED1-B5C4-C305-BBEB-1592C7E113D6}"/>
              </a:ext>
            </a:extLst>
          </p:cNvPr>
          <p:cNvGraphicFramePr>
            <a:graphicFrameLocks noGrp="1"/>
          </p:cNvGraphicFramePr>
          <p:nvPr/>
        </p:nvGraphicFramePr>
        <p:xfrm>
          <a:off x="137877" y="3498721"/>
          <a:ext cx="3757848" cy="2680524"/>
        </p:xfrm>
        <a:graphic>
          <a:graphicData uri="http://schemas.openxmlformats.org/drawingml/2006/table">
            <a:tbl>
              <a:tblPr firstRow="1" bandRow="1">
                <a:tableStyleId>{D27102A9-8310-4765-A935-A1911B00CA55}</a:tableStyleId>
              </a:tblPr>
              <a:tblGrid>
                <a:gridCol w="2357673">
                  <a:extLst>
                    <a:ext uri="{9D8B030D-6E8A-4147-A177-3AD203B41FA5}">
                      <a16:colId xmlns:a16="http://schemas.microsoft.com/office/drawing/2014/main" val="2343902777"/>
                    </a:ext>
                  </a:extLst>
                </a:gridCol>
                <a:gridCol w="1400175">
                  <a:extLst>
                    <a:ext uri="{9D8B030D-6E8A-4147-A177-3AD203B41FA5}">
                      <a16:colId xmlns:a16="http://schemas.microsoft.com/office/drawing/2014/main" val="3425991869"/>
                    </a:ext>
                  </a:extLst>
                </a:gridCol>
              </a:tblGrid>
              <a:tr h="432883">
                <a:tc>
                  <a:txBody>
                    <a:bodyPr/>
                    <a:lstStyle/>
                    <a:p>
                      <a:pPr algn="ctr"/>
                      <a:r>
                        <a:rPr lang="en-US" sz="1200">
                          <a:latin typeface="Adani Regular" panose="02000503000000020004" pitchFamily="2" charset="0"/>
                        </a:rPr>
                        <a:t>As per approved NFA_R1</a:t>
                      </a:r>
                    </a:p>
                    <a:p>
                      <a:pPr algn="ctr"/>
                      <a:r>
                        <a:rPr lang="en-US" sz="1200">
                          <a:latin typeface="Adani Regular" panose="02000503000000020004" pitchFamily="2" charset="0"/>
                        </a:rPr>
                        <a:t>(04-Apr-26)</a:t>
                      </a:r>
                    </a:p>
                  </a:txBody>
                  <a:tcPr marL="121920" marR="121920" marT="60960" marB="6096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a:latin typeface="Adani Regular" panose="02000503000000020004" pitchFamily="2" charset="0"/>
                        </a:rPr>
                        <a:t>INR (Crores)</a:t>
                      </a:r>
                    </a:p>
                  </a:txBody>
                  <a:tcPr marL="121920" marR="121920" marT="60960" marB="6096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69944626"/>
                  </a:ext>
                </a:extLst>
              </a:tr>
              <a:tr h="405828">
                <a:tc>
                  <a:txBody>
                    <a:bodyPr/>
                    <a:lstStyle/>
                    <a:p>
                      <a:r>
                        <a:rPr lang="en-US" sz="1200" b="1">
                          <a:latin typeface="Adani Regular" panose="02000503000000020004" pitchFamily="2" charset="0"/>
                        </a:rPr>
                        <a:t>Total </a:t>
                      </a:r>
                    </a:p>
                  </a:txBody>
                  <a:tcPr marL="121920" marR="121920" marT="60960" marB="60960" anchor="ctr">
                    <a:lnL w="12700" cap="flat" cmpd="sng" algn="ctr">
                      <a:solidFill>
                        <a:schemeClr val="tx1"/>
                      </a:solidFill>
                      <a:prstDash val="solid"/>
                      <a:round/>
                      <a:headEnd type="none" w="med" len="med"/>
                      <a:tailEnd type="none" w="med" len="med"/>
                    </a:lnL>
                  </a:tcPr>
                </a:tc>
                <a:tc>
                  <a:txBody>
                    <a:bodyPr/>
                    <a:lstStyle/>
                    <a:p>
                      <a:pPr algn="ctr"/>
                      <a:r>
                        <a:rPr lang="en-US" sz="1200" b="1">
                          <a:latin typeface="Adani Regular" panose="02000503000000020004" pitchFamily="2" charset="0"/>
                        </a:rPr>
                        <a:t>16358 </a:t>
                      </a:r>
                    </a:p>
                  </a:txBody>
                  <a:tcPr marL="121920" marR="121920" marT="60960" marB="6096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55507847"/>
                  </a:ext>
                </a:extLst>
              </a:tr>
              <a:tr h="405828">
                <a:tc>
                  <a:txBody>
                    <a:bodyPr/>
                    <a:lstStyle/>
                    <a:p>
                      <a:r>
                        <a:rPr lang="en-US" sz="1200" b="0">
                          <a:latin typeface="Adani Regular" panose="02000503000000020004" pitchFamily="2" charset="0"/>
                        </a:rPr>
                        <a:t>Hard Cost (Supply, Services &amp; PMC)</a:t>
                      </a:r>
                    </a:p>
                  </a:txBody>
                  <a:tcPr marL="121920" marR="121920" marT="60960" marB="60960" anchor="ctr">
                    <a:lnL w="12700" cap="flat" cmpd="sng" algn="ctr">
                      <a:solidFill>
                        <a:schemeClr val="tx1"/>
                      </a:solidFill>
                      <a:prstDash val="solid"/>
                      <a:round/>
                      <a:headEnd type="none" w="med" len="med"/>
                      <a:tailEnd type="none" w="med" len="med"/>
                    </a:lnL>
                  </a:tcPr>
                </a:tc>
                <a:tc>
                  <a:txBody>
                    <a:bodyPr/>
                    <a:lstStyle/>
                    <a:p>
                      <a:pPr algn="ctr"/>
                      <a:r>
                        <a:rPr lang="en-US" sz="1200" b="0">
                          <a:latin typeface="Adani Regular" panose="02000503000000020004" pitchFamily="2" charset="0"/>
                        </a:rPr>
                        <a:t>14090</a:t>
                      </a:r>
                    </a:p>
                  </a:txBody>
                  <a:tcPr marL="121920" marR="121920" marT="60960" marB="6096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46072759"/>
                  </a:ext>
                </a:extLst>
              </a:tr>
              <a:tr h="405828">
                <a:tc>
                  <a:txBody>
                    <a:bodyPr/>
                    <a:lstStyle/>
                    <a:p>
                      <a:r>
                        <a:rPr lang="en-US" sz="1200" b="0">
                          <a:latin typeface="Adani Regular" panose="02000503000000020004" pitchFamily="2" charset="0"/>
                        </a:rPr>
                        <a:t>Soft Cost (Pre-Ops, Financials &amp; IDC) </a:t>
                      </a:r>
                    </a:p>
                  </a:txBody>
                  <a:tcPr marL="121920" marR="121920" marT="60960" marB="60960" anchor="ctr">
                    <a:lnL w="12700" cap="flat" cmpd="sng" algn="ctr">
                      <a:solidFill>
                        <a:schemeClr val="tx1"/>
                      </a:solidFill>
                      <a:prstDash val="solid"/>
                      <a:round/>
                      <a:headEnd type="none" w="med" len="med"/>
                      <a:tailEnd type="none" w="med" len="med"/>
                    </a:lnL>
                  </a:tcPr>
                </a:tc>
                <a:tc>
                  <a:txBody>
                    <a:bodyPr/>
                    <a:lstStyle/>
                    <a:p>
                      <a:pPr algn="ctr"/>
                      <a:r>
                        <a:rPr lang="en-US" sz="1200" b="0">
                          <a:latin typeface="Adani Regular" panose="02000503000000020004" pitchFamily="2" charset="0"/>
                        </a:rPr>
                        <a:t>647</a:t>
                      </a:r>
                    </a:p>
                  </a:txBody>
                  <a:tcPr marL="121920" marR="121920" marT="60960" marB="6096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82853007"/>
                  </a:ext>
                </a:extLst>
              </a:tr>
              <a:tr h="405828">
                <a:tc>
                  <a:txBody>
                    <a:bodyPr/>
                    <a:lstStyle/>
                    <a:p>
                      <a:r>
                        <a:rPr lang="en-US" sz="1200" b="0">
                          <a:latin typeface="Adani Regular" panose="02000503000000020004" pitchFamily="2" charset="0"/>
                        </a:rPr>
                        <a:t>Land Cost</a:t>
                      </a:r>
                    </a:p>
                  </a:txBody>
                  <a:tcPr marL="121920" marR="121920" marT="60960" marB="60960" anchor="ctr">
                    <a:lnL w="12700" cap="flat" cmpd="sng" algn="ctr">
                      <a:solidFill>
                        <a:schemeClr val="tx1"/>
                      </a:solidFill>
                      <a:prstDash val="solid"/>
                      <a:round/>
                      <a:headEnd type="none" w="med" len="med"/>
                      <a:tailEnd type="none" w="med" len="med"/>
                    </a:lnL>
                  </a:tcPr>
                </a:tc>
                <a:tc>
                  <a:txBody>
                    <a:bodyPr/>
                    <a:lstStyle/>
                    <a:p>
                      <a:pPr algn="ctr"/>
                      <a:r>
                        <a:rPr lang="en-US" sz="1200" b="0">
                          <a:latin typeface="Adani Regular" panose="02000503000000020004" pitchFamily="2" charset="0"/>
                        </a:rPr>
                        <a:t>1190</a:t>
                      </a:r>
                    </a:p>
                  </a:txBody>
                  <a:tcPr marL="121920" marR="121920" marT="60960" marB="6096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48304774"/>
                  </a:ext>
                </a:extLst>
              </a:tr>
              <a:tr h="405828">
                <a:tc>
                  <a:txBody>
                    <a:bodyPr/>
                    <a:lstStyle/>
                    <a:p>
                      <a:r>
                        <a:rPr lang="en-US" sz="1200" b="0">
                          <a:latin typeface="Adani Regular" panose="02000503000000020004" pitchFamily="2" charset="0"/>
                        </a:rPr>
                        <a:t>Contingency</a:t>
                      </a:r>
                    </a:p>
                  </a:txBody>
                  <a:tcPr marL="121920" marR="121920" marT="60960" marB="6096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b="0">
                          <a:latin typeface="Adani Regular" panose="02000503000000020004" pitchFamily="2" charset="0"/>
                        </a:rPr>
                        <a:t>431</a:t>
                      </a:r>
                    </a:p>
                  </a:txBody>
                  <a:tcPr marL="121920" marR="121920" marT="60960" marB="6096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0011349"/>
                  </a:ext>
                </a:extLst>
              </a:tr>
            </a:tbl>
          </a:graphicData>
        </a:graphic>
      </p:graphicFrame>
      <p:graphicFrame>
        <p:nvGraphicFramePr>
          <p:cNvPr id="8" name="Table 7">
            <a:extLst>
              <a:ext uri="{FF2B5EF4-FFF2-40B4-BE49-F238E27FC236}">
                <a16:creationId xmlns:a16="http://schemas.microsoft.com/office/drawing/2014/main" id="{07CF737D-D8DB-051C-A69F-6C3E7665852F}"/>
              </a:ext>
            </a:extLst>
          </p:cNvPr>
          <p:cNvGraphicFramePr>
            <a:graphicFrameLocks noGrp="1"/>
          </p:cNvGraphicFramePr>
          <p:nvPr>
            <p:extLst>
              <p:ext uri="{D42A27DB-BD31-4B8C-83A1-F6EECF244321}">
                <p14:modId xmlns:p14="http://schemas.microsoft.com/office/powerpoint/2010/main" val="1764120716"/>
              </p:ext>
            </p:extLst>
          </p:nvPr>
        </p:nvGraphicFramePr>
        <p:xfrm>
          <a:off x="4038600" y="3498722"/>
          <a:ext cx="8003508" cy="2691264"/>
        </p:xfrm>
        <a:graphic>
          <a:graphicData uri="http://schemas.openxmlformats.org/drawingml/2006/table">
            <a:tbl>
              <a:tblPr/>
              <a:tblGrid>
                <a:gridCol w="864000">
                  <a:extLst>
                    <a:ext uri="{9D8B030D-6E8A-4147-A177-3AD203B41FA5}">
                      <a16:colId xmlns:a16="http://schemas.microsoft.com/office/drawing/2014/main" val="1389407341"/>
                    </a:ext>
                  </a:extLst>
                </a:gridCol>
                <a:gridCol w="1189918">
                  <a:extLst>
                    <a:ext uri="{9D8B030D-6E8A-4147-A177-3AD203B41FA5}">
                      <a16:colId xmlns:a16="http://schemas.microsoft.com/office/drawing/2014/main" val="3336941397"/>
                    </a:ext>
                  </a:extLst>
                </a:gridCol>
                <a:gridCol w="1189918">
                  <a:extLst>
                    <a:ext uri="{9D8B030D-6E8A-4147-A177-3AD203B41FA5}">
                      <a16:colId xmlns:a16="http://schemas.microsoft.com/office/drawing/2014/main" val="1393304784"/>
                    </a:ext>
                  </a:extLst>
                </a:gridCol>
                <a:gridCol w="1189918">
                  <a:extLst>
                    <a:ext uri="{9D8B030D-6E8A-4147-A177-3AD203B41FA5}">
                      <a16:colId xmlns:a16="http://schemas.microsoft.com/office/drawing/2014/main" val="1740343018"/>
                    </a:ext>
                  </a:extLst>
                </a:gridCol>
                <a:gridCol w="1189918">
                  <a:extLst>
                    <a:ext uri="{9D8B030D-6E8A-4147-A177-3AD203B41FA5}">
                      <a16:colId xmlns:a16="http://schemas.microsoft.com/office/drawing/2014/main" val="2813543144"/>
                    </a:ext>
                  </a:extLst>
                </a:gridCol>
                <a:gridCol w="1189918">
                  <a:extLst>
                    <a:ext uri="{9D8B030D-6E8A-4147-A177-3AD203B41FA5}">
                      <a16:colId xmlns:a16="http://schemas.microsoft.com/office/drawing/2014/main" val="1462746344"/>
                    </a:ext>
                  </a:extLst>
                </a:gridCol>
                <a:gridCol w="1189918">
                  <a:extLst>
                    <a:ext uri="{9D8B030D-6E8A-4147-A177-3AD203B41FA5}">
                      <a16:colId xmlns:a16="http://schemas.microsoft.com/office/drawing/2014/main" val="1860194288"/>
                    </a:ext>
                  </a:extLst>
                </a:gridCol>
              </a:tblGrid>
              <a:tr h="448903">
                <a:tc>
                  <a:txBody>
                    <a:bodyPr/>
                    <a:lstStyle/>
                    <a:p>
                      <a:pPr algn="ctr" rtl="0" fontAlgn="ctr">
                        <a:buNone/>
                      </a:pPr>
                      <a:r>
                        <a:rPr lang="en-US" sz="1100" b="1" i="0" u="none" strike="noStrike">
                          <a:solidFill>
                            <a:srgbClr val="000000"/>
                          </a:solidFill>
                          <a:effectLst/>
                          <a:latin typeface="Adani Regular" panose="02000503000000020004" pitchFamily="2" charset="0"/>
                        </a:rPr>
                        <a:t>SPV</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AGE27BL</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AGE27CL</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ARE35L</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AGE27AL</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ARE44L</a:t>
                      </a:r>
                    </a:p>
                  </a:txBody>
                  <a:tcPr marL="9525" marR="9525" marT="9525"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tc>
                  <a:txBody>
                    <a:bodyPr/>
                    <a:lstStyle/>
                    <a:p>
                      <a:pPr algn="ctr" rtl="0" fontAlgn="ctr">
                        <a:buNone/>
                      </a:pPr>
                      <a:r>
                        <a:rPr lang="en-US" sz="1100" b="1" i="0" u="none" strike="noStrike">
                          <a:solidFill>
                            <a:srgbClr val="000000"/>
                          </a:solidFill>
                          <a:effectLst/>
                          <a:latin typeface="Adani Regular" panose="02000503000000020004" pitchFamily="2" charset="0"/>
                        </a:rPr>
                        <a:t>ARE35L</a:t>
                      </a: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noFill/>
                  </a:tcPr>
                </a:tc>
                <a:extLst>
                  <a:ext uri="{0D108BD9-81ED-4DB2-BD59-A6C34878D82A}">
                    <a16:rowId xmlns:a16="http://schemas.microsoft.com/office/drawing/2014/main" val="1905388603"/>
                  </a:ext>
                </a:extLst>
              </a:tr>
              <a:tr h="285310">
                <a:tc>
                  <a:txBody>
                    <a:bodyPr/>
                    <a:lstStyle/>
                    <a:p>
                      <a:pPr algn="ctr" rtl="0" fontAlgn="ctr">
                        <a:buNone/>
                      </a:pPr>
                      <a:r>
                        <a:rPr lang="en-US" sz="1100" b="0" i="0" u="none" strike="noStrike">
                          <a:solidFill>
                            <a:srgbClr val="000000"/>
                          </a:solidFill>
                          <a:effectLst/>
                          <a:latin typeface="Adani Regular" panose="02000503000000020004" pitchFamily="2" charset="0"/>
                        </a:rPr>
                        <a:t>PSS</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11</a:t>
                      </a:r>
                    </a:p>
                  </a:txBody>
                  <a:tcPr marL="9525" marR="9525" marT="9525" marB="0" anchor="ctr">
                    <a:lnL>
                      <a:noFill/>
                    </a:lnL>
                    <a:lnR>
                      <a:noFill/>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12</a:t>
                      </a:r>
                    </a:p>
                  </a:txBody>
                  <a:tcPr marL="9525" marR="9525" marT="9525" marB="0" anchor="ctr">
                    <a:lnL>
                      <a:noFill/>
                    </a:lnL>
                    <a:lnR>
                      <a:noFill/>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10(B)</a:t>
                      </a:r>
                    </a:p>
                  </a:txBody>
                  <a:tcPr marL="9525" marR="9525" marT="9525" marB="0" anchor="ctr">
                    <a:lnL>
                      <a:noFill/>
                    </a:lnL>
                    <a:lnR w="12700" cap="flat" cmpd="sng" algn="ctr">
                      <a:noFill/>
                      <a:prstDash val="solid"/>
                      <a:round/>
                      <a:headEnd type="none" w="med" len="med"/>
                      <a:tailEnd type="none" w="med" len="med"/>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09</a:t>
                      </a:r>
                    </a:p>
                  </a:txBody>
                  <a:tcPr marL="9525" marR="9525" marT="9525" marB="0" anchor="ctr">
                    <a:lnL>
                      <a:noFill/>
                    </a:lnL>
                    <a:lnR w="12700" cap="flat" cmpd="sng" algn="ctr">
                      <a:noFill/>
                      <a:prstDash val="solid"/>
                      <a:round/>
                      <a:headEnd type="none" w="med" len="med"/>
                      <a:tailEnd type="none" w="med" len="med"/>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05(B)</a:t>
                      </a:r>
                    </a:p>
                  </a:txBody>
                  <a:tcPr marL="9525" marR="9525" marT="9525" marB="0" anchor="ctr">
                    <a:lnL>
                      <a:noFill/>
                    </a:lnL>
                    <a:lnR w="12700" cap="flat" cmpd="sng" algn="ctr">
                      <a:noFill/>
                      <a:prstDash val="solid"/>
                      <a:round/>
                      <a:headEnd type="none" w="med" len="med"/>
                      <a:tailEnd type="none" w="med" len="med"/>
                    </a:lnR>
                    <a:lnT w="12700" cap="flat" cmpd="sng" algn="ctr">
                      <a:solidFill>
                        <a:srgbClr val="8064A2"/>
                      </a:solidFill>
                      <a:prstDash val="solid"/>
                      <a:round/>
                      <a:headEnd type="none" w="med" len="med"/>
                      <a:tailEnd type="none" w="med" len="med"/>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08(B)</a:t>
                      </a: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a:noFill/>
                    </a:lnB>
                    <a:solidFill>
                      <a:srgbClr val="E6E0EC"/>
                    </a:solidFill>
                  </a:tcPr>
                </a:tc>
                <a:extLst>
                  <a:ext uri="{0D108BD9-81ED-4DB2-BD59-A6C34878D82A}">
                    <a16:rowId xmlns:a16="http://schemas.microsoft.com/office/drawing/2014/main" val="369299541"/>
                  </a:ext>
                </a:extLst>
              </a:tr>
              <a:tr h="272341">
                <a:tc>
                  <a:txBody>
                    <a:bodyPr/>
                    <a:lstStyle/>
                    <a:p>
                      <a:pPr algn="ctr" rtl="0" fontAlgn="ctr">
                        <a:buNone/>
                      </a:pPr>
                      <a:r>
                        <a:rPr lang="en-US" sz="1100" b="0" i="0" u="none" strike="noStrike">
                          <a:solidFill>
                            <a:srgbClr val="000000"/>
                          </a:solidFill>
                          <a:effectLst/>
                          <a:latin typeface="Adani Regular" panose="02000503000000020004" pitchFamily="2" charset="0"/>
                        </a:rPr>
                        <a:t>Connectivity</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1060</a:t>
                      </a:r>
                    </a:p>
                  </a:txBody>
                  <a:tcPr marL="9525" marR="9525" marT="9525" marB="0" anchor="ctr">
                    <a:lnL>
                      <a:noFill/>
                    </a:lnL>
                    <a:lnR>
                      <a:noFill/>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950</a:t>
                      </a:r>
                    </a:p>
                  </a:txBody>
                  <a:tcPr marL="9525" marR="9525" marT="9525" marB="0" anchor="ctr">
                    <a:lnL>
                      <a:noFill/>
                    </a:lnL>
                    <a:lnR>
                      <a:noFill/>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600</a:t>
                      </a:r>
                    </a:p>
                  </a:txBody>
                  <a:tcPr marL="9525" marR="9525" marT="9525" marB="0" anchor="ctr">
                    <a:lnL>
                      <a:noFill/>
                    </a:lnL>
                    <a:lnR w="12700" cap="flat" cmpd="sng" algn="ctr">
                      <a:noFill/>
                      <a:prstDash val="solid"/>
                      <a:round/>
                      <a:headEnd type="none" w="med" len="med"/>
                      <a:tailEnd type="none" w="med" len="med"/>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1060</a:t>
                      </a:r>
                    </a:p>
                  </a:txBody>
                  <a:tcPr marL="9525" marR="9525" marT="9525" marB="0" anchor="ctr">
                    <a:lnL>
                      <a:noFill/>
                    </a:lnL>
                    <a:lnR w="12700" cap="flat" cmpd="sng" algn="ctr">
                      <a:noFill/>
                      <a:prstDash val="solid"/>
                      <a:round/>
                      <a:headEnd type="none" w="med" len="med"/>
                      <a:tailEnd type="none" w="med" len="med"/>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1097</a:t>
                      </a:r>
                    </a:p>
                  </a:txBody>
                  <a:tcPr marL="9525" marR="9525" marT="9525" marB="0" anchor="ctr">
                    <a:lnL>
                      <a:noFill/>
                    </a:lnL>
                    <a:lnR w="12700" cap="flat" cmpd="sng" algn="ctr">
                      <a:noFill/>
                      <a:prstDash val="solid"/>
                      <a:round/>
                      <a:headEnd type="none" w="med" len="med"/>
                      <a:tailEnd type="none" w="med" len="med"/>
                    </a:lnR>
                    <a:lnT>
                      <a:noFill/>
                    </a:lnT>
                    <a:lnB>
                      <a:noFill/>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410</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rgbClr val="E6E0EC"/>
                    </a:solidFill>
                  </a:tcPr>
                </a:tc>
                <a:extLst>
                  <a:ext uri="{0D108BD9-81ED-4DB2-BD59-A6C34878D82A}">
                    <a16:rowId xmlns:a16="http://schemas.microsoft.com/office/drawing/2014/main" val="3816106730"/>
                  </a:ext>
                </a:extLst>
              </a:tr>
              <a:tr h="836985">
                <a:tc>
                  <a:txBody>
                    <a:bodyPr/>
                    <a:lstStyle/>
                    <a:p>
                      <a:pPr algn="ctr" rtl="0" fontAlgn="ctr">
                        <a:buNone/>
                      </a:pPr>
                      <a:r>
                        <a:rPr lang="en-US" sz="1100" b="0" i="0" u="none" strike="noStrike">
                          <a:solidFill>
                            <a:srgbClr val="000000"/>
                          </a:solidFill>
                          <a:effectLst/>
                          <a:latin typeface="Adani Regular" panose="02000503000000020004" pitchFamily="2" charset="0"/>
                        </a:rPr>
                        <a:t>Land Lease (Years)</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Lease: 40 Years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Sub-lease: 29 Yr 11 Mo (SRPL)</a:t>
                      </a:r>
                      <a:endParaRPr lang="en-US" sz="1100" b="0" i="0" u="none" strike="noStrike">
                        <a:solidFill>
                          <a:srgbClr val="000000"/>
                        </a:solidFill>
                        <a:effectLst/>
                        <a:latin typeface="Adani Regular" panose="02000503000000020004" pitchFamily="2" charset="0"/>
                      </a:endParaRPr>
                    </a:p>
                  </a:txBody>
                  <a:tcPr marL="9525" marR="9525" marT="9525" marB="0" anchor="ctr">
                    <a:lnL>
                      <a:noFill/>
                    </a:lnL>
                    <a:lnR>
                      <a:noFill/>
                    </a:lnR>
                    <a:lnT>
                      <a:noFill/>
                    </a:lnT>
                    <a:lnB>
                      <a:noFill/>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Lease: 40 Years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Sub-lease: 29 Yr 11 Mo (SRPL)</a:t>
                      </a:r>
                    </a:p>
                  </a:txBody>
                  <a:tcPr marL="9525" marR="9525" marT="9525" marB="0" anchor="ctr">
                    <a:lnL>
                      <a:noFill/>
                    </a:lnL>
                    <a:lnR>
                      <a:noFill/>
                    </a:lnR>
                    <a:lnT>
                      <a:noFill/>
                    </a:lnT>
                    <a:lnB>
                      <a:noFill/>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Lease: 40 Years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Sub-lease: 29 Yr 11 Mo (SRPL)</a:t>
                      </a:r>
                    </a:p>
                  </a:txBody>
                  <a:tcPr marL="9525" marR="9525" marT="9525" marB="0" anchor="ctr">
                    <a:lnL>
                      <a:noFill/>
                    </a:lnL>
                    <a:lnR w="12700" cap="flat" cmpd="sng" algn="ctr">
                      <a:noFill/>
                      <a:prstDash val="solid"/>
                      <a:round/>
                      <a:headEnd type="none" w="med" len="med"/>
                      <a:tailEnd type="none" w="med" len="med"/>
                    </a:lnR>
                    <a:lnT>
                      <a:noFill/>
                    </a:lnT>
                    <a:lnB>
                      <a:noFill/>
                    </a:lnB>
                    <a:noFill/>
                  </a:tcPr>
                </a:tc>
                <a:tc>
                  <a:txBody>
                    <a:bodyPr/>
                    <a:lstStyle/>
                    <a:p>
                      <a:pPr algn="ctr" rtl="0" fontAlgn="ctr">
                        <a:buNone/>
                      </a:pPr>
                      <a:r>
                        <a:rPr lang="en-US" sz="1100" b="0" i="0" u="none" strike="noStrike">
                          <a:solidFill>
                            <a:srgbClr val="000000"/>
                          </a:solidFill>
                          <a:effectLst/>
                          <a:latin typeface="Adani Regular" panose="02000503000000020004" pitchFamily="2" charset="0"/>
                        </a:rPr>
                        <a:t>Lease: 40 Years</a:t>
                      </a:r>
                    </a:p>
                    <a:p>
                      <a:pPr algn="ctr" rtl="0" fontAlgn="ctr">
                        <a:buNone/>
                      </a:pPr>
                      <a:r>
                        <a:rPr lang="en-US" sz="1100" b="0" i="0" u="none" strike="noStrike">
                          <a:solidFill>
                            <a:srgbClr val="000000"/>
                          </a:solidFill>
                          <a:effectLst/>
                          <a:latin typeface="Adani Regular" panose="02000503000000020004" pitchFamily="2" charset="0"/>
                        </a:rPr>
                        <a:t>Sub-lease: 29 Yr 11 Mo (AGEL)</a:t>
                      </a:r>
                    </a:p>
                  </a:txBody>
                  <a:tcPr marL="9525" marR="9525" marT="9525" marB="0" anchor="ctr">
                    <a:lnL>
                      <a:noFill/>
                    </a:lnL>
                    <a:lnR w="12700" cap="flat" cmpd="sng" algn="ctr">
                      <a:noFill/>
                      <a:prstDash val="solid"/>
                      <a:round/>
                      <a:headEnd type="none" w="med" len="med"/>
                      <a:tailEnd type="none" w="med" len="med"/>
                    </a:lnR>
                    <a:lnT>
                      <a:noFill/>
                    </a:lnT>
                    <a:lnB>
                      <a:noFill/>
                    </a:lnB>
                    <a:noFill/>
                  </a:tcPr>
                </a:tc>
                <a:tc>
                  <a:txBody>
                    <a:bodyPr/>
                    <a:lstStyle/>
                    <a:p>
                      <a:pPr algn="ctr" rtl="0" fontAlgn="ctr">
                        <a:buNone/>
                      </a:pPr>
                      <a:r>
                        <a:rPr lang="en-US" sz="1100" b="0" i="0" u="none" strike="noStrike">
                          <a:solidFill>
                            <a:srgbClr val="000000"/>
                          </a:solidFill>
                          <a:effectLst/>
                          <a:latin typeface="Adani Regular" panose="02000503000000020004" pitchFamily="2" charset="0"/>
                        </a:rPr>
                        <a:t>Lease: 40 Years</a:t>
                      </a:r>
                    </a:p>
                    <a:p>
                      <a:pPr algn="ctr" rtl="0" fontAlgn="ctr">
                        <a:buNone/>
                      </a:pPr>
                      <a:r>
                        <a:rPr lang="en-US" sz="1100" b="0" i="0" u="none" strike="noStrike">
                          <a:solidFill>
                            <a:srgbClr val="000000"/>
                          </a:solidFill>
                          <a:effectLst/>
                          <a:latin typeface="Adani Regular" panose="02000503000000020004" pitchFamily="2" charset="0"/>
                        </a:rPr>
                        <a:t>Sub-lease: 29 Yr 11 Mo </a:t>
                      </a: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(AGEL/APL)</a:t>
                      </a:r>
                    </a:p>
                  </a:txBody>
                  <a:tcPr marL="9525" marR="9525" marT="9525" marB="0" anchor="ctr">
                    <a:lnL>
                      <a:noFill/>
                    </a:lnL>
                    <a:lnR w="12700" cap="flat" cmpd="sng" algn="ctr">
                      <a:noFill/>
                      <a:prstDash val="solid"/>
                      <a:round/>
                      <a:headEnd type="none" w="med" len="med"/>
                      <a:tailEnd type="none" w="med" len="med"/>
                    </a:lnR>
                    <a:lnT>
                      <a:noFill/>
                    </a:lnT>
                    <a:lnB>
                      <a:noFill/>
                    </a:lnB>
                    <a:noFill/>
                  </a:tcPr>
                </a:tc>
                <a:tc>
                  <a:txBody>
                    <a:bodyPr/>
                    <a:lstStyle/>
                    <a:p>
                      <a:pPr algn="ctr" rtl="0" fontAlgn="ctr">
                        <a:buNone/>
                      </a:pPr>
                      <a:r>
                        <a:rPr lang="en-US" sz="1100" b="0" i="0" u="none" strike="noStrike">
                          <a:solidFill>
                            <a:srgbClr val="000000"/>
                          </a:solidFill>
                          <a:effectLst/>
                          <a:latin typeface="Adani Regular" panose="02000503000000020004" pitchFamily="2" charset="0"/>
                        </a:rPr>
                        <a:t>Lease: 40 Years</a:t>
                      </a:r>
                    </a:p>
                    <a:p>
                      <a:pPr algn="ctr" rtl="0" fontAlgn="ctr">
                        <a:buNone/>
                      </a:pPr>
                      <a:r>
                        <a:rPr lang="en-US" sz="1100" b="0" i="0" u="none" strike="noStrike">
                          <a:solidFill>
                            <a:srgbClr val="000000"/>
                          </a:solidFill>
                          <a:effectLst/>
                          <a:latin typeface="Adani Regular" panose="02000503000000020004" pitchFamily="2" charset="0"/>
                        </a:rPr>
                        <a:t>Sub-lease: 29 Yr 11 Mo </a:t>
                      </a: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(AGEL)</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590421340"/>
                  </a:ext>
                </a:extLst>
              </a:tr>
              <a:tr h="836985">
                <a:tc>
                  <a:txBody>
                    <a:bodyPr/>
                    <a:lstStyle/>
                    <a:p>
                      <a:pPr algn="ctr" rtl="0" fontAlgn="ctr">
                        <a:buNone/>
                      </a:pPr>
                      <a:r>
                        <a:rPr lang="en-US" sz="1100" b="0" i="0" u="none" strike="noStrike">
                          <a:solidFill>
                            <a:srgbClr val="000000"/>
                          </a:solidFill>
                          <a:effectLst/>
                          <a:latin typeface="Adani Regular" panose="02000503000000020004" pitchFamily="2" charset="0"/>
                        </a:rPr>
                        <a:t>Contractors</a:t>
                      </a:r>
                    </a:p>
                  </a:txBody>
                  <a:tcPr marL="9525" marR="9525" marT="9525"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Cemindia / MSC / / Pratibha / Synergy</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algn="ctr" rtl="0" fontAlgn="ctr">
                        <a:buNone/>
                      </a:pPr>
                      <a:r>
                        <a:rPr lang="en-US" sz="1100" b="0" i="0" u="none" strike="noStrike" err="1">
                          <a:solidFill>
                            <a:srgbClr val="000000"/>
                          </a:solidFill>
                          <a:effectLst/>
                          <a:latin typeface="Adani Regular" panose="02000503000000020004" pitchFamily="2" charset="0"/>
                        </a:rPr>
                        <a:t>Cemindia</a:t>
                      </a:r>
                      <a:r>
                        <a:rPr lang="en-US" sz="1100" b="0" i="0" u="none" strike="noStrike">
                          <a:solidFill>
                            <a:srgbClr val="000000"/>
                          </a:solidFill>
                          <a:effectLst/>
                          <a:latin typeface="Adani Regular" panose="02000503000000020004" pitchFamily="2" charset="0"/>
                        </a:rPr>
                        <a:t> / MSC / / Akshar / DP </a:t>
                      </a:r>
                      <a:r>
                        <a:rPr lang="en-US" sz="1100" b="0" i="0" u="none" strike="noStrike" err="1">
                          <a:solidFill>
                            <a:srgbClr val="000000"/>
                          </a:solidFill>
                          <a:effectLst/>
                          <a:latin typeface="Adani Regular" panose="02000503000000020004" pitchFamily="2" charset="0"/>
                        </a:rPr>
                        <a:t>Consteel</a:t>
                      </a:r>
                      <a:endParaRPr lang="en-US" sz="1100" b="0" i="0" u="none" strike="noStrike">
                        <a:solidFill>
                          <a:srgbClr val="000000"/>
                        </a:solidFill>
                        <a:effectLst/>
                        <a:latin typeface="Adani Regular" panose="02000503000000020004" pitchFamily="2"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Cemindia / Godhara / </a:t>
                      </a:r>
                      <a:r>
                        <a:rPr lang="en-US" sz="1100" b="0" i="0" u="none" strike="sngStrike">
                          <a:solidFill>
                            <a:srgbClr val="000000"/>
                          </a:solidFill>
                          <a:effectLst/>
                          <a:latin typeface="Adani Regular" panose="02000503000000020004" pitchFamily="2" charset="0"/>
                        </a:rPr>
                        <a:t>Green Revolution </a:t>
                      </a:r>
                      <a:r>
                        <a:rPr lang="en-US" sz="1100" b="0" i="0" u="none" strike="noStrike">
                          <a:solidFill>
                            <a:srgbClr val="000000"/>
                          </a:solidFill>
                          <a:effectLst/>
                          <a:latin typeface="Adani Regular" panose="02000503000000020004" pitchFamily="2" charset="0"/>
                        </a:rPr>
                        <a:t> MSC/ Akshar / DP Consteel</a:t>
                      </a:r>
                    </a:p>
                  </a:txBody>
                  <a:tcPr marL="9525" marR="9525" marT="9525" marB="0" anchor="ctr">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000000"/>
                          </a:solidFill>
                          <a:effectLst/>
                          <a:uLnTx/>
                          <a:uFillTx/>
                          <a:latin typeface="Adani Regular" panose="02000503000000020004" pitchFamily="2" charset="0"/>
                          <a:ea typeface="+mn-ea"/>
                          <a:cs typeface="+mn-cs"/>
                        </a:rPr>
                        <a:t>Cemindia</a:t>
                      </a: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MSC / / Akshar / Synergy</a:t>
                      </a:r>
                    </a:p>
                  </a:txBody>
                  <a:tcPr marL="9525" marR="9525" marT="9525" marB="0" anchor="ctr">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Cemindia/ Rajnagnechi / Icecube / DP Consteel</a:t>
                      </a:r>
                    </a:p>
                  </a:txBody>
                  <a:tcPr marL="9525" marR="9525" marT="9525" marB="0" anchor="ctr">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6E0EC"/>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Cemindia/ Shreeji / Sunelec / Synergy</a:t>
                      </a:r>
                    </a:p>
                  </a:txBody>
                  <a:tcPr marL="9525" marR="9525" marT="9525"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6E0EC"/>
                    </a:solidFill>
                  </a:tcPr>
                </a:tc>
                <a:extLst>
                  <a:ext uri="{0D108BD9-81ED-4DB2-BD59-A6C34878D82A}">
                    <a16:rowId xmlns:a16="http://schemas.microsoft.com/office/drawing/2014/main" val="1412187955"/>
                  </a:ext>
                </a:extLst>
              </a:tr>
            </a:tbl>
          </a:graphicData>
        </a:graphic>
      </p:graphicFrame>
      <p:sp>
        <p:nvSpPr>
          <p:cNvPr id="10" name="Title 1">
            <a:extLst>
              <a:ext uri="{FF2B5EF4-FFF2-40B4-BE49-F238E27FC236}">
                <a16:creationId xmlns:a16="http://schemas.microsoft.com/office/drawing/2014/main" id="{AEB965FE-55B2-E276-6FEF-2534E456E21B}"/>
              </a:ext>
            </a:extLst>
          </p:cNvPr>
          <p:cNvSpPr txBox="1">
            <a:spLocks/>
          </p:cNvSpPr>
          <p:nvPr/>
        </p:nvSpPr>
        <p:spPr>
          <a:xfrm>
            <a:off x="466163" y="-12231"/>
            <a:ext cx="10972800" cy="680246"/>
          </a:xfrm>
          <a:prstGeom prst="rect">
            <a:avLst/>
          </a:prstGeom>
        </p:spPr>
        <p:txBody>
          <a:bodyPr vert="horz" lIns="91440" tIns="45720" rIns="91440" bIns="45720" rtlCol="0" anchor="ctr">
            <a:normAutofit/>
          </a:bodyPr>
          <a:lstStyle>
            <a:lvl1pPr algn="l" defTabSz="1219170" rtl="0" eaLnBrk="1" latinLnBrk="0" hangingPunct="1">
              <a:spcBef>
                <a:spcPct val="0"/>
              </a:spcBef>
              <a:buNone/>
              <a:defRPr sz="4800" kern="1200">
                <a:solidFill>
                  <a:schemeClr val="tx1"/>
                </a:solidFill>
                <a:latin typeface="Adani Medium" pitchFamily="2" charset="0"/>
                <a:ea typeface="+mj-ea"/>
                <a:cs typeface="+mj-cs"/>
              </a:defRPr>
            </a:lvl1pPr>
          </a:lstStyle>
          <a:p>
            <a:r>
              <a:rPr lang="en-US" sz="2400" b="1">
                <a:solidFill>
                  <a:srgbClr val="912A82"/>
                </a:solidFill>
                <a:latin typeface="Adani Regular" panose="02000503000000020004" pitchFamily="2" charset="0"/>
              </a:rPr>
              <a:t>Salient Features</a:t>
            </a:r>
            <a:endParaRPr lang="en-US" sz="2400" b="1">
              <a:latin typeface="Adani Regular" panose="02000503000000020004" pitchFamily="2" charset="0"/>
            </a:endParaRPr>
          </a:p>
        </p:txBody>
      </p:sp>
      <p:sp>
        <p:nvSpPr>
          <p:cNvPr id="2" name="Slide Number Placeholder 3">
            <a:extLst>
              <a:ext uri="{FF2B5EF4-FFF2-40B4-BE49-F238E27FC236}">
                <a16:creationId xmlns:a16="http://schemas.microsoft.com/office/drawing/2014/main" id="{2CE9446E-5358-11AC-8040-D99CF034F01F}"/>
              </a:ext>
            </a:extLst>
          </p:cNvPr>
          <p:cNvSpPr txBox="1">
            <a:spLocks/>
          </p:cNvSpPr>
          <p:nvPr/>
        </p:nvSpPr>
        <p:spPr>
          <a:xfrm>
            <a:off x="11770660" y="6514205"/>
            <a:ext cx="42134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fld id="{98B285C1-D8A8-4E98-B28C-1FD972D8EC54}" type="slidenum">
              <a:rPr lang="en-IN" smtClean="0">
                <a:solidFill>
                  <a:prstClr val="black">
                    <a:tint val="75000"/>
                  </a:prstClr>
                </a:solidFill>
              </a:rPr>
              <a:pPr defTabSz="1219170"/>
              <a:t>3</a:t>
            </a:fld>
            <a:endParaRPr lang="en-IN">
              <a:solidFill>
                <a:prstClr val="black">
                  <a:tint val="75000"/>
                </a:prstClr>
              </a:solidFill>
            </a:endParaRPr>
          </a:p>
        </p:txBody>
      </p:sp>
    </p:spTree>
    <p:extLst>
      <p:ext uri="{BB962C8B-B14F-4D97-AF65-F5344CB8AC3E}">
        <p14:creationId xmlns:p14="http://schemas.microsoft.com/office/powerpoint/2010/main" val="3931036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140C8-3C8A-8A90-5E60-6DADEDC98934}"/>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046836FF-1E92-343D-1061-CACB452147AB}"/>
              </a:ext>
            </a:extLst>
          </p:cNvPr>
          <p:cNvSpPr txBox="1"/>
          <p:nvPr/>
        </p:nvSpPr>
        <p:spPr>
          <a:xfrm>
            <a:off x="398528" y="1323975"/>
            <a:ext cx="11441047" cy="369332"/>
          </a:xfrm>
          <a:prstGeom prst="rect">
            <a:avLst/>
          </a:prstGeom>
          <a:solidFill>
            <a:schemeClr val="bg1"/>
          </a:solidFill>
        </p:spPr>
        <p:txBody>
          <a:bodyPr wrap="square" rtlCol="0">
            <a:spAutoFit/>
          </a:bodyPr>
          <a:lstStyle/>
          <a:p>
            <a:endParaRPr lang="en-IN"/>
          </a:p>
        </p:txBody>
      </p:sp>
      <p:pic>
        <p:nvPicPr>
          <p:cNvPr id="23" name="Picture 22">
            <a:extLst>
              <a:ext uri="{FF2B5EF4-FFF2-40B4-BE49-F238E27FC236}">
                <a16:creationId xmlns:a16="http://schemas.microsoft.com/office/drawing/2014/main" id="{DFAFBCFB-1D91-C4DC-705D-3996C2891108}"/>
              </a:ext>
            </a:extLst>
          </p:cNvPr>
          <p:cNvPicPr>
            <a:picLocks noChangeAspect="1"/>
          </p:cNvPicPr>
          <p:nvPr/>
        </p:nvPicPr>
        <p:blipFill>
          <a:blip r:embed="rId2"/>
          <a:stretch>
            <a:fillRect/>
          </a:stretch>
        </p:blipFill>
        <p:spPr>
          <a:xfrm>
            <a:off x="1780260" y="674848"/>
            <a:ext cx="8298358" cy="5948687"/>
          </a:xfrm>
          <a:prstGeom prst="rect">
            <a:avLst/>
          </a:prstGeom>
        </p:spPr>
      </p:pic>
      <p:sp>
        <p:nvSpPr>
          <p:cNvPr id="11" name="Oval 10">
            <a:extLst>
              <a:ext uri="{FF2B5EF4-FFF2-40B4-BE49-F238E27FC236}">
                <a16:creationId xmlns:a16="http://schemas.microsoft.com/office/drawing/2014/main" id="{4876DBDF-736A-2137-336A-B2045D9F49CA}"/>
              </a:ext>
            </a:extLst>
          </p:cNvPr>
          <p:cNvSpPr/>
          <p:nvPr/>
        </p:nvSpPr>
        <p:spPr>
          <a:xfrm>
            <a:off x="6543059" y="1632665"/>
            <a:ext cx="1190171" cy="72571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prstClr val="white"/>
              </a:solidFill>
              <a:latin typeface="Calibri"/>
            </a:endParaRPr>
          </a:p>
        </p:txBody>
      </p:sp>
      <p:sp>
        <p:nvSpPr>
          <p:cNvPr id="12" name="Oval 11">
            <a:extLst>
              <a:ext uri="{FF2B5EF4-FFF2-40B4-BE49-F238E27FC236}">
                <a16:creationId xmlns:a16="http://schemas.microsoft.com/office/drawing/2014/main" id="{9A746B47-338F-F91B-3E15-4C63FE9D631A}"/>
              </a:ext>
            </a:extLst>
          </p:cNvPr>
          <p:cNvSpPr/>
          <p:nvPr/>
        </p:nvSpPr>
        <p:spPr>
          <a:xfrm>
            <a:off x="6543059" y="2697694"/>
            <a:ext cx="1117600" cy="72571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sp>
        <p:nvSpPr>
          <p:cNvPr id="13" name="Oval 12">
            <a:extLst>
              <a:ext uri="{FF2B5EF4-FFF2-40B4-BE49-F238E27FC236}">
                <a16:creationId xmlns:a16="http://schemas.microsoft.com/office/drawing/2014/main" id="{91338CDA-0CE6-96A8-5F40-BE7CF7B46F74}"/>
              </a:ext>
            </a:extLst>
          </p:cNvPr>
          <p:cNvSpPr/>
          <p:nvPr/>
        </p:nvSpPr>
        <p:spPr>
          <a:xfrm>
            <a:off x="6698741" y="3808417"/>
            <a:ext cx="1117600" cy="72571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cxnSp>
        <p:nvCxnSpPr>
          <p:cNvPr id="15" name="Straight Arrow Connector 14">
            <a:extLst>
              <a:ext uri="{FF2B5EF4-FFF2-40B4-BE49-F238E27FC236}">
                <a16:creationId xmlns:a16="http://schemas.microsoft.com/office/drawing/2014/main" id="{56FFB429-5AAA-ECEC-B997-4C293A1CD848}"/>
              </a:ext>
            </a:extLst>
          </p:cNvPr>
          <p:cNvCxnSpPr>
            <a:cxnSpLocks/>
            <a:stCxn id="11" idx="7"/>
          </p:cNvCxnSpPr>
          <p:nvPr/>
        </p:nvCxnSpPr>
        <p:spPr>
          <a:xfrm flipV="1">
            <a:off x="7558933" y="1283294"/>
            <a:ext cx="574419" cy="4556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Arrow: Bent 26">
            <a:extLst>
              <a:ext uri="{FF2B5EF4-FFF2-40B4-BE49-F238E27FC236}">
                <a16:creationId xmlns:a16="http://schemas.microsoft.com/office/drawing/2014/main" id="{4EB6D1BA-AB1D-30DE-4D3C-E54ED3327F67}"/>
              </a:ext>
            </a:extLst>
          </p:cNvPr>
          <p:cNvSpPr/>
          <p:nvPr/>
        </p:nvSpPr>
        <p:spPr>
          <a:xfrm rot="1933565">
            <a:off x="8032828" y="3297533"/>
            <a:ext cx="79823" cy="837355"/>
          </a:xfrm>
          <a:prstGeom prst="bentArrow">
            <a:avLst>
              <a:gd name="adj1" fmla="val 15828"/>
              <a:gd name="adj2" fmla="val 34822"/>
              <a:gd name="adj3" fmla="val 25000"/>
              <a:gd name="adj4" fmla="val 77678"/>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prstClr val="black"/>
              </a:solidFill>
              <a:latin typeface="Calibri"/>
            </a:endParaRPr>
          </a:p>
        </p:txBody>
      </p:sp>
      <p:sp>
        <p:nvSpPr>
          <p:cNvPr id="29" name="Arrow: Bent 28">
            <a:extLst>
              <a:ext uri="{FF2B5EF4-FFF2-40B4-BE49-F238E27FC236}">
                <a16:creationId xmlns:a16="http://schemas.microsoft.com/office/drawing/2014/main" id="{FC26F38B-B414-9DF9-CBAA-EF0E6D3974B9}"/>
              </a:ext>
            </a:extLst>
          </p:cNvPr>
          <p:cNvSpPr/>
          <p:nvPr/>
        </p:nvSpPr>
        <p:spPr>
          <a:xfrm rot="4661162" flipH="1" flipV="1">
            <a:off x="5271073" y="1403714"/>
            <a:ext cx="63950" cy="3296282"/>
          </a:xfrm>
          <a:prstGeom prst="bentArrow">
            <a:avLst>
              <a:gd name="adj1" fmla="val 25000"/>
              <a:gd name="adj2" fmla="val 14631"/>
              <a:gd name="adj3" fmla="val 50000"/>
              <a:gd name="adj4" fmla="val 43750"/>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prstClr val="black"/>
              </a:solidFill>
              <a:latin typeface="Calibri"/>
            </a:endParaRPr>
          </a:p>
        </p:txBody>
      </p:sp>
      <p:sp>
        <p:nvSpPr>
          <p:cNvPr id="30" name="Oval 29">
            <a:extLst>
              <a:ext uri="{FF2B5EF4-FFF2-40B4-BE49-F238E27FC236}">
                <a16:creationId xmlns:a16="http://schemas.microsoft.com/office/drawing/2014/main" id="{EA5F4D7A-7525-DAF2-CF8B-211FBB84EEE3}"/>
              </a:ext>
            </a:extLst>
          </p:cNvPr>
          <p:cNvSpPr/>
          <p:nvPr/>
        </p:nvSpPr>
        <p:spPr>
          <a:xfrm>
            <a:off x="6600866" y="5965151"/>
            <a:ext cx="1001985" cy="504496"/>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grpSp>
        <p:nvGrpSpPr>
          <p:cNvPr id="7" name="object 2">
            <a:extLst>
              <a:ext uri="{FF2B5EF4-FFF2-40B4-BE49-F238E27FC236}">
                <a16:creationId xmlns:a16="http://schemas.microsoft.com/office/drawing/2014/main" id="{6E4EF650-AB6D-5BDE-7E04-BD9A189C6708}"/>
              </a:ext>
            </a:extLst>
          </p:cNvPr>
          <p:cNvGrpSpPr/>
          <p:nvPr/>
        </p:nvGrpSpPr>
        <p:grpSpPr>
          <a:xfrm>
            <a:off x="398528" y="689793"/>
            <a:ext cx="10744200" cy="60958"/>
            <a:chOff x="391845" y="746761"/>
            <a:chExt cx="10744200" cy="60958"/>
          </a:xfrm>
        </p:grpSpPr>
        <p:sp>
          <p:nvSpPr>
            <p:cNvPr id="8" name="object 3">
              <a:extLst>
                <a:ext uri="{FF2B5EF4-FFF2-40B4-BE49-F238E27FC236}">
                  <a16:creationId xmlns:a16="http://schemas.microsoft.com/office/drawing/2014/main" id="{BDF935CA-DC1F-A520-3961-CC01F2760367}"/>
                </a:ext>
              </a:extLst>
            </p:cNvPr>
            <p:cNvSpPr/>
            <p:nvPr/>
          </p:nvSpPr>
          <p:spPr>
            <a:xfrm>
              <a:off x="391845" y="807719"/>
              <a:ext cx="10744200" cy="0"/>
            </a:xfrm>
            <a:custGeom>
              <a:avLst/>
              <a:gdLst/>
              <a:ahLst/>
              <a:cxnLst/>
              <a:rect l="l" t="t" r="r" b="b"/>
              <a:pathLst>
                <a:path w="10744200">
                  <a:moveTo>
                    <a:pt x="0" y="0"/>
                  </a:moveTo>
                  <a:lnTo>
                    <a:pt x="10744149" y="0"/>
                  </a:lnTo>
                </a:path>
              </a:pathLst>
            </a:custGeom>
            <a:ln w="6350">
              <a:solidFill>
                <a:srgbClr val="A6A6A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 name="object 4">
              <a:extLst>
                <a:ext uri="{FF2B5EF4-FFF2-40B4-BE49-F238E27FC236}">
                  <a16:creationId xmlns:a16="http://schemas.microsoft.com/office/drawing/2014/main" id="{36D70A9C-6430-2091-5CAC-DC19E451EA20}"/>
                </a:ext>
              </a:extLst>
            </p:cNvPr>
            <p:cNvPicPr/>
            <p:nvPr/>
          </p:nvPicPr>
          <p:blipFill>
            <a:blip r:embed="rId3" cstate="print"/>
            <a:stretch>
              <a:fillRect/>
            </a:stretch>
          </p:blipFill>
          <p:spPr>
            <a:xfrm>
              <a:off x="391845" y="746761"/>
              <a:ext cx="7305167" cy="60958"/>
            </a:xfrm>
            <a:prstGeom prst="rect">
              <a:avLst/>
            </a:prstGeom>
          </p:spPr>
        </p:pic>
      </p:grpSp>
      <p:sp>
        <p:nvSpPr>
          <p:cNvPr id="10" name="TextBox 9">
            <a:extLst>
              <a:ext uri="{FF2B5EF4-FFF2-40B4-BE49-F238E27FC236}">
                <a16:creationId xmlns:a16="http://schemas.microsoft.com/office/drawing/2014/main" id="{88FE1BA4-F251-D744-39A9-C17FB74CB15D}"/>
              </a:ext>
            </a:extLst>
          </p:cNvPr>
          <p:cNvSpPr txBox="1"/>
          <p:nvPr/>
        </p:nvSpPr>
        <p:spPr>
          <a:xfrm>
            <a:off x="509553" y="128845"/>
            <a:ext cx="9275824" cy="461665"/>
          </a:xfrm>
          <a:prstGeom prst="rect">
            <a:avLst/>
          </a:prstGeom>
          <a:noFill/>
        </p:spPr>
        <p:txBody>
          <a:bodyPr wrap="square">
            <a:spAutoFit/>
          </a:bodyPr>
          <a:lstStyle/>
          <a:p>
            <a:pPr defTabSz="1219170"/>
            <a:r>
              <a:rPr lang="en-US" sz="2400" b="1">
                <a:solidFill>
                  <a:srgbClr val="912A82"/>
                </a:solidFill>
                <a:latin typeface="Adani Regular" panose="02000503000000020004" pitchFamily="2" charset="0"/>
              </a:rPr>
              <a:t>Overall Layout</a:t>
            </a:r>
          </a:p>
        </p:txBody>
      </p:sp>
      <p:graphicFrame>
        <p:nvGraphicFramePr>
          <p:cNvPr id="21" name="Table 20">
            <a:extLst>
              <a:ext uri="{FF2B5EF4-FFF2-40B4-BE49-F238E27FC236}">
                <a16:creationId xmlns:a16="http://schemas.microsoft.com/office/drawing/2014/main" id="{21660941-3225-D98B-F6B4-7A4166937793}"/>
              </a:ext>
            </a:extLst>
          </p:cNvPr>
          <p:cNvGraphicFramePr>
            <a:graphicFrameLocks noGrp="1"/>
          </p:cNvGraphicFramePr>
          <p:nvPr/>
        </p:nvGraphicFramePr>
        <p:xfrm>
          <a:off x="8133352" y="693172"/>
          <a:ext cx="3660120" cy="1691640"/>
        </p:xfrm>
        <a:graphic>
          <a:graphicData uri="http://schemas.openxmlformats.org/drawingml/2006/table">
            <a:tbl>
              <a:tblPr firstRow="1" bandRow="1">
                <a:tableStyleId>{17292A2E-F333-43FB-9621-5CBBE7FDCDCB}</a:tableStyleId>
              </a:tblPr>
              <a:tblGrid>
                <a:gridCol w="1200573">
                  <a:extLst>
                    <a:ext uri="{9D8B030D-6E8A-4147-A177-3AD203B41FA5}">
                      <a16:colId xmlns:a16="http://schemas.microsoft.com/office/drawing/2014/main" val="2076136626"/>
                    </a:ext>
                  </a:extLst>
                </a:gridCol>
                <a:gridCol w="2459547">
                  <a:extLst>
                    <a:ext uri="{9D8B030D-6E8A-4147-A177-3AD203B41FA5}">
                      <a16:colId xmlns:a16="http://schemas.microsoft.com/office/drawing/2014/main" val="2439711551"/>
                    </a:ext>
                  </a:extLst>
                </a:gridCol>
              </a:tblGrid>
              <a:tr h="345440">
                <a:tc gridSpan="2">
                  <a:txBody>
                    <a:bodyPr/>
                    <a:lstStyle/>
                    <a:p>
                      <a:pPr algn="ctr"/>
                      <a:r>
                        <a:rPr lang="en-US" sz="1500" b="0">
                          <a:latin typeface="Adani Light" panose="02000503000000020004" pitchFamily="2" charset="0"/>
                        </a:rPr>
                        <a:t>BESS-12</a:t>
                      </a:r>
                    </a:p>
                  </a:txBody>
                  <a:tcPr marL="121920" marR="121920" marT="60960" marB="60960"/>
                </a:tc>
                <a:tc hMerge="1">
                  <a:txBody>
                    <a:bodyPr/>
                    <a:lstStyle/>
                    <a:p>
                      <a:endParaRPr lang="en-US" sz="1100"/>
                    </a:p>
                  </a:txBody>
                  <a:tcPr/>
                </a:tc>
                <a:extLst>
                  <a:ext uri="{0D108BD9-81ED-4DB2-BD59-A6C34878D82A}">
                    <a16:rowId xmlns:a16="http://schemas.microsoft.com/office/drawing/2014/main" val="1435390413"/>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S5+S6</a:t>
                      </a:r>
                    </a:p>
                  </a:txBody>
                  <a:tcPr marL="121920" marR="121920" marT="60960" marB="60960">
                    <a:solidFill>
                      <a:schemeClr val="bg1"/>
                    </a:solidFill>
                  </a:tcPr>
                </a:tc>
                <a:extLst>
                  <a:ext uri="{0D108BD9-81ED-4DB2-BD59-A6C34878D82A}">
                    <a16:rowId xmlns:a16="http://schemas.microsoft.com/office/drawing/2014/main" val="3895667008"/>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960 MW / 2166 MWh</a:t>
                      </a:r>
                    </a:p>
                  </a:txBody>
                  <a:tcPr marL="121920" marR="121920" marT="60960" marB="60960">
                    <a:solidFill>
                      <a:schemeClr val="bg1"/>
                    </a:solidFill>
                  </a:tcPr>
                </a:tc>
                <a:extLst>
                  <a:ext uri="{0D108BD9-81ED-4DB2-BD59-A6C34878D82A}">
                    <a16:rowId xmlns:a16="http://schemas.microsoft.com/office/drawing/2014/main" val="1896717730"/>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384 Nos</a:t>
                      </a:r>
                    </a:p>
                  </a:txBody>
                  <a:tcPr marL="121920" marR="121920" marT="60960" marB="60960">
                    <a:solidFill>
                      <a:schemeClr val="bg1"/>
                    </a:solidFill>
                  </a:tcPr>
                </a:tc>
                <a:extLst>
                  <a:ext uri="{0D108BD9-81ED-4DB2-BD59-A6C34878D82A}">
                    <a16:rowId xmlns:a16="http://schemas.microsoft.com/office/drawing/2014/main" val="1973652270"/>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70.22 Acres (In 2 parcel)</a:t>
                      </a:r>
                    </a:p>
                  </a:txBody>
                  <a:tcPr marL="121920" marR="121920" marT="60960" marB="60960">
                    <a:solidFill>
                      <a:schemeClr val="bg1"/>
                    </a:solidFill>
                  </a:tcPr>
                </a:tc>
                <a:extLst>
                  <a:ext uri="{0D108BD9-81ED-4DB2-BD59-A6C34878D82A}">
                    <a16:rowId xmlns:a16="http://schemas.microsoft.com/office/drawing/2014/main" val="2836138700"/>
                  </a:ext>
                </a:extLst>
              </a:tr>
            </a:tbl>
          </a:graphicData>
        </a:graphic>
      </p:graphicFrame>
      <p:graphicFrame>
        <p:nvGraphicFramePr>
          <p:cNvPr id="3" name="Table 2">
            <a:extLst>
              <a:ext uri="{FF2B5EF4-FFF2-40B4-BE49-F238E27FC236}">
                <a16:creationId xmlns:a16="http://schemas.microsoft.com/office/drawing/2014/main" id="{56E42EA2-C819-8B8A-B9F6-74695B02ABAD}"/>
              </a:ext>
            </a:extLst>
          </p:cNvPr>
          <p:cNvGraphicFramePr>
            <a:graphicFrameLocks noGrp="1"/>
          </p:cNvGraphicFramePr>
          <p:nvPr/>
        </p:nvGraphicFramePr>
        <p:xfrm>
          <a:off x="8329767" y="2437125"/>
          <a:ext cx="3660120" cy="1691640"/>
        </p:xfrm>
        <a:graphic>
          <a:graphicData uri="http://schemas.openxmlformats.org/drawingml/2006/table">
            <a:tbl>
              <a:tblPr firstRow="1" bandRow="1">
                <a:tableStyleId>{17292A2E-F333-43FB-9621-5CBBE7FDCDCB}</a:tableStyleId>
              </a:tblPr>
              <a:tblGrid>
                <a:gridCol w="1200573">
                  <a:extLst>
                    <a:ext uri="{9D8B030D-6E8A-4147-A177-3AD203B41FA5}">
                      <a16:colId xmlns:a16="http://schemas.microsoft.com/office/drawing/2014/main" val="2076136626"/>
                    </a:ext>
                  </a:extLst>
                </a:gridCol>
                <a:gridCol w="2459547">
                  <a:extLst>
                    <a:ext uri="{9D8B030D-6E8A-4147-A177-3AD203B41FA5}">
                      <a16:colId xmlns:a16="http://schemas.microsoft.com/office/drawing/2014/main" val="2439711551"/>
                    </a:ext>
                  </a:extLst>
                </a:gridCol>
              </a:tblGrid>
              <a:tr h="345440">
                <a:tc gridSpan="2">
                  <a:txBody>
                    <a:bodyPr/>
                    <a:lstStyle/>
                    <a:p>
                      <a:pPr algn="ctr"/>
                      <a:r>
                        <a:rPr lang="en-US" sz="1500" b="0">
                          <a:latin typeface="Adani Light" panose="02000503000000020004" pitchFamily="2" charset="0"/>
                        </a:rPr>
                        <a:t>BESS-10(B)</a:t>
                      </a:r>
                    </a:p>
                  </a:txBody>
                  <a:tcPr marL="121920" marR="121920" marT="60960" marB="60960"/>
                </a:tc>
                <a:tc hMerge="1">
                  <a:txBody>
                    <a:bodyPr/>
                    <a:lstStyle/>
                    <a:p>
                      <a:endParaRPr lang="en-US" sz="1100"/>
                    </a:p>
                  </a:txBody>
                  <a:tcPr/>
                </a:tc>
                <a:extLst>
                  <a:ext uri="{0D108BD9-81ED-4DB2-BD59-A6C34878D82A}">
                    <a16:rowId xmlns:a16="http://schemas.microsoft.com/office/drawing/2014/main" val="1435390413"/>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S13R</a:t>
                      </a:r>
                    </a:p>
                  </a:txBody>
                  <a:tcPr marL="121920" marR="121920" marT="60960" marB="60960">
                    <a:solidFill>
                      <a:schemeClr val="bg1"/>
                    </a:solidFill>
                  </a:tcPr>
                </a:tc>
                <a:extLst>
                  <a:ext uri="{0D108BD9-81ED-4DB2-BD59-A6C34878D82A}">
                    <a16:rowId xmlns:a16="http://schemas.microsoft.com/office/drawing/2014/main" val="3895667008"/>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600 MW / 1204 MWh</a:t>
                      </a:r>
                    </a:p>
                  </a:txBody>
                  <a:tcPr marL="121920" marR="121920" marT="60960" marB="60960">
                    <a:solidFill>
                      <a:schemeClr val="bg1"/>
                    </a:solidFill>
                  </a:tcPr>
                </a:tc>
                <a:extLst>
                  <a:ext uri="{0D108BD9-81ED-4DB2-BD59-A6C34878D82A}">
                    <a16:rowId xmlns:a16="http://schemas.microsoft.com/office/drawing/2014/main" val="1896717730"/>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240 Nos</a:t>
                      </a:r>
                    </a:p>
                  </a:txBody>
                  <a:tcPr marL="121920" marR="121920" marT="60960" marB="60960">
                    <a:solidFill>
                      <a:schemeClr val="bg1"/>
                    </a:solidFill>
                  </a:tcPr>
                </a:tc>
                <a:extLst>
                  <a:ext uri="{0D108BD9-81ED-4DB2-BD59-A6C34878D82A}">
                    <a16:rowId xmlns:a16="http://schemas.microsoft.com/office/drawing/2014/main" val="1973652270"/>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39.04 Acres</a:t>
                      </a:r>
                    </a:p>
                  </a:txBody>
                  <a:tcPr marL="121920" marR="121920" marT="60960" marB="60960">
                    <a:solidFill>
                      <a:schemeClr val="bg1"/>
                    </a:solidFill>
                  </a:tcPr>
                </a:tc>
                <a:extLst>
                  <a:ext uri="{0D108BD9-81ED-4DB2-BD59-A6C34878D82A}">
                    <a16:rowId xmlns:a16="http://schemas.microsoft.com/office/drawing/2014/main" val="2836138700"/>
                  </a:ext>
                </a:extLst>
              </a:tr>
            </a:tbl>
          </a:graphicData>
        </a:graphic>
      </p:graphicFrame>
      <p:graphicFrame>
        <p:nvGraphicFramePr>
          <p:cNvPr id="33" name="Table 32">
            <a:extLst>
              <a:ext uri="{FF2B5EF4-FFF2-40B4-BE49-F238E27FC236}">
                <a16:creationId xmlns:a16="http://schemas.microsoft.com/office/drawing/2014/main" id="{75138DE3-C5C9-52A8-4EC3-315D50A89797}"/>
              </a:ext>
            </a:extLst>
          </p:cNvPr>
          <p:cNvGraphicFramePr>
            <a:graphicFrameLocks noGrp="1"/>
          </p:cNvGraphicFramePr>
          <p:nvPr/>
        </p:nvGraphicFramePr>
        <p:xfrm>
          <a:off x="1" y="2581633"/>
          <a:ext cx="3699641" cy="1691640"/>
        </p:xfrm>
        <a:graphic>
          <a:graphicData uri="http://schemas.openxmlformats.org/drawingml/2006/table">
            <a:tbl>
              <a:tblPr firstRow="1" bandRow="1">
                <a:tableStyleId>{17292A2E-F333-43FB-9621-5CBBE7FDCDCB}</a:tableStyleId>
              </a:tblPr>
              <a:tblGrid>
                <a:gridCol w="1176564">
                  <a:extLst>
                    <a:ext uri="{9D8B030D-6E8A-4147-A177-3AD203B41FA5}">
                      <a16:colId xmlns:a16="http://schemas.microsoft.com/office/drawing/2014/main" val="1248849160"/>
                    </a:ext>
                  </a:extLst>
                </a:gridCol>
                <a:gridCol w="2523077">
                  <a:extLst>
                    <a:ext uri="{9D8B030D-6E8A-4147-A177-3AD203B41FA5}">
                      <a16:colId xmlns:a16="http://schemas.microsoft.com/office/drawing/2014/main" val="2639526815"/>
                    </a:ext>
                  </a:extLst>
                </a:gridCol>
              </a:tblGrid>
              <a:tr h="345440">
                <a:tc gridSpan="2">
                  <a:txBody>
                    <a:bodyPr/>
                    <a:lstStyle/>
                    <a:p>
                      <a:pPr algn="ctr"/>
                      <a:r>
                        <a:rPr lang="en-US" sz="1500" b="0">
                          <a:latin typeface="Adani Light" panose="02000503000000020004" pitchFamily="2" charset="0"/>
                        </a:rPr>
                        <a:t>BESS-11</a:t>
                      </a:r>
                    </a:p>
                  </a:txBody>
                  <a:tcPr marL="121920" marR="121920" marT="60960" marB="60960"/>
                </a:tc>
                <a:tc hMerge="1">
                  <a:txBody>
                    <a:bodyPr/>
                    <a:lstStyle/>
                    <a:p>
                      <a:endParaRPr lang="en-US" sz="1100"/>
                    </a:p>
                  </a:txBody>
                  <a:tcPr/>
                </a:tc>
                <a:extLst>
                  <a:ext uri="{0D108BD9-81ED-4DB2-BD59-A6C34878D82A}">
                    <a16:rowId xmlns:a16="http://schemas.microsoft.com/office/drawing/2014/main" val="536349362"/>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S8+S9</a:t>
                      </a:r>
                    </a:p>
                  </a:txBody>
                  <a:tcPr marL="121920" marR="121920" marT="60960" marB="60960">
                    <a:solidFill>
                      <a:schemeClr val="bg1"/>
                    </a:solidFill>
                  </a:tcPr>
                </a:tc>
                <a:extLst>
                  <a:ext uri="{0D108BD9-81ED-4DB2-BD59-A6C34878D82A}">
                    <a16:rowId xmlns:a16="http://schemas.microsoft.com/office/drawing/2014/main" val="3646307931"/>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1080 MW / 2436 MWh</a:t>
                      </a:r>
                    </a:p>
                  </a:txBody>
                  <a:tcPr marL="121920" marR="121920" marT="60960" marB="60960">
                    <a:solidFill>
                      <a:schemeClr val="bg1"/>
                    </a:solidFill>
                  </a:tcPr>
                </a:tc>
                <a:extLst>
                  <a:ext uri="{0D108BD9-81ED-4DB2-BD59-A6C34878D82A}">
                    <a16:rowId xmlns:a16="http://schemas.microsoft.com/office/drawing/2014/main" val="353581223"/>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432 Nos</a:t>
                      </a:r>
                    </a:p>
                  </a:txBody>
                  <a:tcPr marL="121920" marR="121920" marT="60960" marB="60960">
                    <a:solidFill>
                      <a:schemeClr val="bg1"/>
                    </a:solidFill>
                  </a:tcPr>
                </a:tc>
                <a:extLst>
                  <a:ext uri="{0D108BD9-81ED-4DB2-BD59-A6C34878D82A}">
                    <a16:rowId xmlns:a16="http://schemas.microsoft.com/office/drawing/2014/main" val="875174441"/>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69.1 Acres (In 3 Parcel)</a:t>
                      </a:r>
                    </a:p>
                  </a:txBody>
                  <a:tcPr marL="121920" marR="121920" marT="60960" marB="60960">
                    <a:solidFill>
                      <a:schemeClr val="bg1"/>
                    </a:solidFill>
                  </a:tcPr>
                </a:tc>
                <a:extLst>
                  <a:ext uri="{0D108BD9-81ED-4DB2-BD59-A6C34878D82A}">
                    <a16:rowId xmlns:a16="http://schemas.microsoft.com/office/drawing/2014/main" val="1488680870"/>
                  </a:ext>
                </a:extLst>
              </a:tr>
            </a:tbl>
          </a:graphicData>
        </a:graphic>
      </p:graphicFrame>
      <p:sp>
        <p:nvSpPr>
          <p:cNvPr id="26" name="TextBox 25">
            <a:extLst>
              <a:ext uri="{FF2B5EF4-FFF2-40B4-BE49-F238E27FC236}">
                <a16:creationId xmlns:a16="http://schemas.microsoft.com/office/drawing/2014/main" id="{BD4EC03C-5A11-1D68-3ACC-920672306FCD}"/>
              </a:ext>
            </a:extLst>
          </p:cNvPr>
          <p:cNvSpPr txBox="1"/>
          <p:nvPr/>
        </p:nvSpPr>
        <p:spPr>
          <a:xfrm>
            <a:off x="5429250" y="6469647"/>
            <a:ext cx="1269491" cy="307777"/>
          </a:xfrm>
          <a:prstGeom prst="rect">
            <a:avLst/>
          </a:prstGeom>
          <a:noFill/>
          <a:ln>
            <a:noFill/>
          </a:ln>
        </p:spPr>
        <p:txBody>
          <a:bodyPr wrap="square" rtlCol="0">
            <a:spAutoFit/>
          </a:bodyPr>
          <a:lstStyle/>
          <a:p>
            <a:r>
              <a:rPr lang="en-IN" sz="1400">
                <a:solidFill>
                  <a:srgbClr val="FF0000"/>
                </a:solidFill>
                <a:latin typeface="Adani Regular" panose="02000503000000020004" pitchFamily="2" charset="0"/>
              </a:rPr>
              <a:t>Air Strip</a:t>
            </a:r>
          </a:p>
        </p:txBody>
      </p:sp>
      <p:cxnSp>
        <p:nvCxnSpPr>
          <p:cNvPr id="28" name="Straight Arrow Connector 27">
            <a:extLst>
              <a:ext uri="{FF2B5EF4-FFF2-40B4-BE49-F238E27FC236}">
                <a16:creationId xmlns:a16="http://schemas.microsoft.com/office/drawing/2014/main" id="{4ACE54FA-3B41-5BBC-008F-3723FE16194E}"/>
              </a:ext>
            </a:extLst>
          </p:cNvPr>
          <p:cNvCxnSpPr>
            <a:cxnSpLocks/>
          </p:cNvCxnSpPr>
          <p:nvPr/>
        </p:nvCxnSpPr>
        <p:spPr>
          <a:xfrm flipH="1">
            <a:off x="6248400" y="6378058"/>
            <a:ext cx="442813" cy="245477"/>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C22C559E-395C-F70E-9C04-0852DDC27B5B}"/>
              </a:ext>
            </a:extLst>
          </p:cNvPr>
          <p:cNvSpPr/>
          <p:nvPr/>
        </p:nvSpPr>
        <p:spPr>
          <a:xfrm>
            <a:off x="5211868" y="5648961"/>
            <a:ext cx="832179" cy="46171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graphicFrame>
        <p:nvGraphicFramePr>
          <p:cNvPr id="5" name="Table 4">
            <a:extLst>
              <a:ext uri="{FF2B5EF4-FFF2-40B4-BE49-F238E27FC236}">
                <a16:creationId xmlns:a16="http://schemas.microsoft.com/office/drawing/2014/main" id="{3F184CF3-48F8-322A-EAB9-231987BB295E}"/>
              </a:ext>
            </a:extLst>
          </p:cNvPr>
          <p:cNvGraphicFramePr>
            <a:graphicFrameLocks noGrp="1"/>
          </p:cNvGraphicFramePr>
          <p:nvPr/>
        </p:nvGraphicFramePr>
        <p:xfrm>
          <a:off x="7955317" y="4491512"/>
          <a:ext cx="3660120" cy="1691640"/>
        </p:xfrm>
        <a:graphic>
          <a:graphicData uri="http://schemas.openxmlformats.org/drawingml/2006/table">
            <a:tbl>
              <a:tblPr firstRow="1" bandRow="1">
                <a:tableStyleId>{17292A2E-F333-43FB-9621-5CBBE7FDCDCB}</a:tableStyleId>
              </a:tblPr>
              <a:tblGrid>
                <a:gridCol w="1200573">
                  <a:extLst>
                    <a:ext uri="{9D8B030D-6E8A-4147-A177-3AD203B41FA5}">
                      <a16:colId xmlns:a16="http://schemas.microsoft.com/office/drawing/2014/main" val="2076136626"/>
                    </a:ext>
                  </a:extLst>
                </a:gridCol>
                <a:gridCol w="2459547">
                  <a:extLst>
                    <a:ext uri="{9D8B030D-6E8A-4147-A177-3AD203B41FA5}">
                      <a16:colId xmlns:a16="http://schemas.microsoft.com/office/drawing/2014/main" val="2439711551"/>
                    </a:ext>
                  </a:extLst>
                </a:gridCol>
              </a:tblGrid>
              <a:tr h="345440">
                <a:tc gridSpan="2">
                  <a:txBody>
                    <a:bodyPr/>
                    <a:lstStyle/>
                    <a:p>
                      <a:pPr algn="ctr"/>
                      <a:r>
                        <a:rPr lang="en-US" sz="1500" b="0">
                          <a:latin typeface="Adani Light" panose="02000503000000020004" pitchFamily="2" charset="0"/>
                        </a:rPr>
                        <a:t>BESS-09</a:t>
                      </a:r>
                    </a:p>
                  </a:txBody>
                  <a:tcPr marL="121920" marR="121920" marT="60960" marB="60960"/>
                </a:tc>
                <a:tc hMerge="1">
                  <a:txBody>
                    <a:bodyPr/>
                    <a:lstStyle/>
                    <a:p>
                      <a:endParaRPr lang="en-US" sz="1100"/>
                    </a:p>
                  </a:txBody>
                  <a:tcPr/>
                </a:tc>
                <a:extLst>
                  <a:ext uri="{0D108BD9-81ED-4DB2-BD59-A6C34878D82A}">
                    <a16:rowId xmlns:a16="http://schemas.microsoft.com/office/drawing/2014/main" val="1435390413"/>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A17</a:t>
                      </a:r>
                    </a:p>
                  </a:txBody>
                  <a:tcPr marL="121920" marR="121920" marT="60960" marB="60960">
                    <a:solidFill>
                      <a:schemeClr val="bg1"/>
                    </a:solidFill>
                  </a:tcPr>
                </a:tc>
                <a:extLst>
                  <a:ext uri="{0D108BD9-81ED-4DB2-BD59-A6C34878D82A}">
                    <a16:rowId xmlns:a16="http://schemas.microsoft.com/office/drawing/2014/main" val="3895667008"/>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1080 MW / 2436 MWh</a:t>
                      </a:r>
                    </a:p>
                  </a:txBody>
                  <a:tcPr marL="121920" marR="121920" marT="60960" marB="60960">
                    <a:solidFill>
                      <a:schemeClr val="bg1"/>
                    </a:solidFill>
                  </a:tcPr>
                </a:tc>
                <a:extLst>
                  <a:ext uri="{0D108BD9-81ED-4DB2-BD59-A6C34878D82A}">
                    <a16:rowId xmlns:a16="http://schemas.microsoft.com/office/drawing/2014/main" val="1896717730"/>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432 Nos</a:t>
                      </a:r>
                    </a:p>
                  </a:txBody>
                  <a:tcPr marL="121920" marR="121920" marT="60960" marB="60960">
                    <a:solidFill>
                      <a:schemeClr val="bg1"/>
                    </a:solidFill>
                  </a:tcPr>
                </a:tc>
                <a:extLst>
                  <a:ext uri="{0D108BD9-81ED-4DB2-BD59-A6C34878D82A}">
                    <a16:rowId xmlns:a16="http://schemas.microsoft.com/office/drawing/2014/main" val="1973652270"/>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70 Acres</a:t>
                      </a:r>
                    </a:p>
                  </a:txBody>
                  <a:tcPr marL="121920" marR="121920" marT="60960" marB="60960">
                    <a:solidFill>
                      <a:schemeClr val="bg1"/>
                    </a:solidFill>
                  </a:tcPr>
                </a:tc>
                <a:extLst>
                  <a:ext uri="{0D108BD9-81ED-4DB2-BD59-A6C34878D82A}">
                    <a16:rowId xmlns:a16="http://schemas.microsoft.com/office/drawing/2014/main" val="2836138700"/>
                  </a:ext>
                </a:extLst>
              </a:tr>
            </a:tbl>
          </a:graphicData>
        </a:graphic>
      </p:graphicFrame>
      <p:graphicFrame>
        <p:nvGraphicFramePr>
          <p:cNvPr id="6" name="Table 5">
            <a:extLst>
              <a:ext uri="{FF2B5EF4-FFF2-40B4-BE49-F238E27FC236}">
                <a16:creationId xmlns:a16="http://schemas.microsoft.com/office/drawing/2014/main" id="{EC381AD7-2B52-75D6-65A0-D948647BC0F4}"/>
              </a:ext>
            </a:extLst>
          </p:cNvPr>
          <p:cNvGraphicFramePr>
            <a:graphicFrameLocks noGrp="1"/>
          </p:cNvGraphicFramePr>
          <p:nvPr>
            <p:extLst>
              <p:ext uri="{D42A27DB-BD31-4B8C-83A1-F6EECF244321}">
                <p14:modId xmlns:p14="http://schemas.microsoft.com/office/powerpoint/2010/main" val="3423271130"/>
              </p:ext>
            </p:extLst>
          </p:nvPr>
        </p:nvGraphicFramePr>
        <p:xfrm>
          <a:off x="25885" y="656997"/>
          <a:ext cx="3699641" cy="1691640"/>
        </p:xfrm>
        <a:graphic>
          <a:graphicData uri="http://schemas.openxmlformats.org/drawingml/2006/table">
            <a:tbl>
              <a:tblPr firstRow="1" bandRow="1">
                <a:tableStyleId>{17292A2E-F333-43FB-9621-5CBBE7FDCDCB}</a:tableStyleId>
              </a:tblPr>
              <a:tblGrid>
                <a:gridCol w="1176564">
                  <a:extLst>
                    <a:ext uri="{9D8B030D-6E8A-4147-A177-3AD203B41FA5}">
                      <a16:colId xmlns:a16="http://schemas.microsoft.com/office/drawing/2014/main" val="1248849160"/>
                    </a:ext>
                  </a:extLst>
                </a:gridCol>
                <a:gridCol w="2523077">
                  <a:extLst>
                    <a:ext uri="{9D8B030D-6E8A-4147-A177-3AD203B41FA5}">
                      <a16:colId xmlns:a16="http://schemas.microsoft.com/office/drawing/2014/main" val="2639526815"/>
                    </a:ext>
                  </a:extLst>
                </a:gridCol>
              </a:tblGrid>
              <a:tr h="345440">
                <a:tc gridSpan="2">
                  <a:txBody>
                    <a:bodyPr/>
                    <a:lstStyle/>
                    <a:p>
                      <a:pPr algn="ctr"/>
                      <a:r>
                        <a:rPr lang="en-US" sz="1500" b="0">
                          <a:latin typeface="Adani Light" panose="02000503000000020004" pitchFamily="2" charset="0"/>
                        </a:rPr>
                        <a:t>BESS-08(B)</a:t>
                      </a:r>
                    </a:p>
                  </a:txBody>
                  <a:tcPr marL="121920" marR="121920" marT="60960" marB="60960"/>
                </a:tc>
                <a:tc hMerge="1">
                  <a:txBody>
                    <a:bodyPr/>
                    <a:lstStyle/>
                    <a:p>
                      <a:endParaRPr lang="en-US" sz="1100"/>
                    </a:p>
                  </a:txBody>
                  <a:tcPr/>
                </a:tc>
                <a:extLst>
                  <a:ext uri="{0D108BD9-81ED-4DB2-BD59-A6C34878D82A}">
                    <a16:rowId xmlns:a16="http://schemas.microsoft.com/office/drawing/2014/main" val="536349362"/>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A18</a:t>
                      </a:r>
                    </a:p>
                  </a:txBody>
                  <a:tcPr marL="121920" marR="121920" marT="60960" marB="60960">
                    <a:solidFill>
                      <a:schemeClr val="bg1"/>
                    </a:solidFill>
                  </a:tcPr>
                </a:tc>
                <a:extLst>
                  <a:ext uri="{0D108BD9-81ED-4DB2-BD59-A6C34878D82A}">
                    <a16:rowId xmlns:a16="http://schemas.microsoft.com/office/drawing/2014/main" val="3646307931"/>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420 MW / 843 MWh</a:t>
                      </a:r>
                    </a:p>
                  </a:txBody>
                  <a:tcPr marL="121920" marR="121920" marT="60960" marB="60960">
                    <a:solidFill>
                      <a:schemeClr val="bg1"/>
                    </a:solidFill>
                  </a:tcPr>
                </a:tc>
                <a:extLst>
                  <a:ext uri="{0D108BD9-81ED-4DB2-BD59-A6C34878D82A}">
                    <a16:rowId xmlns:a16="http://schemas.microsoft.com/office/drawing/2014/main" val="353581223"/>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168 Nos</a:t>
                      </a:r>
                    </a:p>
                  </a:txBody>
                  <a:tcPr marL="121920" marR="121920" marT="60960" marB="60960">
                    <a:solidFill>
                      <a:schemeClr val="bg1"/>
                    </a:solidFill>
                  </a:tcPr>
                </a:tc>
                <a:extLst>
                  <a:ext uri="{0D108BD9-81ED-4DB2-BD59-A6C34878D82A}">
                    <a16:rowId xmlns:a16="http://schemas.microsoft.com/office/drawing/2014/main" val="875174441"/>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31.3 Acres</a:t>
                      </a:r>
                    </a:p>
                  </a:txBody>
                  <a:tcPr marL="121920" marR="121920" marT="60960" marB="60960">
                    <a:solidFill>
                      <a:schemeClr val="bg1"/>
                    </a:solidFill>
                  </a:tcPr>
                </a:tc>
                <a:extLst>
                  <a:ext uri="{0D108BD9-81ED-4DB2-BD59-A6C34878D82A}">
                    <a16:rowId xmlns:a16="http://schemas.microsoft.com/office/drawing/2014/main" val="1488680870"/>
                  </a:ext>
                </a:extLst>
              </a:tr>
            </a:tbl>
          </a:graphicData>
        </a:graphic>
      </p:graphicFrame>
      <p:sp>
        <p:nvSpPr>
          <p:cNvPr id="14" name="Oval 13">
            <a:extLst>
              <a:ext uri="{FF2B5EF4-FFF2-40B4-BE49-F238E27FC236}">
                <a16:creationId xmlns:a16="http://schemas.microsoft.com/office/drawing/2014/main" id="{73C22FFC-834A-BB78-4BC6-D0A85E65EC48}"/>
              </a:ext>
            </a:extLst>
          </p:cNvPr>
          <p:cNvSpPr/>
          <p:nvPr/>
        </p:nvSpPr>
        <p:spPr>
          <a:xfrm>
            <a:off x="4155183" y="1263301"/>
            <a:ext cx="837607" cy="56710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cxnSp>
        <p:nvCxnSpPr>
          <p:cNvPr id="22" name="Straight Arrow Connector 21">
            <a:extLst>
              <a:ext uri="{FF2B5EF4-FFF2-40B4-BE49-F238E27FC236}">
                <a16:creationId xmlns:a16="http://schemas.microsoft.com/office/drawing/2014/main" id="{3020FC91-8D2D-482D-33CB-D06B0D2DAFFB}"/>
              </a:ext>
            </a:extLst>
          </p:cNvPr>
          <p:cNvCxnSpPr>
            <a:cxnSpLocks/>
            <a:stCxn id="2" idx="6"/>
          </p:cNvCxnSpPr>
          <p:nvPr/>
        </p:nvCxnSpPr>
        <p:spPr>
          <a:xfrm flipV="1">
            <a:off x="6044047" y="5183443"/>
            <a:ext cx="1911270" cy="69637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Table 23">
            <a:extLst>
              <a:ext uri="{FF2B5EF4-FFF2-40B4-BE49-F238E27FC236}">
                <a16:creationId xmlns:a16="http://schemas.microsoft.com/office/drawing/2014/main" id="{1D9AB8C3-E641-EE76-C83B-10646C5FC89B}"/>
              </a:ext>
            </a:extLst>
          </p:cNvPr>
          <p:cNvGraphicFramePr>
            <a:graphicFrameLocks noGrp="1"/>
          </p:cNvGraphicFramePr>
          <p:nvPr/>
        </p:nvGraphicFramePr>
        <p:xfrm>
          <a:off x="1" y="5001260"/>
          <a:ext cx="3699641" cy="1691640"/>
        </p:xfrm>
        <a:graphic>
          <a:graphicData uri="http://schemas.openxmlformats.org/drawingml/2006/table">
            <a:tbl>
              <a:tblPr firstRow="1" bandRow="1">
                <a:tableStyleId>{17292A2E-F333-43FB-9621-5CBBE7FDCDCB}</a:tableStyleId>
              </a:tblPr>
              <a:tblGrid>
                <a:gridCol w="1176564">
                  <a:extLst>
                    <a:ext uri="{9D8B030D-6E8A-4147-A177-3AD203B41FA5}">
                      <a16:colId xmlns:a16="http://schemas.microsoft.com/office/drawing/2014/main" val="1248849160"/>
                    </a:ext>
                  </a:extLst>
                </a:gridCol>
                <a:gridCol w="2523077">
                  <a:extLst>
                    <a:ext uri="{9D8B030D-6E8A-4147-A177-3AD203B41FA5}">
                      <a16:colId xmlns:a16="http://schemas.microsoft.com/office/drawing/2014/main" val="2639526815"/>
                    </a:ext>
                  </a:extLst>
                </a:gridCol>
              </a:tblGrid>
              <a:tr h="345440">
                <a:tc gridSpan="2">
                  <a:txBody>
                    <a:bodyPr/>
                    <a:lstStyle/>
                    <a:p>
                      <a:pPr algn="ctr"/>
                      <a:r>
                        <a:rPr lang="en-US" sz="1500" b="0">
                          <a:latin typeface="Adani Light" panose="02000503000000020004" pitchFamily="2" charset="0"/>
                        </a:rPr>
                        <a:t>BESS-05(B)</a:t>
                      </a:r>
                    </a:p>
                  </a:txBody>
                  <a:tcPr marL="121920" marR="121920" marT="60960" marB="60960"/>
                </a:tc>
                <a:tc hMerge="1">
                  <a:txBody>
                    <a:bodyPr/>
                    <a:lstStyle/>
                    <a:p>
                      <a:endParaRPr lang="en-US" sz="1100"/>
                    </a:p>
                  </a:txBody>
                  <a:tcPr/>
                </a:tc>
                <a:extLst>
                  <a:ext uri="{0D108BD9-81ED-4DB2-BD59-A6C34878D82A}">
                    <a16:rowId xmlns:a16="http://schemas.microsoft.com/office/drawing/2014/main" val="536349362"/>
                  </a:ext>
                </a:extLst>
              </a:tr>
              <a:tr h="335280">
                <a:tc>
                  <a:txBody>
                    <a:bodyPr/>
                    <a:lstStyle/>
                    <a:p>
                      <a:r>
                        <a:rPr lang="en-US" sz="1400">
                          <a:latin typeface="Adani Light" panose="02000503000000020004" pitchFamily="2" charset="0"/>
                        </a:rPr>
                        <a:t>Plot No.</a:t>
                      </a:r>
                    </a:p>
                  </a:txBody>
                  <a:tcPr marL="121920" marR="121920" marT="60960" marB="60960">
                    <a:solidFill>
                      <a:schemeClr val="bg1"/>
                    </a:solidFill>
                  </a:tcPr>
                </a:tc>
                <a:tc>
                  <a:txBody>
                    <a:bodyPr/>
                    <a:lstStyle/>
                    <a:p>
                      <a:r>
                        <a:rPr lang="en-US" sz="1400">
                          <a:latin typeface="Adani Light" panose="02000503000000020004" pitchFamily="2" charset="0"/>
                        </a:rPr>
                        <a:t>A17</a:t>
                      </a:r>
                    </a:p>
                  </a:txBody>
                  <a:tcPr marL="121920" marR="121920" marT="60960" marB="60960">
                    <a:solidFill>
                      <a:schemeClr val="bg1"/>
                    </a:solidFill>
                  </a:tcPr>
                </a:tc>
                <a:extLst>
                  <a:ext uri="{0D108BD9-81ED-4DB2-BD59-A6C34878D82A}">
                    <a16:rowId xmlns:a16="http://schemas.microsoft.com/office/drawing/2014/main" val="3646307931"/>
                  </a:ext>
                </a:extLst>
              </a:tr>
              <a:tr h="335280">
                <a:tc>
                  <a:txBody>
                    <a:bodyPr/>
                    <a:lstStyle/>
                    <a:p>
                      <a:r>
                        <a:rPr lang="en-US" sz="1400">
                          <a:latin typeface="Adani Light" panose="02000503000000020004" pitchFamily="2" charset="0"/>
                        </a:rPr>
                        <a:t>Capacity</a:t>
                      </a:r>
                    </a:p>
                  </a:txBody>
                  <a:tcPr marL="121920" marR="121920" marT="60960" marB="60960">
                    <a:solidFill>
                      <a:schemeClr val="bg1"/>
                    </a:solidFill>
                  </a:tcPr>
                </a:tc>
                <a:tc>
                  <a:txBody>
                    <a:bodyPr/>
                    <a:lstStyle/>
                    <a:p>
                      <a:r>
                        <a:rPr lang="en-US" sz="1400">
                          <a:latin typeface="Adani Light" panose="02000503000000020004" pitchFamily="2" charset="0"/>
                        </a:rPr>
                        <a:t>1120 MW / 2527 MWh</a:t>
                      </a:r>
                    </a:p>
                  </a:txBody>
                  <a:tcPr marL="121920" marR="121920" marT="60960" marB="60960">
                    <a:solidFill>
                      <a:schemeClr val="bg1"/>
                    </a:solidFill>
                  </a:tcPr>
                </a:tc>
                <a:extLst>
                  <a:ext uri="{0D108BD9-81ED-4DB2-BD59-A6C34878D82A}">
                    <a16:rowId xmlns:a16="http://schemas.microsoft.com/office/drawing/2014/main" val="353581223"/>
                  </a:ext>
                </a:extLst>
              </a:tr>
              <a:tr h="335280">
                <a:tc>
                  <a:txBody>
                    <a:bodyPr/>
                    <a:lstStyle/>
                    <a:p>
                      <a:r>
                        <a:rPr lang="en-US" sz="1400">
                          <a:latin typeface="Adani Light" panose="02000503000000020004" pitchFamily="2" charset="0"/>
                        </a:rPr>
                        <a:t>Containers</a:t>
                      </a:r>
                    </a:p>
                  </a:txBody>
                  <a:tcPr marL="121920" marR="121920" marT="60960" marB="60960">
                    <a:solidFill>
                      <a:schemeClr val="bg1"/>
                    </a:solidFill>
                  </a:tcPr>
                </a:tc>
                <a:tc>
                  <a:txBody>
                    <a:bodyPr/>
                    <a:lstStyle/>
                    <a:p>
                      <a:r>
                        <a:rPr lang="en-US" sz="1400">
                          <a:latin typeface="Adani Light" panose="02000503000000020004" pitchFamily="2" charset="0"/>
                        </a:rPr>
                        <a:t>448 Nos</a:t>
                      </a:r>
                    </a:p>
                  </a:txBody>
                  <a:tcPr marL="121920" marR="121920" marT="60960" marB="60960">
                    <a:solidFill>
                      <a:schemeClr val="bg1"/>
                    </a:solidFill>
                  </a:tcPr>
                </a:tc>
                <a:extLst>
                  <a:ext uri="{0D108BD9-81ED-4DB2-BD59-A6C34878D82A}">
                    <a16:rowId xmlns:a16="http://schemas.microsoft.com/office/drawing/2014/main" val="875174441"/>
                  </a:ext>
                </a:extLst>
              </a:tr>
              <a:tr h="335280">
                <a:tc>
                  <a:txBody>
                    <a:bodyPr/>
                    <a:lstStyle/>
                    <a:p>
                      <a:r>
                        <a:rPr lang="en-US" sz="1400">
                          <a:latin typeface="Adani Light" panose="02000503000000020004" pitchFamily="2" charset="0"/>
                        </a:rPr>
                        <a:t>Land</a:t>
                      </a:r>
                    </a:p>
                  </a:txBody>
                  <a:tcPr marL="121920" marR="121920" marT="60960" marB="60960">
                    <a:solidFill>
                      <a:schemeClr val="bg1"/>
                    </a:solidFill>
                  </a:tcPr>
                </a:tc>
                <a:tc>
                  <a:txBody>
                    <a:bodyPr/>
                    <a:lstStyle/>
                    <a:p>
                      <a:r>
                        <a:rPr lang="en-US" sz="1400">
                          <a:latin typeface="Adani Light" panose="02000503000000020004" pitchFamily="2" charset="0"/>
                        </a:rPr>
                        <a:t>68.81 Acres (In 2 Parcel)</a:t>
                      </a:r>
                    </a:p>
                  </a:txBody>
                  <a:tcPr marL="121920" marR="121920" marT="60960" marB="60960">
                    <a:solidFill>
                      <a:schemeClr val="bg1"/>
                    </a:solidFill>
                  </a:tcPr>
                </a:tc>
                <a:extLst>
                  <a:ext uri="{0D108BD9-81ED-4DB2-BD59-A6C34878D82A}">
                    <a16:rowId xmlns:a16="http://schemas.microsoft.com/office/drawing/2014/main" val="1488680870"/>
                  </a:ext>
                </a:extLst>
              </a:tr>
            </a:tbl>
          </a:graphicData>
        </a:graphic>
      </p:graphicFrame>
      <p:sp>
        <p:nvSpPr>
          <p:cNvPr id="25" name="Oval 24">
            <a:extLst>
              <a:ext uri="{FF2B5EF4-FFF2-40B4-BE49-F238E27FC236}">
                <a16:creationId xmlns:a16="http://schemas.microsoft.com/office/drawing/2014/main" id="{95367D2A-5CFE-E9C7-30E1-F89E29256866}"/>
              </a:ext>
            </a:extLst>
          </p:cNvPr>
          <p:cNvSpPr/>
          <p:nvPr/>
        </p:nvSpPr>
        <p:spPr>
          <a:xfrm>
            <a:off x="4192638" y="5001260"/>
            <a:ext cx="712737" cy="53276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endParaRPr lang="en-US" sz="2400" b="1">
              <a:solidFill>
                <a:prstClr val="white"/>
              </a:solidFill>
              <a:latin typeface="Calibri"/>
            </a:endParaRPr>
          </a:p>
        </p:txBody>
      </p:sp>
      <p:cxnSp>
        <p:nvCxnSpPr>
          <p:cNvPr id="31" name="Straight Arrow Connector 30">
            <a:extLst>
              <a:ext uri="{FF2B5EF4-FFF2-40B4-BE49-F238E27FC236}">
                <a16:creationId xmlns:a16="http://schemas.microsoft.com/office/drawing/2014/main" id="{73025F5F-6895-D112-24F9-0F5BFF4A54FF}"/>
              </a:ext>
            </a:extLst>
          </p:cNvPr>
          <p:cNvCxnSpPr>
            <a:cxnSpLocks/>
            <a:stCxn id="25" idx="2"/>
          </p:cNvCxnSpPr>
          <p:nvPr/>
        </p:nvCxnSpPr>
        <p:spPr>
          <a:xfrm flipH="1">
            <a:off x="3699642" y="5267643"/>
            <a:ext cx="492996" cy="2167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BA6440C-9635-51D4-2FC8-F48C2794A106}"/>
              </a:ext>
            </a:extLst>
          </p:cNvPr>
          <p:cNvCxnSpPr>
            <a:cxnSpLocks/>
            <a:stCxn id="14" idx="2"/>
          </p:cNvCxnSpPr>
          <p:nvPr/>
        </p:nvCxnSpPr>
        <p:spPr>
          <a:xfrm flipH="1">
            <a:off x="3718827" y="1546856"/>
            <a:ext cx="436356" cy="14450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5A0D950-88EB-0321-149D-A37E562E129A}"/>
              </a:ext>
            </a:extLst>
          </p:cNvPr>
          <p:cNvSpPr txBox="1"/>
          <p:nvPr/>
        </p:nvSpPr>
        <p:spPr>
          <a:xfrm>
            <a:off x="3725526" y="6183152"/>
            <a:ext cx="986055" cy="440383"/>
          </a:xfrm>
          <a:prstGeom prst="rect">
            <a:avLst/>
          </a:prstGeom>
          <a:solidFill>
            <a:schemeClr val="bg1"/>
          </a:solidFill>
        </p:spPr>
        <p:txBody>
          <a:bodyPr wrap="square" rtlCol="0">
            <a:spAutoFit/>
          </a:bodyPr>
          <a:lstStyle/>
          <a:p>
            <a:endParaRPr lang="en-IN"/>
          </a:p>
        </p:txBody>
      </p:sp>
      <p:sp>
        <p:nvSpPr>
          <p:cNvPr id="39" name="TextBox 38">
            <a:extLst>
              <a:ext uri="{FF2B5EF4-FFF2-40B4-BE49-F238E27FC236}">
                <a16:creationId xmlns:a16="http://schemas.microsoft.com/office/drawing/2014/main" id="{FECBFE14-5454-A988-4FE6-400A8BD5EF8C}"/>
              </a:ext>
            </a:extLst>
          </p:cNvPr>
          <p:cNvSpPr txBox="1"/>
          <p:nvPr/>
        </p:nvSpPr>
        <p:spPr>
          <a:xfrm>
            <a:off x="9208578" y="6200000"/>
            <a:ext cx="986055" cy="440383"/>
          </a:xfrm>
          <a:prstGeom prst="rect">
            <a:avLst/>
          </a:prstGeom>
          <a:solidFill>
            <a:schemeClr val="bg1"/>
          </a:solidFill>
        </p:spPr>
        <p:txBody>
          <a:bodyPr wrap="square" rtlCol="0">
            <a:spAutoFit/>
          </a:bodyPr>
          <a:lstStyle/>
          <a:p>
            <a:endParaRPr lang="en-IN"/>
          </a:p>
        </p:txBody>
      </p:sp>
      <p:sp>
        <p:nvSpPr>
          <p:cNvPr id="4" name="Slide Number Placeholder 2">
            <a:extLst>
              <a:ext uri="{FF2B5EF4-FFF2-40B4-BE49-F238E27FC236}">
                <a16:creationId xmlns:a16="http://schemas.microsoft.com/office/drawing/2014/main" id="{F8C4B0A9-C7F1-5076-F865-F5F07D5C793B}"/>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4</a:t>
            </a:fld>
            <a:endParaRPr lang="en-IN"/>
          </a:p>
        </p:txBody>
      </p:sp>
    </p:spTree>
    <p:extLst>
      <p:ext uri="{BB962C8B-B14F-4D97-AF65-F5344CB8AC3E}">
        <p14:creationId xmlns:p14="http://schemas.microsoft.com/office/powerpoint/2010/main" val="2953168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5D5DE-ED8E-E1DC-FFED-DB9BFA5707A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206C545-E10B-9E1E-E8AE-4D6EF410E6E6}"/>
              </a:ext>
            </a:extLst>
          </p:cNvPr>
          <p:cNvSpPr txBox="1">
            <a:spLocks noChangeArrowheads="1"/>
          </p:cNvSpPr>
          <p:nvPr/>
        </p:nvSpPr>
        <p:spPr>
          <a:xfrm>
            <a:off x="114948" y="178299"/>
            <a:ext cx="10807487" cy="476833"/>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dirty="0">
                <a:solidFill>
                  <a:srgbClr val="912A82"/>
                </a:solidFill>
                <a:highlight>
                  <a:srgbClr val="FFFF00"/>
                </a:highlight>
                <a:latin typeface="Adani Regular" panose="02000503000000020004" pitchFamily="2" charset="0"/>
              </a:rPr>
              <a:t>Commissioning Plan</a:t>
            </a:r>
          </a:p>
        </p:txBody>
      </p:sp>
      <p:graphicFrame>
        <p:nvGraphicFramePr>
          <p:cNvPr id="6" name="Table 5">
            <a:extLst>
              <a:ext uri="{FF2B5EF4-FFF2-40B4-BE49-F238E27FC236}">
                <a16:creationId xmlns:a16="http://schemas.microsoft.com/office/drawing/2014/main" id="{EFD98DE0-D29E-0C68-E2E5-B9C67B06A292}"/>
              </a:ext>
            </a:extLst>
          </p:cNvPr>
          <p:cNvGraphicFramePr>
            <a:graphicFrameLocks noGrp="1"/>
          </p:cNvGraphicFramePr>
          <p:nvPr>
            <p:extLst>
              <p:ext uri="{D42A27DB-BD31-4B8C-83A1-F6EECF244321}">
                <p14:modId xmlns:p14="http://schemas.microsoft.com/office/powerpoint/2010/main" val="2403502514"/>
              </p:ext>
            </p:extLst>
          </p:nvPr>
        </p:nvGraphicFramePr>
        <p:xfrm>
          <a:off x="134916" y="726073"/>
          <a:ext cx="11692321" cy="5843654"/>
        </p:xfrm>
        <a:graphic>
          <a:graphicData uri="http://schemas.openxmlformats.org/drawingml/2006/table">
            <a:tbl>
              <a:tblPr/>
              <a:tblGrid>
                <a:gridCol w="818339">
                  <a:extLst>
                    <a:ext uri="{9D8B030D-6E8A-4147-A177-3AD203B41FA5}">
                      <a16:colId xmlns:a16="http://schemas.microsoft.com/office/drawing/2014/main" val="2982843550"/>
                    </a:ext>
                  </a:extLst>
                </a:gridCol>
                <a:gridCol w="793541">
                  <a:extLst>
                    <a:ext uri="{9D8B030D-6E8A-4147-A177-3AD203B41FA5}">
                      <a16:colId xmlns:a16="http://schemas.microsoft.com/office/drawing/2014/main" val="1286105680"/>
                    </a:ext>
                  </a:extLst>
                </a:gridCol>
                <a:gridCol w="793541">
                  <a:extLst>
                    <a:ext uri="{9D8B030D-6E8A-4147-A177-3AD203B41FA5}">
                      <a16:colId xmlns:a16="http://schemas.microsoft.com/office/drawing/2014/main" val="63005916"/>
                    </a:ext>
                  </a:extLst>
                </a:gridCol>
                <a:gridCol w="768742">
                  <a:extLst>
                    <a:ext uri="{9D8B030D-6E8A-4147-A177-3AD203B41FA5}">
                      <a16:colId xmlns:a16="http://schemas.microsoft.com/office/drawing/2014/main" val="3269332385"/>
                    </a:ext>
                  </a:extLst>
                </a:gridCol>
                <a:gridCol w="771842">
                  <a:extLst>
                    <a:ext uri="{9D8B030D-6E8A-4147-A177-3AD203B41FA5}">
                      <a16:colId xmlns:a16="http://schemas.microsoft.com/office/drawing/2014/main" val="848617449"/>
                    </a:ext>
                  </a:extLst>
                </a:gridCol>
                <a:gridCol w="768742">
                  <a:extLst>
                    <a:ext uri="{9D8B030D-6E8A-4147-A177-3AD203B41FA5}">
                      <a16:colId xmlns:a16="http://schemas.microsoft.com/office/drawing/2014/main" val="4158056376"/>
                    </a:ext>
                  </a:extLst>
                </a:gridCol>
                <a:gridCol w="771842">
                  <a:extLst>
                    <a:ext uri="{9D8B030D-6E8A-4147-A177-3AD203B41FA5}">
                      <a16:colId xmlns:a16="http://schemas.microsoft.com/office/drawing/2014/main" val="2719504872"/>
                    </a:ext>
                  </a:extLst>
                </a:gridCol>
                <a:gridCol w="805939">
                  <a:extLst>
                    <a:ext uri="{9D8B030D-6E8A-4147-A177-3AD203B41FA5}">
                      <a16:colId xmlns:a16="http://schemas.microsoft.com/office/drawing/2014/main" val="2627563669"/>
                    </a:ext>
                  </a:extLst>
                </a:gridCol>
                <a:gridCol w="809039">
                  <a:extLst>
                    <a:ext uri="{9D8B030D-6E8A-4147-A177-3AD203B41FA5}">
                      <a16:colId xmlns:a16="http://schemas.microsoft.com/office/drawing/2014/main" val="3215940237"/>
                    </a:ext>
                  </a:extLst>
                </a:gridCol>
                <a:gridCol w="781142">
                  <a:extLst>
                    <a:ext uri="{9D8B030D-6E8A-4147-A177-3AD203B41FA5}">
                      <a16:colId xmlns:a16="http://schemas.microsoft.com/office/drawing/2014/main" val="4218420736"/>
                    </a:ext>
                  </a:extLst>
                </a:gridCol>
                <a:gridCol w="781142">
                  <a:extLst>
                    <a:ext uri="{9D8B030D-6E8A-4147-A177-3AD203B41FA5}">
                      <a16:colId xmlns:a16="http://schemas.microsoft.com/office/drawing/2014/main" val="126899757"/>
                    </a:ext>
                  </a:extLst>
                </a:gridCol>
                <a:gridCol w="768742">
                  <a:extLst>
                    <a:ext uri="{9D8B030D-6E8A-4147-A177-3AD203B41FA5}">
                      <a16:colId xmlns:a16="http://schemas.microsoft.com/office/drawing/2014/main" val="1670680178"/>
                    </a:ext>
                  </a:extLst>
                </a:gridCol>
                <a:gridCol w="771842">
                  <a:extLst>
                    <a:ext uri="{9D8B030D-6E8A-4147-A177-3AD203B41FA5}">
                      <a16:colId xmlns:a16="http://schemas.microsoft.com/office/drawing/2014/main" val="1797140422"/>
                    </a:ext>
                  </a:extLst>
                </a:gridCol>
                <a:gridCol w="743943">
                  <a:extLst>
                    <a:ext uri="{9D8B030D-6E8A-4147-A177-3AD203B41FA5}">
                      <a16:colId xmlns:a16="http://schemas.microsoft.com/office/drawing/2014/main" val="1970261979"/>
                    </a:ext>
                  </a:extLst>
                </a:gridCol>
                <a:gridCol w="743943">
                  <a:extLst>
                    <a:ext uri="{9D8B030D-6E8A-4147-A177-3AD203B41FA5}">
                      <a16:colId xmlns:a16="http://schemas.microsoft.com/office/drawing/2014/main" val="796460275"/>
                    </a:ext>
                  </a:extLst>
                </a:gridCol>
              </a:tblGrid>
              <a:tr h="156467">
                <a:tc rowSpan="3">
                  <a:txBody>
                    <a:bodyPr/>
                    <a:lstStyle/>
                    <a:p>
                      <a:pPr algn="ctr" rtl="0" fontAlgn="ctr">
                        <a:buNone/>
                      </a:pPr>
                      <a:r>
                        <a:rPr lang="en-US" sz="1100" b="1" i="0" u="none" strike="noStrike">
                          <a:solidFill>
                            <a:srgbClr val="FFFFFF"/>
                          </a:solidFill>
                          <a:effectLst/>
                          <a:latin typeface="Adani Regular" panose="02000503000000020004" pitchFamily="2" charset="0"/>
                        </a:rPr>
                        <a:t>COD</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PSS-11 in MWh</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a:noFill/>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PSS-12 in MWh</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a:noFill/>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PSS-10(B) in MWh</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a:noFill/>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PSS-09 in MWh</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a:noFill/>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PSS-05(B) in MWh</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a:noFill/>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PSS-08(B) in MWh</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a:noFill/>
                    </a:lnB>
                    <a:solidFill>
                      <a:srgbClr val="7030A0"/>
                    </a:solidFill>
                  </a:tcPr>
                </a:tc>
                <a:tc hMerge="1">
                  <a:txBody>
                    <a:bodyPr/>
                    <a:lstStyle/>
                    <a:p>
                      <a:endParaRPr lang="en-US"/>
                    </a:p>
                  </a:txBody>
                  <a:tcPr/>
                </a:tc>
                <a:tc rowSpan="2" gridSpan="2">
                  <a:txBody>
                    <a:bodyPr/>
                    <a:lstStyle/>
                    <a:p>
                      <a:pPr algn="ctr" rtl="0" fontAlgn="ctr">
                        <a:buNone/>
                      </a:pPr>
                      <a:r>
                        <a:rPr lang="en-US" sz="1100" b="1" i="0" u="none" strike="noStrike">
                          <a:solidFill>
                            <a:srgbClr val="FFFFFF"/>
                          </a:solidFill>
                          <a:effectLst/>
                          <a:latin typeface="Adani Regular" panose="02000503000000020004" pitchFamily="2" charset="0"/>
                        </a:rPr>
                        <a:t>Total Capacity (MWh)</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7030A0"/>
                    </a:solidFill>
                  </a:tcPr>
                </a:tc>
                <a:tc rowSpan="2" hMerge="1">
                  <a:txBody>
                    <a:bodyPr/>
                    <a:lstStyle/>
                    <a:p>
                      <a:endParaRPr lang="en-US"/>
                    </a:p>
                  </a:txBody>
                  <a:tcPr/>
                </a:tc>
                <a:extLst>
                  <a:ext uri="{0D108BD9-81ED-4DB2-BD59-A6C34878D82A}">
                    <a16:rowId xmlns:a16="http://schemas.microsoft.com/office/drawing/2014/main" val="3554169663"/>
                  </a:ext>
                </a:extLst>
              </a:tr>
              <a:tr h="156467">
                <a:tc vMerge="1">
                  <a:txBody>
                    <a:bodyPr/>
                    <a:lstStyle/>
                    <a:p>
                      <a:endParaRPr lang="en-US"/>
                    </a:p>
                  </a:txBody>
                  <a:tcPr/>
                </a:tc>
                <a:tc gridSpan="2">
                  <a:txBody>
                    <a:bodyPr/>
                    <a:lstStyle/>
                    <a:p>
                      <a:pPr algn="ctr" rtl="0" fontAlgn="ctr">
                        <a:buNone/>
                      </a:pPr>
                      <a:r>
                        <a:rPr lang="en-US" sz="1100" b="1" i="0" u="none" strike="noStrike" dirty="0">
                          <a:solidFill>
                            <a:srgbClr val="FFFFFF"/>
                          </a:solidFill>
                          <a:effectLst/>
                          <a:latin typeface="Adani Regular" panose="02000503000000020004" pitchFamily="2" charset="0"/>
                        </a:rPr>
                        <a:t>(CATL)</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(CATL)</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(Jinko)</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(CATL)</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(CATL)</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7030A0"/>
                    </a:solidFill>
                  </a:tcPr>
                </a:tc>
                <a:tc hMerge="1">
                  <a:txBody>
                    <a:bodyPr/>
                    <a:lstStyle/>
                    <a:p>
                      <a:endParaRPr lang="en-US"/>
                    </a:p>
                  </a:txBody>
                  <a:tcPr/>
                </a:tc>
                <a:tc gridSpan="2">
                  <a:txBody>
                    <a:bodyPr/>
                    <a:lstStyle/>
                    <a:p>
                      <a:pPr algn="ctr" rtl="0" fontAlgn="ctr">
                        <a:buNone/>
                      </a:pPr>
                      <a:r>
                        <a:rPr lang="en-US" sz="1100" b="1" i="0" u="none" strike="noStrike">
                          <a:solidFill>
                            <a:srgbClr val="FFFFFF"/>
                          </a:solidFill>
                          <a:effectLst/>
                          <a:latin typeface="Adani Regular" panose="02000503000000020004" pitchFamily="2" charset="0"/>
                        </a:rPr>
                        <a:t>(</a:t>
                      </a:r>
                      <a:r>
                        <a:rPr lang="en-US" sz="1100" b="1" i="0" u="none" strike="noStrike" err="1">
                          <a:solidFill>
                            <a:srgbClr val="FFFFFF"/>
                          </a:solidFill>
                          <a:effectLst/>
                          <a:latin typeface="Adani Regular" panose="02000503000000020004" pitchFamily="2" charset="0"/>
                        </a:rPr>
                        <a:t>Greatpower</a:t>
                      </a:r>
                      <a:r>
                        <a:rPr lang="en-US" sz="1100" b="1" i="0" u="none" strike="noStrike">
                          <a:solidFill>
                            <a:srgbClr val="FFFFFF"/>
                          </a:solidFill>
                          <a:effectLst/>
                          <a:latin typeface="Adani Regular" panose="02000503000000020004" pitchFamily="2" charset="0"/>
                        </a:rPr>
                        <a:t>)</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7030A0"/>
                    </a:solidFill>
                  </a:tcPr>
                </a:tc>
                <a:tc h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914022470"/>
                  </a:ext>
                </a:extLst>
              </a:tr>
              <a:tr h="156467">
                <a:tc vMerge="1">
                  <a:txBody>
                    <a:bodyPr/>
                    <a:lstStyle/>
                    <a:p>
                      <a:endParaRPr lang="en-US"/>
                    </a:p>
                  </a:txBody>
                  <a:tcPr/>
                </a:tc>
                <a:tc>
                  <a:txBody>
                    <a:bodyPr/>
                    <a:lstStyle/>
                    <a:p>
                      <a:pPr algn="ctr" rtl="0" fontAlgn="ctr">
                        <a:buNone/>
                      </a:pPr>
                      <a:r>
                        <a:rPr lang="en-US" sz="1100" b="1" i="0" u="none" strike="noStrike" dirty="0">
                          <a:solidFill>
                            <a:srgbClr val="FFFFFF"/>
                          </a:solidFill>
                          <a:effectLst/>
                          <a:latin typeface="Adani Regular" panose="02000503000000020004" pitchFamily="2" charset="0"/>
                        </a:rPr>
                        <a:t>MWh</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Container</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MWh</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Container</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MWh</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Container</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MWh</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Container</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MWh</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Container</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MWh</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Container</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MWh</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Container</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7030A0"/>
                    </a:solidFill>
                  </a:tcPr>
                </a:tc>
                <a:extLst>
                  <a:ext uri="{0D108BD9-81ED-4DB2-BD59-A6C34878D82A}">
                    <a16:rowId xmlns:a16="http://schemas.microsoft.com/office/drawing/2014/main" val="3379873695"/>
                  </a:ext>
                </a:extLst>
              </a:tr>
              <a:tr h="612212">
                <a:tc>
                  <a:txBody>
                    <a:bodyPr/>
                    <a:lstStyle/>
                    <a:p>
                      <a:pPr algn="ctr" rtl="0" fontAlgn="ctr">
                        <a:buNone/>
                      </a:pPr>
                      <a:r>
                        <a:rPr lang="en-US" sz="1100" b="0" i="0" u="none" strike="noStrike">
                          <a:solidFill>
                            <a:srgbClr val="000000"/>
                          </a:solidFill>
                          <a:effectLst/>
                          <a:latin typeface="Adani Regular" panose="02000503000000020004" pitchFamily="2" charset="0"/>
                        </a:rPr>
                        <a:t>31-Jul-26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542</a:t>
                      </a:r>
                    </a:p>
                    <a:p>
                      <a:pPr algn="ctr" rtl="0" fontAlgn="ctr">
                        <a:buNone/>
                      </a:pPr>
                      <a:r>
                        <a:rPr lang="en-US" sz="800" b="0" i="0" u="none" strike="sngStrike">
                          <a:solidFill>
                            <a:srgbClr val="000000"/>
                          </a:solidFill>
                          <a:effectLst/>
                          <a:latin typeface="Adani Regular" panose="02000503000000020004" pitchFamily="2" charset="0"/>
                        </a:rPr>
                        <a:t>1264</a:t>
                      </a:r>
                    </a:p>
                    <a:p>
                      <a:pPr algn="ctr" rtl="0" fontAlgn="ctr">
                        <a:buNone/>
                      </a:pPr>
                      <a:r>
                        <a:rPr lang="en-US" sz="1100" b="0" i="0" u="none" strike="noStrike">
                          <a:solidFill>
                            <a:srgbClr val="000000"/>
                          </a:solidFill>
                          <a:effectLst/>
                          <a:latin typeface="Adani Regular" panose="02000503000000020004" pitchFamily="2" charset="0"/>
                        </a:rPr>
                        <a:t>1084</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96</a:t>
                      </a:r>
                    </a:p>
                    <a:p>
                      <a:pPr algn="ctr" rtl="0" fontAlgn="ctr">
                        <a:buNone/>
                      </a:pPr>
                      <a:r>
                        <a:rPr lang="en-US" sz="800" b="0" i="0" u="none" strike="sngStrike">
                          <a:solidFill>
                            <a:srgbClr val="000000"/>
                          </a:solidFill>
                          <a:effectLst/>
                          <a:latin typeface="Adani Regular" panose="02000503000000020004" pitchFamily="2" charset="0"/>
                        </a:rPr>
                        <a:t>224</a:t>
                      </a:r>
                    </a:p>
                    <a:p>
                      <a:pPr algn="ctr" rtl="0" fontAlgn="ctr">
                        <a:buNone/>
                      </a:pPr>
                      <a:r>
                        <a:rPr lang="en-US" sz="1100" b="0" i="0" u="none" strike="noStrike">
                          <a:solidFill>
                            <a:srgbClr val="000000"/>
                          </a:solidFill>
                          <a:effectLst/>
                          <a:latin typeface="Adani Regular" panose="02000503000000020004" pitchFamily="2" charset="0"/>
                        </a:rPr>
                        <a:t>192</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813</a:t>
                      </a:r>
                      <a:endParaRPr lang="en-US" sz="8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144</a:t>
                      </a:r>
                      <a:endParaRPr lang="en-US" sz="8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401</a:t>
                      </a:r>
                    </a:p>
                    <a:p>
                      <a:pPr algn="ctr" rtl="0" fontAlgn="ctr">
                        <a:buNone/>
                      </a:pPr>
                      <a:r>
                        <a:rPr lang="en-US" sz="1100" b="0" i="0" u="none" strike="noStrike">
                          <a:solidFill>
                            <a:srgbClr val="000000"/>
                          </a:solidFill>
                          <a:effectLst/>
                          <a:latin typeface="Adani Regular" panose="02000503000000020004" pitchFamily="2" charset="0"/>
                        </a:rPr>
                        <a:t>481</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80</a:t>
                      </a:r>
                    </a:p>
                    <a:p>
                      <a:pPr algn="ctr" rtl="0" fontAlgn="ctr">
                        <a:buNone/>
                      </a:pPr>
                      <a:r>
                        <a:rPr lang="en-US" sz="1100" b="0" i="0" u="none" strike="noStrike">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1756</a:t>
                      </a:r>
                    </a:p>
                    <a:p>
                      <a:pPr algn="ctr" rtl="0" fontAlgn="ctr">
                        <a:buNone/>
                      </a:pPr>
                      <a:r>
                        <a:rPr lang="en-US" sz="800" b="1" i="0" u="none" strike="sngStrike">
                          <a:solidFill>
                            <a:srgbClr val="000000"/>
                          </a:solidFill>
                          <a:effectLst/>
                          <a:latin typeface="Adani Regular" panose="02000503000000020004" pitchFamily="2" charset="0"/>
                        </a:rPr>
                        <a:t>1666</a:t>
                      </a:r>
                      <a:br>
                        <a:rPr lang="en-US" sz="800" b="1" i="0" u="none" strike="noStrike">
                          <a:solidFill>
                            <a:srgbClr val="000000"/>
                          </a:solidFill>
                          <a:effectLst/>
                          <a:latin typeface="Adani Regular" panose="02000503000000020004" pitchFamily="2" charset="0"/>
                        </a:rPr>
                      </a:br>
                      <a:r>
                        <a:rPr lang="en-US" sz="800" b="1" i="0" u="none" strike="sngStrike">
                          <a:solidFill>
                            <a:srgbClr val="000000"/>
                          </a:solidFill>
                          <a:effectLst/>
                          <a:latin typeface="Adani Regular" panose="02000503000000020004" pitchFamily="2" charset="0"/>
                        </a:rPr>
                        <a:t>1264</a:t>
                      </a:r>
                    </a:p>
                    <a:p>
                      <a:pPr algn="ctr" rtl="0" fontAlgn="ctr">
                        <a:buNone/>
                      </a:pPr>
                      <a:r>
                        <a:rPr lang="en-US" sz="1100" b="1" i="0" u="none" strike="noStrike">
                          <a:solidFill>
                            <a:srgbClr val="000000"/>
                          </a:solidFill>
                          <a:effectLst/>
                          <a:latin typeface="Adani Regular" panose="02000503000000020004" pitchFamily="2" charset="0"/>
                        </a:rPr>
                        <a:t>1565</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320</a:t>
                      </a:r>
                    </a:p>
                    <a:p>
                      <a:pPr algn="ctr" rtl="0" fontAlgn="ctr">
                        <a:buNone/>
                      </a:pPr>
                      <a:r>
                        <a:rPr lang="en-US" sz="800" b="1" i="0" u="none" strike="sngStrike">
                          <a:solidFill>
                            <a:srgbClr val="000000"/>
                          </a:solidFill>
                          <a:effectLst/>
                          <a:latin typeface="Adani Regular" panose="02000503000000020004" pitchFamily="2" charset="0"/>
                        </a:rPr>
                        <a:t>304</a:t>
                      </a:r>
                      <a:br>
                        <a:rPr lang="en-US" sz="800" b="1" i="0" u="none" strike="noStrike">
                          <a:solidFill>
                            <a:srgbClr val="000000"/>
                          </a:solidFill>
                          <a:effectLst/>
                          <a:latin typeface="Adani Regular" panose="02000503000000020004" pitchFamily="2" charset="0"/>
                        </a:rPr>
                      </a:br>
                      <a:r>
                        <a:rPr lang="en-US" sz="800" b="1" i="0" u="none" strike="sngStrike">
                          <a:solidFill>
                            <a:srgbClr val="000000"/>
                          </a:solidFill>
                          <a:effectLst/>
                          <a:latin typeface="Adani Regular" panose="02000503000000020004" pitchFamily="2" charset="0"/>
                        </a:rPr>
                        <a:t>224</a:t>
                      </a:r>
                    </a:p>
                    <a:p>
                      <a:pPr algn="ctr" rtl="0" fontAlgn="ctr">
                        <a:buNone/>
                      </a:pPr>
                      <a:r>
                        <a:rPr lang="en-US" sz="1100" b="1" i="0" u="none" strike="noStrike">
                          <a:solidFill>
                            <a:srgbClr val="000000"/>
                          </a:solidFill>
                          <a:effectLst/>
                          <a:latin typeface="Adani Regular" panose="02000503000000020004" pitchFamily="2" charset="0"/>
                        </a:rPr>
                        <a:t>288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2063401748"/>
                  </a:ext>
                </a:extLst>
              </a:tr>
              <a:tr h="388239">
                <a:tc>
                  <a:txBody>
                    <a:bodyPr/>
                    <a:lstStyle/>
                    <a:p>
                      <a:pPr algn="ctr" rtl="0" fontAlgn="ctr">
                        <a:buNone/>
                      </a:pPr>
                      <a:r>
                        <a:rPr lang="en-US" sz="1100" b="0" i="0" u="none" strike="noStrike">
                          <a:solidFill>
                            <a:srgbClr val="000000"/>
                          </a:solidFill>
                          <a:effectLst/>
                          <a:latin typeface="Adani Regular" panose="02000503000000020004" pitchFamily="2" charset="0"/>
                        </a:rPr>
                        <a:t>20-Aug-26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241</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48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1" i="0" u="none" strike="noStrike">
                          <a:solidFill>
                            <a:srgbClr val="000000"/>
                          </a:solidFill>
                          <a:effectLst/>
                          <a:latin typeface="Adani Regular" panose="02000503000000020004" pitchFamily="2" charset="0"/>
                        </a:rPr>
                        <a:t>241</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1" i="0" u="none" strike="noStrike">
                          <a:solidFill>
                            <a:srgbClr val="000000"/>
                          </a:solidFill>
                          <a:effectLst/>
                          <a:latin typeface="Adani Regular" panose="02000503000000020004" pitchFamily="2" charset="0"/>
                        </a:rPr>
                        <a:t>48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3420700179"/>
                  </a:ext>
                </a:extLst>
              </a:tr>
              <a:tr h="156467">
                <a:tc rowSpan="2">
                  <a:txBody>
                    <a:bodyPr/>
                    <a:lstStyle/>
                    <a:p>
                      <a:pPr algn="ctr" rtl="0" fontAlgn="ctr">
                        <a:buNone/>
                      </a:pPr>
                      <a:r>
                        <a:rPr lang="en-US" sz="1100" b="0" i="0" u="none" strike="noStrike">
                          <a:solidFill>
                            <a:srgbClr val="000000"/>
                          </a:solidFill>
                          <a:effectLst/>
                          <a:latin typeface="Adani Regular" panose="02000503000000020004" pitchFamily="2" charset="0"/>
                        </a:rPr>
                        <a:t>31-Aug-26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1100" b="0" i="0" u="none" strike="noStrike">
                          <a:solidFill>
                            <a:srgbClr val="000000"/>
                          </a:solidFill>
                          <a:effectLst/>
                          <a:latin typeface="Adani Regular" panose="02000503000000020004" pitchFamily="2" charset="0"/>
                        </a:rPr>
                        <a:t>1355 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1100" b="0" i="0" u="none" strike="noStrike" dirty="0">
                          <a:solidFill>
                            <a:srgbClr val="000000"/>
                          </a:solidFill>
                          <a:effectLst/>
                          <a:latin typeface="Adani Regular" panose="02000503000000020004" pitchFamily="2" charset="0"/>
                        </a:rPr>
                        <a:t>240 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813</a:t>
                      </a:r>
                      <a:endParaRPr lang="en-US" sz="8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144</a:t>
                      </a:r>
                      <a:endParaRPr lang="en-US" sz="8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rowSpan="2">
                  <a:txBody>
                    <a:bodyPr/>
                    <a:lstStyle/>
                    <a:p>
                      <a:pPr algn="ctr" rtl="0" fontAlgn="ctr">
                        <a:buNone/>
                      </a:pPr>
                      <a:r>
                        <a:rPr lang="en-US" sz="800" b="0" i="0" u="none" strike="sngStrike">
                          <a:solidFill>
                            <a:srgbClr val="000000"/>
                          </a:solidFill>
                          <a:effectLst/>
                          <a:latin typeface="Adani Regular" panose="02000503000000020004" pitchFamily="2" charset="0"/>
                        </a:rPr>
                        <a:t>401</a:t>
                      </a:r>
                    </a:p>
                    <a:p>
                      <a:pPr algn="ctr" rtl="0" fontAlgn="ctr">
                        <a:buNone/>
                      </a:pPr>
                      <a:r>
                        <a:rPr lang="en-US" sz="800" b="0" i="0" u="none" strike="sngStrike">
                          <a:solidFill>
                            <a:srgbClr val="000000"/>
                          </a:solidFill>
                          <a:effectLst/>
                          <a:latin typeface="Adani Regular" panose="02000503000000020004" pitchFamily="2" charset="0"/>
                        </a:rPr>
                        <a:t>241</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800" b="0" i="0" u="none" strike="sngStrike">
                          <a:solidFill>
                            <a:srgbClr val="000000"/>
                          </a:solidFill>
                          <a:effectLst/>
                          <a:latin typeface="Adani Regular" panose="02000503000000020004" pitchFamily="2" charset="0"/>
                        </a:rPr>
                        <a:t>80</a:t>
                      </a:r>
                    </a:p>
                    <a:p>
                      <a:pPr algn="ctr" rtl="0" fontAlgn="ctr">
                        <a:buNone/>
                      </a:pPr>
                      <a:r>
                        <a:rPr lang="en-US" sz="800" b="0" i="0" u="none" strike="sngStrike">
                          <a:solidFill>
                            <a:srgbClr val="000000"/>
                          </a:solidFill>
                          <a:effectLst/>
                          <a:latin typeface="Adani Regular" panose="02000503000000020004" pitchFamily="2" charset="0"/>
                        </a:rPr>
                        <a:t>48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1214</a:t>
                      </a:r>
                      <a:endParaRPr lang="en-US" sz="800" b="1"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224</a:t>
                      </a:r>
                      <a:endParaRPr lang="en-US" sz="800" b="1"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208011641"/>
                  </a:ext>
                </a:extLst>
              </a:tr>
              <a:tr h="30838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sngStrike">
                          <a:solidFill>
                            <a:srgbClr val="000000"/>
                          </a:solidFill>
                          <a:effectLst/>
                          <a:latin typeface="Adani Regular" panose="02000503000000020004" pitchFamily="2" charset="0"/>
                        </a:rPr>
                        <a:t>948</a:t>
                      </a:r>
                    </a:p>
                    <a:p>
                      <a:pPr algn="ctr" rtl="0" fontAlgn="ctr">
                        <a:buNone/>
                      </a:pPr>
                      <a:r>
                        <a:rPr lang="en-US" sz="1100" b="0" i="0" u="none" strike="noStrike">
                          <a:solidFill>
                            <a:srgbClr val="000000"/>
                          </a:solidFill>
                          <a:effectLst/>
                          <a:latin typeface="Adani Regular" panose="02000503000000020004" pitchFamily="2" charset="0"/>
                        </a:rPr>
                        <a:t>542</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168</a:t>
                      </a:r>
                    </a:p>
                    <a:p>
                      <a:pPr algn="ctr" rtl="0" fontAlgn="ctr">
                        <a:buNone/>
                      </a:pPr>
                      <a:r>
                        <a:rPr lang="en-US" sz="1100" b="0" i="0" u="none" strike="noStrike">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sngStrike">
                          <a:solidFill>
                            <a:srgbClr val="000000"/>
                          </a:solidFill>
                          <a:effectLst/>
                          <a:latin typeface="Adani Regular" panose="02000503000000020004" pitchFamily="2" charset="0"/>
                        </a:rPr>
                        <a:t>1349</a:t>
                      </a:r>
                    </a:p>
                    <a:p>
                      <a:pPr algn="ctr" rtl="0" fontAlgn="ctr">
                        <a:buNone/>
                      </a:pPr>
                      <a:r>
                        <a:rPr lang="en-US" sz="1100" b="1" i="0" u="none" strike="noStrike">
                          <a:solidFill>
                            <a:srgbClr val="000000"/>
                          </a:solidFill>
                          <a:effectLst/>
                          <a:latin typeface="Adani Regular" panose="02000503000000020004" pitchFamily="2" charset="0"/>
                        </a:rPr>
                        <a:t>1896</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248</a:t>
                      </a:r>
                    </a:p>
                    <a:p>
                      <a:pPr algn="ctr" rtl="0" fontAlgn="ctr">
                        <a:buNone/>
                      </a:pPr>
                      <a:r>
                        <a:rPr lang="en-US" sz="1100" b="1" i="0" u="none" strike="noStrike">
                          <a:solidFill>
                            <a:srgbClr val="000000"/>
                          </a:solidFill>
                          <a:effectLst/>
                          <a:latin typeface="Adani Regular" panose="02000503000000020004" pitchFamily="2" charset="0"/>
                        </a:rPr>
                        <a:t>336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40389597"/>
                  </a:ext>
                </a:extLst>
              </a:tr>
              <a:tr h="281488">
                <a:tc>
                  <a:txBody>
                    <a:bodyPr/>
                    <a:lstStyle/>
                    <a:p>
                      <a:pPr algn="ctr" rtl="0" fontAlgn="ctr">
                        <a:buNone/>
                      </a:pPr>
                      <a:r>
                        <a:rPr lang="en-US" sz="1100" b="0" i="0" u="none" strike="noStrike">
                          <a:solidFill>
                            <a:srgbClr val="000000"/>
                          </a:solidFill>
                          <a:effectLst/>
                          <a:latin typeface="Adani Regular" panose="02000503000000020004" pitchFamily="2" charset="0"/>
                        </a:rPr>
                        <a:t>10-Sep-26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481</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dirty="0">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1" i="0" u="none" strike="noStrike">
                          <a:solidFill>
                            <a:srgbClr val="000000"/>
                          </a:solidFill>
                          <a:effectLst/>
                          <a:latin typeface="Adani Regular" panose="02000503000000020004" pitchFamily="2" charset="0"/>
                        </a:rPr>
                        <a:t>481</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1" i="0" u="none" strike="noStrike">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3727580880"/>
                  </a:ext>
                </a:extLst>
              </a:tr>
              <a:tr h="156467">
                <a:tc rowSpan="2">
                  <a:txBody>
                    <a:bodyPr/>
                    <a:lstStyle/>
                    <a:p>
                      <a:pPr algn="ctr" rtl="0" fontAlgn="ctr">
                        <a:buNone/>
                      </a:pPr>
                      <a:r>
                        <a:rPr lang="en-US" sz="1100" b="0" i="0" u="none" strike="noStrike">
                          <a:solidFill>
                            <a:srgbClr val="000000"/>
                          </a:solidFill>
                          <a:effectLst/>
                          <a:latin typeface="Adani Regular" panose="02000503000000020004" pitchFamily="2" charset="0"/>
                        </a:rPr>
                        <a:t>15-Sep-26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rowSpan="2">
                  <a:txBody>
                    <a:bodyPr/>
                    <a:lstStyle/>
                    <a:p>
                      <a:pPr algn="ctr" rtl="0" fontAlgn="ctr">
                        <a:buNone/>
                      </a:pPr>
                      <a:r>
                        <a:rPr lang="en-US" sz="800" b="0" i="0" u="none" strike="sngStrike">
                          <a:solidFill>
                            <a:srgbClr val="000000"/>
                          </a:solidFill>
                          <a:effectLst/>
                          <a:latin typeface="Adani Regular" panose="02000503000000020004" pitchFamily="2" charset="0"/>
                        </a:rPr>
                        <a:t>226</a:t>
                      </a:r>
                    </a:p>
                    <a:p>
                      <a:pPr algn="ctr" rtl="0" fontAlgn="ctr">
                        <a:buNone/>
                      </a:pPr>
                      <a:r>
                        <a:rPr lang="en-US" sz="1100" b="0" i="0" u="none" strike="noStrike">
                          <a:solidFill>
                            <a:srgbClr val="000000"/>
                          </a:solidFill>
                          <a:effectLst/>
                          <a:latin typeface="Adani Regular" panose="02000503000000020004" pitchFamily="2" charset="0"/>
                        </a:rPr>
                        <a:t>542</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800" b="0" i="0" u="none" strike="sngStrike">
                          <a:solidFill>
                            <a:srgbClr val="000000"/>
                          </a:solidFill>
                          <a:effectLst/>
                          <a:latin typeface="Adani Regular" panose="02000503000000020004" pitchFamily="2" charset="0"/>
                        </a:rPr>
                        <a:t>40</a:t>
                      </a:r>
                    </a:p>
                    <a:p>
                      <a:pPr algn="ctr" rtl="0" fontAlgn="ctr">
                        <a:buNone/>
                      </a:pPr>
                      <a:r>
                        <a:rPr lang="en-US" sz="1100" b="0" i="0" u="none" strike="noStrike">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a:noFill/>
                    </a:lnB>
                    <a:solidFill>
                      <a:srgbClr val="FFFFFF"/>
                    </a:solidFill>
                  </a:tcPr>
                </a:tc>
                <a:tc rowSpan="2">
                  <a:txBody>
                    <a:bodyPr/>
                    <a:lstStyle/>
                    <a:p>
                      <a:pPr algn="ctr" rtl="0" fontAlgn="ctr">
                        <a:buNone/>
                      </a:pPr>
                      <a:r>
                        <a:rPr lang="en-US" sz="800" b="1" i="0" u="none" strike="sngStrike">
                          <a:solidFill>
                            <a:srgbClr val="000000"/>
                          </a:solidFill>
                          <a:effectLst/>
                          <a:latin typeface="Adani Regular" panose="02000503000000020004" pitchFamily="2" charset="0"/>
                        </a:rPr>
                        <a:t>226</a:t>
                      </a:r>
                    </a:p>
                    <a:p>
                      <a:pPr algn="ctr" rtl="0" fontAlgn="ctr">
                        <a:buNone/>
                      </a:pPr>
                      <a:r>
                        <a:rPr lang="en-US" sz="1100" b="1" i="0" u="none" strike="noStrike">
                          <a:solidFill>
                            <a:srgbClr val="000000"/>
                          </a:solidFill>
                          <a:effectLst/>
                          <a:latin typeface="Adani Regular" panose="02000503000000020004" pitchFamily="2" charset="0"/>
                        </a:rPr>
                        <a:t>542</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rowSpan="2">
                  <a:txBody>
                    <a:bodyPr/>
                    <a:lstStyle/>
                    <a:p>
                      <a:pPr algn="ctr" rtl="0" fontAlgn="ctr">
                        <a:buNone/>
                      </a:pPr>
                      <a:r>
                        <a:rPr lang="en-US" sz="800" b="1" i="0" u="none" strike="sngStrike">
                          <a:solidFill>
                            <a:srgbClr val="000000"/>
                          </a:solidFill>
                          <a:effectLst/>
                          <a:latin typeface="Adani Regular" panose="02000503000000020004" pitchFamily="2" charset="0"/>
                        </a:rPr>
                        <a:t>40</a:t>
                      </a:r>
                    </a:p>
                    <a:p>
                      <a:pPr algn="ctr" rtl="0" fontAlgn="ctr">
                        <a:buNone/>
                      </a:pPr>
                      <a:r>
                        <a:rPr lang="en-US" sz="1100" b="1" i="0" u="none" strike="noStrike">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1422698129"/>
                  </a:ext>
                </a:extLst>
              </a:tr>
              <a:tr h="156467">
                <a:tc vMerge="1">
                  <a:txBody>
                    <a:bodyPr/>
                    <a:lstStyle/>
                    <a:p>
                      <a:endParaRPr lang="en-US"/>
                    </a:p>
                  </a:txBody>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a:noFill/>
                    </a:lnT>
                    <a:lnB w="12700" cap="flat" cmpd="sng" algn="ctr">
                      <a:solidFill>
                        <a:srgbClr val="9953CD"/>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348714725"/>
                  </a:ext>
                </a:extLst>
              </a:tr>
              <a:tr h="319488">
                <a:tc>
                  <a:txBody>
                    <a:bodyPr/>
                    <a:lstStyle/>
                    <a:p>
                      <a:pPr algn="ctr" rtl="0" fontAlgn="ctr">
                        <a:buNone/>
                      </a:pPr>
                      <a:r>
                        <a:rPr lang="en-US" sz="1100" b="0" i="0" u="none" strike="noStrike">
                          <a:solidFill>
                            <a:srgbClr val="000000"/>
                          </a:solidFill>
                          <a:effectLst/>
                          <a:latin typeface="Adani Regular" panose="02000503000000020004" pitchFamily="2" charset="0"/>
                        </a:rPr>
                        <a:t>20-Sep-26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dirty="0">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542</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endParaRPr lang="en-US" sz="11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1" i="0" u="none" strike="noStrike">
                          <a:solidFill>
                            <a:srgbClr val="000000"/>
                          </a:solidFill>
                          <a:effectLst/>
                          <a:latin typeface="Adani Regular" panose="02000503000000020004" pitchFamily="2" charset="0"/>
                        </a:rPr>
                        <a:t>542</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1" i="0" u="none" strike="noStrike">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2364554426"/>
                  </a:ext>
                </a:extLst>
              </a:tr>
              <a:tr h="612212">
                <a:tc>
                  <a:txBody>
                    <a:bodyPr/>
                    <a:lstStyle/>
                    <a:p>
                      <a:pPr algn="ctr" rtl="0" fontAlgn="ctr">
                        <a:buNone/>
                      </a:pPr>
                      <a:r>
                        <a:rPr lang="en-US" sz="1100" b="0" i="0" u="none" strike="noStrike">
                          <a:solidFill>
                            <a:srgbClr val="000000"/>
                          </a:solidFill>
                          <a:effectLst/>
                          <a:latin typeface="Adani Regular" panose="02000503000000020004" pitchFamily="2" charset="0"/>
                        </a:rPr>
                        <a:t>30-Sep-26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r>
                        <a:rPr lang="en-US" sz="800" b="0" i="0" u="none" strike="sngStrike">
                          <a:solidFill>
                            <a:srgbClr val="000000"/>
                          </a:solidFill>
                          <a:effectLst/>
                          <a:latin typeface="Adani Regular" panose="02000503000000020004" pitchFamily="2" charset="0"/>
                        </a:rPr>
                        <a:t>768</a:t>
                      </a:r>
                      <a:br>
                        <a:rPr lang="en-US" sz="800" b="0" i="0" u="none" strike="noStrike">
                          <a:solidFill>
                            <a:srgbClr val="000000"/>
                          </a:solidFill>
                          <a:effectLst/>
                          <a:latin typeface="Adani Regular" panose="02000503000000020004" pitchFamily="2" charset="0"/>
                        </a:rPr>
                      </a:br>
                      <a:r>
                        <a:rPr lang="en-US" sz="800" b="0" i="0" u="none" strike="sngStrike">
                          <a:solidFill>
                            <a:srgbClr val="000000"/>
                          </a:solidFill>
                          <a:effectLst/>
                          <a:latin typeface="Adani Regular" panose="02000503000000020004" pitchFamily="2" charset="0"/>
                        </a:rPr>
                        <a:t>452</a:t>
                      </a:r>
                    </a:p>
                    <a:p>
                      <a:pPr algn="ctr" rtl="0" fontAlgn="ctr">
                        <a:buNone/>
                      </a:pPr>
                      <a:r>
                        <a:rPr lang="en-US" sz="1100" b="0" i="0" u="none" strike="noStrike">
                          <a:solidFill>
                            <a:srgbClr val="000000"/>
                          </a:solidFill>
                          <a:effectLst/>
                          <a:latin typeface="Adani Regular" panose="02000503000000020004" pitchFamily="2" charset="0"/>
                        </a:rPr>
                        <a:t>542</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dirty="0">
                          <a:solidFill>
                            <a:srgbClr val="000000"/>
                          </a:solidFill>
                          <a:effectLst/>
                          <a:latin typeface="Adani Regular" panose="02000503000000020004" pitchFamily="2" charset="0"/>
                        </a:rPr>
                        <a:t>136</a:t>
                      </a:r>
                      <a:br>
                        <a:rPr lang="en-US" sz="800" b="0" i="0" u="none" strike="noStrike" dirty="0">
                          <a:solidFill>
                            <a:srgbClr val="000000"/>
                          </a:solidFill>
                          <a:effectLst/>
                          <a:latin typeface="Adani Regular" panose="02000503000000020004" pitchFamily="2" charset="0"/>
                        </a:rPr>
                      </a:br>
                      <a:r>
                        <a:rPr lang="en-US" sz="800" b="0" i="0" u="none" strike="sngStrike" dirty="0">
                          <a:solidFill>
                            <a:srgbClr val="000000"/>
                          </a:solidFill>
                          <a:effectLst/>
                          <a:latin typeface="Adani Regular" panose="02000503000000020004" pitchFamily="2" charset="0"/>
                        </a:rPr>
                        <a:t>80</a:t>
                      </a:r>
                    </a:p>
                    <a:p>
                      <a:pPr algn="ctr" rtl="0" fontAlgn="ctr">
                        <a:buNone/>
                      </a:pPr>
                      <a:r>
                        <a:rPr lang="en-US" sz="1100" b="0" i="0" u="none" strike="noStrike" dirty="0">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401</a:t>
                      </a:r>
                      <a:endParaRPr lang="en-US" sz="8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80</a:t>
                      </a:r>
                      <a:endParaRPr lang="en-US" sz="8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241</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48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401</a:t>
                      </a:r>
                    </a:p>
                    <a:p>
                      <a:pPr algn="ctr" rtl="0" fontAlgn="ctr">
                        <a:buNone/>
                      </a:pPr>
                      <a:r>
                        <a:rPr lang="en-US" sz="800" b="1" i="0" u="none" strike="sngStrike">
                          <a:solidFill>
                            <a:srgbClr val="000000"/>
                          </a:solidFill>
                          <a:effectLst/>
                          <a:latin typeface="Adani Regular" panose="02000503000000020004" pitchFamily="2" charset="0"/>
                        </a:rPr>
                        <a:t>1169</a:t>
                      </a:r>
                      <a:br>
                        <a:rPr lang="en-US" sz="800" b="1" i="0" u="none" strike="noStrike">
                          <a:solidFill>
                            <a:srgbClr val="000000"/>
                          </a:solidFill>
                          <a:effectLst/>
                          <a:latin typeface="Adani Regular" panose="02000503000000020004" pitchFamily="2" charset="0"/>
                        </a:rPr>
                      </a:br>
                      <a:r>
                        <a:rPr lang="en-US" sz="800" b="1" i="0" u="none" strike="sngStrike">
                          <a:solidFill>
                            <a:srgbClr val="000000"/>
                          </a:solidFill>
                          <a:effectLst/>
                          <a:latin typeface="Adani Regular" panose="02000503000000020004" pitchFamily="2" charset="0"/>
                        </a:rPr>
                        <a:t>692</a:t>
                      </a:r>
                    </a:p>
                    <a:p>
                      <a:pPr algn="ctr" rtl="0" fontAlgn="ctr">
                        <a:buNone/>
                      </a:pPr>
                      <a:r>
                        <a:rPr lang="en-US" sz="1100" b="1" i="0" u="none" strike="noStrike">
                          <a:solidFill>
                            <a:srgbClr val="000000"/>
                          </a:solidFill>
                          <a:effectLst/>
                          <a:latin typeface="Adani Regular" panose="02000503000000020004" pitchFamily="2" charset="0"/>
                        </a:rPr>
                        <a:t>783</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80</a:t>
                      </a:r>
                    </a:p>
                    <a:p>
                      <a:pPr algn="ctr" rtl="0" fontAlgn="ctr">
                        <a:buNone/>
                      </a:pPr>
                      <a:r>
                        <a:rPr lang="en-US" sz="800" b="1" i="0" u="none" strike="sngStrike">
                          <a:solidFill>
                            <a:srgbClr val="000000"/>
                          </a:solidFill>
                          <a:effectLst/>
                          <a:latin typeface="Adani Regular" panose="02000503000000020004" pitchFamily="2" charset="0"/>
                        </a:rPr>
                        <a:t>216</a:t>
                      </a:r>
                      <a:br>
                        <a:rPr lang="en-US" sz="800" b="1" i="0" u="none" strike="noStrike">
                          <a:solidFill>
                            <a:srgbClr val="000000"/>
                          </a:solidFill>
                          <a:effectLst/>
                          <a:latin typeface="Adani Regular" panose="02000503000000020004" pitchFamily="2" charset="0"/>
                        </a:rPr>
                      </a:br>
                      <a:r>
                        <a:rPr lang="en-US" sz="800" b="1" i="0" u="none" strike="sngStrike">
                          <a:solidFill>
                            <a:srgbClr val="000000"/>
                          </a:solidFill>
                          <a:effectLst/>
                          <a:latin typeface="Adani Regular" panose="02000503000000020004" pitchFamily="2" charset="0"/>
                        </a:rPr>
                        <a:t>128</a:t>
                      </a:r>
                    </a:p>
                    <a:p>
                      <a:pPr algn="ctr" rtl="0" fontAlgn="ctr">
                        <a:buNone/>
                      </a:pPr>
                      <a:r>
                        <a:rPr lang="en-US" sz="1100" b="1" i="0" u="none" strike="noStrike">
                          <a:solidFill>
                            <a:srgbClr val="000000"/>
                          </a:solidFill>
                          <a:effectLst/>
                          <a:latin typeface="Adani Regular" panose="02000503000000020004" pitchFamily="2" charset="0"/>
                        </a:rPr>
                        <a:t>144</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3458507543"/>
                  </a:ext>
                </a:extLst>
              </a:tr>
              <a:tr h="460297">
                <a:tc>
                  <a:txBody>
                    <a:bodyPr/>
                    <a:lstStyle/>
                    <a:p>
                      <a:pPr algn="ctr" rtl="0" fontAlgn="ctr">
                        <a:buNone/>
                      </a:pPr>
                      <a:r>
                        <a:rPr lang="en-US" sz="1100" b="0" i="0" u="none" strike="noStrike">
                          <a:solidFill>
                            <a:srgbClr val="000000"/>
                          </a:solidFill>
                          <a:effectLst/>
                          <a:latin typeface="Adani Regular" panose="02000503000000020004" pitchFamily="2" charset="0"/>
                        </a:rPr>
                        <a:t>31-Oct-26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271</a:t>
                      </a:r>
                    </a:p>
                    <a:p>
                      <a:pPr algn="ctr" rtl="0" fontAlgn="ctr">
                        <a:buNone/>
                      </a:pPr>
                      <a:r>
                        <a:rPr lang="en-US" sz="800" b="0" i="0" u="none" strike="sngStrike">
                          <a:solidFill>
                            <a:srgbClr val="000000"/>
                          </a:solidFill>
                          <a:effectLst/>
                          <a:latin typeface="Adani Regular" panose="02000503000000020004" pitchFamily="2" charset="0"/>
                        </a:rPr>
                        <a:t>361</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1084</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800" b="0" i="0" u="none" strike="sngStrike">
                          <a:solidFill>
                            <a:srgbClr val="000000"/>
                          </a:solidFill>
                          <a:effectLst/>
                          <a:latin typeface="Adani Regular" panose="02000503000000020004" pitchFamily="2" charset="0"/>
                        </a:rPr>
                        <a:t>48</a:t>
                      </a:r>
                    </a:p>
                    <a:p>
                      <a:pPr algn="ctr" rtl="0" fontAlgn="b">
                        <a:buNone/>
                      </a:pPr>
                      <a:r>
                        <a:rPr lang="en-US" sz="800" b="0" i="0" u="none" strike="sngStrike">
                          <a:solidFill>
                            <a:srgbClr val="000000"/>
                          </a:solidFill>
                          <a:effectLst/>
                          <a:latin typeface="Adani Regular" panose="02000503000000020004" pitchFamily="2" charset="0"/>
                        </a:rPr>
                        <a:t>64</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192</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271</a:t>
                      </a:r>
                    </a:p>
                    <a:p>
                      <a:pPr algn="ctr" rtl="0" fontAlgn="ctr">
                        <a:buNone/>
                      </a:pPr>
                      <a:r>
                        <a:rPr lang="en-US" sz="800" b="0" i="0" u="none" strike="sngStrike">
                          <a:solidFill>
                            <a:srgbClr val="000000"/>
                          </a:solidFill>
                          <a:effectLst/>
                          <a:latin typeface="Adani Regular" panose="02000503000000020004" pitchFamily="2" charset="0"/>
                        </a:rPr>
                        <a:t>361</a:t>
                      </a:r>
                      <a:endParaRPr lang="en-US" sz="8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800" b="0" i="0" u="none" strike="sngStrike">
                          <a:solidFill>
                            <a:srgbClr val="000000"/>
                          </a:solidFill>
                          <a:effectLst/>
                          <a:latin typeface="Adani Regular" panose="02000503000000020004" pitchFamily="2" charset="0"/>
                        </a:rPr>
                        <a:t>48</a:t>
                      </a:r>
                    </a:p>
                    <a:p>
                      <a:pPr algn="ctr" rtl="0" fontAlgn="b">
                        <a:buNone/>
                      </a:pPr>
                      <a:r>
                        <a:rPr lang="en-US" sz="800" b="0" i="0" u="none" strike="sngStrike">
                          <a:solidFill>
                            <a:srgbClr val="000000"/>
                          </a:solidFill>
                          <a:effectLst/>
                          <a:latin typeface="Adani Regular" panose="02000503000000020004" pitchFamily="2" charset="0"/>
                        </a:rPr>
                        <a:t>64</a:t>
                      </a:r>
                      <a:endParaRPr lang="en-US" sz="8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241</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48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542</a:t>
                      </a:r>
                    </a:p>
                    <a:p>
                      <a:pPr algn="ctr" rtl="0" fontAlgn="ctr">
                        <a:buNone/>
                      </a:pPr>
                      <a:r>
                        <a:rPr lang="en-US" sz="800" b="1" i="0" u="none" strike="sngStrike">
                          <a:solidFill>
                            <a:srgbClr val="000000"/>
                          </a:solidFill>
                          <a:effectLst/>
                          <a:latin typeface="Adani Regular" panose="02000503000000020004" pitchFamily="2" charset="0"/>
                        </a:rPr>
                        <a:t>722</a:t>
                      </a:r>
                      <a:br>
                        <a:rPr lang="en-US" sz="1100" b="1" i="0" u="none" strike="noStrike">
                          <a:solidFill>
                            <a:srgbClr val="000000"/>
                          </a:solidFill>
                          <a:effectLst/>
                          <a:latin typeface="Adani Regular" panose="02000503000000020004" pitchFamily="2" charset="0"/>
                        </a:rPr>
                      </a:br>
                      <a:r>
                        <a:rPr lang="en-US" sz="1100" b="1" i="0" u="none" strike="noStrike">
                          <a:solidFill>
                            <a:srgbClr val="000000"/>
                          </a:solidFill>
                          <a:effectLst/>
                          <a:latin typeface="Adani Regular" panose="02000503000000020004" pitchFamily="2" charset="0"/>
                        </a:rPr>
                        <a:t>1324</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96</a:t>
                      </a:r>
                    </a:p>
                    <a:p>
                      <a:pPr algn="ctr" rtl="0" fontAlgn="ctr">
                        <a:buNone/>
                      </a:pPr>
                      <a:r>
                        <a:rPr lang="en-US" sz="800" b="1" i="0" u="none" strike="sngStrike">
                          <a:solidFill>
                            <a:srgbClr val="000000"/>
                          </a:solidFill>
                          <a:effectLst/>
                          <a:latin typeface="Adani Regular" panose="02000503000000020004" pitchFamily="2" charset="0"/>
                        </a:rPr>
                        <a:t>128</a:t>
                      </a:r>
                      <a:br>
                        <a:rPr lang="en-US" sz="1100" b="1" i="0" u="none" strike="noStrike">
                          <a:solidFill>
                            <a:srgbClr val="000000"/>
                          </a:solidFill>
                          <a:effectLst/>
                          <a:latin typeface="Adani Regular" panose="02000503000000020004" pitchFamily="2" charset="0"/>
                        </a:rPr>
                      </a:br>
                      <a:r>
                        <a:rPr lang="en-US" sz="1100" b="1" i="0" u="none" strike="noStrike">
                          <a:solidFill>
                            <a:srgbClr val="000000"/>
                          </a:solidFill>
                          <a:effectLst/>
                          <a:latin typeface="Adani Regular" panose="02000503000000020004" pitchFamily="2" charset="0"/>
                        </a:rPr>
                        <a:t>240</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1934185048"/>
                  </a:ext>
                </a:extLst>
              </a:tr>
              <a:tr h="460297">
                <a:tc>
                  <a:txBody>
                    <a:bodyPr/>
                    <a:lstStyle/>
                    <a:p>
                      <a:pPr algn="ctr" rtl="0" fontAlgn="ctr">
                        <a:buNone/>
                      </a:pPr>
                      <a:r>
                        <a:rPr lang="en-US" sz="1100" b="0" i="0" u="none" strike="noStrike">
                          <a:solidFill>
                            <a:srgbClr val="000000"/>
                          </a:solidFill>
                          <a:effectLst/>
                          <a:latin typeface="Adani Regular" panose="02000503000000020004" pitchFamily="2" charset="0"/>
                        </a:rPr>
                        <a:t>30-Nov-26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813</a:t>
                      </a:r>
                    </a:p>
                    <a:p>
                      <a:pPr algn="ctr" rtl="0" fontAlgn="ctr">
                        <a:buNone/>
                      </a:pPr>
                      <a:r>
                        <a:rPr lang="en-US" sz="800" b="0" i="0" u="none" strike="sngStrike">
                          <a:solidFill>
                            <a:srgbClr val="000000"/>
                          </a:solidFill>
                          <a:effectLst/>
                          <a:latin typeface="Adani Regular" panose="02000503000000020004" pitchFamily="2" charset="0"/>
                        </a:rPr>
                        <a:t>677</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542</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800" b="0" i="0" u="none" strike="sngStrike">
                          <a:solidFill>
                            <a:srgbClr val="000000"/>
                          </a:solidFill>
                          <a:effectLst/>
                          <a:latin typeface="Adani Regular" panose="02000503000000020004" pitchFamily="2" charset="0"/>
                        </a:rPr>
                        <a:t>144</a:t>
                      </a:r>
                    </a:p>
                    <a:p>
                      <a:pPr algn="ctr" rtl="0" fontAlgn="b">
                        <a:buNone/>
                      </a:pPr>
                      <a:r>
                        <a:rPr lang="en-US" sz="800" b="0" i="0" u="none" strike="sngStrike">
                          <a:solidFill>
                            <a:srgbClr val="000000"/>
                          </a:solidFill>
                          <a:effectLst/>
                          <a:latin typeface="Adani Regular" panose="02000503000000020004" pitchFamily="2" charset="0"/>
                        </a:rPr>
                        <a:t>120</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96</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813</a:t>
                      </a:r>
                    </a:p>
                    <a:p>
                      <a:pPr algn="ctr" rtl="0" fontAlgn="ctr">
                        <a:buNone/>
                      </a:pPr>
                      <a:r>
                        <a:rPr lang="en-US" sz="800" b="0" i="0" u="none" strike="sngStrike">
                          <a:solidFill>
                            <a:srgbClr val="000000"/>
                          </a:solidFill>
                          <a:effectLst/>
                          <a:latin typeface="Adani Regular" panose="02000503000000020004" pitchFamily="2" charset="0"/>
                        </a:rPr>
                        <a:t>677</a:t>
                      </a:r>
                      <a:endParaRPr lang="en-US" sz="8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800" b="0" i="0" u="none" strike="sngStrike">
                          <a:solidFill>
                            <a:srgbClr val="000000"/>
                          </a:solidFill>
                          <a:effectLst/>
                          <a:latin typeface="Adani Regular" panose="02000503000000020004" pitchFamily="2" charset="0"/>
                        </a:rPr>
                        <a:t>144</a:t>
                      </a:r>
                    </a:p>
                    <a:p>
                      <a:pPr algn="ctr" rtl="0" fontAlgn="b">
                        <a:buNone/>
                      </a:pPr>
                      <a:r>
                        <a:rPr lang="en-US" sz="800" b="0" i="0" u="none" strike="sngStrike">
                          <a:solidFill>
                            <a:srgbClr val="000000"/>
                          </a:solidFill>
                          <a:effectLst/>
                          <a:latin typeface="Adani Regular" panose="02000503000000020004" pitchFamily="2" charset="0"/>
                        </a:rPr>
                        <a:t>120</a:t>
                      </a:r>
                      <a:endParaRPr lang="en-US" sz="8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120</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24</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1626</a:t>
                      </a:r>
                    </a:p>
                    <a:p>
                      <a:pPr algn="ctr" rtl="0" fontAlgn="ctr">
                        <a:buNone/>
                      </a:pPr>
                      <a:r>
                        <a:rPr lang="en-US" sz="800" b="1" i="0" u="none" strike="sngStrike">
                          <a:solidFill>
                            <a:srgbClr val="000000"/>
                          </a:solidFill>
                          <a:effectLst/>
                          <a:latin typeface="Adani Regular" panose="02000503000000020004" pitchFamily="2" charset="0"/>
                        </a:rPr>
                        <a:t>1355</a:t>
                      </a:r>
                      <a:br>
                        <a:rPr lang="en-US" sz="1100" b="1" i="0" u="none" strike="noStrike">
                          <a:solidFill>
                            <a:srgbClr val="000000"/>
                          </a:solidFill>
                          <a:effectLst/>
                          <a:latin typeface="Adani Regular" panose="02000503000000020004" pitchFamily="2" charset="0"/>
                        </a:rPr>
                      </a:br>
                      <a:r>
                        <a:rPr lang="en-US" sz="1100" b="1" i="0" u="none" strike="noStrike">
                          <a:solidFill>
                            <a:srgbClr val="000000"/>
                          </a:solidFill>
                          <a:effectLst/>
                          <a:latin typeface="Adani Regular" panose="02000503000000020004" pitchFamily="2" charset="0"/>
                        </a:rPr>
                        <a:t>662</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288</a:t>
                      </a:r>
                    </a:p>
                    <a:p>
                      <a:pPr algn="ctr" rtl="0" fontAlgn="ctr">
                        <a:buNone/>
                      </a:pPr>
                      <a:r>
                        <a:rPr lang="en-US" sz="800" b="1" i="0" u="none" strike="sngStrike">
                          <a:solidFill>
                            <a:srgbClr val="000000"/>
                          </a:solidFill>
                          <a:effectLst/>
                          <a:latin typeface="Adani Regular" panose="02000503000000020004" pitchFamily="2" charset="0"/>
                        </a:rPr>
                        <a:t>240</a:t>
                      </a:r>
                      <a:br>
                        <a:rPr lang="en-US" sz="1100" b="1" i="0" u="none" strike="noStrike">
                          <a:solidFill>
                            <a:srgbClr val="000000"/>
                          </a:solidFill>
                          <a:effectLst/>
                          <a:latin typeface="Adani Regular" panose="02000503000000020004" pitchFamily="2" charset="0"/>
                        </a:rPr>
                      </a:br>
                      <a:r>
                        <a:rPr lang="en-US" sz="1100" b="1" i="0" u="none" strike="noStrike">
                          <a:solidFill>
                            <a:srgbClr val="000000"/>
                          </a:solidFill>
                          <a:effectLst/>
                          <a:latin typeface="Adani Regular" panose="02000503000000020004" pitchFamily="2" charset="0"/>
                        </a:rPr>
                        <a:t>120</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3297082043"/>
                  </a:ext>
                </a:extLst>
              </a:tr>
              <a:tr h="460297">
                <a:tc>
                  <a:txBody>
                    <a:bodyPr/>
                    <a:lstStyle/>
                    <a:p>
                      <a:pPr algn="ctr" rtl="0" fontAlgn="ctr">
                        <a:buNone/>
                      </a:pPr>
                      <a:r>
                        <a:rPr lang="en-US" sz="1100" b="0" i="0" u="none" strike="noStrike">
                          <a:solidFill>
                            <a:srgbClr val="000000"/>
                          </a:solidFill>
                          <a:effectLst/>
                          <a:latin typeface="Adani Regular" panose="02000503000000020004" pitchFamily="2" charset="0"/>
                        </a:rPr>
                        <a:t>31-Dec-26</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542</a:t>
                      </a:r>
                    </a:p>
                    <a:p>
                      <a:pPr algn="ctr" rtl="0" fontAlgn="ctr">
                        <a:buNone/>
                      </a:pPr>
                      <a:r>
                        <a:rPr lang="en-US" sz="800" b="0" i="0" u="none" strike="sngStrike">
                          <a:solidFill>
                            <a:srgbClr val="000000"/>
                          </a:solidFill>
                          <a:effectLst/>
                          <a:latin typeface="Adani Regular" panose="02000503000000020004" pitchFamily="2" charset="0"/>
                        </a:rPr>
                        <a:t>452</a:t>
                      </a:r>
                      <a:endParaRPr lang="en-US" sz="8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96</a:t>
                      </a:r>
                    </a:p>
                    <a:p>
                      <a:pPr algn="ctr" rtl="0" fontAlgn="ctr">
                        <a:buNone/>
                      </a:pPr>
                      <a:r>
                        <a:rPr lang="en-US" sz="800" b="0" i="0" u="none" strike="sngStrike">
                          <a:solidFill>
                            <a:srgbClr val="000000"/>
                          </a:solidFill>
                          <a:effectLst/>
                          <a:latin typeface="Adani Regular" panose="02000503000000020004" pitchFamily="2" charset="0"/>
                        </a:rPr>
                        <a:t>80</a:t>
                      </a:r>
                      <a:endParaRPr lang="en-US" sz="8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813</a:t>
                      </a:r>
                    </a:p>
                    <a:p>
                      <a:pPr algn="ctr" rtl="0" fontAlgn="ctr">
                        <a:buNone/>
                      </a:pPr>
                      <a:r>
                        <a:rPr lang="en-US" sz="800" b="0" i="0" u="none" strike="sngStrike">
                          <a:solidFill>
                            <a:srgbClr val="000000"/>
                          </a:solidFill>
                          <a:effectLst/>
                          <a:latin typeface="Adani Regular" panose="02000503000000020004" pitchFamily="2" charset="0"/>
                        </a:rPr>
                        <a:t>768</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813</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800" b="0" i="0" u="none" strike="sngStrike" dirty="0">
                          <a:solidFill>
                            <a:srgbClr val="000000"/>
                          </a:solidFill>
                          <a:effectLst/>
                          <a:latin typeface="Adani Regular" panose="02000503000000020004" pitchFamily="2" charset="0"/>
                        </a:rPr>
                        <a:t>144</a:t>
                      </a:r>
                    </a:p>
                    <a:p>
                      <a:pPr algn="ctr" rtl="0" fontAlgn="b">
                        <a:buNone/>
                      </a:pPr>
                      <a:r>
                        <a:rPr lang="en-US" sz="800" b="0" i="0" u="none" strike="sngStrike" dirty="0">
                          <a:solidFill>
                            <a:srgbClr val="000000"/>
                          </a:solidFill>
                          <a:effectLst/>
                          <a:latin typeface="Adani Regular" panose="02000503000000020004" pitchFamily="2" charset="0"/>
                        </a:rPr>
                        <a:t>136</a:t>
                      </a:r>
                      <a:br>
                        <a:rPr lang="en-US" sz="1100" b="0" i="0" u="none" strike="noStrike" dirty="0">
                          <a:solidFill>
                            <a:srgbClr val="000000"/>
                          </a:solidFill>
                          <a:effectLst/>
                          <a:latin typeface="Adani Regular" panose="02000503000000020004" pitchFamily="2" charset="0"/>
                        </a:rPr>
                      </a:br>
                      <a:r>
                        <a:rPr lang="en-US" sz="1100" b="0" i="0" u="none" strike="noStrike" dirty="0">
                          <a:solidFill>
                            <a:srgbClr val="000000"/>
                          </a:solidFill>
                          <a:effectLst/>
                          <a:latin typeface="Adani Regular" panose="02000503000000020004" pitchFamily="2" charset="0"/>
                        </a:rPr>
                        <a:t>144</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813</a:t>
                      </a:r>
                    </a:p>
                    <a:p>
                      <a:pPr algn="ctr" rtl="0" fontAlgn="ctr">
                        <a:buNone/>
                      </a:pPr>
                      <a:r>
                        <a:rPr lang="en-US" sz="800" b="0" i="0" u="none" strike="sngStrike">
                          <a:solidFill>
                            <a:srgbClr val="000000"/>
                          </a:solidFill>
                          <a:effectLst/>
                          <a:latin typeface="Adani Regular" panose="02000503000000020004" pitchFamily="2" charset="0"/>
                        </a:rPr>
                        <a:t>768</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1355</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800" b="0" i="0" u="none" strike="sngStrike">
                          <a:solidFill>
                            <a:srgbClr val="000000"/>
                          </a:solidFill>
                          <a:effectLst/>
                          <a:latin typeface="Adani Regular" panose="02000503000000020004" pitchFamily="2" charset="0"/>
                        </a:rPr>
                        <a:t>144</a:t>
                      </a:r>
                    </a:p>
                    <a:p>
                      <a:pPr algn="ctr" rtl="0" fontAlgn="b">
                        <a:buNone/>
                      </a:pPr>
                      <a:r>
                        <a:rPr lang="en-US" sz="800" b="0" i="0" u="none" strike="sngStrike">
                          <a:solidFill>
                            <a:srgbClr val="000000"/>
                          </a:solidFill>
                          <a:effectLst/>
                          <a:latin typeface="Adani Regular" panose="02000503000000020004" pitchFamily="2" charset="0"/>
                        </a:rPr>
                        <a:t>136</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240</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281</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241</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dirty="0">
                          <a:solidFill>
                            <a:srgbClr val="000000"/>
                          </a:solidFill>
                          <a:effectLst/>
                          <a:latin typeface="Adani Regular" panose="02000503000000020004" pitchFamily="2" charset="0"/>
                        </a:rPr>
                        <a:t>56</a:t>
                      </a:r>
                      <a:br>
                        <a:rPr lang="en-US" sz="1100" b="0" i="0" u="none" strike="noStrike" dirty="0">
                          <a:solidFill>
                            <a:srgbClr val="000000"/>
                          </a:solidFill>
                          <a:effectLst/>
                          <a:latin typeface="Adani Regular" panose="02000503000000020004" pitchFamily="2" charset="0"/>
                        </a:rPr>
                      </a:br>
                      <a:r>
                        <a:rPr lang="en-US" sz="1100" b="0" i="0" u="none" strike="noStrike" dirty="0">
                          <a:solidFill>
                            <a:srgbClr val="000000"/>
                          </a:solidFill>
                          <a:effectLst/>
                          <a:latin typeface="Adani Regular" panose="02000503000000020004" pitchFamily="2" charset="0"/>
                        </a:rPr>
                        <a:t>48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2448</a:t>
                      </a:r>
                    </a:p>
                    <a:p>
                      <a:pPr algn="ctr" rtl="0" fontAlgn="ctr">
                        <a:buNone/>
                      </a:pPr>
                      <a:r>
                        <a:rPr lang="en-US" sz="800" b="1" i="0" u="none" strike="sngStrike">
                          <a:solidFill>
                            <a:srgbClr val="000000"/>
                          </a:solidFill>
                          <a:effectLst/>
                          <a:latin typeface="Adani Regular" panose="02000503000000020004" pitchFamily="2" charset="0"/>
                        </a:rPr>
                        <a:t>2268</a:t>
                      </a:r>
                      <a:br>
                        <a:rPr lang="en-US" sz="1100" b="1" i="0" u="none" strike="noStrike">
                          <a:solidFill>
                            <a:srgbClr val="000000"/>
                          </a:solidFill>
                          <a:effectLst/>
                          <a:latin typeface="Adani Regular" panose="02000503000000020004" pitchFamily="2" charset="0"/>
                        </a:rPr>
                      </a:br>
                      <a:r>
                        <a:rPr lang="en-US" sz="1100" b="1" i="0" u="none" strike="noStrike">
                          <a:solidFill>
                            <a:srgbClr val="000000"/>
                          </a:solidFill>
                          <a:effectLst/>
                          <a:latin typeface="Adani Regular" panose="02000503000000020004" pitchFamily="2" charset="0"/>
                        </a:rPr>
                        <a:t>2408</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440</a:t>
                      </a:r>
                    </a:p>
                    <a:p>
                      <a:pPr algn="ctr" rtl="0" fontAlgn="ctr">
                        <a:buNone/>
                      </a:pPr>
                      <a:r>
                        <a:rPr lang="en-US" sz="800" b="1" i="0" u="none" strike="sngStrike">
                          <a:solidFill>
                            <a:srgbClr val="000000"/>
                          </a:solidFill>
                          <a:effectLst/>
                          <a:latin typeface="Adani Regular" panose="02000503000000020004" pitchFamily="2" charset="0"/>
                        </a:rPr>
                        <a:t>408</a:t>
                      </a:r>
                      <a:br>
                        <a:rPr lang="en-US" sz="1100" b="1" i="0" u="none" strike="noStrike">
                          <a:solidFill>
                            <a:srgbClr val="000000"/>
                          </a:solidFill>
                          <a:effectLst/>
                          <a:latin typeface="Adani Regular" panose="02000503000000020004" pitchFamily="2" charset="0"/>
                        </a:rPr>
                      </a:br>
                      <a:r>
                        <a:rPr lang="en-US" sz="1100" b="1" i="0" u="none" strike="noStrike">
                          <a:solidFill>
                            <a:srgbClr val="000000"/>
                          </a:solidFill>
                          <a:effectLst/>
                          <a:latin typeface="Adani Regular" panose="02000503000000020004" pitchFamily="2" charset="0"/>
                        </a:rPr>
                        <a:t>432</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2286994395"/>
                  </a:ext>
                </a:extLst>
              </a:tr>
              <a:tr h="460297">
                <a:tc>
                  <a:txBody>
                    <a:bodyPr/>
                    <a:lstStyle/>
                    <a:p>
                      <a:pPr algn="ctr" rtl="0" fontAlgn="ctr">
                        <a:buNone/>
                      </a:pPr>
                      <a:r>
                        <a:rPr lang="en-US" sz="1100" b="0" i="0" u="none" strike="noStrike">
                          <a:solidFill>
                            <a:srgbClr val="000000"/>
                          </a:solidFill>
                          <a:effectLst/>
                          <a:latin typeface="Adani Regular" panose="02000503000000020004" pitchFamily="2" charset="0"/>
                        </a:rPr>
                        <a:t>31-Jan-27</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542</a:t>
                      </a:r>
                    </a:p>
                    <a:p>
                      <a:pPr algn="ctr" rtl="0" fontAlgn="ctr">
                        <a:buNone/>
                      </a:pPr>
                      <a:r>
                        <a:rPr lang="en-US" sz="800" b="0" i="0" u="none" strike="sngStrike">
                          <a:solidFill>
                            <a:srgbClr val="000000"/>
                          </a:solidFill>
                          <a:effectLst/>
                          <a:latin typeface="Adani Regular" panose="02000503000000020004" pitchFamily="2" charset="0"/>
                        </a:rPr>
                        <a:t>632</a:t>
                      </a:r>
                      <a:endParaRPr lang="en-US" sz="8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800" b="0" i="0" u="none" strike="sngStrike">
                          <a:solidFill>
                            <a:srgbClr val="000000"/>
                          </a:solidFill>
                          <a:effectLst/>
                          <a:latin typeface="Adani Regular" panose="02000503000000020004" pitchFamily="2" charset="0"/>
                        </a:rPr>
                        <a:t>96</a:t>
                      </a:r>
                    </a:p>
                    <a:p>
                      <a:pPr algn="ctr" rtl="0" fontAlgn="b">
                        <a:buNone/>
                      </a:pPr>
                      <a:r>
                        <a:rPr lang="en-US" sz="800" b="0" i="0" u="none" strike="sngStrike">
                          <a:solidFill>
                            <a:srgbClr val="000000"/>
                          </a:solidFill>
                          <a:effectLst/>
                          <a:latin typeface="Adani Regular" panose="02000503000000020004" pitchFamily="2" charset="0"/>
                        </a:rPr>
                        <a:t>112</a:t>
                      </a:r>
                      <a:endParaRPr lang="en-US" sz="8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632</a:t>
                      </a:r>
                    </a:p>
                    <a:p>
                      <a:pPr algn="ctr" rtl="0" fontAlgn="ctr">
                        <a:buNone/>
                      </a:pPr>
                      <a:r>
                        <a:rPr lang="en-US" sz="800" b="0" i="0" u="none" strike="sngStrike">
                          <a:solidFill>
                            <a:srgbClr val="000000"/>
                          </a:solidFill>
                          <a:effectLst/>
                          <a:latin typeface="Adani Regular" panose="02000503000000020004" pitchFamily="2" charset="0"/>
                        </a:rPr>
                        <a:t>722</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1174</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800" b="0" i="0" u="none" strike="sngStrike" dirty="0">
                          <a:solidFill>
                            <a:srgbClr val="000000"/>
                          </a:solidFill>
                          <a:effectLst/>
                          <a:latin typeface="Adani Regular" panose="02000503000000020004" pitchFamily="2" charset="0"/>
                        </a:rPr>
                        <a:t>112</a:t>
                      </a:r>
                    </a:p>
                    <a:p>
                      <a:pPr algn="ctr" rtl="0" fontAlgn="b">
                        <a:buNone/>
                      </a:pPr>
                      <a:r>
                        <a:rPr lang="en-US" sz="800" b="0" i="0" u="none" strike="sngStrike" dirty="0">
                          <a:solidFill>
                            <a:srgbClr val="000000"/>
                          </a:solidFill>
                          <a:effectLst/>
                          <a:latin typeface="Adani Regular" panose="02000503000000020004" pitchFamily="2" charset="0"/>
                        </a:rPr>
                        <a:t>128</a:t>
                      </a:r>
                      <a:br>
                        <a:rPr lang="en-US" sz="1100" b="0" i="0" u="none" strike="noStrike" dirty="0">
                          <a:solidFill>
                            <a:srgbClr val="000000"/>
                          </a:solidFill>
                          <a:effectLst/>
                          <a:latin typeface="Adani Regular" panose="02000503000000020004" pitchFamily="2" charset="0"/>
                        </a:rPr>
                      </a:br>
                      <a:r>
                        <a:rPr lang="en-US" sz="1100" b="0" i="0" u="none" strike="noStrike" dirty="0">
                          <a:solidFill>
                            <a:srgbClr val="000000"/>
                          </a:solidFill>
                          <a:effectLst/>
                          <a:latin typeface="Adani Regular" panose="02000503000000020004" pitchFamily="2" charset="0"/>
                        </a:rPr>
                        <a:t>208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281</a:t>
                      </a:r>
                      <a:endParaRPr lang="en-US" sz="8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56</a:t>
                      </a:r>
                      <a:endParaRPr lang="en-US" sz="8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1455</a:t>
                      </a:r>
                    </a:p>
                    <a:p>
                      <a:pPr algn="ctr" rtl="0" fontAlgn="ctr">
                        <a:buNone/>
                      </a:pPr>
                      <a:r>
                        <a:rPr lang="en-US" sz="800" b="1" i="0" u="none" strike="sngStrike">
                          <a:solidFill>
                            <a:srgbClr val="000000"/>
                          </a:solidFill>
                          <a:effectLst/>
                          <a:latin typeface="Adani Regular" panose="02000503000000020004" pitchFamily="2" charset="0"/>
                        </a:rPr>
                        <a:t>1635</a:t>
                      </a:r>
                      <a:br>
                        <a:rPr lang="en-US" sz="1100" b="1" i="0" u="none" strike="noStrike">
                          <a:solidFill>
                            <a:srgbClr val="000000"/>
                          </a:solidFill>
                          <a:effectLst/>
                          <a:latin typeface="Adani Regular" panose="02000503000000020004" pitchFamily="2" charset="0"/>
                        </a:rPr>
                      </a:br>
                      <a:r>
                        <a:rPr lang="en-US" sz="1100" b="1" i="0" u="none" strike="noStrike">
                          <a:solidFill>
                            <a:srgbClr val="000000"/>
                          </a:solidFill>
                          <a:effectLst/>
                          <a:latin typeface="Adani Regular" panose="02000503000000020004" pitchFamily="2" charset="0"/>
                        </a:rPr>
                        <a:t>1174</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264</a:t>
                      </a:r>
                    </a:p>
                    <a:p>
                      <a:pPr algn="ctr" rtl="0" fontAlgn="ctr">
                        <a:buNone/>
                      </a:pPr>
                      <a:r>
                        <a:rPr lang="en-US" sz="800" b="1" i="0" u="none" strike="sngStrike">
                          <a:solidFill>
                            <a:srgbClr val="000000"/>
                          </a:solidFill>
                          <a:effectLst/>
                          <a:latin typeface="Adani Regular" panose="02000503000000020004" pitchFamily="2" charset="0"/>
                        </a:rPr>
                        <a:t>296</a:t>
                      </a:r>
                      <a:br>
                        <a:rPr lang="en-US" sz="1100" b="1" i="0" u="none" strike="noStrike">
                          <a:solidFill>
                            <a:srgbClr val="000000"/>
                          </a:solidFill>
                          <a:effectLst/>
                          <a:latin typeface="Adani Regular" panose="02000503000000020004" pitchFamily="2" charset="0"/>
                        </a:rPr>
                      </a:br>
                      <a:r>
                        <a:rPr lang="en-US" sz="1100" b="1" i="0" u="none" strike="noStrike">
                          <a:solidFill>
                            <a:srgbClr val="000000"/>
                          </a:solidFill>
                          <a:effectLst/>
                          <a:latin typeface="Adani Regular" panose="02000503000000020004" pitchFamily="2" charset="0"/>
                        </a:rPr>
                        <a:t>208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270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683178351"/>
                  </a:ext>
                </a:extLst>
              </a:tr>
              <a:tr h="288000">
                <a:tc>
                  <a:txBody>
                    <a:bodyPr/>
                    <a:lstStyle/>
                    <a:p>
                      <a:pPr algn="ctr" rtl="0" fontAlgn="ctr">
                        <a:buNone/>
                      </a:pPr>
                      <a:r>
                        <a:rPr lang="en-US" sz="1100" b="0" i="0" u="none" strike="noStrike">
                          <a:solidFill>
                            <a:srgbClr val="000000"/>
                          </a:solidFill>
                          <a:effectLst/>
                          <a:latin typeface="Adani Regular" panose="02000503000000020004" pitchFamily="2" charset="0"/>
                        </a:rPr>
                        <a:t>28-Feb-27</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 </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0" i="0" u="none" strike="noStrike">
                          <a:solidFill>
                            <a:srgbClr val="000000"/>
                          </a:solidFill>
                          <a:effectLst/>
                          <a:latin typeface="Adani Regular" panose="02000503000000020004" pitchFamily="2" charset="0"/>
                        </a:rPr>
                        <a:t> </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0" i="0" u="none" strike="sngStrike">
                          <a:solidFill>
                            <a:srgbClr val="000000"/>
                          </a:solidFill>
                          <a:effectLst/>
                          <a:latin typeface="Adani Regular" panose="02000503000000020004" pitchFamily="2" charset="0"/>
                        </a:rPr>
                        <a:t>281</a:t>
                      </a:r>
                      <a:endParaRPr lang="en-US" sz="800" b="0"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800" b="0" i="0" u="none" strike="sngStrike">
                          <a:solidFill>
                            <a:srgbClr val="000000"/>
                          </a:solidFill>
                          <a:effectLst/>
                          <a:latin typeface="Adani Regular" panose="02000503000000020004" pitchFamily="2" charset="0"/>
                        </a:rPr>
                        <a:t>56</a:t>
                      </a:r>
                      <a:endParaRPr lang="en-US" sz="800" b="0"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281</a:t>
                      </a:r>
                      <a:endParaRPr lang="en-US" sz="800" b="1" i="0" u="none" strike="noStrike">
                        <a:solidFill>
                          <a:srgbClr val="000000"/>
                        </a:solidFill>
                        <a:effectLst/>
                        <a:latin typeface="Adani Regular" panose="02000503000000020004" pitchFamily="2" charset="0"/>
                      </a:endParaRP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ctr">
                        <a:buNone/>
                      </a:pPr>
                      <a:r>
                        <a:rPr lang="en-US" sz="800" b="1" i="0" u="none" strike="sngStrike">
                          <a:solidFill>
                            <a:srgbClr val="000000"/>
                          </a:solidFill>
                          <a:effectLst/>
                          <a:latin typeface="Adani Regular" panose="02000503000000020004" pitchFamily="2" charset="0"/>
                        </a:rPr>
                        <a:t>56</a:t>
                      </a:r>
                      <a:endParaRPr lang="en-US" sz="800" b="1" i="0" u="none" strike="noStrike">
                        <a:solidFill>
                          <a:srgbClr val="000000"/>
                        </a:solidFill>
                        <a:effectLst/>
                        <a:latin typeface="Adani Regular" panose="02000503000000020004" pitchFamily="2" charset="0"/>
                      </a:endParaRP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270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3778248259"/>
                  </a:ext>
                </a:extLst>
              </a:tr>
              <a:tr h="156467">
                <a:tc>
                  <a:txBody>
                    <a:bodyPr/>
                    <a:lstStyle/>
                    <a:p>
                      <a:pPr algn="ctr" rtl="0" fontAlgn="ctr">
                        <a:buNone/>
                      </a:pPr>
                      <a:r>
                        <a:rPr lang="en-US" sz="1100" b="1" i="0" u="none" strike="noStrike">
                          <a:solidFill>
                            <a:srgbClr val="000000"/>
                          </a:solidFill>
                          <a:effectLst/>
                          <a:latin typeface="Adani Regular" panose="02000503000000020004" pitchFamily="2" charset="0"/>
                        </a:rPr>
                        <a:t>Total </a:t>
                      </a:r>
                    </a:p>
                  </a:txBody>
                  <a:tcPr marL="5023" marR="5023" marT="5023" marB="0" anchor="ctr">
                    <a:lnL w="1905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2438</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432</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2167</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384</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1204</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240</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2438</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432</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2529</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448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843</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168</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a:solidFill>
                            <a:srgbClr val="000000"/>
                          </a:solidFill>
                          <a:effectLst/>
                          <a:latin typeface="Adani Regular" panose="02000503000000020004" pitchFamily="2" charset="0"/>
                        </a:rPr>
                        <a:t>11619</a:t>
                      </a:r>
                    </a:p>
                  </a:txBody>
                  <a:tcPr marL="5023" marR="5023" marT="5023" marB="0" anchor="ctr">
                    <a:lnL w="19050" cap="flat" cmpd="sng" algn="ctr">
                      <a:solidFill>
                        <a:srgbClr val="9953CD"/>
                      </a:solidFill>
                      <a:prstDash val="solid"/>
                      <a:round/>
                      <a:headEnd type="none" w="med" len="med"/>
                      <a:tailEnd type="none" w="med" len="med"/>
                    </a:lnL>
                    <a:lnR w="1270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tc>
                  <a:txBody>
                    <a:bodyPr/>
                    <a:lstStyle/>
                    <a:p>
                      <a:pPr algn="ctr" rtl="0" fontAlgn="b">
                        <a:buNone/>
                      </a:pPr>
                      <a:r>
                        <a:rPr lang="en-US" sz="1100" b="1" i="0" u="none" strike="noStrike" dirty="0">
                          <a:solidFill>
                            <a:srgbClr val="000000"/>
                          </a:solidFill>
                          <a:effectLst/>
                          <a:latin typeface="Adani Regular" panose="02000503000000020004" pitchFamily="2" charset="0"/>
                        </a:rPr>
                        <a:t>2104</a:t>
                      </a:r>
                    </a:p>
                  </a:txBody>
                  <a:tcPr marL="5023" marR="5023" marT="5023" marB="0" anchor="ctr">
                    <a:lnL w="12700" cap="flat" cmpd="sng" algn="ctr">
                      <a:solidFill>
                        <a:srgbClr val="9953CD"/>
                      </a:solidFill>
                      <a:prstDash val="solid"/>
                      <a:round/>
                      <a:headEnd type="none" w="med" len="med"/>
                      <a:tailEnd type="none" w="med" len="med"/>
                    </a:lnL>
                    <a:lnR w="19050" cap="flat" cmpd="sng" algn="ctr">
                      <a:solidFill>
                        <a:srgbClr val="9953CD"/>
                      </a:solidFill>
                      <a:prstDash val="solid"/>
                      <a:round/>
                      <a:headEnd type="none" w="med" len="med"/>
                      <a:tailEnd type="none" w="med" len="med"/>
                    </a:lnR>
                    <a:lnT w="19050" cap="flat" cmpd="sng" algn="ctr">
                      <a:solidFill>
                        <a:srgbClr val="9953CD"/>
                      </a:solidFill>
                      <a:prstDash val="solid"/>
                      <a:round/>
                      <a:headEnd type="none" w="med" len="med"/>
                      <a:tailEnd type="none" w="med" len="med"/>
                    </a:lnT>
                    <a:lnB w="19050" cap="flat" cmpd="sng" algn="ctr">
                      <a:solidFill>
                        <a:srgbClr val="9953CD"/>
                      </a:solidFill>
                      <a:prstDash val="solid"/>
                      <a:round/>
                      <a:headEnd type="none" w="med" len="med"/>
                      <a:tailEnd type="none" w="med" len="med"/>
                    </a:lnB>
                    <a:solidFill>
                      <a:srgbClr val="FFFFFF"/>
                    </a:solidFill>
                  </a:tcPr>
                </a:tc>
                <a:extLst>
                  <a:ext uri="{0D108BD9-81ED-4DB2-BD59-A6C34878D82A}">
                    <a16:rowId xmlns:a16="http://schemas.microsoft.com/office/drawing/2014/main" val="3697132055"/>
                  </a:ext>
                </a:extLst>
              </a:tr>
            </a:tbl>
          </a:graphicData>
        </a:graphic>
      </p:graphicFrame>
    </p:spTree>
    <p:extLst>
      <p:ext uri="{BB962C8B-B14F-4D97-AF65-F5344CB8AC3E}">
        <p14:creationId xmlns:p14="http://schemas.microsoft.com/office/powerpoint/2010/main" val="1844289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40DAE-C08F-D4FE-5ECC-20862E405E0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D79B019-996D-7D93-573C-D12BDA70E0A1}"/>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a:gradFill>
                  <a:gsLst>
                    <a:gs pos="9735">
                      <a:schemeClr val="tx2"/>
                    </a:gs>
                    <a:gs pos="63000">
                      <a:srgbClr val="8E278F"/>
                    </a:gs>
                    <a:gs pos="38000">
                      <a:srgbClr val="57499E"/>
                    </a:gs>
                  </a:gsLst>
                  <a:lin ang="0" scaled="0"/>
                </a:gradFill>
              </a:rPr>
              <a:t>Physical Progress : PSS 11 S-Curve </a:t>
            </a:r>
            <a:r>
              <a:rPr lang="en-US" i="1">
                <a:gradFill>
                  <a:gsLst>
                    <a:gs pos="9735">
                      <a:schemeClr val="tx2"/>
                    </a:gs>
                    <a:gs pos="63000">
                      <a:srgbClr val="8E278F"/>
                    </a:gs>
                    <a:gs pos="38000">
                      <a:srgbClr val="57499E"/>
                    </a:gs>
                  </a:gsLst>
                  <a:lin ang="0" scaled="0"/>
                </a:gradFill>
              </a:rPr>
              <a:t>[updated till 31 May 26 as per R1]</a:t>
            </a:r>
            <a:endParaRPr lang="en-US">
              <a:gradFill>
                <a:gsLst>
                  <a:gs pos="9735">
                    <a:schemeClr val="tx2"/>
                  </a:gs>
                  <a:gs pos="63000">
                    <a:srgbClr val="8E278F"/>
                  </a:gs>
                  <a:gs pos="38000">
                    <a:srgbClr val="57499E"/>
                  </a:gs>
                </a:gsLst>
                <a:lin ang="0" scaled="0"/>
              </a:gradFill>
            </a:endParaRPr>
          </a:p>
        </p:txBody>
      </p:sp>
      <p:graphicFrame>
        <p:nvGraphicFramePr>
          <p:cNvPr id="12" name="object 4">
            <a:extLst>
              <a:ext uri="{FF2B5EF4-FFF2-40B4-BE49-F238E27FC236}">
                <a16:creationId xmlns:a16="http://schemas.microsoft.com/office/drawing/2014/main" id="{FF5E4AED-70DC-F0F6-816B-BAF54545E919}"/>
              </a:ext>
            </a:extLst>
          </p:cNvPr>
          <p:cNvGraphicFramePr>
            <a:graphicFrameLocks noGrp="1"/>
          </p:cNvGraphicFramePr>
          <p:nvPr>
            <p:extLst>
              <p:ext uri="{D42A27DB-BD31-4B8C-83A1-F6EECF244321}">
                <p14:modId xmlns:p14="http://schemas.microsoft.com/office/powerpoint/2010/main" val="3023912945"/>
              </p:ext>
            </p:extLst>
          </p:nvPr>
        </p:nvGraphicFramePr>
        <p:xfrm>
          <a:off x="397363" y="3904150"/>
          <a:ext cx="11507766" cy="2843432"/>
        </p:xfrm>
        <a:graphic>
          <a:graphicData uri="http://schemas.openxmlformats.org/drawingml/2006/table">
            <a:tbl>
              <a:tblPr firstRow="1" bandRow="1">
                <a:tableStyleId>{2D5ABB26-0587-4C30-8999-92F81FD0307C}</a:tableStyleId>
              </a:tblPr>
              <a:tblGrid>
                <a:gridCol w="2047248">
                  <a:extLst>
                    <a:ext uri="{9D8B030D-6E8A-4147-A177-3AD203B41FA5}">
                      <a16:colId xmlns:a16="http://schemas.microsoft.com/office/drawing/2014/main" val="20000"/>
                    </a:ext>
                  </a:extLst>
                </a:gridCol>
                <a:gridCol w="444470">
                  <a:extLst>
                    <a:ext uri="{9D8B030D-6E8A-4147-A177-3AD203B41FA5}">
                      <a16:colId xmlns:a16="http://schemas.microsoft.com/office/drawing/2014/main" val="20001"/>
                    </a:ext>
                  </a:extLst>
                </a:gridCol>
                <a:gridCol w="694006">
                  <a:extLst>
                    <a:ext uri="{9D8B030D-6E8A-4147-A177-3AD203B41FA5}">
                      <a16:colId xmlns:a16="http://schemas.microsoft.com/office/drawing/2014/main" val="1846315748"/>
                    </a:ext>
                  </a:extLst>
                </a:gridCol>
                <a:gridCol w="694006">
                  <a:extLst>
                    <a:ext uri="{9D8B030D-6E8A-4147-A177-3AD203B41FA5}">
                      <a16:colId xmlns:a16="http://schemas.microsoft.com/office/drawing/2014/main" val="1665052075"/>
                    </a:ext>
                  </a:extLst>
                </a:gridCol>
                <a:gridCol w="694006">
                  <a:extLst>
                    <a:ext uri="{9D8B030D-6E8A-4147-A177-3AD203B41FA5}">
                      <a16:colId xmlns:a16="http://schemas.microsoft.com/office/drawing/2014/main" val="861976818"/>
                    </a:ext>
                  </a:extLst>
                </a:gridCol>
                <a:gridCol w="6934030">
                  <a:extLst>
                    <a:ext uri="{9D8B030D-6E8A-4147-A177-3AD203B41FA5}">
                      <a16:colId xmlns:a16="http://schemas.microsoft.com/office/drawing/2014/main" val="20006"/>
                    </a:ext>
                  </a:extLst>
                </a:gridCol>
              </a:tblGrid>
              <a:tr h="329858">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29858">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329858">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dirty="0">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dirty="0">
                          <a:solidFill>
                            <a:schemeClr val="tx1"/>
                          </a:solidFill>
                          <a:latin typeface="Adani Regular" panose="02000503000000020004" pitchFamily="2" charset="0"/>
                        </a:rPr>
                        <a:t>Total approvals 18; 10 approvals are Completed, 6 In progress; 2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329858">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dirty="0">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dirty="0">
                          <a:solidFill>
                            <a:srgbClr val="000000"/>
                          </a:solidFill>
                          <a:effectLst/>
                          <a:latin typeface="Adani Regular" panose="02000503000000020004" pitchFamily="2" charset="0"/>
                        </a:rPr>
                        <a:t>3.85%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dirty="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a:t>
                      </a:r>
                      <a:r>
                        <a:rPr lang="en-US" sz="1100" dirty="0">
                          <a:solidFill>
                            <a:schemeClr val="tx1"/>
                          </a:solidFill>
                          <a:effectLst/>
                          <a:highlight>
                            <a:srgbClr val="FFFF00"/>
                          </a:highlight>
                          <a:latin typeface="Adani Regular" panose="02000503000000020004" pitchFamily="2" charset="0"/>
                          <a:ea typeface="Aptos" panose="020B0004020202020204" pitchFamily="34" charset="0"/>
                          <a:cs typeface="Aptos" panose="020B0004020202020204" pitchFamily="34" charset="0"/>
                        </a:rPr>
                        <a:t>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9505">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dirty="0">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37.74%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30.02%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7.72%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100" kern="1200" noProof="0" dirty="0">
                          <a:solidFill>
                            <a:schemeClr val="tx1"/>
                          </a:solidFill>
                          <a:effectLst/>
                          <a:latin typeface="Adani Regular" panose="02000503000000020004" pitchFamily="2" charset="0"/>
                        </a:rPr>
                        <a:t>All </a:t>
                      </a:r>
                      <a:r>
                        <a:rPr lang="en-US" sz="1100" noProof="0" dirty="0">
                          <a:solidFill>
                            <a:schemeClr val="tx1"/>
                          </a:solidFill>
                          <a:latin typeface="Adani Regular" panose="02000503000000020004" pitchFamily="2" charset="0"/>
                          <a:ea typeface="+mn-ea"/>
                          <a:cs typeface="+mn-cs"/>
                        </a:rPr>
                        <a:t>order placed, manufacturing started. </a:t>
                      </a:r>
                      <a:r>
                        <a:rPr lang="en-US" sz="1100" dirty="0">
                          <a:solidFill>
                            <a:schemeClr val="tx1"/>
                          </a:solidFill>
                          <a:latin typeface="Adani Regular" panose="02000503000000020004" pitchFamily="2" charset="0"/>
                          <a:ea typeface="+mn-ea"/>
                          <a:cs typeface="+mn-cs"/>
                        </a:rPr>
                        <a:t>The cable deliveries were originally planned from January, but they started in February. M/s Akshar (CSS) experienced delays due to late deliveries from their sub-vendors.</a:t>
                      </a:r>
                      <a:endParaRPr lang="en-IN" sz="1100" dirty="0">
                        <a:solidFill>
                          <a:schemeClr val="tx1"/>
                        </a:solidFill>
                        <a:latin typeface="Adani Regular" panose="02000503000000020004"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6502">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dirty="0">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34.32%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12.41%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21.91%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effectLst/>
                          <a:latin typeface="Adani Regular" panose="02000503000000020004" pitchFamily="2" charset="0"/>
                        </a:rPr>
                        <a:t>The difference between ‘Plan’ and ‘Actual’ is mainly due to insufficient / delayed deployment of manpower &amp; Container receipt at site.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0950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dirty="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79.06%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47.53%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31.52%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04775" marR="35560" lvl="0" indent="0" algn="just" defTabSz="914400" rtl="0" eaLnBrk="1" fontAlgn="auto" latinLnBrk="0" hangingPunct="1">
                        <a:lnSpc>
                          <a:spcPct val="100000"/>
                        </a:lnSpc>
                        <a:spcBef>
                          <a:spcPts val="65"/>
                        </a:spcBef>
                        <a:spcAft>
                          <a:spcPts val="0"/>
                        </a:spcAft>
                        <a:buClrTx/>
                        <a:buSzTx/>
                        <a:buFont typeface="Arial"/>
                        <a:buNone/>
                        <a:tabLst>
                          <a:tab pos="219075" algn="l"/>
                        </a:tabLst>
                        <a:defRPr/>
                      </a:pPr>
                      <a:r>
                        <a:rPr lang="en-US" sz="1100" b="1" dirty="0">
                          <a:solidFill>
                            <a:schemeClr val="bg1"/>
                          </a:solidFill>
                          <a:latin typeface="Adani Regular" panose="02000503000000020004" pitchFamily="2" charset="0"/>
                        </a:rPr>
                        <a:t>Mitigation Plan: </a:t>
                      </a:r>
                      <a:r>
                        <a:rPr lang="en-US" sz="1100" b="0" dirty="0">
                          <a:solidFill>
                            <a:schemeClr val="bg1"/>
                          </a:solidFill>
                          <a:latin typeface="Adani Regular" panose="02000503000000020004" pitchFamily="2" charset="0"/>
                        </a:rPr>
                        <a:t>Expedite the efforts of the BOP Civil and ACDC contractors to increase manpower in line with the commitments in the signed MOM.</a:t>
                      </a:r>
                      <a:endParaRPr lang="en-US" sz="1100" b="0" i="0" u="none" strike="noStrike" kern="1200" dirty="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CF9058F9-E06B-ABC1-1BB7-C38005EC7A3C}"/>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a:t>
            </a:fld>
            <a:endParaRPr lang="en-IN"/>
          </a:p>
        </p:txBody>
      </p:sp>
      <p:graphicFrame>
        <p:nvGraphicFramePr>
          <p:cNvPr id="5" name="Chart 4">
            <a:extLst>
              <a:ext uri="{FF2B5EF4-FFF2-40B4-BE49-F238E27FC236}">
                <a16:creationId xmlns:a16="http://schemas.microsoft.com/office/drawing/2014/main" id="{ABFF68AF-878D-4EB0-B557-0FC54748BBDD}"/>
              </a:ext>
            </a:extLst>
          </p:cNvPr>
          <p:cNvGraphicFramePr>
            <a:graphicFrameLocks/>
          </p:cNvGraphicFramePr>
          <p:nvPr>
            <p:extLst>
              <p:ext uri="{D42A27DB-BD31-4B8C-83A1-F6EECF244321}">
                <p14:modId xmlns:p14="http://schemas.microsoft.com/office/powerpoint/2010/main" val="4023819554"/>
              </p:ext>
            </p:extLst>
          </p:nvPr>
        </p:nvGraphicFramePr>
        <p:xfrm>
          <a:off x="158462" y="520615"/>
          <a:ext cx="11746667" cy="32893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6852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3D67-5FAC-FB89-2D92-6D256FC15E5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D447F7C-84F5-E320-08B3-DC0ECB1C3015}"/>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a:gradFill>
                  <a:gsLst>
                    <a:gs pos="9735">
                      <a:schemeClr val="tx2"/>
                    </a:gs>
                    <a:gs pos="63000">
                      <a:srgbClr val="8E278F"/>
                    </a:gs>
                    <a:gs pos="38000">
                      <a:srgbClr val="57499E"/>
                    </a:gs>
                  </a:gsLst>
                  <a:lin ang="0" scaled="0"/>
                </a:gradFill>
              </a:rPr>
              <a:t>Physical Progress : PSS 12 S-Curve </a:t>
            </a:r>
            <a:r>
              <a:rPr lang="en-US" i="1">
                <a:gradFill>
                  <a:gsLst>
                    <a:gs pos="9735">
                      <a:schemeClr val="tx2"/>
                    </a:gs>
                    <a:gs pos="63000">
                      <a:srgbClr val="8E278F"/>
                    </a:gs>
                    <a:gs pos="38000">
                      <a:srgbClr val="57499E"/>
                    </a:gs>
                  </a:gsLst>
                  <a:lin ang="0" scaled="0"/>
                </a:gradFill>
              </a:rPr>
              <a:t>[updated till 31 May 26 as per R1]</a:t>
            </a:r>
            <a:endParaRPr lang="en-US">
              <a:gradFill>
                <a:gsLst>
                  <a:gs pos="9735">
                    <a:schemeClr val="tx2"/>
                  </a:gs>
                  <a:gs pos="63000">
                    <a:srgbClr val="8E278F"/>
                  </a:gs>
                  <a:gs pos="38000">
                    <a:srgbClr val="57499E"/>
                  </a:gs>
                </a:gsLst>
                <a:lin ang="0" scaled="0"/>
              </a:gradFill>
            </a:endParaRPr>
          </a:p>
        </p:txBody>
      </p:sp>
      <p:graphicFrame>
        <p:nvGraphicFramePr>
          <p:cNvPr id="12" name="object 4">
            <a:extLst>
              <a:ext uri="{FF2B5EF4-FFF2-40B4-BE49-F238E27FC236}">
                <a16:creationId xmlns:a16="http://schemas.microsoft.com/office/drawing/2014/main" id="{E0B9801D-5E37-7233-2224-3C2FAF4C0F8F}"/>
              </a:ext>
            </a:extLst>
          </p:cNvPr>
          <p:cNvGraphicFramePr>
            <a:graphicFrameLocks noGrp="1"/>
          </p:cNvGraphicFramePr>
          <p:nvPr>
            <p:extLst>
              <p:ext uri="{D42A27DB-BD31-4B8C-83A1-F6EECF244321}">
                <p14:modId xmlns:p14="http://schemas.microsoft.com/office/powerpoint/2010/main" val="1530635179"/>
              </p:ext>
            </p:extLst>
          </p:nvPr>
        </p:nvGraphicFramePr>
        <p:xfrm>
          <a:off x="233082" y="3912389"/>
          <a:ext cx="11536352" cy="2898896"/>
        </p:xfrm>
        <a:graphic>
          <a:graphicData uri="http://schemas.openxmlformats.org/drawingml/2006/table">
            <a:tbl>
              <a:tblPr firstRow="1" bandRow="1">
                <a:tableStyleId>{2D5ABB26-0587-4C30-8999-92F81FD0307C}</a:tableStyleId>
              </a:tblPr>
              <a:tblGrid>
                <a:gridCol w="2061883">
                  <a:extLst>
                    <a:ext uri="{9D8B030D-6E8A-4147-A177-3AD203B41FA5}">
                      <a16:colId xmlns:a16="http://schemas.microsoft.com/office/drawing/2014/main" val="20000"/>
                    </a:ext>
                  </a:extLst>
                </a:gridCol>
                <a:gridCol w="472444">
                  <a:extLst>
                    <a:ext uri="{9D8B030D-6E8A-4147-A177-3AD203B41FA5}">
                      <a16:colId xmlns:a16="http://schemas.microsoft.com/office/drawing/2014/main" val="20001"/>
                    </a:ext>
                  </a:extLst>
                </a:gridCol>
                <a:gridCol w="681790">
                  <a:extLst>
                    <a:ext uri="{9D8B030D-6E8A-4147-A177-3AD203B41FA5}">
                      <a16:colId xmlns:a16="http://schemas.microsoft.com/office/drawing/2014/main" val="1846315748"/>
                    </a:ext>
                  </a:extLst>
                </a:gridCol>
                <a:gridCol w="700627">
                  <a:extLst>
                    <a:ext uri="{9D8B030D-6E8A-4147-A177-3AD203B41FA5}">
                      <a16:colId xmlns:a16="http://schemas.microsoft.com/office/drawing/2014/main" val="1665052075"/>
                    </a:ext>
                  </a:extLst>
                </a:gridCol>
                <a:gridCol w="700627">
                  <a:extLst>
                    <a:ext uri="{9D8B030D-6E8A-4147-A177-3AD203B41FA5}">
                      <a16:colId xmlns:a16="http://schemas.microsoft.com/office/drawing/2014/main" val="3248271569"/>
                    </a:ext>
                  </a:extLst>
                </a:gridCol>
                <a:gridCol w="6918981">
                  <a:extLst>
                    <a:ext uri="{9D8B030D-6E8A-4147-A177-3AD203B41FA5}">
                      <a16:colId xmlns:a16="http://schemas.microsoft.com/office/drawing/2014/main" val="20006"/>
                    </a:ext>
                  </a:extLst>
                </a:gridCol>
              </a:tblGrid>
              <a:tr h="343724">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900" b="1" spc="-25">
                          <a:solidFill>
                            <a:srgbClr val="FFFFFF"/>
                          </a:solidFill>
                          <a:latin typeface="Adani Regular"/>
                          <a:cs typeface="Adani Regular"/>
                        </a:rPr>
                        <a:t>FTM</a:t>
                      </a:r>
                      <a:endParaRPr lang="en-US" sz="9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43724">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343724">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1.90%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1.23%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0.67%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a:solidFill>
                            <a:schemeClr val="tx1"/>
                          </a:solidFill>
                          <a:latin typeface="Adani Regular" panose="02000503000000020004" pitchFamily="2" charset="0"/>
                        </a:rPr>
                        <a:t>Total approvals 18; 10 approvals are Completed, 6 In progress; 2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343724">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3724">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33.00%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24.14%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8.86%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solidFill>
                            <a:schemeClr val="tx1"/>
                          </a:solidFill>
                          <a:latin typeface="Adani Regular" panose="02000503000000020004" pitchFamily="2" charset="0"/>
                          <a:ea typeface="+mn-ea"/>
                          <a:cs typeface="+mn-cs"/>
                        </a:rPr>
                        <a:t>All order placed, manufacturing started. </a:t>
                      </a:r>
                      <a:r>
                        <a:rPr lang="en-US" sz="1100">
                          <a:solidFill>
                            <a:schemeClr val="tx1"/>
                          </a:solidFill>
                          <a:latin typeface="Adani Regular" panose="02000503000000020004" pitchFamily="2" charset="0"/>
                          <a:ea typeface="+mn-ea"/>
                          <a:cs typeface="+mn-cs"/>
                        </a:rPr>
                        <a:t>The cable deliveries were originally planned from January to February, but they started in February and continued till April at the site. M/s Akshar (CSS) faced delays due to late deliveries from their sub-vendors.</a:t>
                      </a:r>
                      <a:endParaRPr lang="en-US" sz="1100" noProof="0">
                        <a:solidFill>
                          <a:schemeClr val="tx1"/>
                        </a:solidFill>
                        <a:latin typeface="Adani Regular" panose="02000503000000020004"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7989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26.63%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11.18%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15.45%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The difference between ‘Plan’ and ‘Actual’ is mainly due to insufficient manpower deployment by the M/s MSC (BOP) contractor, along with the late mobilization of the M/s Akshar (AC DC) contractor.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343724">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66.53%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39.75%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26.77%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04775" marR="35560" lvl="0" indent="0" algn="just" defTabSz="914400" rtl="0" eaLnBrk="1" fontAlgn="auto" latinLnBrk="0" hangingPunct="1">
                        <a:lnSpc>
                          <a:spcPct val="100000"/>
                        </a:lnSpc>
                        <a:spcBef>
                          <a:spcPts val="65"/>
                        </a:spcBef>
                        <a:spcAft>
                          <a:spcPts val="0"/>
                        </a:spcAft>
                        <a:buClrTx/>
                        <a:buSzTx/>
                        <a:buFont typeface="Arial"/>
                        <a:buNone/>
                        <a:tabLst>
                          <a:tab pos="219075" algn="l"/>
                        </a:tabLst>
                        <a:defRPr/>
                      </a:pPr>
                      <a:r>
                        <a:rPr lang="en-US" sz="1100" b="1">
                          <a:solidFill>
                            <a:schemeClr val="bg1"/>
                          </a:solidFill>
                          <a:latin typeface="Adani Regular" panose="02000503000000020004" pitchFamily="2" charset="0"/>
                        </a:rPr>
                        <a:t>Mitigation Plan: </a:t>
                      </a:r>
                      <a:r>
                        <a:rPr lang="en-US" sz="1100" b="0">
                          <a:solidFill>
                            <a:schemeClr val="bg1"/>
                          </a:solidFill>
                          <a:latin typeface="Adani Regular" panose="02000503000000020004" pitchFamily="2" charset="0"/>
                        </a:rPr>
                        <a:t>Expedite the efforts of the BOP Civil and ACDC contractors to increase manpower in line with the commitments in the signed MOM.</a:t>
                      </a:r>
                      <a:endParaRPr lang="en-US" sz="1100" b="0" i="0" u="none" strike="noStrike" kern="120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3" name="Slide Number Placeholder 2">
            <a:extLst>
              <a:ext uri="{FF2B5EF4-FFF2-40B4-BE49-F238E27FC236}">
                <a16:creationId xmlns:a16="http://schemas.microsoft.com/office/drawing/2014/main" id="{45129E17-661D-A3F1-86A2-49312E265BD4}"/>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7</a:t>
            </a:fld>
            <a:endParaRPr lang="en-IN"/>
          </a:p>
        </p:txBody>
      </p:sp>
      <p:graphicFrame>
        <p:nvGraphicFramePr>
          <p:cNvPr id="5" name="Chart 4">
            <a:extLst>
              <a:ext uri="{FF2B5EF4-FFF2-40B4-BE49-F238E27FC236}">
                <a16:creationId xmlns:a16="http://schemas.microsoft.com/office/drawing/2014/main" id="{E384D0E4-02FC-4AA8-AE1B-47096D03E117}"/>
              </a:ext>
            </a:extLst>
          </p:cNvPr>
          <p:cNvGraphicFramePr>
            <a:graphicFrameLocks/>
          </p:cNvGraphicFramePr>
          <p:nvPr>
            <p:extLst>
              <p:ext uri="{D42A27DB-BD31-4B8C-83A1-F6EECF244321}">
                <p14:modId xmlns:p14="http://schemas.microsoft.com/office/powerpoint/2010/main" val="2990898267"/>
              </p:ext>
            </p:extLst>
          </p:nvPr>
        </p:nvGraphicFramePr>
        <p:xfrm>
          <a:off x="252412" y="460000"/>
          <a:ext cx="11687176" cy="339698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69780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3FCD8-3856-2B7D-32AA-0C50A7B7CE8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1604B1D-960B-23DC-2AFF-2CD35B8EFF36}"/>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a:gradFill>
                  <a:gsLst>
                    <a:gs pos="9735">
                      <a:schemeClr val="tx2"/>
                    </a:gs>
                    <a:gs pos="63000">
                      <a:srgbClr val="8E278F"/>
                    </a:gs>
                    <a:gs pos="38000">
                      <a:srgbClr val="57499E"/>
                    </a:gs>
                  </a:gsLst>
                  <a:lin ang="0" scaled="0"/>
                </a:gradFill>
              </a:rPr>
              <a:t>Physical Progress : PSS 10B S-Curve </a:t>
            </a:r>
            <a:r>
              <a:rPr lang="en-US" i="1">
                <a:gradFill>
                  <a:gsLst>
                    <a:gs pos="9735">
                      <a:schemeClr val="tx2"/>
                    </a:gs>
                    <a:gs pos="63000">
                      <a:srgbClr val="8E278F"/>
                    </a:gs>
                    <a:gs pos="38000">
                      <a:srgbClr val="57499E"/>
                    </a:gs>
                  </a:gsLst>
                  <a:lin ang="0" scaled="0"/>
                </a:gradFill>
              </a:rPr>
              <a:t>[updated till 31 May 26 as per R1]</a:t>
            </a:r>
            <a:endParaRPr lang="en-US">
              <a:gradFill>
                <a:gsLst>
                  <a:gs pos="9735">
                    <a:schemeClr val="tx2"/>
                  </a:gs>
                  <a:gs pos="63000">
                    <a:srgbClr val="8E278F"/>
                  </a:gs>
                  <a:gs pos="38000">
                    <a:srgbClr val="57499E"/>
                  </a:gs>
                </a:gsLst>
                <a:lin ang="0" scaled="0"/>
              </a:gradFill>
            </a:endParaRPr>
          </a:p>
        </p:txBody>
      </p:sp>
      <p:graphicFrame>
        <p:nvGraphicFramePr>
          <p:cNvPr id="12" name="object 4">
            <a:extLst>
              <a:ext uri="{FF2B5EF4-FFF2-40B4-BE49-F238E27FC236}">
                <a16:creationId xmlns:a16="http://schemas.microsoft.com/office/drawing/2014/main" id="{74E22ECF-F31A-1F19-DDB9-EDBB19BBAE1A}"/>
              </a:ext>
            </a:extLst>
          </p:cNvPr>
          <p:cNvGraphicFramePr>
            <a:graphicFrameLocks noGrp="1"/>
          </p:cNvGraphicFramePr>
          <p:nvPr>
            <p:extLst>
              <p:ext uri="{D42A27DB-BD31-4B8C-83A1-F6EECF244321}">
                <p14:modId xmlns:p14="http://schemas.microsoft.com/office/powerpoint/2010/main" val="2018234823"/>
              </p:ext>
            </p:extLst>
          </p:nvPr>
        </p:nvGraphicFramePr>
        <p:xfrm>
          <a:off x="252222" y="3990805"/>
          <a:ext cx="11504352" cy="2810895"/>
        </p:xfrm>
        <a:graphic>
          <a:graphicData uri="http://schemas.openxmlformats.org/drawingml/2006/table">
            <a:tbl>
              <a:tblPr firstRow="1" bandRow="1">
                <a:tableStyleId>{2D5ABB26-0587-4C30-8999-92F81FD0307C}</a:tableStyleId>
              </a:tblPr>
              <a:tblGrid>
                <a:gridCol w="2031513">
                  <a:extLst>
                    <a:ext uri="{9D8B030D-6E8A-4147-A177-3AD203B41FA5}">
                      <a16:colId xmlns:a16="http://schemas.microsoft.com/office/drawing/2014/main" val="20000"/>
                    </a:ext>
                  </a:extLst>
                </a:gridCol>
                <a:gridCol w="477000">
                  <a:extLst>
                    <a:ext uri="{9D8B030D-6E8A-4147-A177-3AD203B41FA5}">
                      <a16:colId xmlns:a16="http://schemas.microsoft.com/office/drawing/2014/main" val="20001"/>
                    </a:ext>
                  </a:extLst>
                </a:gridCol>
                <a:gridCol w="698684">
                  <a:extLst>
                    <a:ext uri="{9D8B030D-6E8A-4147-A177-3AD203B41FA5}">
                      <a16:colId xmlns:a16="http://schemas.microsoft.com/office/drawing/2014/main" val="1846315748"/>
                    </a:ext>
                  </a:extLst>
                </a:gridCol>
                <a:gridCol w="698684">
                  <a:extLst>
                    <a:ext uri="{9D8B030D-6E8A-4147-A177-3AD203B41FA5}">
                      <a16:colId xmlns:a16="http://schemas.microsoft.com/office/drawing/2014/main" val="1665052075"/>
                    </a:ext>
                  </a:extLst>
                </a:gridCol>
                <a:gridCol w="698684">
                  <a:extLst>
                    <a:ext uri="{9D8B030D-6E8A-4147-A177-3AD203B41FA5}">
                      <a16:colId xmlns:a16="http://schemas.microsoft.com/office/drawing/2014/main" val="2458637699"/>
                    </a:ext>
                  </a:extLst>
                </a:gridCol>
                <a:gridCol w="6899787">
                  <a:extLst>
                    <a:ext uri="{9D8B030D-6E8A-4147-A177-3AD203B41FA5}">
                      <a16:colId xmlns:a16="http://schemas.microsoft.com/office/drawing/2014/main" val="20006"/>
                    </a:ext>
                  </a:extLst>
                </a:gridCol>
              </a:tblGrid>
              <a:tr h="309812">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09812">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309812">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a:solidFill>
                            <a:schemeClr val="tx1"/>
                          </a:solidFill>
                          <a:latin typeface="Adani Regular" panose="02000503000000020004" pitchFamily="2" charset="0"/>
                        </a:rPr>
                        <a:t>Total approvals 18; 10 approvals are Completed, 6 In progress; 2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309812">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1506">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24.07%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solidFill>
                            <a:schemeClr val="tx1"/>
                          </a:solidFill>
                          <a:latin typeface="Adani Regular" panose="02000503000000020004" pitchFamily="2" charset="0"/>
                          <a:ea typeface="+mn-ea"/>
                          <a:cs typeface="+mn-cs"/>
                        </a:rPr>
                        <a:t>All order placed, manufacturing started. </a:t>
                      </a:r>
                      <a:r>
                        <a:rPr lang="en-US" sz="1100">
                          <a:solidFill>
                            <a:schemeClr val="tx1"/>
                          </a:solidFill>
                          <a:latin typeface="Adani Regular" panose="02000503000000020004" pitchFamily="2" charset="0"/>
                          <a:ea typeface="+mn-ea"/>
                          <a:cs typeface="+mn-cs"/>
                        </a:rPr>
                        <a:t>The cable deliveries were originally planned from January to mid February, but they started in February and continued till March end at the site and delivery of Trafo also got delayed.</a:t>
                      </a:r>
                      <a:endParaRPr lang="en-US" sz="1100" kern="1200" noProof="0">
                        <a:solidFill>
                          <a:schemeClr val="tx1"/>
                        </a:solidFill>
                        <a:effectLst/>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42007">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27.81%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8.14%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The difference between ‘Plan’ and ‘Actual’ is mainly due to </a:t>
                      </a:r>
                      <a:r>
                        <a:rPr lang="en-US" sz="1100">
                          <a:solidFill>
                            <a:schemeClr val="tx1"/>
                          </a:solidFill>
                          <a:latin typeface="Adani Regular" panose="02000503000000020004" pitchFamily="2" charset="0"/>
                        </a:rPr>
                        <a:t>delayed mobilization and insufficient manpower from the M/s </a:t>
                      </a:r>
                      <a:r>
                        <a:rPr lang="en-US" sz="1100" err="1">
                          <a:solidFill>
                            <a:schemeClr val="tx1"/>
                          </a:solidFill>
                          <a:latin typeface="Adani Regular" panose="02000503000000020004" pitchFamily="2" charset="0"/>
                        </a:rPr>
                        <a:t>Godara</a:t>
                      </a:r>
                      <a:r>
                        <a:rPr lang="en-US" sz="1100">
                          <a:solidFill>
                            <a:schemeClr val="tx1"/>
                          </a:solidFill>
                          <a:latin typeface="Adani Regular" panose="02000503000000020004" pitchFamily="2" charset="0"/>
                        </a:rPr>
                        <a:t> (BOP) contractor </a:t>
                      </a:r>
                      <a:r>
                        <a:rPr lang="en-US" sz="1100" kern="1200">
                          <a:solidFill>
                            <a:schemeClr val="tx1"/>
                          </a:solidFill>
                          <a:effectLst/>
                          <a:latin typeface="Adani Regular" panose="02000503000000020004" pitchFamily="2" charset="0"/>
                          <a:ea typeface="+mn-ea"/>
                          <a:cs typeface="+mn-cs"/>
                        </a:rPr>
                        <a:t>and M/s Akshar did not have front availability around IDTs  and manpower mobilization was late and inadequate.</a:t>
                      </a:r>
                      <a:endParaRPr lang="en-US" sz="1100" kern="1200" noProof="0">
                        <a:solidFill>
                          <a:schemeClr val="tx1"/>
                        </a:solidFill>
                        <a:effectLst/>
                        <a:latin typeface="Adani Regular" panose="02000503000000020004"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08550">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70.27%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36.57%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33.70%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04775" marR="35560" lvl="0" indent="0" algn="just" defTabSz="914400" rtl="0" eaLnBrk="1" fontAlgn="auto" latinLnBrk="0" hangingPunct="1">
                        <a:lnSpc>
                          <a:spcPct val="100000"/>
                        </a:lnSpc>
                        <a:spcBef>
                          <a:spcPts val="65"/>
                        </a:spcBef>
                        <a:spcAft>
                          <a:spcPts val="0"/>
                        </a:spcAft>
                        <a:buClrTx/>
                        <a:buSzTx/>
                        <a:buFont typeface="Arial"/>
                        <a:buNone/>
                        <a:tabLst>
                          <a:tab pos="219075" algn="l"/>
                        </a:tabLst>
                        <a:defRPr/>
                      </a:pPr>
                      <a:r>
                        <a:rPr lang="en-US" sz="1100" b="1">
                          <a:solidFill>
                            <a:schemeClr val="bg1"/>
                          </a:solidFill>
                          <a:latin typeface="Adani Regular" panose="02000503000000020004" pitchFamily="2" charset="0"/>
                        </a:rPr>
                        <a:t>Mitigation Plan: </a:t>
                      </a:r>
                      <a:r>
                        <a:rPr lang="en-US" sz="1100" b="0">
                          <a:solidFill>
                            <a:schemeClr val="bg1"/>
                          </a:solidFill>
                          <a:latin typeface="Adani Regular" panose="02000503000000020004" pitchFamily="2" charset="0"/>
                        </a:rPr>
                        <a:t>Expedite the efforts of the BOP Civil and ACDC contractors to increase manpower in line with the commitments in the signed MOM.</a:t>
                      </a:r>
                      <a:endParaRPr lang="en-US" sz="1100" b="0" i="0" u="none" strike="noStrike" kern="120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E78DE0BD-83F4-E7A9-E4CF-114EFFD6EFE3}"/>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8</a:t>
            </a:fld>
            <a:endParaRPr lang="en-IN"/>
          </a:p>
        </p:txBody>
      </p:sp>
      <p:graphicFrame>
        <p:nvGraphicFramePr>
          <p:cNvPr id="5" name="Chart 4">
            <a:extLst>
              <a:ext uri="{FF2B5EF4-FFF2-40B4-BE49-F238E27FC236}">
                <a16:creationId xmlns:a16="http://schemas.microsoft.com/office/drawing/2014/main" id="{B445F87B-4EC9-4A3E-8483-AD5A7ECB0864}"/>
              </a:ext>
            </a:extLst>
          </p:cNvPr>
          <p:cNvGraphicFramePr>
            <a:graphicFrameLocks/>
          </p:cNvGraphicFramePr>
          <p:nvPr>
            <p:extLst>
              <p:ext uri="{D42A27DB-BD31-4B8C-83A1-F6EECF244321}">
                <p14:modId xmlns:p14="http://schemas.microsoft.com/office/powerpoint/2010/main" val="740436973"/>
              </p:ext>
            </p:extLst>
          </p:nvPr>
        </p:nvGraphicFramePr>
        <p:xfrm>
          <a:off x="252222" y="638666"/>
          <a:ext cx="11591925" cy="335213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54997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C2E92-8BB6-B24C-E928-532E42D8DA7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7F74023-87B8-C390-4241-104E6AA11D57}"/>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a:gradFill>
                  <a:gsLst>
                    <a:gs pos="9735">
                      <a:schemeClr val="tx2"/>
                    </a:gs>
                    <a:gs pos="63000">
                      <a:srgbClr val="8E278F"/>
                    </a:gs>
                    <a:gs pos="38000">
                      <a:srgbClr val="57499E"/>
                    </a:gs>
                  </a:gsLst>
                  <a:lin ang="0" scaled="0"/>
                </a:gradFill>
              </a:rPr>
              <a:t>Physical Progress : PSS 9 S-Curve </a:t>
            </a:r>
            <a:r>
              <a:rPr lang="en-US" i="1">
                <a:gradFill>
                  <a:gsLst>
                    <a:gs pos="9735">
                      <a:schemeClr val="tx2"/>
                    </a:gs>
                    <a:gs pos="63000">
                      <a:srgbClr val="8E278F"/>
                    </a:gs>
                    <a:gs pos="38000">
                      <a:srgbClr val="57499E"/>
                    </a:gs>
                  </a:gsLst>
                  <a:lin ang="0" scaled="0"/>
                </a:gradFill>
              </a:rPr>
              <a:t>[updated till 31 May 26]</a:t>
            </a:r>
            <a:endParaRPr lang="en-US">
              <a:gradFill>
                <a:gsLst>
                  <a:gs pos="9735">
                    <a:schemeClr val="tx2"/>
                  </a:gs>
                  <a:gs pos="63000">
                    <a:srgbClr val="8E278F"/>
                  </a:gs>
                  <a:gs pos="38000">
                    <a:srgbClr val="57499E"/>
                  </a:gs>
                </a:gsLst>
                <a:lin ang="0" scaled="0"/>
              </a:gradFill>
            </a:endParaRPr>
          </a:p>
        </p:txBody>
      </p:sp>
      <p:graphicFrame>
        <p:nvGraphicFramePr>
          <p:cNvPr id="12" name="object 4">
            <a:extLst>
              <a:ext uri="{FF2B5EF4-FFF2-40B4-BE49-F238E27FC236}">
                <a16:creationId xmlns:a16="http://schemas.microsoft.com/office/drawing/2014/main" id="{A54924DE-DA99-AB7C-716D-25F322539B47}"/>
              </a:ext>
            </a:extLst>
          </p:cNvPr>
          <p:cNvGraphicFramePr>
            <a:graphicFrameLocks noGrp="1"/>
          </p:cNvGraphicFramePr>
          <p:nvPr>
            <p:extLst>
              <p:ext uri="{D42A27DB-BD31-4B8C-83A1-F6EECF244321}">
                <p14:modId xmlns:p14="http://schemas.microsoft.com/office/powerpoint/2010/main" val="15767818"/>
              </p:ext>
            </p:extLst>
          </p:nvPr>
        </p:nvGraphicFramePr>
        <p:xfrm>
          <a:off x="397362" y="3875550"/>
          <a:ext cx="11520316" cy="2868486"/>
        </p:xfrm>
        <a:graphic>
          <a:graphicData uri="http://schemas.openxmlformats.org/drawingml/2006/table">
            <a:tbl>
              <a:tblPr firstRow="1" bandRow="1">
                <a:tableStyleId>{2D5ABB26-0587-4C30-8999-92F81FD0307C}</a:tableStyleId>
              </a:tblPr>
              <a:tblGrid>
                <a:gridCol w="1994064">
                  <a:extLst>
                    <a:ext uri="{9D8B030D-6E8A-4147-A177-3AD203B41FA5}">
                      <a16:colId xmlns:a16="http://schemas.microsoft.com/office/drawing/2014/main" val="20000"/>
                    </a:ext>
                  </a:extLst>
                </a:gridCol>
                <a:gridCol w="517930">
                  <a:extLst>
                    <a:ext uri="{9D8B030D-6E8A-4147-A177-3AD203B41FA5}">
                      <a16:colId xmlns:a16="http://schemas.microsoft.com/office/drawing/2014/main" val="20001"/>
                    </a:ext>
                  </a:extLst>
                </a:gridCol>
                <a:gridCol w="699653">
                  <a:extLst>
                    <a:ext uri="{9D8B030D-6E8A-4147-A177-3AD203B41FA5}">
                      <a16:colId xmlns:a16="http://schemas.microsoft.com/office/drawing/2014/main" val="1846315748"/>
                    </a:ext>
                  </a:extLst>
                </a:gridCol>
                <a:gridCol w="699653">
                  <a:extLst>
                    <a:ext uri="{9D8B030D-6E8A-4147-A177-3AD203B41FA5}">
                      <a16:colId xmlns:a16="http://schemas.microsoft.com/office/drawing/2014/main" val="1665052075"/>
                    </a:ext>
                  </a:extLst>
                </a:gridCol>
                <a:gridCol w="699653">
                  <a:extLst>
                    <a:ext uri="{9D8B030D-6E8A-4147-A177-3AD203B41FA5}">
                      <a16:colId xmlns:a16="http://schemas.microsoft.com/office/drawing/2014/main" val="3974385257"/>
                    </a:ext>
                  </a:extLst>
                </a:gridCol>
                <a:gridCol w="6909363">
                  <a:extLst>
                    <a:ext uri="{9D8B030D-6E8A-4147-A177-3AD203B41FA5}">
                      <a16:colId xmlns:a16="http://schemas.microsoft.com/office/drawing/2014/main" val="20006"/>
                    </a:ext>
                  </a:extLst>
                </a:gridCol>
              </a:tblGrid>
              <a:tr h="284955">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99830">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10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302734">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a:solidFill>
                            <a:schemeClr val="tx1"/>
                          </a:solidFill>
                          <a:latin typeface="Adani Regular" panose="02000503000000020004" pitchFamily="2" charset="0"/>
                        </a:rPr>
                        <a:t>Total approvals 18; 9 approvals are Completed, 7 In progress; 2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84955">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5551">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31.89%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16.89%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solidFill>
                            <a:schemeClr val="tx1"/>
                          </a:solidFill>
                          <a:latin typeface="Adani Regular" panose="02000503000000020004" pitchFamily="2" charset="0"/>
                          <a:ea typeface="+mn-ea"/>
                          <a:cs typeface="+mn-cs"/>
                        </a:rPr>
                        <a:t>All order placed, manufacturing started.</a:t>
                      </a:r>
                      <a:r>
                        <a:rPr lang="en-US" sz="1100">
                          <a:solidFill>
                            <a:schemeClr val="tx1"/>
                          </a:solidFill>
                          <a:latin typeface="Adani Regular" panose="02000503000000020004" pitchFamily="2" charset="0"/>
                          <a:ea typeface="+mn-ea"/>
                          <a:cs typeface="+mn-cs"/>
                        </a:rPr>
                        <a:t>The cable deliveries were originally planned from January to mid Mar, but they started in March and will continue to be delivered at the site until the end of June.</a:t>
                      </a:r>
                      <a:endParaRPr lang="en-US" sz="1100" noProof="0">
                        <a:solidFill>
                          <a:schemeClr val="tx1"/>
                        </a:solidFill>
                        <a:latin typeface="Adani Regular" panose="02000503000000020004"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9562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27.26%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7.18%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20.08%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The difference between ‘Plan’ and ‘Actual’ </a:t>
                      </a:r>
                      <a:r>
                        <a:rPr lang="en-US" sz="1100" kern="1200" noProof="0">
                          <a:solidFill>
                            <a:schemeClr val="tx1"/>
                          </a:solidFill>
                          <a:effectLst/>
                          <a:latin typeface="Adani Regular" panose="02000503000000020004" pitchFamily="2" charset="0"/>
                          <a:ea typeface="+mn-ea"/>
                          <a:cs typeface="+mn-cs"/>
                        </a:rPr>
                        <a:t>is </a:t>
                      </a:r>
                      <a:r>
                        <a:rPr lang="en-US" sz="1100" kern="1200">
                          <a:solidFill>
                            <a:schemeClr val="tx1"/>
                          </a:solidFill>
                          <a:effectLst/>
                          <a:latin typeface="Adani Regular" panose="02000503000000020004" pitchFamily="2" charset="0"/>
                          <a:ea typeface="+mn-ea"/>
                          <a:cs typeface="+mn-cs"/>
                        </a:rPr>
                        <a:t>primarily due to late release of engineering drawings which has led to delays in site execution and</a:t>
                      </a:r>
                      <a:r>
                        <a:rPr lang="en-US" sz="1100" kern="1200" noProof="0">
                          <a:solidFill>
                            <a:schemeClr val="tx1"/>
                          </a:solidFill>
                          <a:effectLst/>
                          <a:latin typeface="Adani Regular" panose="02000503000000020004" pitchFamily="2" charset="0"/>
                          <a:ea typeface="+mn-ea"/>
                          <a:cs typeface="+mn-cs"/>
                        </a:rPr>
                        <a:t> insufficient manpower deployment by the M/s MSC &amp; M/s Akshar.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5483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65.95%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26.23%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39.72%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r>
                        <a:rPr lang="en-US" sz="1100" b="1">
                          <a:solidFill>
                            <a:schemeClr val="bg1"/>
                          </a:solidFill>
                          <a:latin typeface="Adani Regular" panose="02000503000000020004" pitchFamily="2" charset="0"/>
                        </a:rPr>
                        <a:t>Mitigation Plan: </a:t>
                      </a:r>
                      <a:r>
                        <a:rPr lang="en-US" sz="1100" b="0">
                          <a:solidFill>
                            <a:schemeClr val="bg1"/>
                          </a:solidFill>
                          <a:latin typeface="Adani Regular" panose="02000503000000020004" pitchFamily="2" charset="0"/>
                        </a:rPr>
                        <a:t>Expedite the efforts of the BOP Civil and ACDC contractors to increase manpower in line with the commitments in the signed MOM.</a:t>
                      </a:r>
                      <a:endParaRPr lang="en-US" sz="1100" b="0" i="0" u="none" strike="noStrike" kern="120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716D519B-7360-23ED-71B6-5DAEB9609272}"/>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9</a:t>
            </a:fld>
            <a:endParaRPr lang="en-IN"/>
          </a:p>
        </p:txBody>
      </p:sp>
      <p:graphicFrame>
        <p:nvGraphicFramePr>
          <p:cNvPr id="4" name="Chart 3">
            <a:extLst>
              <a:ext uri="{FF2B5EF4-FFF2-40B4-BE49-F238E27FC236}">
                <a16:creationId xmlns:a16="http://schemas.microsoft.com/office/drawing/2014/main" id="{50E0E48A-60CE-4F99-A9E0-AA72BAAA21B3}"/>
              </a:ext>
            </a:extLst>
          </p:cNvPr>
          <p:cNvGraphicFramePr>
            <a:graphicFrameLocks/>
          </p:cNvGraphicFramePr>
          <p:nvPr>
            <p:extLst>
              <p:ext uri="{D42A27DB-BD31-4B8C-83A1-F6EECF244321}">
                <p14:modId xmlns:p14="http://schemas.microsoft.com/office/powerpoint/2010/main" val="2538312970"/>
              </p:ext>
            </p:extLst>
          </p:nvPr>
        </p:nvGraphicFramePr>
        <p:xfrm>
          <a:off x="99610" y="492914"/>
          <a:ext cx="12077700" cy="33300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64301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5226C-C4EE-3EED-8759-6314A0FD619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B378190-10D3-8BC0-DB94-B51549897EE1}"/>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a:gradFill>
                  <a:gsLst>
                    <a:gs pos="9735">
                      <a:schemeClr val="tx2"/>
                    </a:gs>
                    <a:gs pos="63000">
                      <a:srgbClr val="8E278F"/>
                    </a:gs>
                    <a:gs pos="38000">
                      <a:srgbClr val="57499E"/>
                    </a:gs>
                  </a:gsLst>
                  <a:lin ang="0" scaled="0"/>
                </a:gradFill>
              </a:rPr>
              <a:t>Physical Progress : PSS 5B S-Curve </a:t>
            </a:r>
            <a:r>
              <a:rPr lang="en-US" i="1">
                <a:gradFill>
                  <a:gsLst>
                    <a:gs pos="9735">
                      <a:schemeClr val="tx2"/>
                    </a:gs>
                    <a:gs pos="63000">
                      <a:srgbClr val="8E278F"/>
                    </a:gs>
                    <a:gs pos="38000">
                      <a:srgbClr val="57499E"/>
                    </a:gs>
                  </a:gsLst>
                  <a:lin ang="0" scaled="0"/>
                </a:gradFill>
              </a:rPr>
              <a:t>[updated till 31 May 26]</a:t>
            </a:r>
            <a:endParaRPr lang="en-US">
              <a:gradFill>
                <a:gsLst>
                  <a:gs pos="9735">
                    <a:schemeClr val="tx2"/>
                  </a:gs>
                  <a:gs pos="63000">
                    <a:srgbClr val="8E278F"/>
                  </a:gs>
                  <a:gs pos="38000">
                    <a:srgbClr val="57499E"/>
                  </a:gs>
                </a:gsLst>
                <a:lin ang="0" scaled="0"/>
              </a:gradFill>
            </a:endParaRPr>
          </a:p>
        </p:txBody>
      </p:sp>
      <p:graphicFrame>
        <p:nvGraphicFramePr>
          <p:cNvPr id="12" name="object 4">
            <a:extLst>
              <a:ext uri="{FF2B5EF4-FFF2-40B4-BE49-F238E27FC236}">
                <a16:creationId xmlns:a16="http://schemas.microsoft.com/office/drawing/2014/main" id="{5E8A6217-7F6D-624D-2BCF-F877E005870A}"/>
              </a:ext>
            </a:extLst>
          </p:cNvPr>
          <p:cNvGraphicFramePr>
            <a:graphicFrameLocks noGrp="1"/>
          </p:cNvGraphicFramePr>
          <p:nvPr>
            <p:extLst>
              <p:ext uri="{D42A27DB-BD31-4B8C-83A1-F6EECF244321}">
                <p14:modId xmlns:p14="http://schemas.microsoft.com/office/powerpoint/2010/main" val="3421077522"/>
              </p:ext>
            </p:extLst>
          </p:nvPr>
        </p:nvGraphicFramePr>
        <p:xfrm>
          <a:off x="397362" y="3911410"/>
          <a:ext cx="11520316" cy="2890221"/>
        </p:xfrm>
        <a:graphic>
          <a:graphicData uri="http://schemas.openxmlformats.org/drawingml/2006/table">
            <a:tbl>
              <a:tblPr firstRow="1" bandRow="1">
                <a:tableStyleId>{2D5ABB26-0587-4C30-8999-92F81FD0307C}</a:tableStyleId>
              </a:tblPr>
              <a:tblGrid>
                <a:gridCol w="1994064">
                  <a:extLst>
                    <a:ext uri="{9D8B030D-6E8A-4147-A177-3AD203B41FA5}">
                      <a16:colId xmlns:a16="http://schemas.microsoft.com/office/drawing/2014/main" val="20000"/>
                    </a:ext>
                  </a:extLst>
                </a:gridCol>
                <a:gridCol w="517930">
                  <a:extLst>
                    <a:ext uri="{9D8B030D-6E8A-4147-A177-3AD203B41FA5}">
                      <a16:colId xmlns:a16="http://schemas.microsoft.com/office/drawing/2014/main" val="20001"/>
                    </a:ext>
                  </a:extLst>
                </a:gridCol>
                <a:gridCol w="699653">
                  <a:extLst>
                    <a:ext uri="{9D8B030D-6E8A-4147-A177-3AD203B41FA5}">
                      <a16:colId xmlns:a16="http://schemas.microsoft.com/office/drawing/2014/main" val="1846315748"/>
                    </a:ext>
                  </a:extLst>
                </a:gridCol>
                <a:gridCol w="699653">
                  <a:extLst>
                    <a:ext uri="{9D8B030D-6E8A-4147-A177-3AD203B41FA5}">
                      <a16:colId xmlns:a16="http://schemas.microsoft.com/office/drawing/2014/main" val="1665052075"/>
                    </a:ext>
                  </a:extLst>
                </a:gridCol>
                <a:gridCol w="699653">
                  <a:extLst>
                    <a:ext uri="{9D8B030D-6E8A-4147-A177-3AD203B41FA5}">
                      <a16:colId xmlns:a16="http://schemas.microsoft.com/office/drawing/2014/main" val="3974385257"/>
                    </a:ext>
                  </a:extLst>
                </a:gridCol>
                <a:gridCol w="6909363">
                  <a:extLst>
                    <a:ext uri="{9D8B030D-6E8A-4147-A177-3AD203B41FA5}">
                      <a16:colId xmlns:a16="http://schemas.microsoft.com/office/drawing/2014/main" val="20006"/>
                    </a:ext>
                  </a:extLst>
                </a:gridCol>
              </a:tblGrid>
              <a:tr h="284955">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99830">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10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84955">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a:solidFill>
                            <a:schemeClr val="tx1"/>
                          </a:solidFill>
                          <a:latin typeface="Adani Regular" panose="02000503000000020004" pitchFamily="2" charset="0"/>
                        </a:rPr>
                        <a:t>Total approvals 18; 9 approvals are Completed, 7 In progress; 2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67100">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5551">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23.28%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13.44%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9.83%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All order placed, manufacturing started. </a:t>
                      </a:r>
                      <a:r>
                        <a:rPr lang="en-US" sz="1100">
                          <a:solidFill>
                            <a:schemeClr val="tx1"/>
                          </a:solidFill>
                          <a:latin typeface="Adani Regular" panose="02000503000000020004" pitchFamily="2" charset="0"/>
                          <a:ea typeface="+mn-ea"/>
                          <a:cs typeface="+mn-cs"/>
                        </a:rPr>
                        <a:t>The cable deliveries were originally planned from January to mid Mar, but they started in March and will continue to be delivered at the site until the end of June and </a:t>
                      </a:r>
                      <a:r>
                        <a:rPr lang="en-IN" sz="1100">
                          <a:latin typeface="Adani Regular" panose="02000503000000020004" pitchFamily="2" charset="0"/>
                        </a:rPr>
                        <a:t>M/s Akshar (CSS) got delayed due to late delivery from their sub vendors.</a:t>
                      </a:r>
                      <a:endParaRPr lang="en-US" sz="1100" kern="1200" noProof="0">
                        <a:solidFill>
                          <a:schemeClr val="tx1"/>
                        </a:solidFill>
                        <a:effectLst/>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9562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23.60%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4.05%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19.55%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The difference between ‘Plan’ and ‘Actual’ </a:t>
                      </a:r>
                      <a:r>
                        <a:rPr lang="en-US" sz="1100" kern="1200" noProof="0">
                          <a:solidFill>
                            <a:schemeClr val="tx1"/>
                          </a:solidFill>
                          <a:effectLst/>
                          <a:latin typeface="Adani Regular" panose="02000503000000020004" pitchFamily="2" charset="0"/>
                          <a:ea typeface="+mn-ea"/>
                          <a:cs typeface="+mn-cs"/>
                        </a:rPr>
                        <a:t>is </a:t>
                      </a:r>
                      <a:r>
                        <a:rPr lang="en-US" sz="1100" kern="1200">
                          <a:solidFill>
                            <a:schemeClr val="tx1"/>
                          </a:solidFill>
                          <a:effectLst/>
                          <a:latin typeface="Adani Regular" panose="02000503000000020004" pitchFamily="2" charset="0"/>
                          <a:ea typeface="+mn-ea"/>
                          <a:cs typeface="+mn-cs"/>
                        </a:rPr>
                        <a:t>primarily due to late release of engineering drawings which has led to delays in site execution and</a:t>
                      </a:r>
                      <a:r>
                        <a:rPr lang="en-US" sz="1100" kern="1200" noProof="0">
                          <a:solidFill>
                            <a:schemeClr val="tx1"/>
                          </a:solidFill>
                          <a:effectLst/>
                          <a:latin typeface="Adani Regular" panose="02000503000000020004" pitchFamily="2" charset="0"/>
                          <a:ea typeface="+mn-ea"/>
                          <a:cs typeface="+mn-cs"/>
                        </a:rPr>
                        <a:t> insufficient manpower deployment by the </a:t>
                      </a:r>
                      <a:r>
                        <a:rPr lang="en-US" sz="1100" kern="1200" noProof="0">
                          <a:solidFill>
                            <a:schemeClr val="tx1"/>
                          </a:solidFill>
                          <a:effectLst/>
                          <a:latin typeface="Adani Regular" panose="02000503000000020004" pitchFamily="2" charset="0"/>
                        </a:rPr>
                        <a:t> M/s Shree </a:t>
                      </a:r>
                      <a:r>
                        <a:rPr lang="en-US" sz="1100" kern="1200" noProof="0" err="1">
                          <a:solidFill>
                            <a:schemeClr val="tx1"/>
                          </a:solidFill>
                          <a:effectLst/>
                          <a:latin typeface="Adani Regular" panose="02000503000000020004" pitchFamily="2" charset="0"/>
                        </a:rPr>
                        <a:t>Rajnagnechi</a:t>
                      </a:r>
                      <a:r>
                        <a:rPr lang="en-US" sz="1100" kern="1200" noProof="0">
                          <a:solidFill>
                            <a:schemeClr val="tx1"/>
                          </a:solidFill>
                          <a:effectLst/>
                          <a:latin typeface="Adani Regular" panose="02000503000000020004" pitchFamily="2" charset="0"/>
                        </a:rPr>
                        <a:t> &amp; M/s ICE CUBE.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5483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53.68%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21.50%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32.18%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r>
                        <a:rPr lang="en-US" sz="1100" b="1">
                          <a:solidFill>
                            <a:schemeClr val="bg1"/>
                          </a:solidFill>
                          <a:latin typeface="Adani Regular" panose="02000503000000020004" pitchFamily="2" charset="0"/>
                        </a:rPr>
                        <a:t>Mitigation Plan: </a:t>
                      </a:r>
                      <a:r>
                        <a:rPr lang="en-US" sz="1100" b="0">
                          <a:solidFill>
                            <a:schemeClr val="bg1"/>
                          </a:solidFill>
                          <a:latin typeface="Adani Regular" panose="02000503000000020004" pitchFamily="2" charset="0"/>
                        </a:rPr>
                        <a:t>Expedite the efforts of the BOP Civil and ACDC contractors to increase manpower in line with the commitments in the signed MOM.</a:t>
                      </a:r>
                      <a:endParaRPr lang="en-US" sz="1100" b="0" i="0" u="none" strike="noStrike" kern="120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DA2FFA9B-BA5A-60C0-D94F-E1A5103CD19D}"/>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10</a:t>
            </a:fld>
            <a:endParaRPr lang="en-IN"/>
          </a:p>
        </p:txBody>
      </p:sp>
      <p:graphicFrame>
        <p:nvGraphicFramePr>
          <p:cNvPr id="4" name="Chart 3">
            <a:extLst>
              <a:ext uri="{FF2B5EF4-FFF2-40B4-BE49-F238E27FC236}">
                <a16:creationId xmlns:a16="http://schemas.microsoft.com/office/drawing/2014/main" id="{9065B4BF-7169-48CD-B275-DACD4D4565A2}"/>
              </a:ext>
            </a:extLst>
          </p:cNvPr>
          <p:cNvGraphicFramePr>
            <a:graphicFrameLocks/>
          </p:cNvGraphicFramePr>
          <p:nvPr>
            <p:extLst>
              <p:ext uri="{D42A27DB-BD31-4B8C-83A1-F6EECF244321}">
                <p14:modId xmlns:p14="http://schemas.microsoft.com/office/powerpoint/2010/main" val="2998745951"/>
              </p:ext>
            </p:extLst>
          </p:nvPr>
        </p:nvGraphicFramePr>
        <p:xfrm>
          <a:off x="65617" y="463317"/>
          <a:ext cx="12060766" cy="335075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62289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E3578-0B0D-FA3B-1A05-DAC8E209AEC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1CACAB-BA12-64F4-2252-3BF8A499C381}"/>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a:gradFill>
                  <a:gsLst>
                    <a:gs pos="9735">
                      <a:schemeClr val="tx2"/>
                    </a:gs>
                    <a:gs pos="63000">
                      <a:srgbClr val="8E278F"/>
                    </a:gs>
                    <a:gs pos="38000">
                      <a:srgbClr val="57499E"/>
                    </a:gs>
                  </a:gsLst>
                  <a:lin ang="0" scaled="0"/>
                </a:gradFill>
              </a:rPr>
              <a:t>Physical Progress : PSS 8B S-Curve </a:t>
            </a:r>
            <a:r>
              <a:rPr lang="en-US" i="1">
                <a:gradFill>
                  <a:gsLst>
                    <a:gs pos="9735">
                      <a:schemeClr val="tx2"/>
                    </a:gs>
                    <a:gs pos="63000">
                      <a:srgbClr val="8E278F"/>
                    </a:gs>
                    <a:gs pos="38000">
                      <a:srgbClr val="57499E"/>
                    </a:gs>
                  </a:gsLst>
                  <a:lin ang="0" scaled="0"/>
                </a:gradFill>
              </a:rPr>
              <a:t>[updated till 31 May 26]</a:t>
            </a:r>
            <a:endParaRPr lang="en-US">
              <a:gradFill>
                <a:gsLst>
                  <a:gs pos="9735">
                    <a:schemeClr val="tx2"/>
                  </a:gs>
                  <a:gs pos="63000">
                    <a:srgbClr val="8E278F"/>
                  </a:gs>
                  <a:gs pos="38000">
                    <a:srgbClr val="57499E"/>
                  </a:gs>
                </a:gsLst>
                <a:lin ang="0" scaled="0"/>
              </a:gradFill>
            </a:endParaRPr>
          </a:p>
        </p:txBody>
      </p:sp>
      <p:graphicFrame>
        <p:nvGraphicFramePr>
          <p:cNvPr id="12" name="object 4">
            <a:extLst>
              <a:ext uri="{FF2B5EF4-FFF2-40B4-BE49-F238E27FC236}">
                <a16:creationId xmlns:a16="http://schemas.microsoft.com/office/drawing/2014/main" id="{3B724EDD-B64E-AE5F-167D-58230051D5CF}"/>
              </a:ext>
            </a:extLst>
          </p:cNvPr>
          <p:cNvGraphicFramePr>
            <a:graphicFrameLocks noGrp="1"/>
          </p:cNvGraphicFramePr>
          <p:nvPr>
            <p:extLst>
              <p:ext uri="{D42A27DB-BD31-4B8C-83A1-F6EECF244321}">
                <p14:modId xmlns:p14="http://schemas.microsoft.com/office/powerpoint/2010/main" val="233556383"/>
              </p:ext>
            </p:extLst>
          </p:nvPr>
        </p:nvGraphicFramePr>
        <p:xfrm>
          <a:off x="397362" y="3911410"/>
          <a:ext cx="11520316" cy="2908076"/>
        </p:xfrm>
        <a:graphic>
          <a:graphicData uri="http://schemas.openxmlformats.org/drawingml/2006/table">
            <a:tbl>
              <a:tblPr firstRow="1" bandRow="1">
                <a:tableStyleId>{2D5ABB26-0587-4C30-8999-92F81FD0307C}</a:tableStyleId>
              </a:tblPr>
              <a:tblGrid>
                <a:gridCol w="1994064">
                  <a:extLst>
                    <a:ext uri="{9D8B030D-6E8A-4147-A177-3AD203B41FA5}">
                      <a16:colId xmlns:a16="http://schemas.microsoft.com/office/drawing/2014/main" val="20000"/>
                    </a:ext>
                  </a:extLst>
                </a:gridCol>
                <a:gridCol w="517930">
                  <a:extLst>
                    <a:ext uri="{9D8B030D-6E8A-4147-A177-3AD203B41FA5}">
                      <a16:colId xmlns:a16="http://schemas.microsoft.com/office/drawing/2014/main" val="20001"/>
                    </a:ext>
                  </a:extLst>
                </a:gridCol>
                <a:gridCol w="699653">
                  <a:extLst>
                    <a:ext uri="{9D8B030D-6E8A-4147-A177-3AD203B41FA5}">
                      <a16:colId xmlns:a16="http://schemas.microsoft.com/office/drawing/2014/main" val="1846315748"/>
                    </a:ext>
                  </a:extLst>
                </a:gridCol>
                <a:gridCol w="699653">
                  <a:extLst>
                    <a:ext uri="{9D8B030D-6E8A-4147-A177-3AD203B41FA5}">
                      <a16:colId xmlns:a16="http://schemas.microsoft.com/office/drawing/2014/main" val="1665052075"/>
                    </a:ext>
                  </a:extLst>
                </a:gridCol>
                <a:gridCol w="699653">
                  <a:extLst>
                    <a:ext uri="{9D8B030D-6E8A-4147-A177-3AD203B41FA5}">
                      <a16:colId xmlns:a16="http://schemas.microsoft.com/office/drawing/2014/main" val="3974385257"/>
                    </a:ext>
                  </a:extLst>
                </a:gridCol>
                <a:gridCol w="6909363">
                  <a:extLst>
                    <a:ext uri="{9D8B030D-6E8A-4147-A177-3AD203B41FA5}">
                      <a16:colId xmlns:a16="http://schemas.microsoft.com/office/drawing/2014/main" val="20006"/>
                    </a:ext>
                  </a:extLst>
                </a:gridCol>
              </a:tblGrid>
              <a:tr h="284955">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99830">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10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84955">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0.62%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a:solidFill>
                            <a:schemeClr val="tx1"/>
                          </a:solidFill>
                          <a:latin typeface="Adani Regular" panose="02000503000000020004" pitchFamily="2" charset="0"/>
                        </a:rPr>
                        <a:t>Total approvals 18; 9 approvals are Completed, 7 In progress; 2 post commissioning.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84955">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3.00%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Refer Slide no. 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5551">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13.41%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6.59%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All order placed (Except harmonic filter), manufacturing started.</a:t>
                      </a:r>
                      <a:r>
                        <a:rPr lang="en-IN" sz="1100">
                          <a:latin typeface="Adani Regular" panose="02000503000000020004" pitchFamily="2" charset="0"/>
                        </a:rPr>
                        <a:t> </a:t>
                      </a:r>
                      <a:r>
                        <a:rPr lang="en-US" sz="1100">
                          <a:solidFill>
                            <a:schemeClr val="tx1"/>
                          </a:solidFill>
                          <a:latin typeface="Adani Regular" panose="02000503000000020004" pitchFamily="2" charset="0"/>
                          <a:ea typeface="+mn-ea"/>
                          <a:cs typeface="+mn-cs"/>
                        </a:rPr>
                        <a:t>The cable deliveries were originally planned from January to mid Mar, but they started in May and will continue to be delivered at the site by mid June.</a:t>
                      </a:r>
                      <a:endParaRPr lang="en-US" sz="1100" kern="1200" noProof="0">
                        <a:solidFill>
                          <a:schemeClr val="tx1"/>
                        </a:solidFill>
                        <a:effectLst/>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9562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22.23%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4.90%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000" b="0" i="0" u="none" strike="noStrike">
                          <a:solidFill>
                            <a:srgbClr val="000000"/>
                          </a:solidFill>
                          <a:effectLst/>
                          <a:latin typeface="Adani Regular" panose="02000503000000020004" pitchFamily="2" charset="0"/>
                        </a:rPr>
                        <a:t>17.32%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The difference between ‘Plan’ and ‘Actual’ </a:t>
                      </a:r>
                      <a:r>
                        <a:rPr lang="en-US" sz="1100" kern="1200" noProof="0">
                          <a:solidFill>
                            <a:schemeClr val="tx1"/>
                          </a:solidFill>
                          <a:effectLst/>
                          <a:latin typeface="Adani Regular" panose="02000503000000020004" pitchFamily="2" charset="0"/>
                          <a:ea typeface="+mn-ea"/>
                          <a:cs typeface="+mn-cs"/>
                        </a:rPr>
                        <a:t>is </a:t>
                      </a:r>
                      <a:r>
                        <a:rPr lang="en-US" sz="1100" kern="1200">
                          <a:solidFill>
                            <a:schemeClr val="tx1"/>
                          </a:solidFill>
                          <a:effectLst/>
                          <a:latin typeface="Adani Regular" panose="02000503000000020004" pitchFamily="2" charset="0"/>
                          <a:ea typeface="+mn-ea"/>
                          <a:cs typeface="+mn-cs"/>
                        </a:rPr>
                        <a:t>primarily due to late release of engineering drawings which has led to delays in site execution and</a:t>
                      </a:r>
                      <a:r>
                        <a:rPr lang="en-US" sz="1100" kern="1200" noProof="0">
                          <a:solidFill>
                            <a:schemeClr val="tx1"/>
                          </a:solidFill>
                          <a:effectLst/>
                          <a:latin typeface="Adani Regular" panose="02000503000000020004" pitchFamily="2" charset="0"/>
                          <a:ea typeface="+mn-ea"/>
                          <a:cs typeface="+mn-cs"/>
                        </a:rPr>
                        <a:t> insufficient manpower deployment by the </a:t>
                      </a:r>
                      <a:r>
                        <a:rPr lang="en-US" sz="1100" kern="1200" noProof="0">
                          <a:solidFill>
                            <a:schemeClr val="tx1"/>
                          </a:solidFill>
                          <a:effectLst/>
                          <a:latin typeface="Adani Regular" panose="02000503000000020004" pitchFamily="2" charset="0"/>
                        </a:rPr>
                        <a:t>M/s </a:t>
                      </a:r>
                      <a:r>
                        <a:rPr lang="en-US" sz="1100" kern="1200" noProof="0" err="1">
                          <a:solidFill>
                            <a:schemeClr val="tx1"/>
                          </a:solidFill>
                          <a:effectLst/>
                          <a:latin typeface="Adani Regular" panose="02000503000000020004" pitchFamily="2" charset="0"/>
                        </a:rPr>
                        <a:t>Shreeji</a:t>
                      </a:r>
                      <a:r>
                        <a:rPr lang="en-US" sz="1100" kern="1200" noProof="0">
                          <a:solidFill>
                            <a:schemeClr val="tx1"/>
                          </a:solidFill>
                          <a:effectLst/>
                          <a:latin typeface="Adani Regular" panose="02000503000000020004" pitchFamily="2" charset="0"/>
                        </a:rPr>
                        <a:t> &amp; M/s SUNELEC.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5483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49.03%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21.50%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27.53%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r>
                        <a:rPr lang="en-US" sz="1100" b="1">
                          <a:solidFill>
                            <a:schemeClr val="bg1"/>
                          </a:solidFill>
                          <a:latin typeface="Adani Regular" panose="02000503000000020004" pitchFamily="2" charset="0"/>
                        </a:rPr>
                        <a:t>Mitigation Plan: </a:t>
                      </a:r>
                      <a:r>
                        <a:rPr lang="en-US" sz="1100" b="0">
                          <a:solidFill>
                            <a:schemeClr val="bg1"/>
                          </a:solidFill>
                          <a:latin typeface="Adani Regular" panose="02000503000000020004" pitchFamily="2" charset="0"/>
                        </a:rPr>
                        <a:t>Expedite the efforts of the BOP Civil and ACDC contractors to increase manpower in line with the commitments in the signed MOM.</a:t>
                      </a:r>
                      <a:endParaRPr lang="en-US" sz="1100" b="0" i="0" u="none" strike="noStrike" kern="120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D89A5FEE-6506-5031-2935-6C118AFAA50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11</a:t>
            </a:fld>
            <a:endParaRPr lang="en-IN"/>
          </a:p>
        </p:txBody>
      </p:sp>
      <p:graphicFrame>
        <p:nvGraphicFramePr>
          <p:cNvPr id="4" name="Chart 3">
            <a:extLst>
              <a:ext uri="{FF2B5EF4-FFF2-40B4-BE49-F238E27FC236}">
                <a16:creationId xmlns:a16="http://schemas.microsoft.com/office/drawing/2014/main" id="{AB4A0FB0-E7F3-42E3-A3FD-A5E4FB1D53E2}"/>
              </a:ext>
            </a:extLst>
          </p:cNvPr>
          <p:cNvGraphicFramePr>
            <a:graphicFrameLocks/>
          </p:cNvGraphicFramePr>
          <p:nvPr>
            <p:extLst>
              <p:ext uri="{D42A27DB-BD31-4B8C-83A1-F6EECF244321}">
                <p14:modId xmlns:p14="http://schemas.microsoft.com/office/powerpoint/2010/main" val="730557351"/>
              </p:ext>
            </p:extLst>
          </p:nvPr>
        </p:nvGraphicFramePr>
        <p:xfrm>
          <a:off x="158462" y="539995"/>
          <a:ext cx="11759216" cy="33535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55662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FDBD-054F-6579-04A7-904120D7A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7D89A-9A6D-998C-BC89-766F96879D29}"/>
              </a:ext>
            </a:extLst>
          </p:cNvPr>
          <p:cNvSpPr>
            <a:spLocks noGrp="1"/>
          </p:cNvSpPr>
          <p:nvPr>
            <p:ph type="ctrTitle"/>
          </p:nvPr>
        </p:nvSpPr>
        <p:spPr>
          <a:xfrm>
            <a:off x="316783" y="9018"/>
            <a:ext cx="11730074" cy="461382"/>
          </a:xfrm>
          <a:noFill/>
        </p:spPr>
        <p:txBody>
          <a:bodyPr vert="horz" wrap="square" lIns="91157" tIns="45580" rIns="91157" bIns="45580" rtlCol="0" anchor="b">
            <a:spAutoFit/>
          </a:bodyPr>
          <a:lstStyle/>
          <a:p>
            <a:pPr marL="109192" algn="l" defTabSz="911377"/>
            <a:r>
              <a:rPr lang="en-US" sz="2400" b="1" dirty="0">
                <a:gradFill>
                  <a:gsLst>
                    <a:gs pos="9735">
                      <a:schemeClr val="tx2"/>
                    </a:gs>
                    <a:gs pos="63000">
                      <a:srgbClr val="8E278F"/>
                    </a:gs>
                    <a:gs pos="38000">
                      <a:srgbClr val="57499E"/>
                    </a:gs>
                  </a:gsLst>
                  <a:lin ang="0" scaled="0"/>
                </a:gradFill>
                <a:highlight>
                  <a:srgbClr val="FFFF00"/>
                </a:highlight>
              </a:rPr>
              <a:t>Engineering Progress : PSS 11 / PSS 12 / PSS 10B/ PSS 09/ PSS08B/ PSS05B</a:t>
            </a:r>
          </a:p>
        </p:txBody>
      </p:sp>
      <p:pic>
        <p:nvPicPr>
          <p:cNvPr id="11" name="Picture 10">
            <a:extLst>
              <a:ext uri="{FF2B5EF4-FFF2-40B4-BE49-F238E27FC236}">
                <a16:creationId xmlns:a16="http://schemas.microsoft.com/office/drawing/2014/main" id="{E3C49D31-FE07-55A4-3BDF-8FF61B555167}"/>
              </a:ext>
            </a:extLst>
          </p:cNvPr>
          <p:cNvPicPr>
            <a:picLocks noChangeAspect="1"/>
          </p:cNvPicPr>
          <p:nvPr/>
        </p:nvPicPr>
        <p:blipFill>
          <a:blip r:embed="rId3"/>
          <a:stretch>
            <a:fillRect/>
          </a:stretch>
        </p:blipFill>
        <p:spPr>
          <a:xfrm>
            <a:off x="6086475" y="3419475"/>
            <a:ext cx="19050" cy="19050"/>
          </a:xfrm>
          <a:prstGeom prst="rect">
            <a:avLst/>
          </a:prstGeom>
        </p:spPr>
      </p:pic>
      <p:graphicFrame>
        <p:nvGraphicFramePr>
          <p:cNvPr id="7" name="object 9">
            <a:extLst>
              <a:ext uri="{FF2B5EF4-FFF2-40B4-BE49-F238E27FC236}">
                <a16:creationId xmlns:a16="http://schemas.microsoft.com/office/drawing/2014/main" id="{1B3D2B3E-1A03-DF87-B6B2-1FF62134873D}"/>
              </a:ext>
            </a:extLst>
          </p:cNvPr>
          <p:cNvGraphicFramePr>
            <a:graphicFrameLocks noGrp="1"/>
          </p:cNvGraphicFramePr>
          <p:nvPr>
            <p:extLst>
              <p:ext uri="{D42A27DB-BD31-4B8C-83A1-F6EECF244321}">
                <p14:modId xmlns:p14="http://schemas.microsoft.com/office/powerpoint/2010/main" val="637494306"/>
              </p:ext>
            </p:extLst>
          </p:nvPr>
        </p:nvGraphicFramePr>
        <p:xfrm>
          <a:off x="364407" y="684400"/>
          <a:ext cx="11319594" cy="5208401"/>
        </p:xfrm>
        <a:graphic>
          <a:graphicData uri="http://schemas.openxmlformats.org/drawingml/2006/table">
            <a:tbl>
              <a:tblPr firstRow="1" bandRow="1">
                <a:tableStyleId>{2D5ABB26-0587-4C30-8999-92F81FD0307C}</a:tableStyleId>
              </a:tblPr>
              <a:tblGrid>
                <a:gridCol w="1133495">
                  <a:extLst>
                    <a:ext uri="{9D8B030D-6E8A-4147-A177-3AD203B41FA5}">
                      <a16:colId xmlns:a16="http://schemas.microsoft.com/office/drawing/2014/main" val="20000"/>
                    </a:ext>
                  </a:extLst>
                </a:gridCol>
                <a:gridCol w="1114796">
                  <a:extLst>
                    <a:ext uri="{9D8B030D-6E8A-4147-A177-3AD203B41FA5}">
                      <a16:colId xmlns:a16="http://schemas.microsoft.com/office/drawing/2014/main" val="20001"/>
                    </a:ext>
                  </a:extLst>
                </a:gridCol>
                <a:gridCol w="717011">
                  <a:extLst>
                    <a:ext uri="{9D8B030D-6E8A-4147-A177-3AD203B41FA5}">
                      <a16:colId xmlns:a16="http://schemas.microsoft.com/office/drawing/2014/main" val="20002"/>
                    </a:ext>
                  </a:extLst>
                </a:gridCol>
                <a:gridCol w="968191">
                  <a:extLst>
                    <a:ext uri="{9D8B030D-6E8A-4147-A177-3AD203B41FA5}">
                      <a16:colId xmlns:a16="http://schemas.microsoft.com/office/drawing/2014/main" val="20004"/>
                    </a:ext>
                  </a:extLst>
                </a:gridCol>
                <a:gridCol w="650073">
                  <a:extLst>
                    <a:ext uri="{9D8B030D-6E8A-4147-A177-3AD203B41FA5}">
                      <a16:colId xmlns:a16="http://schemas.microsoft.com/office/drawing/2014/main" val="20005"/>
                    </a:ext>
                  </a:extLst>
                </a:gridCol>
                <a:gridCol w="650073">
                  <a:extLst>
                    <a:ext uri="{9D8B030D-6E8A-4147-A177-3AD203B41FA5}">
                      <a16:colId xmlns:a16="http://schemas.microsoft.com/office/drawing/2014/main" val="20006"/>
                    </a:ext>
                  </a:extLst>
                </a:gridCol>
                <a:gridCol w="650073">
                  <a:extLst>
                    <a:ext uri="{9D8B030D-6E8A-4147-A177-3AD203B41FA5}">
                      <a16:colId xmlns:a16="http://schemas.microsoft.com/office/drawing/2014/main" val="20007"/>
                    </a:ext>
                  </a:extLst>
                </a:gridCol>
                <a:gridCol w="650073">
                  <a:extLst>
                    <a:ext uri="{9D8B030D-6E8A-4147-A177-3AD203B41FA5}">
                      <a16:colId xmlns:a16="http://schemas.microsoft.com/office/drawing/2014/main" val="20008"/>
                    </a:ext>
                  </a:extLst>
                </a:gridCol>
                <a:gridCol w="650073">
                  <a:extLst>
                    <a:ext uri="{9D8B030D-6E8A-4147-A177-3AD203B41FA5}">
                      <a16:colId xmlns:a16="http://schemas.microsoft.com/office/drawing/2014/main" val="20009"/>
                    </a:ext>
                  </a:extLst>
                </a:gridCol>
                <a:gridCol w="1162401">
                  <a:extLst>
                    <a:ext uri="{9D8B030D-6E8A-4147-A177-3AD203B41FA5}">
                      <a16:colId xmlns:a16="http://schemas.microsoft.com/office/drawing/2014/main" val="20010"/>
                    </a:ext>
                  </a:extLst>
                </a:gridCol>
                <a:gridCol w="1094593">
                  <a:extLst>
                    <a:ext uri="{9D8B030D-6E8A-4147-A177-3AD203B41FA5}">
                      <a16:colId xmlns:a16="http://schemas.microsoft.com/office/drawing/2014/main" val="20011"/>
                    </a:ext>
                  </a:extLst>
                </a:gridCol>
                <a:gridCol w="939371">
                  <a:extLst>
                    <a:ext uri="{9D8B030D-6E8A-4147-A177-3AD203B41FA5}">
                      <a16:colId xmlns:a16="http://schemas.microsoft.com/office/drawing/2014/main" val="20012"/>
                    </a:ext>
                  </a:extLst>
                </a:gridCol>
                <a:gridCol w="939371">
                  <a:extLst>
                    <a:ext uri="{9D8B030D-6E8A-4147-A177-3AD203B41FA5}">
                      <a16:colId xmlns:a16="http://schemas.microsoft.com/office/drawing/2014/main" val="357900955"/>
                    </a:ext>
                  </a:extLst>
                </a:gridCol>
              </a:tblGrid>
              <a:tr h="532007">
                <a:tc rowSpan="3">
                  <a:txBody>
                    <a:bodyPr/>
                    <a:lstStyle/>
                    <a:p>
                      <a:pPr marR="199390" algn="ctr">
                        <a:lnSpc>
                          <a:spcPct val="100000"/>
                        </a:lnSpc>
                      </a:pPr>
                      <a:r>
                        <a:rPr lang="en-US" sz="1200" b="1" spc="-10">
                          <a:solidFill>
                            <a:schemeClr val="bg1"/>
                          </a:solidFill>
                          <a:latin typeface="Adani Regular" panose="02000503000000020004" pitchFamily="2" charset="0"/>
                          <a:cs typeface="Arial"/>
                        </a:rPr>
                        <a:t>Descrip</a:t>
                      </a:r>
                      <a:r>
                        <a:rPr lang="en-US" sz="1200" b="1" spc="-20">
                          <a:solidFill>
                            <a:schemeClr val="bg1"/>
                          </a:solidFill>
                          <a:latin typeface="Adani Regular" panose="02000503000000020004" pitchFamily="2" charset="0"/>
                          <a:cs typeface="Arial"/>
                        </a:rPr>
                        <a:t>tion</a:t>
                      </a:r>
                      <a:endParaRPr lang="en-US" sz="1200">
                        <a:solidFill>
                          <a:schemeClr val="bg1"/>
                        </a:solidFill>
                        <a:latin typeface="Adani Regular" panose="02000503000000020004" pitchFamily="2" charset="0"/>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3">
                  <a:txBody>
                    <a:bodyPr/>
                    <a:lstStyle/>
                    <a:p>
                      <a:pPr marL="68580" marR="50800" indent="-3175" algn="ctr">
                        <a:lnSpc>
                          <a:spcPct val="100000"/>
                        </a:lnSpc>
                        <a:spcBef>
                          <a:spcPts val="5"/>
                        </a:spcBef>
                      </a:pPr>
                      <a:r>
                        <a:rPr lang="en-US" sz="1200" b="1" spc="-10">
                          <a:solidFill>
                            <a:schemeClr val="bg1"/>
                          </a:solidFill>
                          <a:latin typeface="Adani Regular" panose="02000503000000020004" pitchFamily="2" charset="0"/>
                          <a:cs typeface="Arial"/>
                        </a:rPr>
                        <a:t>Overall </a:t>
                      </a:r>
                      <a:r>
                        <a:rPr lang="en-US" sz="1200" b="1" spc="-20">
                          <a:solidFill>
                            <a:schemeClr val="bg1"/>
                          </a:solidFill>
                          <a:latin typeface="Adani Regular" panose="02000503000000020004" pitchFamily="2" charset="0"/>
                          <a:cs typeface="Arial"/>
                        </a:rPr>
                        <a:t>Complet</a:t>
                      </a:r>
                      <a:r>
                        <a:rPr lang="en-US" sz="1200" b="1" spc="-25">
                          <a:solidFill>
                            <a:schemeClr val="bg1"/>
                          </a:solidFill>
                          <a:latin typeface="Adani Regular" panose="02000503000000020004" pitchFamily="2" charset="0"/>
                          <a:cs typeface="Arial"/>
                        </a:rPr>
                        <a:t>ion</a:t>
                      </a:r>
                      <a:endParaRPr lang="en-US" sz="1200">
                        <a:solidFill>
                          <a:schemeClr val="bg1"/>
                        </a:solidFill>
                        <a:latin typeface="Adani Regular" panose="02000503000000020004" pitchFamily="2" charset="0"/>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3">
                  <a:txBody>
                    <a:bodyPr/>
                    <a:lstStyle/>
                    <a:p>
                      <a:pPr marL="33655" algn="ctr">
                        <a:lnSpc>
                          <a:spcPct val="100000"/>
                        </a:lnSpc>
                      </a:pPr>
                      <a:r>
                        <a:rPr sz="1200" b="1" spc="-10">
                          <a:solidFill>
                            <a:schemeClr val="bg1"/>
                          </a:solidFill>
                          <a:latin typeface="Adani Regular" panose="02000503000000020004" pitchFamily="2" charset="0"/>
                          <a:cs typeface="Arial"/>
                        </a:rPr>
                        <a:t>Total</a:t>
                      </a:r>
                      <a:endParaRPr sz="1200">
                        <a:solidFill>
                          <a:schemeClr val="bg1"/>
                        </a:solidFill>
                        <a:latin typeface="Adani Regular" panose="02000503000000020004" pitchFamily="2" charset="0"/>
                        <a:cs typeface="Arial"/>
                      </a:endParaRPr>
                    </a:p>
                    <a:p>
                      <a:pPr marL="13970" algn="ctr">
                        <a:lnSpc>
                          <a:spcPct val="100000"/>
                        </a:lnSpc>
                        <a:spcBef>
                          <a:spcPts val="5"/>
                        </a:spcBef>
                      </a:pPr>
                      <a:r>
                        <a:rPr sz="1200" b="1" spc="-10">
                          <a:solidFill>
                            <a:schemeClr val="bg1"/>
                          </a:solidFill>
                          <a:latin typeface="Adani Regular" panose="02000503000000020004" pitchFamily="2" charset="0"/>
                          <a:cs typeface="Arial"/>
                        </a:rPr>
                        <a:t>Docs.</a:t>
                      </a:r>
                      <a:endParaRPr sz="1200">
                        <a:solidFill>
                          <a:schemeClr val="bg1"/>
                        </a:solidFill>
                        <a:latin typeface="Adani Regular" panose="02000503000000020004" pitchFamily="2" charset="0"/>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10">
                  <a:txBody>
                    <a:bodyPr/>
                    <a:lstStyle/>
                    <a:p>
                      <a:pPr algn="ctr" rtl="0" fontAlgn="ctr">
                        <a:buNone/>
                      </a:pPr>
                      <a:r>
                        <a:rPr lang="en-US" sz="1200" b="1" kern="1200" spc="-10">
                          <a:solidFill>
                            <a:schemeClr val="bg1"/>
                          </a:solidFill>
                          <a:latin typeface="Adani Regular" panose="02000503000000020004" pitchFamily="2" charset="0"/>
                          <a:ea typeface="+mn-ea"/>
                          <a:cs typeface="Arial"/>
                        </a:rPr>
                        <a:t>Overall Status up to Mar’26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R w="12700">
                      <a:solidFill>
                        <a:srgbClr val="00AEEE"/>
                      </a:solidFill>
                      <a:prstDash val="sysDot"/>
                    </a:lnR>
                    <a:lnT w="12700">
                      <a:solidFill>
                        <a:srgbClr val="00AEEE"/>
                      </a:solidFill>
                      <a:prstDash val="soli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418309">
                <a:tc vMerge="1">
                  <a:txBody>
                    <a:bodyPr/>
                    <a:lstStyle/>
                    <a:p>
                      <a:endParaRPr/>
                    </a:p>
                  </a:txBody>
                  <a:tcPr marL="0" marR="0" marT="0" marB="0">
                    <a:lnL w="12700">
                      <a:solidFill>
                        <a:srgbClr val="00AEEE"/>
                      </a:solidFill>
                      <a:prstDash val="solid"/>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rowSpan="2">
                  <a:txBody>
                    <a:bodyPr/>
                    <a:lstStyle/>
                    <a:p>
                      <a:pPr marL="68580" marR="50800" lvl="0" indent="-3175" algn="ctr" defTabSz="914400" rtl="0" eaLnBrk="1" fontAlgn="auto" latinLnBrk="0" hangingPunct="1">
                        <a:lnSpc>
                          <a:spcPct val="100000"/>
                        </a:lnSpc>
                        <a:spcBef>
                          <a:spcPts val="5"/>
                        </a:spcBef>
                        <a:spcAft>
                          <a:spcPts val="0"/>
                        </a:spcAft>
                        <a:buClrTx/>
                        <a:buSzTx/>
                        <a:buFontTx/>
                        <a:buNone/>
                        <a:tabLst/>
                        <a:defRPr/>
                      </a:pPr>
                      <a:r>
                        <a:rPr lang="en-US" sz="1200" b="1" kern="1200" spc="-10">
                          <a:solidFill>
                            <a:schemeClr val="bg1"/>
                          </a:solidFill>
                          <a:latin typeface="Adani Regular" panose="02000503000000020004" pitchFamily="2" charset="0"/>
                          <a:ea typeface="+mn-ea"/>
                          <a:cs typeface="Arial"/>
                        </a:rPr>
                        <a:t>Docs. Cum. Received</a:t>
                      </a: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5">
                  <a:txBody>
                    <a:bodyPr/>
                    <a:lstStyle/>
                    <a:p>
                      <a:pPr marL="200025" algn="ctr">
                        <a:lnSpc>
                          <a:spcPct val="100000"/>
                        </a:lnSpc>
                        <a:spcBef>
                          <a:spcPts val="894"/>
                        </a:spcBef>
                      </a:pPr>
                      <a:r>
                        <a:rPr sz="1200" b="1" spc="-10">
                          <a:solidFill>
                            <a:schemeClr val="bg1"/>
                          </a:solidFill>
                          <a:latin typeface="Adani Regular" panose="02000503000000020004" pitchFamily="2" charset="0"/>
                          <a:cs typeface="Arial"/>
                        </a:rPr>
                        <a:t>Documents</a:t>
                      </a:r>
                      <a:r>
                        <a:rPr sz="1200" b="1" spc="-20">
                          <a:solidFill>
                            <a:schemeClr val="bg1"/>
                          </a:solidFill>
                          <a:latin typeface="Adani Regular" panose="02000503000000020004" pitchFamily="2" charset="0"/>
                          <a:cs typeface="Arial"/>
                        </a:rPr>
                        <a:t> </a:t>
                      </a:r>
                      <a:r>
                        <a:rPr sz="1200" b="1" spc="-10">
                          <a:solidFill>
                            <a:schemeClr val="bg1"/>
                          </a:solidFill>
                          <a:latin typeface="Adani Regular" panose="02000503000000020004" pitchFamily="2" charset="0"/>
                          <a:cs typeface="Arial"/>
                        </a:rPr>
                        <a:t>Approved</a:t>
                      </a:r>
                      <a:endParaRPr sz="1200">
                        <a:solidFill>
                          <a:schemeClr val="bg1"/>
                        </a:solidFill>
                        <a:latin typeface="Adani Regular" panose="02000503000000020004" pitchFamily="2" charset="0"/>
                        <a:cs typeface="Arial"/>
                      </a:endParaRPr>
                    </a:p>
                  </a:txBody>
                  <a:tcPr marL="0" marR="0" marT="11366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rowSpan="2">
                  <a:txBody>
                    <a:bodyPr/>
                    <a:lstStyle/>
                    <a:p>
                      <a:pPr>
                        <a:lnSpc>
                          <a:spcPct val="100000"/>
                        </a:lnSpc>
                        <a:spcBef>
                          <a:spcPts val="810"/>
                        </a:spcBef>
                      </a:pPr>
                      <a:endParaRPr lang="en-US" sz="1200">
                        <a:solidFill>
                          <a:schemeClr val="bg1"/>
                        </a:solidFill>
                        <a:latin typeface="Adani Regular" panose="02000503000000020004" pitchFamily="2" charset="0"/>
                        <a:cs typeface="Times New Roman"/>
                      </a:endParaRPr>
                    </a:p>
                    <a:p>
                      <a:pPr marL="102235" marR="83820" algn="ctr">
                        <a:lnSpc>
                          <a:spcPct val="100000"/>
                        </a:lnSpc>
                      </a:pPr>
                      <a:r>
                        <a:rPr lang="en-US" sz="1200" b="1" spc="-35">
                          <a:solidFill>
                            <a:schemeClr val="bg1"/>
                          </a:solidFill>
                          <a:latin typeface="Adani Regular" panose="02000503000000020004" pitchFamily="2" charset="0"/>
                          <a:cs typeface="Arial"/>
                        </a:rPr>
                        <a:t>Docume</a:t>
                      </a:r>
                      <a:r>
                        <a:rPr lang="en-US" sz="1200" b="1" spc="-25">
                          <a:solidFill>
                            <a:schemeClr val="bg1"/>
                          </a:solidFill>
                          <a:latin typeface="Adani Regular" panose="02000503000000020004" pitchFamily="2" charset="0"/>
                          <a:cs typeface="Arial"/>
                        </a:rPr>
                        <a:t>nts </a:t>
                      </a:r>
                      <a:r>
                        <a:rPr lang="en-US" sz="1200" b="1" spc="-10">
                          <a:solidFill>
                            <a:schemeClr val="bg1"/>
                          </a:solidFill>
                          <a:latin typeface="Adani Regular" panose="02000503000000020004" pitchFamily="2" charset="0"/>
                          <a:cs typeface="Arial"/>
                        </a:rPr>
                        <a:t>Under Review</a:t>
                      </a:r>
                      <a:endParaRPr lang="en-US" sz="1200">
                        <a:solidFill>
                          <a:schemeClr val="bg1"/>
                        </a:solidFill>
                        <a:latin typeface="Adani Regular" panose="02000503000000020004" pitchFamily="2" charset="0"/>
                        <a:cs typeface="Arial"/>
                      </a:endParaRP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nSpc>
                          <a:spcPct val="100000"/>
                        </a:lnSpc>
                        <a:spcBef>
                          <a:spcPts val="810"/>
                        </a:spcBef>
                      </a:pPr>
                      <a:endParaRPr sz="1200">
                        <a:solidFill>
                          <a:schemeClr val="bg1"/>
                        </a:solidFill>
                        <a:latin typeface="Adani Regular" panose="02000503000000020004" pitchFamily="2" charset="0"/>
                        <a:cs typeface="Times New Roman"/>
                      </a:endParaRPr>
                    </a:p>
                    <a:p>
                      <a:pPr marL="79375" marR="62865" indent="1270" algn="ctr">
                        <a:lnSpc>
                          <a:spcPct val="100000"/>
                        </a:lnSpc>
                      </a:pPr>
                      <a:r>
                        <a:rPr sz="1200" b="1" spc="-20">
                          <a:solidFill>
                            <a:schemeClr val="bg1"/>
                          </a:solidFill>
                          <a:latin typeface="Adani Regular" panose="02000503000000020004" pitchFamily="2" charset="0"/>
                          <a:cs typeface="Arial"/>
                        </a:rPr>
                        <a:t>Cum. </a:t>
                      </a:r>
                      <a:r>
                        <a:rPr sz="1200" b="1" spc="-10">
                          <a:solidFill>
                            <a:schemeClr val="bg1"/>
                          </a:solidFill>
                          <a:latin typeface="Adani Regular" panose="02000503000000020004" pitchFamily="2" charset="0"/>
                          <a:cs typeface="Arial"/>
                        </a:rPr>
                        <a:t>Total </a:t>
                      </a:r>
                      <a:r>
                        <a:rPr sz="1200" b="1" spc="-40">
                          <a:solidFill>
                            <a:schemeClr val="bg1"/>
                          </a:solidFill>
                          <a:latin typeface="Adani Regular" panose="02000503000000020004" pitchFamily="2" charset="0"/>
                          <a:cs typeface="Arial"/>
                        </a:rPr>
                        <a:t>approve</a:t>
                      </a:r>
                      <a:r>
                        <a:rPr sz="1200" b="1" spc="-50">
                          <a:solidFill>
                            <a:schemeClr val="bg1"/>
                          </a:solidFill>
                          <a:latin typeface="Adani Regular" panose="02000503000000020004" pitchFamily="2" charset="0"/>
                          <a:cs typeface="Arial"/>
                        </a:rPr>
                        <a:t>d</a:t>
                      </a:r>
                      <a:endParaRPr sz="1200">
                        <a:solidFill>
                          <a:schemeClr val="bg1"/>
                        </a:solidFill>
                        <a:latin typeface="Adani Regular" panose="02000503000000020004" pitchFamily="2" charset="0"/>
                        <a:cs typeface="Arial"/>
                      </a:endParaRP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nSpc>
                          <a:spcPct val="100000"/>
                        </a:lnSpc>
                      </a:pPr>
                      <a:endParaRPr sz="1200">
                        <a:solidFill>
                          <a:schemeClr val="bg1"/>
                        </a:solidFill>
                        <a:latin typeface="Adani Regular" panose="02000503000000020004" pitchFamily="2" charset="0"/>
                        <a:cs typeface="Times New Roman"/>
                      </a:endParaRPr>
                    </a:p>
                    <a:p>
                      <a:pPr>
                        <a:lnSpc>
                          <a:spcPct val="100000"/>
                        </a:lnSpc>
                        <a:spcBef>
                          <a:spcPts val="950"/>
                        </a:spcBef>
                      </a:pPr>
                      <a:endParaRPr sz="1200">
                        <a:solidFill>
                          <a:schemeClr val="bg1"/>
                        </a:solidFill>
                        <a:latin typeface="Adani Regular" panose="02000503000000020004" pitchFamily="2" charset="0"/>
                        <a:cs typeface="Times New Roman"/>
                      </a:endParaRPr>
                    </a:p>
                    <a:p>
                      <a:pPr marL="3175" algn="ctr">
                        <a:lnSpc>
                          <a:spcPct val="100000"/>
                        </a:lnSpc>
                      </a:pPr>
                      <a:r>
                        <a:rPr sz="1200" b="1" spc="-10">
                          <a:solidFill>
                            <a:schemeClr val="bg1"/>
                          </a:solidFill>
                          <a:latin typeface="Adani Regular" panose="02000503000000020004" pitchFamily="2" charset="0"/>
                          <a:cs typeface="Arial"/>
                        </a:rPr>
                        <a:t>Approv</a:t>
                      </a:r>
                      <a:r>
                        <a:rPr sz="1200" b="1">
                          <a:solidFill>
                            <a:schemeClr val="bg1"/>
                          </a:solidFill>
                          <a:latin typeface="Adani Regular" panose="02000503000000020004" pitchFamily="2" charset="0"/>
                          <a:cs typeface="Arial"/>
                        </a:rPr>
                        <a:t>ed</a:t>
                      </a:r>
                      <a:r>
                        <a:rPr sz="1200" b="1" spc="10">
                          <a:solidFill>
                            <a:schemeClr val="bg1"/>
                          </a:solidFill>
                          <a:latin typeface="Adani Regular" panose="02000503000000020004" pitchFamily="2" charset="0"/>
                          <a:cs typeface="Arial"/>
                        </a:rPr>
                        <a:t> </a:t>
                      </a:r>
                      <a:r>
                        <a:rPr sz="1200" b="1" spc="-50">
                          <a:solidFill>
                            <a:schemeClr val="bg1"/>
                          </a:solidFill>
                          <a:latin typeface="Adani Regular" panose="02000503000000020004" pitchFamily="2" charset="0"/>
                          <a:cs typeface="Arial"/>
                        </a:rPr>
                        <a:t>%</a:t>
                      </a:r>
                      <a:endParaRPr sz="1200">
                        <a:solidFill>
                          <a:schemeClr val="bg1"/>
                        </a:solidFill>
                        <a:latin typeface="Adani Regular" panose="02000503000000020004" pitchFamily="2" charset="0"/>
                        <a:cs typeface="Aria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3">
                  <a:txBody>
                    <a:bodyPr/>
                    <a:lstStyle/>
                    <a:p>
                      <a:pPr marL="3175" algn="ctr">
                        <a:lnSpc>
                          <a:spcPct val="100000"/>
                        </a:lnSpc>
                      </a:pPr>
                      <a:r>
                        <a:rPr lang="en-US" sz="1200" b="1" kern="1200" spc="-10">
                          <a:solidFill>
                            <a:schemeClr val="bg1"/>
                          </a:solidFill>
                          <a:latin typeface="Adani Regular" panose="02000503000000020004" pitchFamily="2" charset="0"/>
                          <a:ea typeface="+mn-ea"/>
                          <a:cs typeface="Arial"/>
                        </a:rPr>
                        <a:t>Remarks</a:t>
                      </a:r>
                      <a:endParaRPr sz="1200" b="1" kern="1200" spc="-10">
                        <a:solidFill>
                          <a:schemeClr val="bg1"/>
                        </a:solidFill>
                        <a:latin typeface="Adani Regular" panose="02000503000000020004" pitchFamily="2" charset="0"/>
                        <a:ea typeface="+mn-ea"/>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1"/>
                  </a:ext>
                </a:extLst>
              </a:tr>
              <a:tr h="623441">
                <a:tc vMerge="1">
                  <a:txBody>
                    <a:bodyPr/>
                    <a:lstStyle/>
                    <a:p>
                      <a:endParaRPr/>
                    </a:p>
                  </a:txBody>
                  <a:tcPr marL="0" marR="0" marT="0" marB="0">
                    <a:lnL w="12700">
                      <a:solidFill>
                        <a:srgbClr val="00AEEE"/>
                      </a:solidFill>
                      <a:prstDash val="solid"/>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cap="flat" cmpd="sng" algn="ctr">
                      <a:solidFill>
                        <a:schemeClr val="tx1"/>
                      </a:solidFill>
                      <a:prstDash val="solid"/>
                      <a:round/>
                      <a:headEnd type="none" w="med" len="med"/>
                      <a:tailEnd type="none" w="med" len="med"/>
                    </a:lnT>
                    <a:lnB w="12700">
                      <a:solidFill>
                        <a:srgbClr val="00AEEE"/>
                      </a:solidFill>
                      <a:prstDash val="sysDot"/>
                    </a:lnB>
                    <a:solidFill>
                      <a:srgbClr val="DFD1ED"/>
                    </a:solidFill>
                  </a:tcPr>
                </a:tc>
                <a:tc>
                  <a:txBody>
                    <a:bodyPr/>
                    <a:lstStyle/>
                    <a:p>
                      <a:pPr marL="4445" algn="ctr">
                        <a:lnSpc>
                          <a:spcPct val="100000"/>
                        </a:lnSpc>
                      </a:pPr>
                      <a:r>
                        <a:rPr sz="1200" b="1">
                          <a:solidFill>
                            <a:schemeClr val="bg1"/>
                          </a:solidFill>
                          <a:latin typeface="Adani Regular" panose="02000503000000020004" pitchFamily="2" charset="0"/>
                          <a:cs typeface="Arial"/>
                        </a:rPr>
                        <a:t>Cat</a:t>
                      </a:r>
                      <a:r>
                        <a:rPr sz="1200" b="1" spc="65">
                          <a:solidFill>
                            <a:schemeClr val="bg1"/>
                          </a:solidFill>
                          <a:latin typeface="Adani Regular" panose="02000503000000020004" pitchFamily="2" charset="0"/>
                          <a:cs typeface="Arial"/>
                        </a:rPr>
                        <a:t> </a:t>
                      </a:r>
                      <a:r>
                        <a:rPr sz="1200" b="1" spc="-50">
                          <a:solidFill>
                            <a:schemeClr val="bg1"/>
                          </a:solidFill>
                          <a:latin typeface="Adani Regular" panose="02000503000000020004" pitchFamily="2" charset="0"/>
                          <a:cs typeface="Arial"/>
                        </a:rPr>
                        <a:t>I</a:t>
                      </a:r>
                      <a:endParaRPr sz="1200">
                        <a:solidFill>
                          <a:schemeClr val="bg1"/>
                        </a:solidFill>
                        <a:latin typeface="Adani Regular" panose="02000503000000020004" pitchFamily="2" charset="0"/>
                        <a:cs typeface="Arial"/>
                      </a:endParaRPr>
                    </a:p>
                  </a:txBody>
                  <a:tcPr marL="0" marR="0" marT="1581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pPr>
                      <a:r>
                        <a:rPr sz="1200" b="1">
                          <a:solidFill>
                            <a:schemeClr val="bg1"/>
                          </a:solidFill>
                          <a:latin typeface="Adani Regular" panose="02000503000000020004" pitchFamily="2" charset="0"/>
                          <a:cs typeface="Arial"/>
                        </a:rPr>
                        <a:t>Cat</a:t>
                      </a:r>
                      <a:r>
                        <a:rPr sz="1200" b="1" spc="60">
                          <a:solidFill>
                            <a:schemeClr val="bg1"/>
                          </a:solidFill>
                          <a:latin typeface="Adani Regular" panose="02000503000000020004" pitchFamily="2" charset="0"/>
                          <a:cs typeface="Arial"/>
                        </a:rPr>
                        <a:t> </a:t>
                      </a:r>
                      <a:r>
                        <a:rPr sz="1200" b="1" spc="-25">
                          <a:solidFill>
                            <a:schemeClr val="bg1"/>
                          </a:solidFill>
                          <a:latin typeface="Adani Regular" panose="02000503000000020004" pitchFamily="2" charset="0"/>
                          <a:cs typeface="Arial"/>
                        </a:rPr>
                        <a:t>II</a:t>
                      </a:r>
                      <a:endParaRPr sz="1200">
                        <a:solidFill>
                          <a:schemeClr val="bg1"/>
                        </a:solidFill>
                        <a:latin typeface="Adani Regular" panose="02000503000000020004" pitchFamily="2" charset="0"/>
                        <a:cs typeface="Arial"/>
                      </a:endParaRPr>
                    </a:p>
                  </a:txBody>
                  <a:tcPr marL="0" marR="0" marT="1581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32715" marR="116205" indent="-58419" algn="ctr">
                        <a:lnSpc>
                          <a:spcPct val="100000"/>
                        </a:lnSpc>
                      </a:pPr>
                      <a:r>
                        <a:rPr sz="1200" b="1" spc="-25">
                          <a:solidFill>
                            <a:schemeClr val="bg1"/>
                          </a:solidFill>
                          <a:latin typeface="Adani Regular" panose="02000503000000020004" pitchFamily="2" charset="0"/>
                          <a:cs typeface="Arial"/>
                        </a:rPr>
                        <a:t>Cat III</a:t>
                      </a:r>
                      <a:endParaRPr sz="1200">
                        <a:solidFill>
                          <a:schemeClr val="bg1"/>
                        </a:solidFill>
                        <a:latin typeface="Adani Regular" panose="02000503000000020004" pitchFamily="2" charset="0"/>
                        <a:cs typeface="Arial"/>
                      </a:endParaRPr>
                    </a:p>
                  </a:txBody>
                  <a:tcPr marL="0" marR="0" marT="666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13030" marR="100330" indent="-52069" algn="ctr">
                        <a:lnSpc>
                          <a:spcPct val="100000"/>
                        </a:lnSpc>
                      </a:pPr>
                      <a:r>
                        <a:rPr sz="1200" b="1" spc="-25">
                          <a:solidFill>
                            <a:schemeClr val="bg1"/>
                          </a:solidFill>
                          <a:latin typeface="Adani Regular" panose="02000503000000020004" pitchFamily="2" charset="0"/>
                          <a:cs typeface="Arial"/>
                        </a:rPr>
                        <a:t>Cat IV</a:t>
                      </a:r>
                      <a:endParaRPr sz="1200">
                        <a:solidFill>
                          <a:schemeClr val="bg1"/>
                        </a:solidFill>
                        <a:latin typeface="Adani Regular" panose="02000503000000020004" pitchFamily="2" charset="0"/>
                        <a:cs typeface="Arial"/>
                      </a:endParaRPr>
                    </a:p>
                  </a:txBody>
                  <a:tcPr marL="0" marR="0" marT="666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58419" marR="73025" indent="-20320" algn="ctr">
                        <a:lnSpc>
                          <a:spcPct val="100000"/>
                        </a:lnSpc>
                      </a:pPr>
                      <a:r>
                        <a:rPr sz="1200" b="1" spc="-25">
                          <a:solidFill>
                            <a:schemeClr val="bg1"/>
                          </a:solidFill>
                          <a:latin typeface="Adani Regular" panose="02000503000000020004" pitchFamily="2" charset="0"/>
                          <a:cs typeface="Arial"/>
                        </a:rPr>
                        <a:t>Cat IV*</a:t>
                      </a:r>
                      <a:endParaRPr sz="1200">
                        <a:solidFill>
                          <a:schemeClr val="bg1"/>
                        </a:solidFill>
                        <a:latin typeface="Adani Regular" panose="02000503000000020004" pitchFamily="2" charset="0"/>
                        <a:cs typeface="Arial"/>
                      </a:endParaRPr>
                    </a:p>
                  </a:txBody>
                  <a:tcPr marL="0" marR="0" marT="666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lang="en-US"/>
                    </a:p>
                  </a:txBody>
                  <a:tcPr/>
                </a:tc>
                <a:extLst>
                  <a:ext uri="{0D108BD9-81ED-4DB2-BD59-A6C34878D82A}">
                    <a16:rowId xmlns:a16="http://schemas.microsoft.com/office/drawing/2014/main" val="10002"/>
                  </a:ext>
                </a:extLst>
              </a:tr>
              <a:tr h="639624">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715" algn="ctr">
                        <a:lnSpc>
                          <a:spcPct val="100000"/>
                        </a:lnSpc>
                      </a:pPr>
                      <a:r>
                        <a:rPr lang="en-IN" sz="1200" spc="-50">
                          <a:solidFill>
                            <a:schemeClr val="bg1"/>
                          </a:solidFill>
                          <a:latin typeface="Adani Regular" panose="02000503000000020004" pitchFamily="2" charset="0"/>
                          <a:cs typeface="Arial"/>
                        </a:rPr>
                        <a:t>A</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1905" algn="ctr">
                        <a:lnSpc>
                          <a:spcPct val="100000"/>
                        </a:lnSpc>
                      </a:pPr>
                      <a:r>
                        <a:rPr sz="1200" spc="-10">
                          <a:solidFill>
                            <a:schemeClr val="bg1"/>
                          </a:solidFill>
                          <a:latin typeface="Adani Regular" panose="02000503000000020004" pitchFamily="2" charset="0"/>
                          <a:cs typeface="Arial"/>
                        </a:rPr>
                        <a:t>Dates</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6985" algn="ctr">
                        <a:lnSpc>
                          <a:spcPct val="100000"/>
                        </a:lnSpc>
                      </a:pPr>
                      <a:r>
                        <a:rPr lang="en-IN" sz="1200" spc="5">
                          <a:solidFill>
                            <a:schemeClr val="bg1"/>
                          </a:solidFill>
                          <a:latin typeface="Adani Regular" panose="02000503000000020004" pitchFamily="2" charset="0"/>
                          <a:cs typeface="Arial"/>
                        </a:rPr>
                        <a:t>B</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3810" algn="ctr">
                        <a:lnSpc>
                          <a:spcPct val="100000"/>
                        </a:lnSpc>
                      </a:pPr>
                      <a:r>
                        <a:rPr lang="en-US" sz="1200" spc="-50">
                          <a:solidFill>
                            <a:schemeClr val="bg1"/>
                          </a:solidFill>
                          <a:latin typeface="Adani Regular" panose="02000503000000020004" pitchFamily="2" charset="0"/>
                          <a:cs typeface="Arial"/>
                        </a:rPr>
                        <a:t>C</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080" algn="ctr">
                        <a:lnSpc>
                          <a:spcPct val="100000"/>
                        </a:lnSpc>
                      </a:pPr>
                      <a:r>
                        <a:rPr lang="en-US" sz="1200" spc="-50">
                          <a:solidFill>
                            <a:schemeClr val="bg1"/>
                          </a:solidFill>
                          <a:latin typeface="Adani Regular" panose="02000503000000020004" pitchFamily="2" charset="0"/>
                          <a:cs typeface="Arial"/>
                        </a:rPr>
                        <a:t>D</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6350" algn="ctr">
                        <a:lnSpc>
                          <a:spcPct val="100000"/>
                        </a:lnSpc>
                      </a:pPr>
                      <a:r>
                        <a:rPr lang="en-US" sz="1200">
                          <a:solidFill>
                            <a:schemeClr val="bg1"/>
                          </a:solidFill>
                          <a:latin typeface="Adani Regular" panose="02000503000000020004" pitchFamily="2" charset="0"/>
                          <a:cs typeface="Arial"/>
                        </a:rPr>
                        <a:t>E</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080" algn="ctr">
                        <a:lnSpc>
                          <a:spcPct val="100000"/>
                        </a:lnSpc>
                      </a:pPr>
                      <a:r>
                        <a:rPr lang="en-IN" sz="1200">
                          <a:solidFill>
                            <a:schemeClr val="bg1"/>
                          </a:solidFill>
                          <a:latin typeface="Adani Regular" panose="02000503000000020004" pitchFamily="2" charset="0"/>
                          <a:cs typeface="Arial"/>
                        </a:rPr>
                        <a:t>F</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715" algn="ctr">
                        <a:lnSpc>
                          <a:spcPct val="100000"/>
                        </a:lnSpc>
                      </a:pPr>
                      <a:r>
                        <a:rPr lang="en-US" sz="1200" spc="15">
                          <a:solidFill>
                            <a:schemeClr val="bg1"/>
                          </a:solidFill>
                          <a:latin typeface="Adani Regular" panose="02000503000000020004" pitchFamily="2" charset="0"/>
                          <a:cs typeface="Arial"/>
                        </a:rPr>
                        <a:t>G</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7620" algn="ctr">
                        <a:lnSpc>
                          <a:spcPct val="100000"/>
                        </a:lnSpc>
                      </a:pPr>
                      <a:r>
                        <a:rPr lang="en-US" sz="1200">
                          <a:solidFill>
                            <a:schemeClr val="bg1"/>
                          </a:solidFill>
                          <a:latin typeface="Adani Regular" panose="02000503000000020004" pitchFamily="2" charset="0"/>
                          <a:cs typeface="Arial"/>
                        </a:rPr>
                        <a:t>H</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5715" algn="ctr">
                        <a:lnSpc>
                          <a:spcPct val="100000"/>
                        </a:lnSpc>
                      </a:pPr>
                      <a:r>
                        <a:rPr lang="en-US" sz="1200">
                          <a:solidFill>
                            <a:schemeClr val="bg1"/>
                          </a:solidFill>
                          <a:latin typeface="Adani Regular" panose="02000503000000020004" pitchFamily="2" charset="0"/>
                          <a:cs typeface="Arial"/>
                        </a:rPr>
                        <a:t>I</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32384" algn="ctr">
                        <a:lnSpc>
                          <a:spcPct val="100000"/>
                        </a:lnSpc>
                        <a:spcBef>
                          <a:spcPts val="1040"/>
                        </a:spcBef>
                      </a:pPr>
                      <a:r>
                        <a:rPr lang="en-IN" sz="1200" spc="5">
                          <a:solidFill>
                            <a:schemeClr val="bg1"/>
                          </a:solidFill>
                          <a:latin typeface="Adani Regular" panose="02000503000000020004" pitchFamily="2" charset="0"/>
                          <a:cs typeface="Arial"/>
                        </a:rPr>
                        <a:t>J</a:t>
                      </a:r>
                      <a:r>
                        <a:rPr sz="1200" spc="5">
                          <a:solidFill>
                            <a:schemeClr val="bg1"/>
                          </a:solidFill>
                          <a:latin typeface="Adani Regular" panose="02000503000000020004" pitchFamily="2" charset="0"/>
                          <a:cs typeface="Arial"/>
                        </a:rPr>
                        <a:t> </a:t>
                      </a:r>
                      <a:r>
                        <a:rPr sz="1200">
                          <a:solidFill>
                            <a:schemeClr val="bg1"/>
                          </a:solidFill>
                          <a:latin typeface="Adani Regular" panose="02000503000000020004" pitchFamily="2" charset="0"/>
                          <a:cs typeface="Arial"/>
                        </a:rPr>
                        <a:t>=</a:t>
                      </a:r>
                      <a:r>
                        <a:rPr sz="1200" spc="20">
                          <a:solidFill>
                            <a:schemeClr val="bg1"/>
                          </a:solidFill>
                          <a:latin typeface="Adani Regular" panose="02000503000000020004" pitchFamily="2" charset="0"/>
                          <a:cs typeface="Arial"/>
                        </a:rPr>
                        <a:t> </a:t>
                      </a:r>
                      <a:r>
                        <a:rPr lang="en-US" sz="1200" spc="20">
                          <a:solidFill>
                            <a:schemeClr val="bg1"/>
                          </a:solidFill>
                          <a:latin typeface="Adani Regular" panose="02000503000000020004" pitchFamily="2" charset="0"/>
                          <a:cs typeface="Arial"/>
                        </a:rPr>
                        <a:t>D + </a:t>
                      </a:r>
                      <a:r>
                        <a:rPr lang="en-IN" sz="1200">
                          <a:solidFill>
                            <a:schemeClr val="bg1"/>
                          </a:solidFill>
                          <a:latin typeface="Adani Regular" panose="02000503000000020004" pitchFamily="2" charset="0"/>
                          <a:cs typeface="Arial"/>
                        </a:rPr>
                        <a:t>E</a:t>
                      </a:r>
                      <a:r>
                        <a:rPr lang="en-IN" sz="1200" spc="25">
                          <a:solidFill>
                            <a:schemeClr val="bg1"/>
                          </a:solidFill>
                          <a:latin typeface="Adani Regular" panose="02000503000000020004" pitchFamily="2" charset="0"/>
                          <a:cs typeface="Arial"/>
                        </a:rPr>
                        <a:t> </a:t>
                      </a:r>
                      <a:r>
                        <a:rPr lang="en-IN" sz="1200">
                          <a:solidFill>
                            <a:schemeClr val="bg1"/>
                          </a:solidFill>
                          <a:latin typeface="Adani Regular" panose="02000503000000020004" pitchFamily="2" charset="0"/>
                          <a:cs typeface="Arial"/>
                        </a:rPr>
                        <a:t>+</a:t>
                      </a:r>
                      <a:r>
                        <a:rPr lang="en-IN" sz="1200" spc="20">
                          <a:solidFill>
                            <a:schemeClr val="bg1"/>
                          </a:solidFill>
                          <a:latin typeface="Adani Regular" panose="02000503000000020004" pitchFamily="2" charset="0"/>
                          <a:cs typeface="Arial"/>
                        </a:rPr>
                        <a:t> </a:t>
                      </a:r>
                      <a:r>
                        <a:rPr lang="en-IN" sz="1200" spc="80">
                          <a:solidFill>
                            <a:schemeClr val="bg1"/>
                          </a:solidFill>
                          <a:latin typeface="Adani Regular" panose="02000503000000020004" pitchFamily="2" charset="0"/>
                          <a:cs typeface="Arial"/>
                        </a:rPr>
                        <a:t>F</a:t>
                      </a:r>
                      <a:endParaRPr lang="en-IN" sz="1200">
                        <a:solidFill>
                          <a:schemeClr val="bg1"/>
                        </a:solidFill>
                        <a:latin typeface="Adani Regular" panose="02000503000000020004" pitchFamily="2" charset="0"/>
                        <a:cs typeface="Arial"/>
                      </a:endParaRPr>
                    </a:p>
                    <a:p>
                      <a:pPr marL="99695" algn="ctr">
                        <a:lnSpc>
                          <a:spcPct val="100000"/>
                        </a:lnSpc>
                      </a:pPr>
                      <a:r>
                        <a:rPr lang="en-IN" sz="1200">
                          <a:solidFill>
                            <a:schemeClr val="bg1"/>
                          </a:solidFill>
                          <a:latin typeface="Adani Regular" panose="02000503000000020004" pitchFamily="2" charset="0"/>
                          <a:cs typeface="Arial"/>
                        </a:rPr>
                        <a:t>+ G +</a:t>
                      </a:r>
                      <a:r>
                        <a:rPr lang="en-IN" sz="1200" spc="5">
                          <a:solidFill>
                            <a:schemeClr val="bg1"/>
                          </a:solidFill>
                          <a:latin typeface="Adani Regular" panose="02000503000000020004" pitchFamily="2" charset="0"/>
                          <a:cs typeface="Arial"/>
                        </a:rPr>
                        <a:t> </a:t>
                      </a:r>
                      <a:r>
                        <a:rPr lang="en-IN" sz="1200" spc="65">
                          <a:solidFill>
                            <a:schemeClr val="bg1"/>
                          </a:solidFill>
                          <a:latin typeface="Adani Regular" panose="02000503000000020004" pitchFamily="2" charset="0"/>
                          <a:cs typeface="Arial"/>
                        </a:rPr>
                        <a:t>H</a:t>
                      </a:r>
                      <a:r>
                        <a:rPr lang="en-IN" sz="1200" spc="20">
                          <a:solidFill>
                            <a:schemeClr val="bg1"/>
                          </a:solidFill>
                          <a:latin typeface="Adani Regular" panose="02000503000000020004" pitchFamily="2" charset="0"/>
                          <a:cs typeface="Arial"/>
                        </a:rPr>
                        <a:t> </a:t>
                      </a:r>
                      <a:endParaRPr lang="en-IN" sz="1200">
                        <a:solidFill>
                          <a:schemeClr val="bg1"/>
                        </a:solidFill>
                        <a:latin typeface="Adani Regular" panose="02000503000000020004" pitchFamily="2" charset="0"/>
                        <a:cs typeface="Arial"/>
                      </a:endParaRPr>
                    </a:p>
                  </a:txBody>
                  <a:tcPr marL="0" marR="0" marT="132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sz="1200">
                        <a:solidFill>
                          <a:schemeClr val="bg1"/>
                        </a:solidFill>
                        <a:latin typeface="Adani Regular" panose="02000503000000020004" pitchFamily="2" charset="0"/>
                        <a:cs typeface="Times New Roman"/>
                      </a:endParaRPr>
                    </a:p>
                    <a:p>
                      <a:pPr marL="9525" algn="ctr">
                        <a:lnSpc>
                          <a:spcPct val="100000"/>
                        </a:lnSpc>
                      </a:pPr>
                      <a:r>
                        <a:rPr lang="en-US" sz="1200" spc="55">
                          <a:solidFill>
                            <a:schemeClr val="bg1"/>
                          </a:solidFill>
                          <a:latin typeface="Adani Regular" panose="02000503000000020004" pitchFamily="2" charset="0"/>
                          <a:cs typeface="Arial"/>
                        </a:rPr>
                        <a:t>k</a:t>
                      </a:r>
                      <a:r>
                        <a:rPr sz="1200" spc="-20">
                          <a:solidFill>
                            <a:schemeClr val="bg1"/>
                          </a:solidFill>
                          <a:latin typeface="Adani Regular" panose="02000503000000020004" pitchFamily="2" charset="0"/>
                          <a:cs typeface="Arial"/>
                        </a:rPr>
                        <a:t> </a:t>
                      </a:r>
                      <a:r>
                        <a:rPr sz="1200">
                          <a:solidFill>
                            <a:schemeClr val="bg1"/>
                          </a:solidFill>
                          <a:latin typeface="Adani Regular" panose="02000503000000020004" pitchFamily="2" charset="0"/>
                          <a:cs typeface="Arial"/>
                        </a:rPr>
                        <a:t>=</a:t>
                      </a:r>
                      <a:r>
                        <a:rPr sz="1200" spc="15">
                          <a:solidFill>
                            <a:schemeClr val="bg1"/>
                          </a:solidFill>
                          <a:latin typeface="Adani Regular" panose="02000503000000020004" pitchFamily="2" charset="0"/>
                          <a:cs typeface="Arial"/>
                        </a:rPr>
                        <a:t> </a:t>
                      </a:r>
                      <a:r>
                        <a:rPr lang="en-US" sz="1200" spc="15">
                          <a:solidFill>
                            <a:schemeClr val="bg1"/>
                          </a:solidFill>
                          <a:latin typeface="Adani Regular" panose="02000503000000020004" pitchFamily="2" charset="0"/>
                          <a:cs typeface="Arial"/>
                        </a:rPr>
                        <a:t>j</a:t>
                      </a:r>
                      <a:r>
                        <a:rPr lang="en-US" sz="1200" spc="-15">
                          <a:solidFill>
                            <a:schemeClr val="bg1"/>
                          </a:solidFill>
                          <a:latin typeface="Adani Regular" panose="02000503000000020004" pitchFamily="2" charset="0"/>
                          <a:cs typeface="Arial"/>
                        </a:rPr>
                        <a:t> </a:t>
                      </a:r>
                      <a:r>
                        <a:rPr sz="1200" spc="80">
                          <a:solidFill>
                            <a:schemeClr val="bg1"/>
                          </a:solidFill>
                          <a:latin typeface="Adani Regular" panose="02000503000000020004" pitchFamily="2" charset="0"/>
                          <a:cs typeface="Arial"/>
                        </a:rPr>
                        <a:t>/</a:t>
                      </a:r>
                      <a:r>
                        <a:rPr sz="1200" spc="15">
                          <a:solidFill>
                            <a:schemeClr val="bg1"/>
                          </a:solidFill>
                          <a:latin typeface="Adani Regular" panose="02000503000000020004" pitchFamily="2" charset="0"/>
                          <a:cs typeface="Arial"/>
                        </a:rPr>
                        <a:t> </a:t>
                      </a:r>
                      <a:r>
                        <a:rPr sz="1200" spc="5">
                          <a:solidFill>
                            <a:schemeClr val="bg1"/>
                          </a:solidFill>
                          <a:latin typeface="Adani Regular" panose="02000503000000020004" pitchFamily="2" charset="0"/>
                          <a:cs typeface="Arial"/>
                        </a:rPr>
                        <a:t>b</a:t>
                      </a:r>
                      <a:endParaRPr sz="12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9525" algn="ctr">
                        <a:lnSpc>
                          <a:spcPct val="100000"/>
                        </a:lnSpc>
                      </a:pPr>
                      <a:endParaRPr sz="1200">
                        <a:solidFill>
                          <a:schemeClr val="bg1"/>
                        </a:solidFill>
                        <a:latin typeface="Adani Regular" panose="02000503000000020004" pitchFamily="2" charset="0"/>
                        <a:cs typeface="Arial"/>
                      </a:endParaRPr>
                    </a:p>
                  </a:txBody>
                  <a:tcPr marL="0" marR="0" marT="558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3"/>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400" b="0" i="0" u="none" strike="noStrike">
                          <a:solidFill>
                            <a:srgbClr val="000000"/>
                          </a:solidFill>
                          <a:effectLst/>
                          <a:latin typeface="Adani Regular" panose="02000503000000020004" pitchFamily="2" charset="0"/>
                        </a:rPr>
                        <a:t>13-Apr-26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dirty="0">
                          <a:solidFill>
                            <a:srgbClr val="000000"/>
                          </a:solidFill>
                          <a:effectLst/>
                          <a:latin typeface="Adani Regular" panose="02000503000000020004" pitchFamily="2" charset="0"/>
                        </a:rPr>
                        <a:t>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Adani Regular" panose="02000503000000020004" pitchFamily="2" charset="0"/>
                        </a:rPr>
                        <a:t>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b"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dani Regular" panose="02000503000000020004" pitchFamily="2" charset="0"/>
                        </a:rPr>
                        <a:t> 13-Apr-26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029797"/>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PSS-10B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dani Regular" panose="02000503000000020004" pitchFamily="2" charset="0"/>
                        </a:rPr>
                        <a:t> 13-Apr-26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0465351"/>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PSS-08B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eaLnBrk="1" fontAlgn="b"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dani Regular" panose="02000503000000020004" pitchFamily="2" charset="0"/>
                        </a:rPr>
                        <a:t> 20-Apr-26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9038907"/>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20-Apr-26 </a:t>
                      </a:r>
                      <a:endPar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8617501"/>
                  </a:ext>
                </a:extLst>
              </a:tr>
              <a:tr h="499170">
                <a:tc>
                  <a:txBody>
                    <a:bodyPr/>
                    <a:lstStyle/>
                    <a:p>
                      <a:pPr algn="ctr" rtl="0" fontAlgn="ctr">
                        <a:buNone/>
                      </a:pPr>
                      <a:r>
                        <a:rPr lang="en-US" sz="1400" b="0" i="0" u="none" strike="noStrike">
                          <a:solidFill>
                            <a:srgbClr val="000000"/>
                          </a:solidFill>
                          <a:effectLst/>
                          <a:latin typeface="Adani Regular" panose="02000503000000020004" pitchFamily="2" charset="0"/>
                        </a:rPr>
                        <a:t>PSS-05B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20-Apr-26 </a:t>
                      </a:r>
                      <a:endPar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dirty="0">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856145"/>
                  </a:ext>
                </a:extLst>
              </a:tr>
            </a:tbl>
          </a:graphicData>
        </a:graphic>
      </p:graphicFrame>
      <p:sp>
        <p:nvSpPr>
          <p:cNvPr id="8" name="object 6">
            <a:extLst>
              <a:ext uri="{FF2B5EF4-FFF2-40B4-BE49-F238E27FC236}">
                <a16:creationId xmlns:a16="http://schemas.microsoft.com/office/drawing/2014/main" id="{2778AFD4-1581-75F6-CDC7-DEE733DD07D1}"/>
              </a:ext>
            </a:extLst>
          </p:cNvPr>
          <p:cNvSpPr txBox="1"/>
          <p:nvPr/>
        </p:nvSpPr>
        <p:spPr>
          <a:xfrm>
            <a:off x="429324" y="6377521"/>
            <a:ext cx="10739120" cy="391160"/>
          </a:xfrm>
          <a:prstGeom prst="rect">
            <a:avLst/>
          </a:prstGeom>
        </p:spPr>
        <p:txBody>
          <a:bodyPr vert="horz" wrap="square" lIns="0" tIns="12700" rIns="0" bIns="0" rtlCol="0">
            <a:spAutoFit/>
          </a:bodyPr>
          <a:lstStyle/>
          <a:p>
            <a:pPr marL="12700" marR="5080">
              <a:lnSpc>
                <a:spcPct val="100000"/>
              </a:lnSpc>
              <a:spcBef>
                <a:spcPts val="100"/>
              </a:spcBef>
            </a:pPr>
            <a:r>
              <a:rPr lang="en-US" sz="1200" spc="20">
                <a:latin typeface="Adani Regular" panose="02000503000000020004" pitchFamily="2" charset="0"/>
                <a:cs typeface="Arial"/>
              </a:rPr>
              <a:t>Cat</a:t>
            </a:r>
            <a:r>
              <a:rPr lang="en-US" sz="1200" spc="30">
                <a:latin typeface="Adani Regular" panose="02000503000000020004" pitchFamily="2" charset="0"/>
                <a:cs typeface="Arial"/>
              </a:rPr>
              <a:t> </a:t>
            </a:r>
            <a:r>
              <a:rPr lang="en-US" sz="1200" spc="20">
                <a:latin typeface="Adani Regular" panose="02000503000000020004" pitchFamily="2" charset="0"/>
                <a:cs typeface="Arial"/>
              </a:rPr>
              <a:t>I:</a:t>
            </a:r>
            <a:r>
              <a:rPr lang="en-US" sz="1200" spc="30">
                <a:latin typeface="Adani Regular" panose="02000503000000020004" pitchFamily="2" charset="0"/>
                <a:cs typeface="Arial"/>
              </a:rPr>
              <a:t> </a:t>
            </a:r>
            <a:r>
              <a:rPr lang="en-US" sz="1200" spc="20">
                <a:latin typeface="Adani Regular" panose="02000503000000020004" pitchFamily="2" charset="0"/>
                <a:cs typeface="Arial"/>
              </a:rPr>
              <a:t>Approved,</a:t>
            </a:r>
            <a:r>
              <a:rPr lang="en-US" sz="1200" spc="35">
                <a:latin typeface="Adani Regular" panose="02000503000000020004" pitchFamily="2" charset="0"/>
                <a:cs typeface="Arial"/>
              </a:rPr>
              <a:t> </a:t>
            </a:r>
            <a:r>
              <a:rPr lang="en-US" sz="1200" spc="20">
                <a:latin typeface="Adani Regular" panose="02000503000000020004" pitchFamily="2" charset="0"/>
                <a:cs typeface="Arial"/>
              </a:rPr>
              <a:t>Cat</a:t>
            </a:r>
            <a:r>
              <a:rPr lang="en-US" sz="1200" spc="30">
                <a:latin typeface="Adani Regular" panose="02000503000000020004" pitchFamily="2" charset="0"/>
                <a:cs typeface="Arial"/>
              </a:rPr>
              <a:t> </a:t>
            </a:r>
            <a:r>
              <a:rPr lang="en-US" sz="1200" spc="20">
                <a:latin typeface="Adani Regular" panose="02000503000000020004" pitchFamily="2" charset="0"/>
                <a:cs typeface="Arial"/>
              </a:rPr>
              <a:t>II:</a:t>
            </a:r>
            <a:r>
              <a:rPr lang="en-US" sz="1200" spc="50">
                <a:latin typeface="Adani Regular" panose="02000503000000020004" pitchFamily="2" charset="0"/>
                <a:cs typeface="Arial"/>
              </a:rPr>
              <a:t> </a:t>
            </a:r>
            <a:r>
              <a:rPr lang="en-US" sz="1200" spc="20">
                <a:latin typeface="Adani Regular" panose="02000503000000020004" pitchFamily="2" charset="0"/>
                <a:cs typeface="Arial"/>
              </a:rPr>
              <a:t>Approved</a:t>
            </a:r>
            <a:r>
              <a:rPr lang="en-US" sz="1200" spc="30">
                <a:latin typeface="Adani Regular" panose="02000503000000020004" pitchFamily="2" charset="0"/>
                <a:cs typeface="Arial"/>
              </a:rPr>
              <a:t> </a:t>
            </a:r>
            <a:r>
              <a:rPr lang="en-US" sz="1200" spc="90">
                <a:latin typeface="Adani Regular" panose="02000503000000020004" pitchFamily="2" charset="0"/>
                <a:cs typeface="Arial"/>
              </a:rPr>
              <a:t>with</a:t>
            </a:r>
            <a:r>
              <a:rPr lang="en-US" sz="1200" spc="45">
                <a:latin typeface="Adani Regular" panose="02000503000000020004" pitchFamily="2" charset="0"/>
                <a:cs typeface="Arial"/>
              </a:rPr>
              <a:t> </a:t>
            </a:r>
            <a:r>
              <a:rPr lang="en-US" sz="1200" spc="50">
                <a:latin typeface="Adani Regular" panose="02000503000000020004" pitchFamily="2" charset="0"/>
                <a:cs typeface="Arial"/>
              </a:rPr>
              <a:t>minor</a:t>
            </a:r>
            <a:r>
              <a:rPr lang="en-US" sz="1200" spc="30">
                <a:latin typeface="Adani Regular" panose="02000503000000020004" pitchFamily="2" charset="0"/>
                <a:cs typeface="Arial"/>
              </a:rPr>
              <a:t> </a:t>
            </a:r>
            <a:r>
              <a:rPr lang="en-US" sz="1200" spc="20">
                <a:latin typeface="Adani Regular" panose="02000503000000020004" pitchFamily="2" charset="0"/>
                <a:cs typeface="Arial"/>
              </a:rPr>
              <a:t>comments,</a:t>
            </a:r>
            <a:r>
              <a:rPr lang="en-US" sz="1200" spc="35">
                <a:latin typeface="Adani Regular" panose="02000503000000020004" pitchFamily="2" charset="0"/>
                <a:cs typeface="Arial"/>
              </a:rPr>
              <a:t> </a:t>
            </a:r>
            <a:r>
              <a:rPr lang="en-US" sz="1200" spc="20">
                <a:latin typeface="Adani Regular" panose="02000503000000020004" pitchFamily="2" charset="0"/>
                <a:cs typeface="Arial"/>
              </a:rPr>
              <a:t>Cat</a:t>
            </a:r>
            <a:r>
              <a:rPr lang="en-US" sz="1200" spc="15">
                <a:latin typeface="Adani Regular" panose="02000503000000020004" pitchFamily="2" charset="0"/>
                <a:cs typeface="Arial"/>
              </a:rPr>
              <a:t> </a:t>
            </a:r>
            <a:r>
              <a:rPr lang="en-US" sz="1200" spc="10">
                <a:latin typeface="Adani Regular" panose="02000503000000020004" pitchFamily="2" charset="0"/>
                <a:cs typeface="Arial"/>
              </a:rPr>
              <a:t>III:</a:t>
            </a:r>
            <a:r>
              <a:rPr lang="en-US" sz="1200" spc="45">
                <a:latin typeface="Adani Regular" panose="02000503000000020004" pitchFamily="2" charset="0"/>
                <a:cs typeface="Arial"/>
              </a:rPr>
              <a:t> </a:t>
            </a:r>
            <a:r>
              <a:rPr lang="en-US" sz="1200" spc="80">
                <a:latin typeface="Adani Regular" panose="02000503000000020004" pitchFamily="2" charset="0"/>
                <a:cs typeface="Arial"/>
              </a:rPr>
              <a:t>Not</a:t>
            </a:r>
            <a:r>
              <a:rPr lang="en-US" sz="1200" spc="30">
                <a:latin typeface="Adani Regular" panose="02000503000000020004" pitchFamily="2" charset="0"/>
                <a:cs typeface="Arial"/>
              </a:rPr>
              <a:t> </a:t>
            </a:r>
            <a:r>
              <a:rPr lang="en-US" sz="1200" spc="20">
                <a:latin typeface="Adani Regular" panose="02000503000000020004" pitchFamily="2" charset="0"/>
                <a:cs typeface="Arial"/>
              </a:rPr>
              <a:t>approved,</a:t>
            </a:r>
            <a:r>
              <a:rPr lang="en-US" sz="1200" spc="45">
                <a:latin typeface="Adani Regular" panose="02000503000000020004" pitchFamily="2" charset="0"/>
                <a:cs typeface="Arial"/>
              </a:rPr>
              <a:t> </a:t>
            </a:r>
            <a:r>
              <a:rPr lang="en-US" sz="1200" spc="20">
                <a:latin typeface="Adani Regular" panose="02000503000000020004" pitchFamily="2" charset="0"/>
                <a:cs typeface="Arial"/>
              </a:rPr>
              <a:t>Cat</a:t>
            </a:r>
            <a:r>
              <a:rPr lang="en-US" sz="1200" spc="35">
                <a:latin typeface="Adani Regular" panose="02000503000000020004" pitchFamily="2" charset="0"/>
                <a:cs typeface="Arial"/>
              </a:rPr>
              <a:t> </a:t>
            </a:r>
            <a:r>
              <a:rPr lang="en-US" sz="1200" spc="20">
                <a:latin typeface="Adani Regular" panose="02000503000000020004" pitchFamily="2" charset="0"/>
                <a:cs typeface="Arial"/>
              </a:rPr>
              <a:t>IV:</a:t>
            </a:r>
            <a:r>
              <a:rPr lang="en-US" sz="1200" spc="45">
                <a:latin typeface="Adani Regular" panose="02000503000000020004" pitchFamily="2" charset="0"/>
                <a:cs typeface="Arial"/>
              </a:rPr>
              <a:t> </a:t>
            </a:r>
            <a:r>
              <a:rPr lang="en-US" sz="1200" spc="20">
                <a:latin typeface="Adani Regular" panose="02000503000000020004" pitchFamily="2" charset="0"/>
                <a:cs typeface="Arial"/>
              </a:rPr>
              <a:t>For</a:t>
            </a:r>
            <a:r>
              <a:rPr lang="en-US" sz="1200" spc="30">
                <a:latin typeface="Adani Regular" panose="02000503000000020004" pitchFamily="2" charset="0"/>
                <a:cs typeface="Arial"/>
              </a:rPr>
              <a:t> </a:t>
            </a:r>
            <a:r>
              <a:rPr lang="en-US" sz="1200" spc="20">
                <a:latin typeface="Adani Regular" panose="02000503000000020004" pitchFamily="2" charset="0"/>
                <a:cs typeface="Arial"/>
              </a:rPr>
              <a:t>Information,</a:t>
            </a:r>
            <a:r>
              <a:rPr lang="en-US" sz="1200" spc="40">
                <a:latin typeface="Adani Regular" panose="02000503000000020004" pitchFamily="2" charset="0"/>
                <a:cs typeface="Arial"/>
              </a:rPr>
              <a:t> </a:t>
            </a:r>
            <a:r>
              <a:rPr lang="en-US" sz="1200" spc="20">
                <a:latin typeface="Adani Regular" panose="02000503000000020004" pitchFamily="2" charset="0"/>
                <a:cs typeface="Arial"/>
              </a:rPr>
              <a:t>Cat</a:t>
            </a:r>
            <a:r>
              <a:rPr lang="en-US" sz="1200" spc="30">
                <a:latin typeface="Adani Regular" panose="02000503000000020004" pitchFamily="2" charset="0"/>
                <a:cs typeface="Arial"/>
              </a:rPr>
              <a:t> </a:t>
            </a:r>
            <a:r>
              <a:rPr lang="en-US" sz="1200" spc="20">
                <a:latin typeface="Adani Regular" panose="02000503000000020004" pitchFamily="2" charset="0"/>
                <a:cs typeface="Arial"/>
              </a:rPr>
              <a:t>IV*:Incorporate</a:t>
            </a:r>
            <a:r>
              <a:rPr lang="en-US" sz="1200" spc="-5">
                <a:latin typeface="Adani Regular" panose="02000503000000020004" pitchFamily="2" charset="0"/>
                <a:cs typeface="Arial"/>
              </a:rPr>
              <a:t> </a:t>
            </a:r>
            <a:r>
              <a:rPr lang="en-US" sz="1200" spc="50">
                <a:latin typeface="Adani Regular" panose="02000503000000020004" pitchFamily="2" charset="0"/>
                <a:cs typeface="Arial"/>
              </a:rPr>
              <a:t>comments</a:t>
            </a:r>
            <a:r>
              <a:rPr lang="en-US" sz="1200" spc="35">
                <a:latin typeface="Adani Regular" panose="02000503000000020004" pitchFamily="2" charset="0"/>
                <a:cs typeface="Arial"/>
              </a:rPr>
              <a:t> </a:t>
            </a:r>
            <a:r>
              <a:rPr lang="en-US" sz="1200" spc="20">
                <a:latin typeface="Adani Regular" panose="02000503000000020004" pitchFamily="2" charset="0"/>
                <a:cs typeface="Arial"/>
              </a:rPr>
              <a:t>and</a:t>
            </a:r>
            <a:r>
              <a:rPr lang="en-US" sz="1200" spc="25">
                <a:latin typeface="Adani Regular" panose="02000503000000020004" pitchFamily="2" charset="0"/>
                <a:cs typeface="Arial"/>
              </a:rPr>
              <a:t> </a:t>
            </a:r>
            <a:r>
              <a:rPr lang="en-US" sz="1200" spc="50">
                <a:latin typeface="Adani Regular" panose="02000503000000020004" pitchFamily="2" charset="0"/>
                <a:cs typeface="Arial"/>
              </a:rPr>
              <a:t>resubmit</a:t>
            </a:r>
            <a:r>
              <a:rPr lang="en-US" sz="1200" spc="25">
                <a:latin typeface="Adani Regular" panose="02000503000000020004" pitchFamily="2" charset="0"/>
                <a:cs typeface="Arial"/>
              </a:rPr>
              <a:t> </a:t>
            </a:r>
            <a:r>
              <a:rPr lang="en-US" sz="1200" spc="40">
                <a:latin typeface="Adani Regular" panose="02000503000000020004" pitchFamily="2" charset="0"/>
                <a:cs typeface="Arial"/>
              </a:rPr>
              <a:t>for </a:t>
            </a:r>
            <a:r>
              <a:rPr lang="en-US" sz="1200" spc="50">
                <a:latin typeface="Adani Regular" panose="02000503000000020004" pitchFamily="2" charset="0"/>
                <a:cs typeface="Arial"/>
              </a:rPr>
              <a:t>information</a:t>
            </a:r>
            <a:endParaRPr lang="en-US" sz="1200">
              <a:latin typeface="Adani Regular" panose="02000503000000020004" pitchFamily="2" charset="0"/>
              <a:cs typeface="Arial"/>
            </a:endParaRPr>
          </a:p>
        </p:txBody>
      </p:sp>
      <p:sp>
        <p:nvSpPr>
          <p:cNvPr id="3" name="Slide Number Placeholder 2">
            <a:extLst>
              <a:ext uri="{FF2B5EF4-FFF2-40B4-BE49-F238E27FC236}">
                <a16:creationId xmlns:a16="http://schemas.microsoft.com/office/drawing/2014/main" id="{6355E05E-BAB5-A648-C61F-526AA849162E}"/>
              </a:ext>
            </a:extLst>
          </p:cNvPr>
          <p:cNvSpPr>
            <a:spLocks noGrp="1"/>
          </p:cNvSpPr>
          <p:nvPr>
            <p:ph type="sldNum" sz="quarter" idx="12"/>
          </p:nvPr>
        </p:nvSpPr>
        <p:spPr/>
        <p:txBody>
          <a:bodyPr/>
          <a:lstStyle/>
          <a:p>
            <a:fld id="{98B285C1-D8A8-4E98-B28C-1FD972D8EC54}" type="slidenum">
              <a:rPr lang="en-IN" smtClean="0"/>
              <a:t>12</a:t>
            </a:fld>
            <a:endParaRPr lang="en-IN"/>
          </a:p>
        </p:txBody>
      </p:sp>
    </p:spTree>
    <p:extLst>
      <p:ext uri="{BB962C8B-B14F-4D97-AF65-F5344CB8AC3E}">
        <p14:creationId xmlns:p14="http://schemas.microsoft.com/office/powerpoint/2010/main" val="1296243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E241-E212-EC95-52FE-75982534C137}"/>
              </a:ext>
            </a:extLst>
          </p:cNvPr>
          <p:cNvSpPr>
            <a:spLocks noGrp="1"/>
          </p:cNvSpPr>
          <p:nvPr>
            <p:ph type="title"/>
          </p:nvPr>
        </p:nvSpPr>
        <p:spPr/>
        <p:txBody>
          <a:bodyPr/>
          <a:lstStyle/>
          <a:p>
            <a:r>
              <a:rPr lang="en-US"/>
              <a:t>Procurement Status: PSS 11, 12, 10B, 9, 05B &amp; 08B </a:t>
            </a:r>
          </a:p>
        </p:txBody>
      </p:sp>
    </p:spTree>
    <p:extLst>
      <p:ext uri="{BB962C8B-B14F-4D97-AF65-F5344CB8AC3E}">
        <p14:creationId xmlns:p14="http://schemas.microsoft.com/office/powerpoint/2010/main" val="1102374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B8B19-5CAB-FBE9-EAEA-2D9FFD188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789A5-8E88-D6B8-649D-9CC84A90B2EB}"/>
              </a:ext>
            </a:extLst>
          </p:cNvPr>
          <p:cNvSpPr>
            <a:spLocks noGrp="1"/>
          </p:cNvSpPr>
          <p:nvPr>
            <p:ph type="ctrTitle"/>
          </p:nvPr>
        </p:nvSpPr>
        <p:spPr>
          <a:xfrm>
            <a:off x="0" y="52879"/>
            <a:ext cx="12466390" cy="461382"/>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rPr>
              <a:t>PSS 11</a:t>
            </a:r>
            <a:endParaRPr lang="en-US" sz="2400" b="1" i="1">
              <a:gradFill>
                <a:gsLst>
                  <a:gs pos="9735">
                    <a:schemeClr val="tx2"/>
                  </a:gs>
                  <a:gs pos="63000">
                    <a:srgbClr val="8E278F"/>
                  </a:gs>
                  <a:gs pos="38000">
                    <a:srgbClr val="57499E"/>
                  </a:gs>
                </a:gsLst>
                <a:lin ang="0" scaled="0"/>
              </a:gradFill>
              <a:highlight>
                <a:srgbClr val="FFFF00"/>
              </a:highlight>
              <a:ea typeface="+mn-ea"/>
              <a:cs typeface="+mn-cs"/>
            </a:endParaRPr>
          </a:p>
        </p:txBody>
      </p:sp>
      <p:pic>
        <p:nvPicPr>
          <p:cNvPr id="11" name="Picture 10">
            <a:extLst>
              <a:ext uri="{FF2B5EF4-FFF2-40B4-BE49-F238E27FC236}">
                <a16:creationId xmlns:a16="http://schemas.microsoft.com/office/drawing/2014/main" id="{E9B6511D-05E1-7E43-2F2E-7A7C796CE2B2}"/>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F3CA4274-4753-1E3C-A68C-D1A6B4C80FBD}"/>
              </a:ext>
            </a:extLst>
          </p:cNvPr>
          <p:cNvSpPr>
            <a:spLocks noGrp="1"/>
          </p:cNvSpPr>
          <p:nvPr>
            <p:ph type="sldNum" sz="quarter" idx="12"/>
          </p:nvPr>
        </p:nvSpPr>
        <p:spPr/>
        <p:txBody>
          <a:bodyPr/>
          <a:lstStyle/>
          <a:p>
            <a:fld id="{98B285C1-D8A8-4E98-B28C-1FD972D8EC54}" type="slidenum">
              <a:rPr lang="en-IN" smtClean="0"/>
              <a:t>14</a:t>
            </a:fld>
            <a:endParaRPr lang="en-IN"/>
          </a:p>
        </p:txBody>
      </p:sp>
      <p:graphicFrame>
        <p:nvGraphicFramePr>
          <p:cNvPr id="5" name="Table 4">
            <a:extLst>
              <a:ext uri="{FF2B5EF4-FFF2-40B4-BE49-F238E27FC236}">
                <a16:creationId xmlns:a16="http://schemas.microsoft.com/office/drawing/2014/main" id="{751BA5F8-F9B8-7A10-BB67-EC328241D188}"/>
              </a:ext>
            </a:extLst>
          </p:cNvPr>
          <p:cNvGraphicFramePr>
            <a:graphicFrameLocks noGrp="1"/>
          </p:cNvGraphicFramePr>
          <p:nvPr>
            <p:extLst>
              <p:ext uri="{D42A27DB-BD31-4B8C-83A1-F6EECF244321}">
                <p14:modId xmlns:p14="http://schemas.microsoft.com/office/powerpoint/2010/main" val="4205218164"/>
              </p:ext>
            </p:extLst>
          </p:nvPr>
        </p:nvGraphicFramePr>
        <p:xfrm>
          <a:off x="68579" y="633705"/>
          <a:ext cx="11942449" cy="6024267"/>
        </p:xfrm>
        <a:graphic>
          <a:graphicData uri="http://schemas.openxmlformats.org/drawingml/2006/table">
            <a:tbl>
              <a:tblPr/>
              <a:tblGrid>
                <a:gridCol w="405625">
                  <a:extLst>
                    <a:ext uri="{9D8B030D-6E8A-4147-A177-3AD203B41FA5}">
                      <a16:colId xmlns:a16="http://schemas.microsoft.com/office/drawing/2014/main" val="1122173084"/>
                    </a:ext>
                  </a:extLst>
                </a:gridCol>
                <a:gridCol w="878852">
                  <a:extLst>
                    <a:ext uri="{9D8B030D-6E8A-4147-A177-3AD203B41FA5}">
                      <a16:colId xmlns:a16="http://schemas.microsoft.com/office/drawing/2014/main" val="1866013594"/>
                    </a:ext>
                  </a:extLst>
                </a:gridCol>
                <a:gridCol w="758960">
                  <a:extLst>
                    <a:ext uri="{9D8B030D-6E8A-4147-A177-3AD203B41FA5}">
                      <a16:colId xmlns:a16="http://schemas.microsoft.com/office/drawing/2014/main" val="2615794636"/>
                    </a:ext>
                  </a:extLst>
                </a:gridCol>
                <a:gridCol w="552374">
                  <a:extLst>
                    <a:ext uri="{9D8B030D-6E8A-4147-A177-3AD203B41FA5}">
                      <a16:colId xmlns:a16="http://schemas.microsoft.com/office/drawing/2014/main" val="2949673436"/>
                    </a:ext>
                  </a:extLst>
                </a:gridCol>
                <a:gridCol w="620209">
                  <a:extLst>
                    <a:ext uri="{9D8B030D-6E8A-4147-A177-3AD203B41FA5}">
                      <a16:colId xmlns:a16="http://schemas.microsoft.com/office/drawing/2014/main" val="1303924037"/>
                    </a:ext>
                  </a:extLst>
                </a:gridCol>
                <a:gridCol w="753303">
                  <a:extLst>
                    <a:ext uri="{9D8B030D-6E8A-4147-A177-3AD203B41FA5}">
                      <a16:colId xmlns:a16="http://schemas.microsoft.com/office/drawing/2014/main" val="1096193466"/>
                    </a:ext>
                  </a:extLst>
                </a:gridCol>
                <a:gridCol w="662564">
                  <a:extLst>
                    <a:ext uri="{9D8B030D-6E8A-4147-A177-3AD203B41FA5}">
                      <a16:colId xmlns:a16="http://schemas.microsoft.com/office/drawing/2014/main" val="1444788724"/>
                    </a:ext>
                  </a:extLst>
                </a:gridCol>
                <a:gridCol w="979250">
                  <a:extLst>
                    <a:ext uri="{9D8B030D-6E8A-4147-A177-3AD203B41FA5}">
                      <a16:colId xmlns:a16="http://schemas.microsoft.com/office/drawing/2014/main" val="3952668464"/>
                    </a:ext>
                  </a:extLst>
                </a:gridCol>
                <a:gridCol w="647066">
                  <a:extLst>
                    <a:ext uri="{9D8B030D-6E8A-4147-A177-3AD203B41FA5}">
                      <a16:colId xmlns:a16="http://schemas.microsoft.com/office/drawing/2014/main" val="1779580964"/>
                    </a:ext>
                  </a:extLst>
                </a:gridCol>
                <a:gridCol w="772619">
                  <a:extLst>
                    <a:ext uri="{9D8B030D-6E8A-4147-A177-3AD203B41FA5}">
                      <a16:colId xmlns:a16="http://schemas.microsoft.com/office/drawing/2014/main" val="3478851915"/>
                    </a:ext>
                  </a:extLst>
                </a:gridCol>
                <a:gridCol w="684156">
                  <a:extLst>
                    <a:ext uri="{9D8B030D-6E8A-4147-A177-3AD203B41FA5}">
                      <a16:colId xmlns:a16="http://schemas.microsoft.com/office/drawing/2014/main" val="3871778397"/>
                    </a:ext>
                  </a:extLst>
                </a:gridCol>
                <a:gridCol w="1217772">
                  <a:extLst>
                    <a:ext uri="{9D8B030D-6E8A-4147-A177-3AD203B41FA5}">
                      <a16:colId xmlns:a16="http://schemas.microsoft.com/office/drawing/2014/main" val="182006337"/>
                    </a:ext>
                  </a:extLst>
                </a:gridCol>
                <a:gridCol w="601637">
                  <a:extLst>
                    <a:ext uri="{9D8B030D-6E8A-4147-A177-3AD203B41FA5}">
                      <a16:colId xmlns:a16="http://schemas.microsoft.com/office/drawing/2014/main" val="1661476434"/>
                    </a:ext>
                  </a:extLst>
                </a:gridCol>
                <a:gridCol w="708853">
                  <a:extLst>
                    <a:ext uri="{9D8B030D-6E8A-4147-A177-3AD203B41FA5}">
                      <a16:colId xmlns:a16="http://schemas.microsoft.com/office/drawing/2014/main" val="2035688816"/>
                    </a:ext>
                  </a:extLst>
                </a:gridCol>
                <a:gridCol w="566403">
                  <a:extLst>
                    <a:ext uri="{9D8B030D-6E8A-4147-A177-3AD203B41FA5}">
                      <a16:colId xmlns:a16="http://schemas.microsoft.com/office/drawing/2014/main" val="2827696006"/>
                    </a:ext>
                  </a:extLst>
                </a:gridCol>
                <a:gridCol w="566403">
                  <a:extLst>
                    <a:ext uri="{9D8B030D-6E8A-4147-A177-3AD203B41FA5}">
                      <a16:colId xmlns:a16="http://schemas.microsoft.com/office/drawing/2014/main" val="2908493221"/>
                    </a:ext>
                  </a:extLst>
                </a:gridCol>
                <a:gridCol w="566403">
                  <a:extLst>
                    <a:ext uri="{9D8B030D-6E8A-4147-A177-3AD203B41FA5}">
                      <a16:colId xmlns:a16="http://schemas.microsoft.com/office/drawing/2014/main" val="1866311753"/>
                    </a:ext>
                  </a:extLst>
                </a:gridCol>
              </a:tblGrid>
              <a:tr h="285360">
                <a:tc rowSpan="2">
                  <a:txBody>
                    <a:bodyPr/>
                    <a:lstStyle/>
                    <a:p>
                      <a:pPr algn="ctr" rtl="0" fontAlgn="ctr">
                        <a:buNone/>
                      </a:pPr>
                      <a:r>
                        <a:rPr lang="en-US" sz="9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9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9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900" b="1" i="0" u="none" strike="noStrike">
                          <a:solidFill>
                            <a:srgbClr val="FFFFFF"/>
                          </a:solidFill>
                          <a:effectLst/>
                          <a:latin typeface="Adani Regular" panose="02000503000000020004" pitchFamily="2" charset="0"/>
                        </a:rPr>
                        <a:t>Forecast Delivery Schedule (Qty)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rowSpan="2">
                  <a:txBody>
                    <a:bodyPr/>
                    <a:lstStyle/>
                    <a:p>
                      <a:pPr marL="0" algn="ctr" rtl="0" fontAlgn="ctr">
                        <a:buNone/>
                      </a:pPr>
                      <a:r>
                        <a:rPr lang="en-US" sz="900" b="1" i="0" u="none" strike="noStrike">
                          <a:solidFill>
                            <a:srgbClr val="FFFFFF"/>
                          </a:solidFill>
                          <a:effectLst/>
                          <a:latin typeface="Adani Regular" panose="02000503000000020004" pitchFamily="2" charset="0"/>
                          <a:ea typeface="+mn-ea"/>
                          <a:cs typeface="+mn-cs"/>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912431873"/>
                  </a:ext>
                </a:extLst>
              </a:tr>
              <a:tr h="28536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9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a:r>
                        <a:rPr lang="en-US" sz="900" b="1" i="0" u="none" strike="noStrike">
                          <a:solidFill>
                            <a:srgbClr val="FFFFFF"/>
                          </a:solidFill>
                          <a:effectLst/>
                          <a:latin typeface="Adani Regular" panose="02000503000000020004" pitchFamily="2" charset="0"/>
                        </a:rPr>
                        <a:t>Finish</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b">
                        <a:buNone/>
                      </a:pPr>
                      <a:r>
                        <a:rPr lang="en-US" sz="900" b="1" i="0" u="none" strike="noStrike">
                          <a:solidFill>
                            <a:srgbClr val="FFFFFF"/>
                          </a:solidFill>
                          <a:effectLst/>
                          <a:latin typeface="Adani Regular" panose="02000503000000020004" pitchFamily="2" charset="0"/>
                        </a:rPr>
                        <a:t>QAP Acceptance </a:t>
                      </a:r>
                    </a:p>
                    <a:p>
                      <a:pPr algn="ctr" fontAlgn="b">
                        <a:buNone/>
                      </a:pPr>
                      <a:r>
                        <a:rPr lang="en-US" sz="900" b="1" i="0" u="none" strike="noStrike">
                          <a:solidFill>
                            <a:srgbClr val="FFFFFF"/>
                          </a:solidFill>
                          <a:effectLst/>
                          <a:latin typeface="Adani Regular" panose="02000503000000020004" pitchFamily="2" charset="0"/>
                        </a:rPr>
                        <a:t>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a:r>
                        <a:rPr lang="en-US" sz="900" b="1" i="0" u="none" strike="noStrike">
                          <a:solidFill>
                            <a:srgbClr val="FFFFFF"/>
                          </a:solidFill>
                          <a:effectLst/>
                          <a:latin typeface="Adani Regular" panose="02000503000000020004" pitchFamily="2" charset="0"/>
                        </a:rPr>
                        <a:t>MC Date</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r>
                        <a:rPr lang="en-US" sz="900" b="1" i="0" u="none" strike="noStrike">
                          <a:solidFill>
                            <a:srgbClr val="FFFFFF"/>
                          </a:solidFill>
                          <a:effectLst/>
                          <a:latin typeface="Adani Regular" panose="02000503000000020004" pitchFamily="2" charset="0"/>
                        </a:rPr>
                        <a:t>Jun-26</a:t>
                      </a:r>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marL="0"/>
                      <a:r>
                        <a:rPr lang="en-US" sz="900" b="1" i="0" u="none" strike="noStrike">
                          <a:solidFill>
                            <a:srgbClr val="FFFFFF"/>
                          </a:solidFill>
                          <a:effectLst/>
                          <a:latin typeface="Adani Regular" panose="02000503000000020004" pitchFamily="2" charset="0"/>
                          <a:ea typeface="+mn-ea"/>
                          <a:cs typeface="+mn-cs"/>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782170"/>
                    </a:solidFill>
                  </a:tcPr>
                </a:tc>
                <a:tc vMerge="1">
                  <a:txBody>
                    <a:bodyPr/>
                    <a:lstStyle/>
                    <a:p>
                      <a:pPr marL="0" algn="ctr" rtl="0" fontAlgn="ctr">
                        <a:buNone/>
                      </a:pPr>
                      <a:endParaRPr lang="en-US" sz="900" b="1" i="0" u="none" strike="noStrike">
                        <a:solidFill>
                          <a:srgbClr val="FFFFFF"/>
                        </a:solidFill>
                        <a:effectLst/>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903521538"/>
                  </a:ext>
                </a:extLst>
              </a:tr>
              <a:tr h="2409708">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CATL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16-Dec-25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dirty="0">
                          <a:solidFill>
                            <a:srgbClr val="000000"/>
                          </a:solidFill>
                          <a:effectLst/>
                          <a:latin typeface="Adani Regular" panose="02000503000000020004" pitchFamily="2" charset="0"/>
                        </a:rPr>
                        <a:t>10-May-26</a:t>
                      </a:r>
                    </a:p>
                    <a:p>
                      <a:pPr algn="ctr" fontAlgn="ctr">
                        <a:buNone/>
                      </a:pPr>
                      <a:r>
                        <a:rPr lang="en-US" sz="800" b="0" i="0" u="none" strike="noStrike" kern="1200" dirty="0">
                          <a:solidFill>
                            <a:schemeClr val="tx1"/>
                          </a:solidFill>
                          <a:effectLst/>
                          <a:latin typeface="Adani Light"/>
                          <a:ea typeface="+mn-ea"/>
                          <a:cs typeface="+mn-cs"/>
                        </a:rPr>
                        <a:t>25-Jun-26</a:t>
                      </a:r>
                      <a:endParaRPr lang="en-US" sz="8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01-Jul-26</a:t>
                      </a:r>
                    </a:p>
                    <a:p>
                      <a:pPr algn="ctr" fontAlgn="ctr">
                        <a:buNone/>
                      </a:pPr>
                      <a:r>
                        <a:rPr lang="en-US" sz="800" b="0" i="0" u="none" strike="noStrike" kern="1200">
                          <a:solidFill>
                            <a:schemeClr val="tx1"/>
                          </a:solidFill>
                          <a:effectLst/>
                          <a:latin typeface="Adani Light"/>
                          <a:ea typeface="+mn-ea"/>
                          <a:cs typeface="+mn-cs"/>
                        </a:rPr>
                        <a:t>15-Jul-26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800" kern="1200">
                          <a:solidFill>
                            <a:schemeClr val="tx1"/>
                          </a:solidFill>
                          <a:effectLst/>
                          <a:latin typeface="Adani Regular" panose="02000503000000020004" pitchFamily="2" charset="0"/>
                          <a:ea typeface="+mn-ea"/>
                          <a:cs typeface="+mn-cs"/>
                        </a:rPr>
                        <a:t>FOB for battery container </a:t>
                      </a:r>
                      <a:r>
                        <a:rPr lang="en-IN" sz="800" b="0">
                          <a:effectLst/>
                          <a:latin typeface="Adani Regular" panose="02000503000000020004" pitchFamily="2" charset="0"/>
                        </a:rPr>
                        <a:t>PSS-11:-</a:t>
                      </a:r>
                      <a:br>
                        <a:rPr lang="en-IN" sz="800" b="1">
                          <a:effectLst/>
                          <a:latin typeface="Adani Regular" panose="02000503000000020004" pitchFamily="2" charset="0"/>
                        </a:rPr>
                      </a:br>
                      <a:r>
                        <a:rPr lang="en-IN" sz="800" b="0">
                          <a:solidFill>
                            <a:srgbClr val="00B050"/>
                          </a:solidFill>
                          <a:effectLst/>
                          <a:latin typeface="Adani Regular" panose="02000503000000020004" pitchFamily="2" charset="0"/>
                        </a:rPr>
                        <a:t>FOB for </a:t>
                      </a:r>
                      <a:r>
                        <a:rPr lang="en-IN" sz="800" b="0" strike="noStrike">
                          <a:solidFill>
                            <a:srgbClr val="00B050"/>
                          </a:solidFill>
                          <a:effectLst/>
                          <a:latin typeface="Adani Regular" panose="02000503000000020004" pitchFamily="2" charset="0"/>
                        </a:rPr>
                        <a:t>16</a:t>
                      </a:r>
                      <a:r>
                        <a:rPr lang="en-IN" sz="800" b="0">
                          <a:solidFill>
                            <a:srgbClr val="00B050"/>
                          </a:solidFill>
                          <a:effectLst/>
                          <a:latin typeface="Adani Regular" panose="02000503000000020004" pitchFamily="2" charset="0"/>
                        </a:rPr>
                        <a:t> containers :19-May</a:t>
                      </a:r>
                    </a:p>
                    <a:p>
                      <a:pPr marL="0" marR="0" lvl="0" indent="0" algn="l" defTabSz="1219170" rtl="0" eaLnBrk="1" fontAlgn="auto" latinLnBrk="0" hangingPunct="1">
                        <a:lnSpc>
                          <a:spcPct val="100000"/>
                        </a:lnSpc>
                        <a:spcBef>
                          <a:spcPts val="0"/>
                        </a:spcBef>
                        <a:spcAft>
                          <a:spcPts val="0"/>
                        </a:spcAft>
                        <a:buClrTx/>
                        <a:buSzTx/>
                        <a:buFontTx/>
                        <a:buNone/>
                        <a:tabLst/>
                        <a:defRPr/>
                      </a:pPr>
                      <a:r>
                        <a:rPr lang="en-IN" sz="800" b="0">
                          <a:solidFill>
                            <a:srgbClr val="00B050"/>
                          </a:solidFill>
                          <a:effectLst/>
                          <a:latin typeface="Adani Regular" panose="02000503000000020004" pitchFamily="2" charset="0"/>
                        </a:rPr>
                        <a:t>FOB for 54 containers :22-May</a:t>
                      </a:r>
                    </a:p>
                    <a:p>
                      <a:pPr>
                        <a:buNone/>
                      </a:pPr>
                      <a:r>
                        <a:rPr lang="en-IN" sz="800" b="0">
                          <a:solidFill>
                            <a:srgbClr val="00B050"/>
                          </a:solidFill>
                          <a:effectLst/>
                          <a:latin typeface="Adani Regular" panose="02000503000000020004" pitchFamily="2" charset="0"/>
                        </a:rPr>
                        <a:t>FOB for 254 containers:25-May</a:t>
                      </a:r>
                    </a:p>
                    <a:p>
                      <a:pPr>
                        <a:buNone/>
                      </a:pPr>
                      <a:r>
                        <a:rPr lang="en-IN" sz="800" b="0" strike="noStrike">
                          <a:effectLst/>
                          <a:latin typeface="Adani Regular" panose="02000503000000020004" pitchFamily="2" charset="0"/>
                        </a:rPr>
                        <a:t>FOB for 108 containers :15-Jun</a:t>
                      </a:r>
                    </a:p>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916995662"/>
                  </a:ext>
                </a:extLst>
              </a:tr>
              <a:tr h="380480">
                <a:tc>
                  <a:txBody>
                    <a:bodyPr/>
                    <a:lstStyle/>
                    <a:p>
                      <a:pPr marL="0" algn="ctr" rtl="0" fontAlgn="ctr">
                        <a:buNone/>
                      </a:pPr>
                      <a:r>
                        <a:rPr lang="en-US" sz="800" b="0" i="0" u="none" strike="noStrike">
                          <a:solidFill>
                            <a:srgbClr val="000000"/>
                          </a:solidFill>
                          <a:effectLst/>
                          <a:latin typeface="Adani Regular" panose="02000503000000020004" pitchFamily="2" charset="0"/>
                          <a:ea typeface="+mn-ea"/>
                          <a:cs typeface="+mn-cs"/>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Hopewind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15-Dec-25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5-May-26</a:t>
                      </a:r>
                    </a:p>
                    <a:p>
                      <a:pPr algn="ctr" fontAlgn="ctr">
                        <a:buNone/>
                      </a:pPr>
                      <a:r>
                        <a:rPr lang="en-US" sz="800" b="0" i="0" u="none" strike="noStrike" kern="1200">
                          <a:solidFill>
                            <a:schemeClr val="tx1"/>
                          </a:solidFill>
                          <a:effectLst/>
                          <a:latin typeface="Adani Light"/>
                          <a:ea typeface="+mn-ea"/>
                          <a:cs typeface="+mn-cs"/>
                        </a:rPr>
                        <a:t>06-Jun-26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25-May-26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15-Jun-26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02-Jul-26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991484044"/>
                  </a:ext>
                </a:extLst>
              </a:tr>
              <a:tr h="380480">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Emerson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4510020887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15-Dec-25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13-Mar-26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sngStrike" kern="1200">
                          <a:solidFill>
                            <a:schemeClr val="tx1"/>
                          </a:solidFill>
                          <a:effectLst/>
                          <a:latin typeface="Adani Light"/>
                          <a:ea typeface="+mn-ea"/>
                          <a:cs typeface="+mn-cs"/>
                        </a:rPr>
                        <a:t>15-May-26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tx1"/>
                          </a:solidFill>
                          <a:effectLst/>
                          <a:latin typeface="Adani Light"/>
                          <a:ea typeface="+mn-ea"/>
                          <a:cs typeface="+mn-cs"/>
                        </a:rPr>
                        <a:t>04-Jun-26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6-May-26</a:t>
                      </a:r>
                    </a:p>
                    <a:p>
                      <a:pPr algn="ctr" fontAlgn="ctr">
                        <a:buNone/>
                      </a:pPr>
                      <a:r>
                        <a:rPr lang="en-US" sz="800" b="0" i="0" u="none" strike="sngStrike">
                          <a:solidFill>
                            <a:srgbClr val="000000"/>
                          </a:solidFill>
                          <a:effectLst/>
                          <a:latin typeface="Adani Regular" panose="02000503000000020004" pitchFamily="2" charset="0"/>
                        </a:rPr>
                        <a:t>15-May-26</a:t>
                      </a:r>
                    </a:p>
                    <a:p>
                      <a:pPr algn="ctr" fontAlgn="ctr">
                        <a:buNone/>
                      </a:pPr>
                      <a:r>
                        <a:rPr lang="en-US" sz="800" b="0" i="0" u="none" strike="noStrike" kern="1200">
                          <a:solidFill>
                            <a:schemeClr val="tx1"/>
                          </a:solidFill>
                          <a:effectLst/>
                          <a:latin typeface="Adani Light"/>
                          <a:ea typeface="+mn-ea"/>
                          <a:cs typeface="+mn-cs"/>
                        </a:rPr>
                        <a:t>15-Jun-26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(28/05/25)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604647815"/>
                  </a:ext>
                </a:extLst>
              </a:tr>
              <a:tr h="253653">
                <a:tc>
                  <a:txBody>
                    <a:bodyPr/>
                    <a:lstStyle/>
                    <a:p>
                      <a:pPr algn="ctr" rtl="0" fontAlgn="ctr">
                        <a:buNone/>
                      </a:pPr>
                      <a:r>
                        <a:rPr lang="en-US" sz="800" b="0" i="0" u="none" strike="noStrike">
                          <a:solidFill>
                            <a:srgbClr val="33CC33"/>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Ornet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4510020943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27-Mar-26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29-Apr-26</a:t>
                      </a:r>
                    </a:p>
                    <a:p>
                      <a:pPr algn="ctr" fontAlgn="ctr">
                        <a:buNone/>
                      </a:pPr>
                      <a:r>
                        <a:rPr lang="en-US" sz="800" b="0" i="0" u="none" strike="noStrike">
                          <a:solidFill>
                            <a:srgbClr val="33CC33"/>
                          </a:solidFill>
                          <a:effectLst/>
                          <a:latin typeface="Adani Regular" panose="02000503000000020004" pitchFamily="2" charset="0"/>
                        </a:rPr>
                        <a:t>30-May-26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25-Feb-26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33CC33"/>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33CC33"/>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137629425"/>
                  </a:ext>
                </a:extLst>
              </a:tr>
              <a:tr h="380480">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26-Mar-26</a:t>
                      </a:r>
                    </a:p>
                    <a:p>
                      <a:pPr algn="ctr" fontAlgn="ctr">
                        <a:buNone/>
                      </a:pPr>
                      <a:r>
                        <a:rPr lang="en-US" sz="800" b="0" i="0" u="none" strike="noStrike">
                          <a:solidFill>
                            <a:srgbClr val="000000"/>
                          </a:solidFill>
                          <a:effectLst/>
                          <a:latin typeface="Adani Regular" panose="02000503000000020004" pitchFamily="2" charset="0"/>
                        </a:rPr>
                        <a:t>20-May-26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10-Apr-26</a:t>
                      </a:r>
                    </a:p>
                    <a:p>
                      <a:pPr algn="ctr" fontAlgn="ctr">
                        <a:buNone/>
                      </a:pPr>
                      <a:r>
                        <a:rPr lang="en-US" sz="800" b="0" i="0" u="none" strike="sngStrike">
                          <a:solidFill>
                            <a:srgbClr val="000000"/>
                          </a:solidFill>
                          <a:effectLst/>
                          <a:latin typeface="Adani Regular" panose="02000503000000020004" pitchFamily="2" charset="0"/>
                        </a:rPr>
                        <a:t>15-May-26</a:t>
                      </a:r>
                    </a:p>
                    <a:p>
                      <a:pPr algn="ctr" fontAlgn="ctr">
                        <a:buNone/>
                      </a:pPr>
                      <a:r>
                        <a:rPr lang="en-US" sz="800" b="0" i="0" u="none" strike="noStrike" kern="1200">
                          <a:solidFill>
                            <a:schemeClr val="tx1"/>
                          </a:solidFill>
                          <a:effectLst/>
                          <a:latin typeface="Adani Light"/>
                          <a:ea typeface="+mn-ea"/>
                          <a:cs typeface="+mn-cs"/>
                        </a:rPr>
                        <a:t>10-Jun-26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chemeClr val="tx1"/>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910369519"/>
                  </a:ext>
                </a:extLst>
              </a:tr>
              <a:tr h="507307">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0000"/>
                          </a:solidFill>
                          <a:effectLst/>
                          <a:latin typeface="Adani Regular" panose="02000503000000020004" pitchFamily="2" charset="0"/>
                        </a:rPr>
                        <a:t>Trisquare</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4510021080 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30-Dec-25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27-Mar-26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07-Apr-26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07-May-26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10-Apr-26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08-Jun-26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07-Feb-26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chemeClr val="tx1"/>
                          </a:solidFill>
                          <a:effectLst/>
                          <a:latin typeface="Adani Regular" panose="02000503000000020004" pitchFamily="2"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378225642"/>
                  </a:ext>
                </a:extLst>
              </a:tr>
              <a:tr h="253653">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18-Dec-25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11-Feb-26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B050"/>
                          </a:solidFill>
                          <a:effectLst/>
                          <a:latin typeface="Adani Regular" panose="02000503000000020004" pitchFamily="2" charset="0"/>
                        </a:rPr>
                        <a:t>9-Mar-26</a:t>
                      </a:r>
                    </a:p>
                    <a:p>
                      <a:pPr algn="ctr" fontAlgn="ctr">
                        <a:buNone/>
                      </a:pPr>
                      <a:r>
                        <a:rPr lang="en-US" sz="800" b="0" i="0" u="none" strike="noStrike">
                          <a:solidFill>
                            <a:srgbClr val="00B050"/>
                          </a:solidFill>
                          <a:effectLst/>
                          <a:latin typeface="Adani Regular" panose="02000503000000020004" pitchFamily="2" charset="0"/>
                        </a:rPr>
                        <a:t>30-Apr-26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r>
                        <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296878238"/>
                  </a:ext>
                </a:extLst>
              </a:tr>
              <a:tr h="253653">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B050"/>
                          </a:solidFill>
                          <a:effectLst/>
                          <a:latin typeface="Adani Regular" panose="02000503000000020004" pitchFamily="2" charset="0"/>
                        </a:rPr>
                        <a:t>10-Mar-26</a:t>
                      </a:r>
                    </a:p>
                    <a:p>
                      <a:pPr algn="ctr" fontAlgn="ctr">
                        <a:buNone/>
                      </a:pPr>
                      <a:r>
                        <a:rPr lang="en-US" sz="800" b="0" i="0" u="none" strike="noStrike">
                          <a:solidFill>
                            <a:srgbClr val="00B050"/>
                          </a:solidFill>
                          <a:effectLst/>
                          <a:latin typeface="Adani Regular" panose="02000503000000020004" pitchFamily="2" charset="0"/>
                        </a:rPr>
                        <a:t>30-Apr-26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822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9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590530388"/>
                  </a:ext>
                </a:extLst>
              </a:tr>
              <a:tr h="126827">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B050"/>
                          </a:solidFill>
                          <a:effectLst/>
                          <a:latin typeface="Adani Regular" panose="02000503000000020004" pitchFamily="2" charset="0"/>
                        </a:rPr>
                        <a:t>Gemscab</a:t>
                      </a: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r>
                        <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924968315"/>
                  </a:ext>
                </a:extLst>
              </a:tr>
              <a:tr h="253653">
                <a:tc>
                  <a:txBody>
                    <a:bodyPr/>
                    <a:lstStyle/>
                    <a:p>
                      <a:pPr algn="ctr" rtl="0" fontAlgn="ctr">
                        <a:buNone/>
                      </a:pPr>
                      <a:r>
                        <a:rPr lang="en-US" sz="800" b="0" i="0" u="none" strike="noStrike">
                          <a:solidFill>
                            <a:srgbClr val="33CC33"/>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294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294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4510021157 &amp; 4510021163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10-Mar-26</a:t>
                      </a:r>
                    </a:p>
                    <a:p>
                      <a:pPr algn="ctr" fontAlgn="ctr">
                        <a:buNone/>
                      </a:pPr>
                      <a:r>
                        <a:rPr lang="en-US" sz="800" b="0" i="0" u="none" strike="noStrike">
                          <a:solidFill>
                            <a:srgbClr val="33CC33"/>
                          </a:solidFill>
                          <a:effectLst/>
                          <a:latin typeface="Adani Regular" panose="02000503000000020004" pitchFamily="2" charset="0"/>
                        </a:rPr>
                        <a:t>15-May-26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294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r>
                        <a:rPr lang="en-US" sz="800" b="0" i="0" u="none" strike="noStrike">
                          <a:solidFill>
                            <a:srgbClr val="33CC33"/>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512880205"/>
                  </a:ext>
                </a:extLst>
              </a:tr>
              <a:tr h="253653">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r>
                        <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kumimoji="0" lang="en-US" sz="800" b="0" i="0" u="none" strike="noStrike" kern="0" cap="none" spc="0" normalizeH="0" baseline="0" noProof="0" dirty="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036120570"/>
                  </a:ext>
                </a:extLst>
              </a:tr>
            </a:tbl>
          </a:graphicData>
        </a:graphic>
      </p:graphicFrame>
    </p:spTree>
    <p:extLst>
      <p:ext uri="{BB962C8B-B14F-4D97-AF65-F5344CB8AC3E}">
        <p14:creationId xmlns:p14="http://schemas.microsoft.com/office/powerpoint/2010/main" val="3090764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2B804-DAF4-4C68-A516-9F61273D5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6CFC6-2C10-6595-338D-AF2F37CADF87}"/>
              </a:ext>
            </a:extLst>
          </p:cNvPr>
          <p:cNvSpPr>
            <a:spLocks noGrp="1"/>
          </p:cNvSpPr>
          <p:nvPr>
            <p:ph type="ctrTitle"/>
          </p:nvPr>
        </p:nvSpPr>
        <p:spPr>
          <a:xfrm>
            <a:off x="0" y="89812"/>
            <a:ext cx="12466390" cy="424449"/>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rPr>
              <a:t>PSS 12</a:t>
            </a:r>
            <a:endParaRPr lang="en-US" sz="2400" b="1">
              <a:gradFill>
                <a:gsLst>
                  <a:gs pos="9735">
                    <a:schemeClr val="tx2"/>
                  </a:gs>
                  <a:gs pos="63000">
                    <a:srgbClr val="8E278F"/>
                  </a:gs>
                  <a:gs pos="38000">
                    <a:srgbClr val="57499E"/>
                  </a:gs>
                </a:gsLst>
                <a:lin ang="0" scaled="0"/>
              </a:gradFill>
              <a:ea typeface="+mn-ea"/>
              <a:cs typeface="+mn-cs"/>
            </a:endParaRPr>
          </a:p>
        </p:txBody>
      </p:sp>
      <p:pic>
        <p:nvPicPr>
          <p:cNvPr id="11" name="Picture 10">
            <a:extLst>
              <a:ext uri="{FF2B5EF4-FFF2-40B4-BE49-F238E27FC236}">
                <a16:creationId xmlns:a16="http://schemas.microsoft.com/office/drawing/2014/main" id="{4AA8B546-658A-1789-E781-2596B037E58B}"/>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17B2FF83-34CB-26E7-1ACC-B2356CC781D4}"/>
              </a:ext>
            </a:extLst>
          </p:cNvPr>
          <p:cNvSpPr>
            <a:spLocks noGrp="1"/>
          </p:cNvSpPr>
          <p:nvPr>
            <p:ph type="sldNum" sz="quarter" idx="12"/>
          </p:nvPr>
        </p:nvSpPr>
        <p:spPr/>
        <p:txBody>
          <a:bodyPr/>
          <a:lstStyle/>
          <a:p>
            <a:fld id="{98B285C1-D8A8-4E98-B28C-1FD972D8EC54}" type="slidenum">
              <a:rPr lang="en-IN" smtClean="0"/>
              <a:t>15</a:t>
            </a:fld>
            <a:endParaRPr lang="en-IN"/>
          </a:p>
        </p:txBody>
      </p:sp>
      <p:graphicFrame>
        <p:nvGraphicFramePr>
          <p:cNvPr id="4" name="Table 3">
            <a:extLst>
              <a:ext uri="{FF2B5EF4-FFF2-40B4-BE49-F238E27FC236}">
                <a16:creationId xmlns:a16="http://schemas.microsoft.com/office/drawing/2014/main" id="{FD4A2248-45B0-1F17-5725-DF8D25C4C0D1}"/>
              </a:ext>
            </a:extLst>
          </p:cNvPr>
          <p:cNvGraphicFramePr>
            <a:graphicFrameLocks noGrp="1"/>
          </p:cNvGraphicFramePr>
          <p:nvPr>
            <p:extLst>
              <p:ext uri="{D42A27DB-BD31-4B8C-83A1-F6EECF244321}">
                <p14:modId xmlns:p14="http://schemas.microsoft.com/office/powerpoint/2010/main" val="2636493759"/>
              </p:ext>
            </p:extLst>
          </p:nvPr>
        </p:nvGraphicFramePr>
        <p:xfrm>
          <a:off x="144777" y="649787"/>
          <a:ext cx="11912540" cy="5986780"/>
        </p:xfrm>
        <a:graphic>
          <a:graphicData uri="http://schemas.openxmlformats.org/drawingml/2006/table">
            <a:tbl>
              <a:tblPr/>
              <a:tblGrid>
                <a:gridCol w="402303">
                  <a:extLst>
                    <a:ext uri="{9D8B030D-6E8A-4147-A177-3AD203B41FA5}">
                      <a16:colId xmlns:a16="http://schemas.microsoft.com/office/drawing/2014/main" val="2521889404"/>
                    </a:ext>
                  </a:extLst>
                </a:gridCol>
                <a:gridCol w="890810">
                  <a:extLst>
                    <a:ext uri="{9D8B030D-6E8A-4147-A177-3AD203B41FA5}">
                      <a16:colId xmlns:a16="http://schemas.microsoft.com/office/drawing/2014/main" val="3389372662"/>
                    </a:ext>
                  </a:extLst>
                </a:gridCol>
                <a:gridCol w="1159008">
                  <a:extLst>
                    <a:ext uri="{9D8B030D-6E8A-4147-A177-3AD203B41FA5}">
                      <a16:colId xmlns:a16="http://schemas.microsoft.com/office/drawing/2014/main" val="3209810027"/>
                    </a:ext>
                  </a:extLst>
                </a:gridCol>
                <a:gridCol w="555558">
                  <a:extLst>
                    <a:ext uri="{9D8B030D-6E8A-4147-A177-3AD203B41FA5}">
                      <a16:colId xmlns:a16="http://schemas.microsoft.com/office/drawing/2014/main" val="2842553249"/>
                    </a:ext>
                  </a:extLst>
                </a:gridCol>
                <a:gridCol w="526822">
                  <a:extLst>
                    <a:ext uri="{9D8B030D-6E8A-4147-A177-3AD203B41FA5}">
                      <a16:colId xmlns:a16="http://schemas.microsoft.com/office/drawing/2014/main" val="3982847779"/>
                    </a:ext>
                  </a:extLst>
                </a:gridCol>
                <a:gridCol w="814180">
                  <a:extLst>
                    <a:ext uri="{9D8B030D-6E8A-4147-A177-3AD203B41FA5}">
                      <a16:colId xmlns:a16="http://schemas.microsoft.com/office/drawing/2014/main" val="1686838054"/>
                    </a:ext>
                  </a:extLst>
                </a:gridCol>
                <a:gridCol w="622608">
                  <a:extLst>
                    <a:ext uri="{9D8B030D-6E8A-4147-A177-3AD203B41FA5}">
                      <a16:colId xmlns:a16="http://schemas.microsoft.com/office/drawing/2014/main" val="2921139727"/>
                    </a:ext>
                  </a:extLst>
                </a:gridCol>
                <a:gridCol w="948280">
                  <a:extLst>
                    <a:ext uri="{9D8B030D-6E8A-4147-A177-3AD203B41FA5}">
                      <a16:colId xmlns:a16="http://schemas.microsoft.com/office/drawing/2014/main" val="361922588"/>
                    </a:ext>
                  </a:extLst>
                </a:gridCol>
                <a:gridCol w="698237">
                  <a:extLst>
                    <a:ext uri="{9D8B030D-6E8A-4147-A177-3AD203B41FA5}">
                      <a16:colId xmlns:a16="http://schemas.microsoft.com/office/drawing/2014/main" val="3111951637"/>
                    </a:ext>
                  </a:extLst>
                </a:gridCol>
                <a:gridCol w="631911">
                  <a:extLst>
                    <a:ext uri="{9D8B030D-6E8A-4147-A177-3AD203B41FA5}">
                      <a16:colId xmlns:a16="http://schemas.microsoft.com/office/drawing/2014/main" val="3604605715"/>
                    </a:ext>
                  </a:extLst>
                </a:gridCol>
                <a:gridCol w="631911">
                  <a:extLst>
                    <a:ext uri="{9D8B030D-6E8A-4147-A177-3AD203B41FA5}">
                      <a16:colId xmlns:a16="http://schemas.microsoft.com/office/drawing/2014/main" val="882823682"/>
                    </a:ext>
                  </a:extLst>
                </a:gridCol>
                <a:gridCol w="849132">
                  <a:extLst>
                    <a:ext uri="{9D8B030D-6E8A-4147-A177-3AD203B41FA5}">
                      <a16:colId xmlns:a16="http://schemas.microsoft.com/office/drawing/2014/main" val="888338481"/>
                    </a:ext>
                  </a:extLst>
                </a:gridCol>
                <a:gridCol w="602293">
                  <a:extLst>
                    <a:ext uri="{9D8B030D-6E8A-4147-A177-3AD203B41FA5}">
                      <a16:colId xmlns:a16="http://schemas.microsoft.com/office/drawing/2014/main" val="64693716"/>
                    </a:ext>
                  </a:extLst>
                </a:gridCol>
                <a:gridCol w="582544">
                  <a:extLst>
                    <a:ext uri="{9D8B030D-6E8A-4147-A177-3AD203B41FA5}">
                      <a16:colId xmlns:a16="http://schemas.microsoft.com/office/drawing/2014/main" val="2162542950"/>
                    </a:ext>
                  </a:extLst>
                </a:gridCol>
                <a:gridCol w="493680">
                  <a:extLst>
                    <a:ext uri="{9D8B030D-6E8A-4147-A177-3AD203B41FA5}">
                      <a16:colId xmlns:a16="http://schemas.microsoft.com/office/drawing/2014/main" val="847697611"/>
                    </a:ext>
                  </a:extLst>
                </a:gridCol>
                <a:gridCol w="496149">
                  <a:extLst>
                    <a:ext uri="{9D8B030D-6E8A-4147-A177-3AD203B41FA5}">
                      <a16:colId xmlns:a16="http://schemas.microsoft.com/office/drawing/2014/main" val="3283382954"/>
                    </a:ext>
                  </a:extLst>
                </a:gridCol>
                <a:gridCol w="503557">
                  <a:extLst>
                    <a:ext uri="{9D8B030D-6E8A-4147-A177-3AD203B41FA5}">
                      <a16:colId xmlns:a16="http://schemas.microsoft.com/office/drawing/2014/main" val="3796066255"/>
                    </a:ext>
                  </a:extLst>
                </a:gridCol>
                <a:gridCol w="503557">
                  <a:extLst>
                    <a:ext uri="{9D8B030D-6E8A-4147-A177-3AD203B41FA5}">
                      <a16:colId xmlns:a16="http://schemas.microsoft.com/office/drawing/2014/main" val="3967353061"/>
                    </a:ext>
                  </a:extLst>
                </a:gridCol>
              </a:tblGrid>
              <a:tr h="186598">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3">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 (Qty)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lnL w="6350" cap="flat" cmpd="sng" algn="ctr">
                      <a:noFill/>
                      <a:prstDash val="solid"/>
                      <a:round/>
                      <a:headEnd type="none" w="med" len="med"/>
                      <a:tailEnd type="none" w="med" len="med"/>
                    </a:ln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417290466"/>
                  </a:ext>
                </a:extLst>
              </a:tr>
              <a:tr h="18659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9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83520690"/>
                  </a:ext>
                </a:extLst>
              </a:tr>
              <a:tr h="2239174">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CATL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16-Dec-25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25-May-26</a:t>
                      </a:r>
                    </a:p>
                    <a:p>
                      <a:pPr algn="ctr" fontAlgn="ctr">
                        <a:buNone/>
                      </a:pPr>
                      <a:r>
                        <a:rPr lang="en-US" sz="800" b="0" i="0" u="none" strike="sngStrike">
                          <a:solidFill>
                            <a:srgbClr val="000000"/>
                          </a:solidFill>
                          <a:effectLst/>
                          <a:latin typeface="Adani Regular" panose="02000503000000020004" pitchFamily="2" charset="0"/>
                        </a:rPr>
                        <a:t>01-Jul-26</a:t>
                      </a:r>
                    </a:p>
                    <a:p>
                      <a:pPr algn="ctr" fontAlgn="ctr">
                        <a:buNone/>
                      </a:pPr>
                      <a:r>
                        <a:rPr lang="en-US" sz="800" b="0" i="0" u="none" strike="sngStrike">
                          <a:solidFill>
                            <a:srgbClr val="000000"/>
                          </a:solidFill>
                          <a:effectLst/>
                          <a:latin typeface="Adani Regular" panose="02000503000000020004" pitchFamily="2" charset="0"/>
                        </a:rPr>
                        <a:t>1-Aug-26</a:t>
                      </a:r>
                    </a:p>
                    <a:p>
                      <a:pPr algn="ctr" fontAlgn="ctr">
                        <a:buNone/>
                      </a:pPr>
                      <a:r>
                        <a:rPr lang="en-US" sz="800" b="0" i="0" u="none" strike="noStrike" kern="1200">
                          <a:solidFill>
                            <a:schemeClr val="tx1"/>
                          </a:solidFill>
                          <a:effectLst/>
                          <a:latin typeface="Adani Light"/>
                          <a:ea typeface="+mn-ea"/>
                          <a:cs typeface="+mn-cs"/>
                        </a:rPr>
                        <a:t>20-Jul-26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25-Dec-26</a:t>
                      </a:r>
                    </a:p>
                    <a:p>
                      <a:pPr algn="ctr" fontAlgn="ctr">
                        <a:buNone/>
                      </a:pPr>
                      <a:r>
                        <a:rPr lang="en-US" sz="800" b="0" i="0" u="none" strike="sngStrike">
                          <a:solidFill>
                            <a:srgbClr val="000000"/>
                          </a:solidFill>
                          <a:effectLst/>
                          <a:latin typeface="Adani Regular" panose="02000503000000020004" pitchFamily="2" charset="0"/>
                        </a:rPr>
                        <a:t>31-Aug-26</a:t>
                      </a:r>
                    </a:p>
                    <a:p>
                      <a:pPr algn="ctr" fontAlgn="ctr">
                        <a:buNone/>
                      </a:pPr>
                      <a:r>
                        <a:rPr lang="en-US" sz="800" b="0" i="0" u="none" strike="sngStrike">
                          <a:solidFill>
                            <a:srgbClr val="000000"/>
                          </a:solidFill>
                          <a:effectLst/>
                          <a:latin typeface="Adani Regular" panose="02000503000000020004" pitchFamily="2" charset="0"/>
                        </a:rPr>
                        <a:t>1-Dec-26</a:t>
                      </a:r>
                    </a:p>
                    <a:p>
                      <a:pPr algn="ctr" fontAlgn="ctr">
                        <a:buNone/>
                      </a:pPr>
                      <a:r>
                        <a:rPr lang="en-US" sz="800" b="0" i="0" u="none" strike="noStrike" kern="1200">
                          <a:solidFill>
                            <a:schemeClr val="tx1"/>
                          </a:solidFill>
                          <a:effectLst/>
                          <a:latin typeface="Adani Light"/>
                          <a:ea typeface="+mn-ea"/>
                          <a:cs typeface="+mn-cs"/>
                        </a:rPr>
                        <a:t>31-Aug-26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br>
                        <a:rPr lang="en-IN" sz="800" b="1">
                          <a:effectLst/>
                          <a:latin typeface="Adani Regular" panose="02000503000000020004" pitchFamily="2" charset="0"/>
                        </a:rPr>
                      </a:br>
                      <a:r>
                        <a:rPr lang="en-IN" sz="800" b="0">
                          <a:effectLst/>
                          <a:latin typeface="Adani Regular" panose="02000503000000020004" pitchFamily="2" charset="0"/>
                        </a:rPr>
                        <a:t>FOB for 104 containers – 20-Jun</a:t>
                      </a:r>
                    </a:p>
                    <a:p>
                      <a:pPr>
                        <a:buNone/>
                      </a:pPr>
                      <a:r>
                        <a:rPr lang="en-IN" sz="800" b="0">
                          <a:effectLst/>
                          <a:latin typeface="Adani Regular" panose="02000503000000020004" pitchFamily="2" charset="0"/>
                        </a:rPr>
                        <a:t>FOB for 104 containers – 30-Jun</a:t>
                      </a:r>
                    </a:p>
                    <a:p>
                      <a:pPr>
                        <a:buNone/>
                      </a:pPr>
                      <a:r>
                        <a:rPr lang="en-IN" sz="800" b="0">
                          <a:effectLst/>
                          <a:latin typeface="Adani Regular" panose="02000503000000020004" pitchFamily="2" charset="0"/>
                        </a:rPr>
                        <a:t>FOB for 88 containers – 20-Jul</a:t>
                      </a:r>
                    </a:p>
                    <a:p>
                      <a:pPr>
                        <a:buNone/>
                      </a:pPr>
                      <a:r>
                        <a:rPr lang="en-IN" sz="800" b="0">
                          <a:effectLst/>
                          <a:latin typeface="Adani Regular" panose="02000503000000020004" pitchFamily="2" charset="0"/>
                        </a:rPr>
                        <a:t>FOB for 88 containers – 31-Jul</a:t>
                      </a:r>
                    </a:p>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70026185"/>
                  </a:ext>
                </a:extLst>
              </a:tr>
              <a:tr h="279897">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Inova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13-Dec-25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10-May-26</a:t>
                      </a:r>
                    </a:p>
                    <a:p>
                      <a:pPr algn="ctr" fontAlgn="ctr">
                        <a:buNone/>
                      </a:pPr>
                      <a:r>
                        <a:rPr lang="en-US" sz="800" b="0" i="0" u="none" strike="sngStrike">
                          <a:solidFill>
                            <a:srgbClr val="000000"/>
                          </a:solidFill>
                          <a:effectLst/>
                          <a:latin typeface="Adani Regular" panose="02000503000000020004" pitchFamily="2" charset="0"/>
                        </a:rPr>
                        <a:t>15-May-26</a:t>
                      </a:r>
                    </a:p>
                    <a:p>
                      <a:pPr algn="ctr" fontAlgn="ctr">
                        <a:buNone/>
                      </a:pPr>
                      <a:r>
                        <a:rPr lang="en-US" sz="800" b="0" i="0" u="none" strike="noStrike" kern="1200">
                          <a:solidFill>
                            <a:schemeClr val="tx1"/>
                          </a:solidFill>
                          <a:effectLst/>
                          <a:latin typeface="Adani Light"/>
                          <a:ea typeface="+mn-ea"/>
                          <a:cs typeface="+mn-cs"/>
                        </a:rPr>
                        <a:t>13-Jun-26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10-Jul-26</a:t>
                      </a:r>
                    </a:p>
                    <a:p>
                      <a:pPr algn="ctr" fontAlgn="ctr">
                        <a:buNone/>
                      </a:pPr>
                      <a:r>
                        <a:rPr lang="en-US" sz="800" b="0" i="0" u="none" strike="noStrike" kern="1200">
                          <a:solidFill>
                            <a:schemeClr val="tx1"/>
                          </a:solidFill>
                          <a:effectLst/>
                          <a:latin typeface="Adani Light"/>
                          <a:ea typeface="+mn-ea"/>
                          <a:cs typeface="+mn-cs"/>
                        </a:rPr>
                        <a:t>30-Jul-26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991309357"/>
                  </a:ext>
                </a:extLst>
              </a:tr>
              <a:tr h="279897">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Honeywell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4510020955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13-Mar-26</a:t>
                      </a:r>
                    </a:p>
                    <a:p>
                      <a:pPr algn="ctr" fontAlgn="ctr">
                        <a:buNone/>
                      </a:pPr>
                      <a:r>
                        <a:rPr lang="en-US" sz="800" b="0" i="0" u="none" strike="sngStrike">
                          <a:solidFill>
                            <a:srgbClr val="000000"/>
                          </a:solidFill>
                          <a:effectLst/>
                          <a:latin typeface="Adani Regular" panose="02000503000000020004" pitchFamily="2" charset="0"/>
                        </a:rPr>
                        <a:t>31-May-26</a:t>
                      </a:r>
                    </a:p>
                    <a:p>
                      <a:pPr algn="ctr" fontAlgn="ctr">
                        <a:buNone/>
                      </a:pPr>
                      <a:r>
                        <a:rPr lang="en-US" sz="800" b="0" i="0" u="none" strike="noStrike" kern="1200">
                          <a:solidFill>
                            <a:schemeClr val="tx1"/>
                          </a:solidFill>
                          <a:effectLst/>
                          <a:latin typeface="Adani Light"/>
                          <a:ea typeface="+mn-ea"/>
                          <a:cs typeface="+mn-cs"/>
                        </a:rPr>
                        <a:t>30-Jun-26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6-Jul-26</a:t>
                      </a:r>
                    </a:p>
                    <a:p>
                      <a:pPr algn="ctr" fontAlgn="ctr">
                        <a:buNone/>
                      </a:pPr>
                      <a:r>
                        <a:rPr lang="en-US" sz="800" b="0" i="0" u="none" strike="noStrike" kern="1200">
                          <a:solidFill>
                            <a:schemeClr val="tx1"/>
                          </a:solidFill>
                          <a:effectLst/>
                          <a:latin typeface="Adani Light"/>
                          <a:ea typeface="+mn-ea"/>
                          <a:cs typeface="+mn-cs"/>
                        </a:rPr>
                        <a:t>30-Jun-26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09604395"/>
                  </a:ext>
                </a:extLst>
              </a:tr>
              <a:tr h="289615">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Tesla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4510020942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27-Mar-26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15-Apr-26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03-Apr-26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29-Apr-26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20-Jun-26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845290759"/>
                  </a:ext>
                </a:extLst>
              </a:tr>
              <a:tr h="279897">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20-Apr-26</a:t>
                      </a:r>
                    </a:p>
                    <a:p>
                      <a:pPr algn="ctr" fontAlgn="ctr">
                        <a:buNone/>
                      </a:pPr>
                      <a:r>
                        <a:rPr lang="en-US" sz="800" b="0" i="0" u="none" strike="noStrike">
                          <a:solidFill>
                            <a:srgbClr val="000000"/>
                          </a:solidFill>
                          <a:effectLst/>
                          <a:latin typeface="Adani Regular" panose="02000503000000020004" pitchFamily="2" charset="0"/>
                        </a:rPr>
                        <a:t>01-Jun-26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10-May-26</a:t>
                      </a:r>
                    </a:p>
                    <a:p>
                      <a:pPr algn="ctr" fontAlgn="ctr">
                        <a:buNone/>
                      </a:pPr>
                      <a:r>
                        <a:rPr lang="en-US" sz="800" b="0" i="0" u="none" strike="sngStrike">
                          <a:solidFill>
                            <a:srgbClr val="000000"/>
                          </a:solidFill>
                          <a:effectLst/>
                          <a:latin typeface="Adani Regular" panose="02000503000000020004" pitchFamily="2" charset="0"/>
                        </a:rPr>
                        <a:t>31-May-26</a:t>
                      </a:r>
                    </a:p>
                    <a:p>
                      <a:pPr algn="ctr" fontAlgn="ctr">
                        <a:buNone/>
                      </a:pPr>
                      <a:r>
                        <a:rPr lang="en-US" sz="800" b="0" i="0" u="none" strike="noStrike" kern="1200">
                          <a:solidFill>
                            <a:schemeClr val="tx1"/>
                          </a:solidFill>
                          <a:effectLst/>
                          <a:latin typeface="Adani Light"/>
                          <a:ea typeface="+mn-ea"/>
                          <a:cs typeface="+mn-cs"/>
                        </a:rPr>
                        <a:t>10-Jul-26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248598950"/>
                  </a:ext>
                </a:extLst>
              </a:tr>
              <a:tr h="279897">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Trisquare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4510021081 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30-Dec-25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27-Mar-26</a:t>
                      </a:r>
                    </a:p>
                    <a:p>
                      <a:pPr algn="ctr" fontAlgn="ctr">
                        <a:buNone/>
                      </a:pPr>
                      <a:r>
                        <a:rPr lang="en-US" sz="800" b="0" i="0" u="none" strike="noStrike" kern="1200">
                          <a:solidFill>
                            <a:schemeClr val="tx1"/>
                          </a:solidFill>
                          <a:effectLst/>
                          <a:latin typeface="Adani Light"/>
                          <a:ea typeface="+mn-ea"/>
                          <a:cs typeface="+mn-cs"/>
                        </a:rPr>
                        <a:t>08-Jun-26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30-Apr-26</a:t>
                      </a:r>
                    </a:p>
                    <a:p>
                      <a:pPr algn="ctr" fontAlgn="ctr">
                        <a:buNone/>
                      </a:pPr>
                      <a:r>
                        <a:rPr lang="en-US" sz="800" b="0" i="0" u="none" strike="sngStrike">
                          <a:solidFill>
                            <a:srgbClr val="000000"/>
                          </a:solidFill>
                          <a:effectLst/>
                          <a:latin typeface="Adani Regular" panose="02000503000000020004" pitchFamily="2" charset="0"/>
                        </a:rPr>
                        <a:t>30-May-26</a:t>
                      </a:r>
                    </a:p>
                    <a:p>
                      <a:pPr algn="ctr" fontAlgn="ctr">
                        <a:buNone/>
                      </a:pPr>
                      <a:r>
                        <a:rPr lang="en-US" sz="800" b="0" i="0" u="none" strike="noStrike" kern="1200">
                          <a:solidFill>
                            <a:schemeClr val="tx1"/>
                          </a:solidFill>
                          <a:effectLst/>
                          <a:latin typeface="Adani Light"/>
                          <a:ea typeface="+mn-ea"/>
                          <a:cs typeface="+mn-cs"/>
                        </a:rPr>
                        <a:t>20-Jun-26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340066915"/>
                  </a:ext>
                </a:extLst>
              </a:tr>
              <a:tr h="93299">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4510020968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18-Dec-25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9-Mar-26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128585663"/>
                  </a:ext>
                </a:extLst>
              </a:tr>
              <a:tr h="279897">
                <a:tc>
                  <a:txBody>
                    <a:bodyPr/>
                    <a:lstStyle/>
                    <a:p>
                      <a:pPr algn="ctr" rtl="0" fontAlgn="ctr">
                        <a:buNone/>
                      </a:pPr>
                      <a:r>
                        <a:rPr lang="en-US" sz="800" b="0" i="0" u="none" strike="noStrike">
                          <a:solidFill>
                            <a:srgbClr val="33CC33"/>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APAR &amp; DYNAMIC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765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765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4510021281 &amp; 4510021288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28-Feb-26</a:t>
                      </a:r>
                    </a:p>
                    <a:p>
                      <a:pPr algn="ctr" fontAlgn="ctr">
                        <a:buNone/>
                      </a:pPr>
                      <a:r>
                        <a:rPr lang="en-US" sz="800" b="0" i="0" u="none" strike="sngStrike">
                          <a:solidFill>
                            <a:srgbClr val="33CC33"/>
                          </a:solidFill>
                          <a:effectLst/>
                          <a:latin typeface="Adani Regular" panose="02000503000000020004" pitchFamily="2" charset="0"/>
                        </a:rPr>
                        <a:t>15-Apr-26</a:t>
                      </a:r>
                    </a:p>
                    <a:p>
                      <a:pPr algn="ctr" fontAlgn="ctr">
                        <a:buNone/>
                      </a:pPr>
                      <a:r>
                        <a:rPr lang="en-US" sz="800" b="0" i="0" u="none" strike="noStrike">
                          <a:solidFill>
                            <a:srgbClr val="33CC33"/>
                          </a:solidFill>
                          <a:effectLst/>
                          <a:latin typeface="Adani Regular" panose="02000503000000020004" pitchFamily="2" charset="0"/>
                        </a:rPr>
                        <a:t>15-Jun-26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10-Mar-26</a:t>
                      </a:r>
                    </a:p>
                    <a:p>
                      <a:pPr algn="ctr" fontAlgn="ctr">
                        <a:buNone/>
                      </a:pPr>
                      <a:r>
                        <a:rPr lang="en-US" sz="800" b="0" i="0" u="none" strike="sngStrike">
                          <a:solidFill>
                            <a:srgbClr val="33CC33"/>
                          </a:solidFill>
                          <a:effectLst/>
                          <a:latin typeface="Adani Regular" panose="02000503000000020004" pitchFamily="2" charset="0"/>
                        </a:rPr>
                        <a:t>30-Apr-26</a:t>
                      </a:r>
                    </a:p>
                    <a:p>
                      <a:pPr algn="ctr" fontAlgn="ctr">
                        <a:buNone/>
                      </a:pPr>
                      <a:r>
                        <a:rPr lang="en-US" sz="800" b="0" i="0" u="none" strike="noStrike">
                          <a:solidFill>
                            <a:srgbClr val="33CC33"/>
                          </a:solidFill>
                          <a:effectLst/>
                          <a:latin typeface="Adani Regular" panose="02000503000000020004" pitchFamily="2" charset="0"/>
                        </a:rPr>
                        <a:t>30-May-26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15-01-2026 &amp; 23-01-26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765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852234546"/>
                  </a:ext>
                </a:extLst>
              </a:tr>
              <a:tr h="93299">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Gemscab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900120034"/>
                  </a:ext>
                </a:extLst>
              </a:tr>
              <a:tr h="279897">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20-Mar-26</a:t>
                      </a:r>
                    </a:p>
                    <a:p>
                      <a:pPr algn="ctr" fontAlgn="ctr">
                        <a:buNone/>
                      </a:pPr>
                      <a:r>
                        <a:rPr lang="en-US" sz="800" b="0" i="0" u="none" strike="sngStrike">
                          <a:solidFill>
                            <a:srgbClr val="000000"/>
                          </a:solidFill>
                          <a:effectLst/>
                          <a:latin typeface="Adani Regular" panose="02000503000000020004" pitchFamily="2" charset="0"/>
                        </a:rPr>
                        <a:t>15-Apr-26</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dani Light"/>
                          <a:ea typeface="+mn-ea"/>
                          <a:cs typeface="+mn-cs"/>
                        </a:rPr>
                        <a:t>05-May-26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30-Apr-26</a:t>
                      </a:r>
                    </a:p>
                    <a:p>
                      <a:pPr algn="ctr" fontAlgn="ctr">
                        <a:buNone/>
                      </a:pPr>
                      <a:r>
                        <a:rPr lang="en-US" sz="800" b="0" i="0" u="none" strike="noStrike" kern="1200">
                          <a:solidFill>
                            <a:schemeClr val="tx1"/>
                          </a:solidFill>
                          <a:effectLst/>
                          <a:latin typeface="Adani Light"/>
                          <a:ea typeface="+mn-ea"/>
                          <a:cs typeface="+mn-cs"/>
                        </a:rPr>
                        <a:t>15-Jun-26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280893679"/>
                  </a:ext>
                </a:extLst>
              </a:tr>
              <a:tr h="206872">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gridSpan="3">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412356506"/>
                  </a:ext>
                </a:extLst>
              </a:tr>
            </a:tbl>
          </a:graphicData>
        </a:graphic>
      </p:graphicFrame>
    </p:spTree>
    <p:extLst>
      <p:ext uri="{BB962C8B-B14F-4D97-AF65-F5344CB8AC3E}">
        <p14:creationId xmlns:p14="http://schemas.microsoft.com/office/powerpoint/2010/main" val="591908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C6E78-DA60-385C-610D-9AD21F4E3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DED35-7365-A58D-FC8B-3F6552EDDD22}"/>
              </a:ext>
            </a:extLst>
          </p:cNvPr>
          <p:cNvSpPr>
            <a:spLocks noGrp="1"/>
          </p:cNvSpPr>
          <p:nvPr>
            <p:ph type="ctrTitle"/>
          </p:nvPr>
        </p:nvSpPr>
        <p:spPr>
          <a:xfrm>
            <a:off x="0" y="89812"/>
            <a:ext cx="12466390" cy="424449"/>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rPr>
              <a:t>PSS 10B</a:t>
            </a:r>
            <a:endParaRPr lang="en-US" sz="2400" b="1">
              <a:gradFill>
                <a:gsLst>
                  <a:gs pos="9735">
                    <a:schemeClr val="tx2"/>
                  </a:gs>
                  <a:gs pos="63000">
                    <a:srgbClr val="8E278F"/>
                  </a:gs>
                  <a:gs pos="38000">
                    <a:srgbClr val="57499E"/>
                  </a:gs>
                </a:gsLst>
                <a:lin ang="0" scaled="0"/>
              </a:gradFill>
              <a:ea typeface="+mn-ea"/>
              <a:cs typeface="+mn-cs"/>
            </a:endParaRPr>
          </a:p>
        </p:txBody>
      </p:sp>
      <p:pic>
        <p:nvPicPr>
          <p:cNvPr id="11" name="Picture 10">
            <a:extLst>
              <a:ext uri="{FF2B5EF4-FFF2-40B4-BE49-F238E27FC236}">
                <a16:creationId xmlns:a16="http://schemas.microsoft.com/office/drawing/2014/main" id="{E7D95622-23E4-CD7F-00CD-2BD6581F4A86}"/>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FF7D999C-2CA8-E98C-A4BE-0C2C1B5BD841}"/>
              </a:ext>
            </a:extLst>
          </p:cNvPr>
          <p:cNvSpPr>
            <a:spLocks noGrp="1"/>
          </p:cNvSpPr>
          <p:nvPr>
            <p:ph type="sldNum" sz="quarter" idx="12"/>
          </p:nvPr>
        </p:nvSpPr>
        <p:spPr/>
        <p:txBody>
          <a:bodyPr/>
          <a:lstStyle/>
          <a:p>
            <a:fld id="{98B285C1-D8A8-4E98-B28C-1FD972D8EC54}" type="slidenum">
              <a:rPr lang="en-IN" smtClean="0"/>
              <a:t>16</a:t>
            </a:fld>
            <a:endParaRPr lang="en-IN"/>
          </a:p>
        </p:txBody>
      </p:sp>
      <p:graphicFrame>
        <p:nvGraphicFramePr>
          <p:cNvPr id="4" name="Table 3">
            <a:extLst>
              <a:ext uri="{FF2B5EF4-FFF2-40B4-BE49-F238E27FC236}">
                <a16:creationId xmlns:a16="http://schemas.microsoft.com/office/drawing/2014/main" id="{7581E3A7-83B6-1C8C-3A24-D4A2AE44F574}"/>
              </a:ext>
            </a:extLst>
          </p:cNvPr>
          <p:cNvGraphicFramePr>
            <a:graphicFrameLocks noGrp="1"/>
          </p:cNvGraphicFramePr>
          <p:nvPr>
            <p:extLst>
              <p:ext uri="{D42A27DB-BD31-4B8C-83A1-F6EECF244321}">
                <p14:modId xmlns:p14="http://schemas.microsoft.com/office/powerpoint/2010/main" val="4047500955"/>
              </p:ext>
            </p:extLst>
          </p:nvPr>
        </p:nvGraphicFramePr>
        <p:xfrm>
          <a:off x="144379" y="706190"/>
          <a:ext cx="11887203" cy="6012180"/>
        </p:xfrm>
        <a:graphic>
          <a:graphicData uri="http://schemas.openxmlformats.org/drawingml/2006/table">
            <a:tbl>
              <a:tblPr/>
              <a:tblGrid>
                <a:gridCol w="290414">
                  <a:extLst>
                    <a:ext uri="{9D8B030D-6E8A-4147-A177-3AD203B41FA5}">
                      <a16:colId xmlns:a16="http://schemas.microsoft.com/office/drawing/2014/main" val="3549383194"/>
                    </a:ext>
                  </a:extLst>
                </a:gridCol>
                <a:gridCol w="573187">
                  <a:extLst>
                    <a:ext uri="{9D8B030D-6E8A-4147-A177-3AD203B41FA5}">
                      <a16:colId xmlns:a16="http://schemas.microsoft.com/office/drawing/2014/main" val="21455663"/>
                    </a:ext>
                  </a:extLst>
                </a:gridCol>
                <a:gridCol w="840672">
                  <a:extLst>
                    <a:ext uri="{9D8B030D-6E8A-4147-A177-3AD203B41FA5}">
                      <a16:colId xmlns:a16="http://schemas.microsoft.com/office/drawing/2014/main" val="2833603826"/>
                    </a:ext>
                  </a:extLst>
                </a:gridCol>
                <a:gridCol w="427979">
                  <a:extLst>
                    <a:ext uri="{9D8B030D-6E8A-4147-A177-3AD203B41FA5}">
                      <a16:colId xmlns:a16="http://schemas.microsoft.com/office/drawing/2014/main" val="1474702559"/>
                    </a:ext>
                  </a:extLst>
                </a:gridCol>
                <a:gridCol w="527333">
                  <a:extLst>
                    <a:ext uri="{9D8B030D-6E8A-4147-A177-3AD203B41FA5}">
                      <a16:colId xmlns:a16="http://schemas.microsoft.com/office/drawing/2014/main" val="1631397956"/>
                    </a:ext>
                  </a:extLst>
                </a:gridCol>
                <a:gridCol w="741320">
                  <a:extLst>
                    <a:ext uri="{9D8B030D-6E8A-4147-A177-3AD203B41FA5}">
                      <a16:colId xmlns:a16="http://schemas.microsoft.com/office/drawing/2014/main" val="354725429"/>
                    </a:ext>
                  </a:extLst>
                </a:gridCol>
                <a:gridCol w="649612">
                  <a:extLst>
                    <a:ext uri="{9D8B030D-6E8A-4147-A177-3AD203B41FA5}">
                      <a16:colId xmlns:a16="http://schemas.microsoft.com/office/drawing/2014/main" val="4022978185"/>
                    </a:ext>
                  </a:extLst>
                </a:gridCol>
                <a:gridCol w="1176943">
                  <a:extLst>
                    <a:ext uri="{9D8B030D-6E8A-4147-A177-3AD203B41FA5}">
                      <a16:colId xmlns:a16="http://schemas.microsoft.com/office/drawing/2014/main" val="4054531275"/>
                    </a:ext>
                  </a:extLst>
                </a:gridCol>
                <a:gridCol w="718392">
                  <a:extLst>
                    <a:ext uri="{9D8B030D-6E8A-4147-A177-3AD203B41FA5}">
                      <a16:colId xmlns:a16="http://schemas.microsoft.com/office/drawing/2014/main" val="1341194325"/>
                    </a:ext>
                  </a:extLst>
                </a:gridCol>
                <a:gridCol w="825388">
                  <a:extLst>
                    <a:ext uri="{9D8B030D-6E8A-4147-A177-3AD203B41FA5}">
                      <a16:colId xmlns:a16="http://schemas.microsoft.com/office/drawing/2014/main" val="2534118121"/>
                    </a:ext>
                  </a:extLst>
                </a:gridCol>
                <a:gridCol w="703108">
                  <a:extLst>
                    <a:ext uri="{9D8B030D-6E8A-4147-A177-3AD203B41FA5}">
                      <a16:colId xmlns:a16="http://schemas.microsoft.com/office/drawing/2014/main" val="1033239788"/>
                    </a:ext>
                  </a:extLst>
                </a:gridCol>
                <a:gridCol w="1073165">
                  <a:extLst>
                    <a:ext uri="{9D8B030D-6E8A-4147-A177-3AD203B41FA5}">
                      <a16:colId xmlns:a16="http://schemas.microsoft.com/office/drawing/2014/main" val="3093208182"/>
                    </a:ext>
                  </a:extLst>
                </a:gridCol>
                <a:gridCol w="717922">
                  <a:extLst>
                    <a:ext uri="{9D8B030D-6E8A-4147-A177-3AD203B41FA5}">
                      <a16:colId xmlns:a16="http://schemas.microsoft.com/office/drawing/2014/main" val="1362239972"/>
                    </a:ext>
                  </a:extLst>
                </a:gridCol>
                <a:gridCol w="669851">
                  <a:extLst>
                    <a:ext uri="{9D8B030D-6E8A-4147-A177-3AD203B41FA5}">
                      <a16:colId xmlns:a16="http://schemas.microsoft.com/office/drawing/2014/main" val="3679585203"/>
                    </a:ext>
                  </a:extLst>
                </a:gridCol>
                <a:gridCol w="457200">
                  <a:extLst>
                    <a:ext uri="{9D8B030D-6E8A-4147-A177-3AD203B41FA5}">
                      <a16:colId xmlns:a16="http://schemas.microsoft.com/office/drawing/2014/main" val="963057150"/>
                    </a:ext>
                  </a:extLst>
                </a:gridCol>
                <a:gridCol w="457200">
                  <a:extLst>
                    <a:ext uri="{9D8B030D-6E8A-4147-A177-3AD203B41FA5}">
                      <a16:colId xmlns:a16="http://schemas.microsoft.com/office/drawing/2014/main" val="2117671917"/>
                    </a:ext>
                  </a:extLst>
                </a:gridCol>
                <a:gridCol w="126549">
                  <a:extLst>
                    <a:ext uri="{9D8B030D-6E8A-4147-A177-3AD203B41FA5}">
                      <a16:colId xmlns:a16="http://schemas.microsoft.com/office/drawing/2014/main" val="3611604114"/>
                    </a:ext>
                  </a:extLst>
                </a:gridCol>
                <a:gridCol w="277488">
                  <a:extLst>
                    <a:ext uri="{9D8B030D-6E8A-4147-A177-3AD203B41FA5}">
                      <a16:colId xmlns:a16="http://schemas.microsoft.com/office/drawing/2014/main" val="931228050"/>
                    </a:ext>
                  </a:extLst>
                </a:gridCol>
                <a:gridCol w="633480">
                  <a:extLst>
                    <a:ext uri="{9D8B030D-6E8A-4147-A177-3AD203B41FA5}">
                      <a16:colId xmlns:a16="http://schemas.microsoft.com/office/drawing/2014/main" val="3821710018"/>
                    </a:ext>
                  </a:extLst>
                </a:gridCol>
              </a:tblGrid>
              <a:tr h="188217">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 (Qty)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404544917"/>
                  </a:ext>
                </a:extLst>
              </a:tr>
              <a:tr h="188217">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a:t>
                      </a:r>
                    </a:p>
                    <a:p>
                      <a:pPr algn="ctr" fontAlgn="ctr">
                        <a:buNone/>
                      </a:pPr>
                      <a:r>
                        <a:rPr lang="en-US" sz="800" b="1" i="0" u="none" strike="noStrike">
                          <a:solidFill>
                            <a:srgbClr val="FFFFFF"/>
                          </a:solidFill>
                          <a:effectLst/>
                          <a:latin typeface="Adani Regular" panose="02000503000000020004" pitchFamily="2" charset="0"/>
                        </a:rPr>
                        <a:t>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pPr algn="ctr" rtl="0" fontAlgn="ctr">
                        <a:buNone/>
                      </a:pPr>
                      <a:r>
                        <a:rPr lang="en-US" sz="800" b="1" i="0" u="none" strike="noStrike">
                          <a:solidFill>
                            <a:srgbClr val="FFFFFF"/>
                          </a:solidFill>
                          <a:effectLst/>
                          <a:latin typeface="Adani Regular" panose="02000503000000020004" pitchFamily="2" charset="0"/>
                        </a:rPr>
                        <a:t>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8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034909973"/>
                  </a:ext>
                </a:extLst>
              </a:tr>
              <a:tr h="1804707">
                <a:tc>
                  <a:txBody>
                    <a:bodyPr/>
                    <a:lstStyle/>
                    <a:p>
                      <a:pPr algn="ctr" rtl="0" fontAlgn="ctr">
                        <a:buNone/>
                      </a:pPr>
                      <a:r>
                        <a:rPr lang="en-US" sz="800" b="0" i="0" u="none" strike="noStrike">
                          <a:solidFill>
                            <a:srgbClr val="000000"/>
                          </a:solidFill>
                          <a:effectLst/>
                          <a:latin typeface="Adani Regular" panose="02000503000000020004" pitchFamily="2" charset="0"/>
                        </a:rPr>
                        <a:t>1</a:t>
                      </a:r>
                      <a:br>
                        <a:rPr lang="en-US" sz="800" b="0" i="0" u="none" strike="noStrike">
                          <a:solidFill>
                            <a:srgbClr val="000000"/>
                          </a:solidFill>
                          <a:effectLst/>
                          <a:latin typeface="Adani Regular" panose="02000503000000020004" pitchFamily="2" charset="0"/>
                        </a:rPr>
                      </a:br>
                      <a:endParaRPr lang="en-US" sz="800" b="0" i="0" u="none" strike="noStrike">
                        <a:solidFill>
                          <a:srgbClr val="000000"/>
                        </a:solidFill>
                        <a:effectLst/>
                        <a:latin typeface="Adani Regular" panose="02000503000000020004" pitchFamily="2"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Jinko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15-Dec-25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25-May-26</a:t>
                      </a:r>
                    </a:p>
                    <a:p>
                      <a:pPr algn="ctr" fontAlgn="ctr">
                        <a:buNone/>
                      </a:pPr>
                      <a:r>
                        <a:rPr lang="en-US" sz="800" b="0" i="0" u="none" strike="sngStrike">
                          <a:solidFill>
                            <a:srgbClr val="000000"/>
                          </a:solidFill>
                          <a:effectLst/>
                          <a:latin typeface="Adani Regular" panose="02000503000000020004" pitchFamily="2" charset="0"/>
                        </a:rPr>
                        <a:t>31-May-26</a:t>
                      </a:r>
                    </a:p>
                    <a:p>
                      <a:pPr algn="ctr" fontAlgn="ctr">
                        <a:buNone/>
                      </a:pPr>
                      <a:r>
                        <a:rPr lang="en-US" sz="800" b="0" i="0" u="none" strike="noStrike" kern="1200">
                          <a:solidFill>
                            <a:schemeClr val="tx1"/>
                          </a:solidFill>
                          <a:effectLst/>
                          <a:latin typeface="Adani Light"/>
                          <a:ea typeface="+mn-ea"/>
                          <a:cs typeface="+mn-cs"/>
                        </a:rPr>
                        <a:t>20-Jun-26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25-Jul-26</a:t>
                      </a:r>
                    </a:p>
                    <a:p>
                      <a:pPr algn="ctr" fontAlgn="ctr">
                        <a:buNone/>
                      </a:pPr>
                      <a:r>
                        <a:rPr lang="en-US" sz="800" b="0" i="0" u="none" strike="sngStrike">
                          <a:solidFill>
                            <a:srgbClr val="000000"/>
                          </a:solidFill>
                          <a:effectLst/>
                          <a:latin typeface="Adani Regular" panose="02000503000000020004" pitchFamily="2" charset="0"/>
                        </a:rPr>
                        <a:t>31-Jul-26</a:t>
                      </a:r>
                    </a:p>
                    <a:p>
                      <a:pPr algn="ctr" fontAlgn="ctr">
                        <a:buNone/>
                      </a:pPr>
                      <a:r>
                        <a:rPr lang="en-US" sz="800" b="0" i="0" u="none" strike="noStrike" kern="1200">
                          <a:solidFill>
                            <a:schemeClr val="tx1"/>
                          </a:solidFill>
                          <a:effectLst/>
                          <a:latin typeface="Adani Light"/>
                          <a:ea typeface="+mn-ea"/>
                          <a:cs typeface="+mn-cs"/>
                        </a:rPr>
                        <a:t>01-Aug-26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24 Nov 25</a:t>
                      </a:r>
                      <a:endParaRPr lang="en-US" sz="800" b="0" i="0" u="none" strike="noStrike">
                        <a:solidFill>
                          <a:srgbClr val="000000"/>
                        </a:solidFill>
                        <a:effectLst/>
                        <a:highlight>
                          <a:srgbClr val="FFFF00"/>
                        </a:highligh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r>
                        <a:rPr lang="en-US" sz="800" b="0" i="0" u="none" strike="noStrike">
                          <a:solidFill>
                            <a:srgbClr val="000000"/>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r>
                        <a:rPr lang="en-US" sz="800" b="0" i="0" u="none" strike="noStrike">
                          <a:solidFill>
                            <a:srgbClr val="000000"/>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800" b="0">
                          <a:solidFill>
                            <a:srgbClr val="00B050"/>
                          </a:solidFill>
                          <a:effectLst/>
                          <a:latin typeface="Adani Regular" panose="02000503000000020004" pitchFamily="2" charset="0"/>
                        </a:rPr>
                        <a:t>FOB for 38 containers – 20-May</a:t>
                      </a:r>
                    </a:p>
                    <a:p>
                      <a:pPr marL="0" marR="0" lvl="0" indent="0" algn="l" defTabSz="1219170" rtl="0" eaLnBrk="1" fontAlgn="auto" latinLnBrk="0" hangingPunct="1">
                        <a:lnSpc>
                          <a:spcPct val="100000"/>
                        </a:lnSpc>
                        <a:spcBef>
                          <a:spcPts val="0"/>
                        </a:spcBef>
                        <a:spcAft>
                          <a:spcPts val="0"/>
                        </a:spcAft>
                        <a:buClrTx/>
                        <a:buSzTx/>
                        <a:buFontTx/>
                        <a:buNone/>
                        <a:tabLst/>
                        <a:defRPr/>
                      </a:pPr>
                      <a:r>
                        <a:rPr lang="en-IN" sz="800" b="0">
                          <a:solidFill>
                            <a:srgbClr val="00B050"/>
                          </a:solidFill>
                          <a:effectLst/>
                          <a:latin typeface="Adani Regular" panose="02000503000000020004" pitchFamily="2" charset="0"/>
                        </a:rPr>
                        <a:t>FOB for 46 containers – 25-May</a:t>
                      </a:r>
                    </a:p>
                    <a:p>
                      <a:pPr marL="0" marR="0" lvl="0" indent="0" algn="l" defTabSz="1219170" rtl="0" eaLnBrk="1" fontAlgn="auto" latinLnBrk="0" hangingPunct="1">
                        <a:lnSpc>
                          <a:spcPct val="100000"/>
                        </a:lnSpc>
                        <a:spcBef>
                          <a:spcPts val="0"/>
                        </a:spcBef>
                        <a:spcAft>
                          <a:spcPts val="0"/>
                        </a:spcAft>
                        <a:buClrTx/>
                        <a:buSzTx/>
                        <a:buFontTx/>
                        <a:buNone/>
                        <a:tabLst/>
                        <a:defRPr/>
                      </a:pPr>
                      <a:r>
                        <a:rPr lang="en-IN" sz="800" b="0">
                          <a:solidFill>
                            <a:schemeClr val="tx1"/>
                          </a:solidFill>
                          <a:effectLst/>
                          <a:latin typeface="Adani Regular" panose="02000503000000020004" pitchFamily="2" charset="0"/>
                        </a:rPr>
                        <a:t>FOB for 29 containers - </a:t>
                      </a:r>
                      <a:r>
                        <a:rPr lang="en-IN" sz="800" b="0" strike="noStrike">
                          <a:solidFill>
                            <a:schemeClr val="tx1"/>
                          </a:solidFill>
                          <a:effectLst/>
                          <a:latin typeface="Adani Regular" panose="02000503000000020004" pitchFamily="2" charset="0"/>
                        </a:rPr>
                        <a:t>15-Jun</a:t>
                      </a:r>
                    </a:p>
                    <a:p>
                      <a:pPr marL="0" marR="0" lvl="0" indent="0" algn="l" defTabSz="1219170" rtl="0" eaLnBrk="1" fontAlgn="auto" latinLnBrk="0" hangingPunct="1">
                        <a:lnSpc>
                          <a:spcPct val="100000"/>
                        </a:lnSpc>
                        <a:spcBef>
                          <a:spcPts val="0"/>
                        </a:spcBef>
                        <a:spcAft>
                          <a:spcPts val="0"/>
                        </a:spcAft>
                        <a:buClrTx/>
                        <a:buSzTx/>
                        <a:buFontTx/>
                        <a:buNone/>
                        <a:tabLst/>
                        <a:defRPr/>
                      </a:pPr>
                      <a:r>
                        <a:rPr lang="en-IN" sz="800" b="0">
                          <a:effectLst/>
                          <a:latin typeface="Adani Regular" panose="02000503000000020004" pitchFamily="2" charset="0"/>
                        </a:rPr>
                        <a:t>FOB for 90 containers – 20-Jun </a:t>
                      </a:r>
                    </a:p>
                    <a:p>
                      <a:pPr marL="0" marR="0" lvl="0" indent="0" algn="l" defTabSz="1219170" rtl="0" eaLnBrk="1" fontAlgn="auto" latinLnBrk="0" hangingPunct="1">
                        <a:lnSpc>
                          <a:spcPct val="100000"/>
                        </a:lnSpc>
                        <a:spcBef>
                          <a:spcPts val="0"/>
                        </a:spcBef>
                        <a:spcAft>
                          <a:spcPts val="0"/>
                        </a:spcAft>
                        <a:buClrTx/>
                        <a:buSzTx/>
                        <a:buFontTx/>
                        <a:buNone/>
                        <a:tabLst/>
                        <a:defRPr/>
                      </a:pPr>
                      <a:r>
                        <a:rPr lang="en-IN" sz="800" b="0">
                          <a:effectLst/>
                          <a:latin typeface="Adani Regular" panose="02000503000000020004" pitchFamily="2" charset="0"/>
                        </a:rPr>
                        <a:t>FOB for 37 containers – 30-Jun</a:t>
                      </a:r>
                      <a:endParaRPr kumimoji="0" lang="en-IN" sz="800" b="0" i="0" u="none" strike="noStrike" kern="1200" cap="none" spc="0" normalizeH="0" baseline="0" noProof="0">
                        <a:ln>
                          <a:noFill/>
                        </a:ln>
                        <a:solidFill>
                          <a:prstClr val="black"/>
                        </a:solidFill>
                        <a:effectLst/>
                        <a:uLnTx/>
                        <a:uFillTx/>
                        <a:latin typeface="Adani Regular" panose="02000503000000020004" pitchFamily="2" charset="0"/>
                        <a:ea typeface="+mn-ea"/>
                        <a:cs typeface="+mn-cs"/>
                      </a:endParaRPr>
                    </a:p>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843883151"/>
                  </a:ext>
                </a:extLst>
              </a:tr>
              <a:tr h="282326">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Inova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13-Dec-25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10-May-26</a:t>
                      </a:r>
                    </a:p>
                    <a:p>
                      <a:pPr algn="ctr" fontAlgn="ctr">
                        <a:buNone/>
                      </a:pPr>
                      <a:r>
                        <a:rPr lang="en-US" sz="800" b="0" i="0" u="none" strike="sngStrike">
                          <a:solidFill>
                            <a:srgbClr val="000000"/>
                          </a:solidFill>
                          <a:effectLst/>
                          <a:latin typeface="Adani Regular" panose="02000503000000020004" pitchFamily="2" charset="0"/>
                        </a:rPr>
                        <a:t>01-Jun-26</a:t>
                      </a:r>
                    </a:p>
                    <a:p>
                      <a:pPr algn="ctr" fontAlgn="ctr">
                        <a:buNone/>
                      </a:pPr>
                      <a:r>
                        <a:rPr lang="en-US" sz="800" b="0" i="0" u="none" strike="noStrike" kern="1200">
                          <a:solidFill>
                            <a:schemeClr val="tx1"/>
                          </a:solidFill>
                          <a:effectLst/>
                          <a:latin typeface="Adani Light"/>
                          <a:ea typeface="+mn-ea"/>
                          <a:cs typeface="+mn-cs"/>
                        </a:rPr>
                        <a:t>13-Jun-26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10-Jun-26</a:t>
                      </a:r>
                    </a:p>
                    <a:p>
                      <a:pPr algn="ctr" fontAlgn="ctr">
                        <a:buNone/>
                      </a:pPr>
                      <a:r>
                        <a:rPr lang="en-US" sz="800" b="0" i="0" u="none" strike="sngStrike">
                          <a:solidFill>
                            <a:srgbClr val="000000"/>
                          </a:solidFill>
                          <a:effectLst/>
                          <a:latin typeface="Adani Regular" panose="02000503000000020004" pitchFamily="2" charset="0"/>
                        </a:rPr>
                        <a:t>15-Jun-26</a:t>
                      </a:r>
                    </a:p>
                    <a:p>
                      <a:pPr algn="ctr" fontAlgn="ctr">
                        <a:buNone/>
                      </a:pPr>
                      <a:r>
                        <a:rPr lang="en-US" sz="800" b="0" i="0" u="none" strike="noStrike" kern="1200">
                          <a:solidFill>
                            <a:schemeClr val="tx1"/>
                          </a:solidFill>
                          <a:effectLst/>
                          <a:latin typeface="Adani Light"/>
                          <a:ea typeface="+mn-ea"/>
                          <a:cs typeface="+mn-cs"/>
                        </a:rPr>
                        <a:t>10-Jul-26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294112289"/>
                  </a:ext>
                </a:extLst>
              </a:tr>
              <a:tr h="282326">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Adaptive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4510020886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13-Mar-26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31-May-26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18-Jun-26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20-Jun-26</a:t>
                      </a:r>
                    </a:p>
                    <a:p>
                      <a:pPr algn="ctr" fontAlgn="ctr">
                        <a:buNone/>
                      </a:pPr>
                      <a:r>
                        <a:rPr lang="en-US" sz="800" b="0" i="0" u="none" strike="noStrike" kern="1200">
                          <a:solidFill>
                            <a:schemeClr val="tx1"/>
                          </a:solidFill>
                          <a:effectLst/>
                          <a:latin typeface="Adani Light"/>
                          <a:ea typeface="+mn-ea"/>
                          <a:cs typeface="+mn-cs"/>
                        </a:rPr>
                        <a:t>18-Jun-26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21-May-25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5621588"/>
                  </a:ext>
                </a:extLst>
              </a:tr>
              <a:tr h="292129">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Tesla &amp; Ornet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4510021010 &amp; 4510021037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17-Dec-25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27-Mar-26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30-Apr-26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sngStrike" kern="1200" cap="none" spc="0" normalizeH="0" baseline="0" noProof="0">
                          <a:ln>
                            <a:noFill/>
                          </a:ln>
                          <a:solidFill>
                            <a:prstClr val="black"/>
                          </a:solidFill>
                          <a:effectLst/>
                          <a:uLnTx/>
                          <a:uFillTx/>
                          <a:latin typeface="Adani Light"/>
                          <a:ea typeface="+mn-ea"/>
                          <a:cs typeface="+mn-cs"/>
                        </a:rPr>
                        <a:t>29-Apr-26</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dani Light"/>
                          <a:ea typeface="+mn-ea"/>
                          <a:cs typeface="+mn-cs"/>
                        </a:rPr>
                        <a:t>15-May-26</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dani Light"/>
                          <a:ea typeface="+mn-ea"/>
                          <a:cs typeface="+mn-cs"/>
                        </a:rPr>
                        <a:t>15-Jun-26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98666715"/>
                  </a:ext>
                </a:extLst>
              </a:tr>
              <a:tr h="282326">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5-May-26</a:t>
                      </a:r>
                    </a:p>
                    <a:p>
                      <a:pPr algn="ctr" fontAlgn="ctr">
                        <a:buNone/>
                      </a:pPr>
                      <a:r>
                        <a:rPr lang="en-US" sz="800" b="0" i="0" u="none" strike="noStrike" kern="1200">
                          <a:solidFill>
                            <a:schemeClr val="tx1"/>
                          </a:solidFill>
                          <a:effectLst/>
                          <a:latin typeface="Adani Light"/>
                          <a:ea typeface="+mn-ea"/>
                          <a:cs typeface="+mn-cs"/>
                        </a:rPr>
                        <a:t>10-Jun-26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20-May-26</a:t>
                      </a:r>
                    </a:p>
                    <a:p>
                      <a:pPr algn="ctr" fontAlgn="ctr">
                        <a:buNone/>
                      </a:pPr>
                      <a:r>
                        <a:rPr lang="en-US" sz="800" b="0" i="0" u="none" strike="sngStrike">
                          <a:solidFill>
                            <a:srgbClr val="000000"/>
                          </a:solidFill>
                          <a:effectLst/>
                          <a:latin typeface="Adani Regular" panose="02000503000000020004" pitchFamily="2" charset="0"/>
                        </a:rPr>
                        <a:t>15-Jun-26</a:t>
                      </a:r>
                    </a:p>
                    <a:p>
                      <a:pPr algn="ctr" fontAlgn="ctr">
                        <a:buNone/>
                      </a:pPr>
                      <a:r>
                        <a:rPr lang="en-US" sz="800" b="0" i="0" u="none" strike="noStrike" kern="1200">
                          <a:solidFill>
                            <a:schemeClr val="tx1"/>
                          </a:solidFill>
                          <a:effectLst/>
                          <a:latin typeface="Adani Light"/>
                          <a:ea typeface="+mn-ea"/>
                          <a:cs typeface="+mn-cs"/>
                        </a:rPr>
                        <a:t>20-Jun-26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339826755"/>
                  </a:ext>
                </a:extLst>
              </a:tr>
              <a:tr h="386237">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Trisquare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4510021065 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30-Dec-25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27-Mar-26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07-Apr-26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01-May-26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10-Apr-26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20-Jun-26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Under approval  (07-02-26)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935762230"/>
                  </a:ext>
                </a:extLst>
              </a:tr>
              <a:tr h="386237">
                <a:tc>
                  <a:txBody>
                    <a:bodyPr/>
                    <a:lstStyle/>
                    <a:p>
                      <a:pPr algn="ctr" rtl="0" fontAlgn="ctr">
                        <a:buNone/>
                      </a:pPr>
                      <a:r>
                        <a:rPr lang="en-US" sz="800" b="0" i="0" u="none" strike="noStrike">
                          <a:solidFill>
                            <a:srgbClr val="00000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PARAMOUNT &amp; DYNAMIC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4510020976 &amp; 4510020977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18-Dec-25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28-Feb-26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15-Apr-26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12-Jun-26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10-Mar-26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12-Jun-26</a:t>
                      </a:r>
                      <a:endParaRPr lang="en-US" sz="800" b="0" i="0" u="none" strike="sngStrike" kern="1200">
                        <a:solidFill>
                          <a:schemeClr val="tx1"/>
                        </a:solidFill>
                        <a:effectLst/>
                        <a:latin typeface="Adani Light"/>
                        <a:ea typeface="+mn-ea"/>
                        <a:cs typeface="+mn-cs"/>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14-Jan-26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622262864"/>
                  </a:ext>
                </a:extLst>
              </a:tr>
              <a:tr h="188217">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 &amp; DYNAMIC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4510021290 &amp; 4510021287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07-02-26 &amp; 23-01-26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lang="en-US"/>
                    </a:p>
                  </a:txBody>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052110397"/>
                  </a:ext>
                </a:extLst>
              </a:tr>
              <a:tr h="188217">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Gemscab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20-Feb-26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a:txBody>
                    <a:bodyPr/>
                    <a:lstStyle/>
                    <a:p>
                      <a:pPr marL="0" algn="ctr" rtl="0" fontAlgn="ctr">
                        <a:buNone/>
                      </a:pPr>
                      <a:r>
                        <a:rPr lang="en-US" sz="800" b="0" i="0" u="none" strike="noStrike">
                          <a:solidFill>
                            <a:srgbClr val="00B050"/>
                          </a:solidFill>
                          <a:effectLst/>
                          <a:latin typeface="Adani Regular" panose="02000503000000020004" pitchFamily="2" charset="0"/>
                          <a:ea typeface="+mn-ea"/>
                          <a:cs typeface="+mn-cs"/>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lang="en-US"/>
                    </a:p>
                  </a:txBody>
                  <a:tcPr/>
                </a:tc>
                <a:tc hMerge="1">
                  <a:txBody>
                    <a:bodyPr/>
                    <a:lstStyle/>
                    <a:p>
                      <a:pPr marL="0" algn="ctr" rtl="0" fontAlgn="ctr">
                        <a:buNone/>
                      </a:pPr>
                      <a:endParaRPr lang="en-US" sz="900" b="0" i="0" u="none" strike="noStrike">
                        <a:solidFill>
                          <a:srgbClr val="00B050"/>
                        </a:solidFill>
                        <a:effectLst/>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rtl="0" fontAlgn="ctr">
                        <a:buNone/>
                      </a:pPr>
                      <a:endParaRPr lang="en-US" sz="800" b="0" i="0" u="none" strike="noStrike">
                        <a:solidFill>
                          <a:srgbClr val="00B050"/>
                        </a:solidFill>
                        <a:effectLst/>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7427159"/>
                  </a:ext>
                </a:extLst>
              </a:tr>
              <a:tr h="282326">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4510021152 &amp; 4510021150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30-Apr-26</a:t>
                      </a:r>
                    </a:p>
                    <a:p>
                      <a:pPr algn="ctr" fontAlgn="ctr">
                        <a:buNone/>
                      </a:pPr>
                      <a:r>
                        <a:rPr lang="en-US" sz="800" b="0" i="0" u="none" strike="sngStrike">
                          <a:solidFill>
                            <a:srgbClr val="000000"/>
                          </a:solidFill>
                          <a:effectLst/>
                          <a:latin typeface="Adani Regular" panose="02000503000000020004" pitchFamily="2" charset="0"/>
                        </a:rPr>
                        <a:t>31-May26</a:t>
                      </a:r>
                    </a:p>
                    <a:p>
                      <a:pPr algn="ctr" fontAlgn="ctr">
                        <a:buNone/>
                      </a:pPr>
                      <a:r>
                        <a:rPr lang="en-US" sz="800" b="0" i="0" u="none" strike="noStrike" kern="1200">
                          <a:solidFill>
                            <a:schemeClr val="tx1"/>
                          </a:solidFill>
                          <a:effectLst/>
                          <a:latin typeface="Adani Light"/>
                          <a:ea typeface="+mn-ea"/>
                          <a:cs typeface="+mn-cs"/>
                        </a:rPr>
                        <a:t>12-Jun-26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030017033"/>
                  </a:ext>
                </a:extLst>
              </a:tr>
              <a:tr h="188217">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4510021085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gridSpan="4">
                  <a:txBody>
                    <a:bodyPr/>
                    <a:lstStyle/>
                    <a:p>
                      <a:pPr algn="ctr" rtl="0" fontAlgn="ctr">
                        <a:buNone/>
                      </a:pPr>
                      <a:r>
                        <a:rPr lang="en-US" sz="800" b="0" i="0" u="none" strike="noStrike">
                          <a:solidFill>
                            <a:srgbClr val="00B050"/>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a:txBody>
                    <a:bodyPr/>
                    <a:lstStyle/>
                    <a:p>
                      <a:endParaRPr lang="en-US"/>
                    </a:p>
                  </a:txBody>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B05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286549243"/>
                  </a:ext>
                </a:extLst>
              </a:tr>
            </a:tbl>
          </a:graphicData>
        </a:graphic>
      </p:graphicFrame>
    </p:spTree>
    <p:extLst>
      <p:ext uri="{BB962C8B-B14F-4D97-AF65-F5344CB8AC3E}">
        <p14:creationId xmlns:p14="http://schemas.microsoft.com/office/powerpoint/2010/main" val="1514101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DD230-A776-8E31-7D0E-17D83878A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9385B-335F-91D8-B86E-0290AAE34681}"/>
              </a:ext>
            </a:extLst>
          </p:cNvPr>
          <p:cNvSpPr>
            <a:spLocks noGrp="1"/>
          </p:cNvSpPr>
          <p:nvPr>
            <p:ph type="ctrTitle"/>
          </p:nvPr>
        </p:nvSpPr>
        <p:spPr>
          <a:xfrm>
            <a:off x="0" y="89812"/>
            <a:ext cx="12466390" cy="424449"/>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rPr>
              <a:t>PSS 09</a:t>
            </a:r>
            <a:endParaRPr lang="en-US" sz="2400" b="1">
              <a:gradFill>
                <a:gsLst>
                  <a:gs pos="9735">
                    <a:schemeClr val="tx2"/>
                  </a:gs>
                  <a:gs pos="63000">
                    <a:srgbClr val="8E278F"/>
                  </a:gs>
                  <a:gs pos="38000">
                    <a:srgbClr val="57499E"/>
                  </a:gs>
                </a:gsLst>
                <a:lin ang="0" scaled="0"/>
              </a:gradFill>
              <a:ea typeface="+mn-ea"/>
              <a:cs typeface="+mn-cs"/>
            </a:endParaRPr>
          </a:p>
        </p:txBody>
      </p:sp>
      <p:pic>
        <p:nvPicPr>
          <p:cNvPr id="11" name="Picture 10">
            <a:extLst>
              <a:ext uri="{FF2B5EF4-FFF2-40B4-BE49-F238E27FC236}">
                <a16:creationId xmlns:a16="http://schemas.microsoft.com/office/drawing/2014/main" id="{4E1B2832-321F-1D07-540C-6A0C27BB8623}"/>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EB91163D-80E3-851F-9F02-AA96C2EF7227}"/>
              </a:ext>
            </a:extLst>
          </p:cNvPr>
          <p:cNvSpPr>
            <a:spLocks noGrp="1"/>
          </p:cNvSpPr>
          <p:nvPr>
            <p:ph type="sldNum" sz="quarter" idx="12"/>
          </p:nvPr>
        </p:nvSpPr>
        <p:spPr/>
        <p:txBody>
          <a:bodyPr/>
          <a:lstStyle/>
          <a:p>
            <a:fld id="{98B285C1-D8A8-4E98-B28C-1FD972D8EC54}" type="slidenum">
              <a:rPr lang="en-IN" smtClean="0"/>
              <a:t>17</a:t>
            </a:fld>
            <a:endParaRPr lang="en-IN"/>
          </a:p>
        </p:txBody>
      </p:sp>
      <p:graphicFrame>
        <p:nvGraphicFramePr>
          <p:cNvPr id="5" name="Table 4">
            <a:extLst>
              <a:ext uri="{FF2B5EF4-FFF2-40B4-BE49-F238E27FC236}">
                <a16:creationId xmlns:a16="http://schemas.microsoft.com/office/drawing/2014/main" id="{748373CF-0709-C9D5-5EEF-65D93EE55A7B}"/>
              </a:ext>
            </a:extLst>
          </p:cNvPr>
          <p:cNvGraphicFramePr>
            <a:graphicFrameLocks noGrp="1"/>
          </p:cNvGraphicFramePr>
          <p:nvPr>
            <p:extLst>
              <p:ext uri="{D42A27DB-BD31-4B8C-83A1-F6EECF244321}">
                <p14:modId xmlns:p14="http://schemas.microsoft.com/office/powerpoint/2010/main" val="3776623794"/>
              </p:ext>
            </p:extLst>
          </p:nvPr>
        </p:nvGraphicFramePr>
        <p:xfrm>
          <a:off x="165099" y="644135"/>
          <a:ext cx="11777758" cy="5531020"/>
        </p:xfrm>
        <a:graphic>
          <a:graphicData uri="http://schemas.openxmlformats.org/drawingml/2006/table">
            <a:tbl>
              <a:tblPr/>
              <a:tblGrid>
                <a:gridCol w="300070">
                  <a:extLst>
                    <a:ext uri="{9D8B030D-6E8A-4147-A177-3AD203B41FA5}">
                      <a16:colId xmlns:a16="http://schemas.microsoft.com/office/drawing/2014/main" val="3407651534"/>
                    </a:ext>
                  </a:extLst>
                </a:gridCol>
                <a:gridCol w="726219">
                  <a:extLst>
                    <a:ext uri="{9D8B030D-6E8A-4147-A177-3AD203B41FA5}">
                      <a16:colId xmlns:a16="http://schemas.microsoft.com/office/drawing/2014/main" val="2423477507"/>
                    </a:ext>
                  </a:extLst>
                </a:gridCol>
                <a:gridCol w="1010530">
                  <a:extLst>
                    <a:ext uri="{9D8B030D-6E8A-4147-A177-3AD203B41FA5}">
                      <a16:colId xmlns:a16="http://schemas.microsoft.com/office/drawing/2014/main" val="3653623201"/>
                    </a:ext>
                  </a:extLst>
                </a:gridCol>
                <a:gridCol w="480298">
                  <a:extLst>
                    <a:ext uri="{9D8B030D-6E8A-4147-A177-3AD203B41FA5}">
                      <a16:colId xmlns:a16="http://schemas.microsoft.com/office/drawing/2014/main" val="1384001007"/>
                    </a:ext>
                  </a:extLst>
                </a:gridCol>
                <a:gridCol w="409144">
                  <a:extLst>
                    <a:ext uri="{9D8B030D-6E8A-4147-A177-3AD203B41FA5}">
                      <a16:colId xmlns:a16="http://schemas.microsoft.com/office/drawing/2014/main" val="3424909399"/>
                    </a:ext>
                  </a:extLst>
                </a:gridCol>
                <a:gridCol w="693762">
                  <a:extLst>
                    <a:ext uri="{9D8B030D-6E8A-4147-A177-3AD203B41FA5}">
                      <a16:colId xmlns:a16="http://schemas.microsoft.com/office/drawing/2014/main" val="42806452"/>
                    </a:ext>
                  </a:extLst>
                </a:gridCol>
                <a:gridCol w="506981">
                  <a:extLst>
                    <a:ext uri="{9D8B030D-6E8A-4147-A177-3AD203B41FA5}">
                      <a16:colId xmlns:a16="http://schemas.microsoft.com/office/drawing/2014/main" val="1633383223"/>
                    </a:ext>
                  </a:extLst>
                </a:gridCol>
                <a:gridCol w="959377">
                  <a:extLst>
                    <a:ext uri="{9D8B030D-6E8A-4147-A177-3AD203B41FA5}">
                      <a16:colId xmlns:a16="http://schemas.microsoft.com/office/drawing/2014/main" val="1588039713"/>
                    </a:ext>
                  </a:extLst>
                </a:gridCol>
                <a:gridCol w="597455">
                  <a:extLst>
                    <a:ext uri="{9D8B030D-6E8A-4147-A177-3AD203B41FA5}">
                      <a16:colId xmlns:a16="http://schemas.microsoft.com/office/drawing/2014/main" val="1090460603"/>
                    </a:ext>
                  </a:extLst>
                </a:gridCol>
                <a:gridCol w="711910">
                  <a:extLst>
                    <a:ext uri="{9D8B030D-6E8A-4147-A177-3AD203B41FA5}">
                      <a16:colId xmlns:a16="http://schemas.microsoft.com/office/drawing/2014/main" val="3664697575"/>
                    </a:ext>
                  </a:extLst>
                </a:gridCol>
                <a:gridCol w="711910">
                  <a:extLst>
                    <a:ext uri="{9D8B030D-6E8A-4147-A177-3AD203B41FA5}">
                      <a16:colId xmlns:a16="http://schemas.microsoft.com/office/drawing/2014/main" val="3229442918"/>
                    </a:ext>
                  </a:extLst>
                </a:gridCol>
                <a:gridCol w="711910">
                  <a:extLst>
                    <a:ext uri="{9D8B030D-6E8A-4147-A177-3AD203B41FA5}">
                      <a16:colId xmlns:a16="http://schemas.microsoft.com/office/drawing/2014/main" val="2165722168"/>
                    </a:ext>
                  </a:extLst>
                </a:gridCol>
                <a:gridCol w="760575">
                  <a:extLst>
                    <a:ext uri="{9D8B030D-6E8A-4147-A177-3AD203B41FA5}">
                      <a16:colId xmlns:a16="http://schemas.microsoft.com/office/drawing/2014/main" val="1139054355"/>
                    </a:ext>
                  </a:extLst>
                </a:gridCol>
                <a:gridCol w="665702">
                  <a:extLst>
                    <a:ext uri="{9D8B030D-6E8A-4147-A177-3AD203B41FA5}">
                      <a16:colId xmlns:a16="http://schemas.microsoft.com/office/drawing/2014/main" val="2989824048"/>
                    </a:ext>
                  </a:extLst>
                </a:gridCol>
                <a:gridCol w="506383">
                  <a:extLst>
                    <a:ext uri="{9D8B030D-6E8A-4147-A177-3AD203B41FA5}">
                      <a16:colId xmlns:a16="http://schemas.microsoft.com/office/drawing/2014/main" val="2285163012"/>
                    </a:ext>
                  </a:extLst>
                </a:gridCol>
                <a:gridCol w="506383">
                  <a:extLst>
                    <a:ext uri="{9D8B030D-6E8A-4147-A177-3AD203B41FA5}">
                      <a16:colId xmlns:a16="http://schemas.microsoft.com/office/drawing/2014/main" val="2612811853"/>
                    </a:ext>
                  </a:extLst>
                </a:gridCol>
                <a:gridCol w="506383">
                  <a:extLst>
                    <a:ext uri="{9D8B030D-6E8A-4147-A177-3AD203B41FA5}">
                      <a16:colId xmlns:a16="http://schemas.microsoft.com/office/drawing/2014/main" val="2646906091"/>
                    </a:ext>
                  </a:extLst>
                </a:gridCol>
                <a:gridCol w="506383">
                  <a:extLst>
                    <a:ext uri="{9D8B030D-6E8A-4147-A177-3AD203B41FA5}">
                      <a16:colId xmlns:a16="http://schemas.microsoft.com/office/drawing/2014/main" val="3690216186"/>
                    </a:ext>
                  </a:extLst>
                </a:gridCol>
                <a:gridCol w="506383">
                  <a:extLst>
                    <a:ext uri="{9D8B030D-6E8A-4147-A177-3AD203B41FA5}">
                      <a16:colId xmlns:a16="http://schemas.microsoft.com/office/drawing/2014/main" val="1498159611"/>
                    </a:ext>
                  </a:extLst>
                </a:gridCol>
              </a:tblGrid>
              <a:tr h="348329">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32094899"/>
                  </a:ext>
                </a:extLst>
              </a:tr>
              <a:tr h="36477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9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229866227"/>
                  </a:ext>
                </a:extLst>
              </a:tr>
              <a:tr h="486362">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CATL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25-Sep-26</a:t>
                      </a:r>
                    </a:p>
                    <a:p>
                      <a:pPr algn="ctr" fontAlgn="ctr">
                        <a:buNone/>
                      </a:pPr>
                      <a:r>
                        <a:rPr lang="en-US" sz="800" b="0" i="0" u="none" strike="noStrike">
                          <a:solidFill>
                            <a:srgbClr val="000000"/>
                          </a:solidFill>
                          <a:effectLst/>
                          <a:latin typeface="Adani Regular" panose="02000503000000020004" pitchFamily="2" charset="0"/>
                        </a:rPr>
                        <a:t>01-Oct-26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25-Mar-27</a:t>
                      </a:r>
                    </a:p>
                    <a:p>
                      <a:pPr algn="ctr" fontAlgn="ctr">
                        <a:buNone/>
                      </a:pPr>
                      <a:r>
                        <a:rPr lang="en-US" sz="800" b="0" i="0" u="none" strike="sngStrike">
                          <a:solidFill>
                            <a:srgbClr val="000000"/>
                          </a:solidFill>
                          <a:effectLst/>
                          <a:latin typeface="Adani Regular" panose="02000503000000020004" pitchFamily="2" charset="0"/>
                        </a:rPr>
                        <a:t>31-Oct-26</a:t>
                      </a:r>
                    </a:p>
                    <a:p>
                      <a:pPr algn="ctr" fontAlgn="ctr">
                        <a:buNone/>
                      </a:pPr>
                      <a:r>
                        <a:rPr lang="en-US" sz="800" b="0" i="0" u="none" strike="noStrike">
                          <a:solidFill>
                            <a:srgbClr val="000000"/>
                          </a:solidFill>
                          <a:effectLst/>
                          <a:latin typeface="Adani Regular" panose="02000503000000020004" pitchFamily="2" charset="0"/>
                        </a:rPr>
                        <a:t>1-Jan-27</a:t>
                      </a:r>
                    </a:p>
                    <a:p>
                      <a:pPr algn="ctr" fontAlgn="ctr">
                        <a:buNone/>
                      </a:pPr>
                      <a:r>
                        <a:rPr lang="en-US" sz="800" b="0" i="0" u="none" strike="noStrike" kern="1200">
                          <a:solidFill>
                            <a:schemeClr val="tx1"/>
                          </a:solidFill>
                          <a:effectLst/>
                          <a:latin typeface="Adani Light"/>
                          <a:ea typeface="+mn-ea"/>
                          <a:cs typeface="+mn-cs"/>
                        </a:rPr>
                        <a:t>31-Oct-26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77393165"/>
                  </a:ext>
                </a:extLst>
              </a:tr>
              <a:tr h="486362">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PCS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Inova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25-Jun-26</a:t>
                      </a:r>
                    </a:p>
                    <a:p>
                      <a:pPr algn="ctr" fontAlgn="ctr">
                        <a:buNone/>
                      </a:pPr>
                      <a:r>
                        <a:rPr lang="en-US" sz="800" b="0" i="0" u="none" strike="noStrike">
                          <a:solidFill>
                            <a:srgbClr val="000000"/>
                          </a:solidFill>
                          <a:effectLst/>
                          <a:latin typeface="Adani Regular" panose="02000503000000020004" pitchFamily="2" charset="0"/>
                        </a:rPr>
                        <a:t>01-Sep-26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25-Aug-26</a:t>
                      </a:r>
                    </a:p>
                    <a:p>
                      <a:pPr algn="ctr" fontAlgn="ctr">
                        <a:buNone/>
                      </a:pPr>
                      <a:r>
                        <a:rPr lang="en-US" sz="800" b="0" i="0" u="none" strike="sngStrike">
                          <a:solidFill>
                            <a:srgbClr val="000000"/>
                          </a:solidFill>
                          <a:effectLst/>
                          <a:latin typeface="Adani Regular" panose="02000503000000020004" pitchFamily="2" charset="0"/>
                        </a:rPr>
                        <a:t>31-Oct-26</a:t>
                      </a:r>
                    </a:p>
                    <a:p>
                      <a:pPr algn="ctr" fontAlgn="ctr">
                        <a:buNone/>
                      </a:pPr>
                      <a:r>
                        <a:rPr lang="en-US" sz="800" b="0" i="0" u="none" strike="sngStrike">
                          <a:solidFill>
                            <a:srgbClr val="000000"/>
                          </a:solidFill>
                          <a:effectLst/>
                          <a:latin typeface="Adani Regular" panose="02000503000000020004" pitchFamily="2" charset="0"/>
                        </a:rPr>
                        <a:t>17-Dec-26</a:t>
                      </a:r>
                    </a:p>
                    <a:p>
                      <a:pPr algn="ctr" fontAlgn="ctr">
                        <a:buNone/>
                      </a:pPr>
                      <a:r>
                        <a:rPr lang="en-US" sz="800" b="0" i="0" u="none" strike="noStrike" kern="1200">
                          <a:solidFill>
                            <a:schemeClr val="tx1"/>
                          </a:solidFill>
                          <a:effectLst/>
                          <a:latin typeface="Adani Light"/>
                          <a:ea typeface="+mn-ea"/>
                          <a:cs typeface="+mn-cs"/>
                        </a:rPr>
                        <a:t>04-Oct-26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10-Feb-26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105475574"/>
                  </a:ext>
                </a:extLst>
              </a:tr>
              <a:tr h="486362">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Honeywell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04-Jun-26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31-Aug-26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16-May-26</a:t>
                      </a:r>
                    </a:p>
                    <a:p>
                      <a:pPr algn="ctr" fontAlgn="ctr">
                        <a:buNone/>
                      </a:pPr>
                      <a:r>
                        <a:rPr lang="en-US" sz="800" b="0" i="0" u="none" strike="sngStrike">
                          <a:solidFill>
                            <a:srgbClr val="000000"/>
                          </a:solidFill>
                          <a:effectLst/>
                          <a:latin typeface="Adani Regular" panose="02000503000000020004" pitchFamily="2" charset="0"/>
                        </a:rPr>
                        <a:t>31-Aug-26</a:t>
                      </a:r>
                    </a:p>
                    <a:p>
                      <a:pPr algn="ctr" fontAlgn="ctr">
                        <a:buNone/>
                      </a:pPr>
                      <a:r>
                        <a:rPr lang="en-US" sz="800" b="0" i="0" u="none" strike="sngStrike">
                          <a:solidFill>
                            <a:srgbClr val="000000"/>
                          </a:solidFill>
                          <a:effectLst/>
                          <a:latin typeface="Adani Regular" panose="02000503000000020004" pitchFamily="2" charset="0"/>
                        </a:rPr>
                        <a:t>1-Oct-26</a:t>
                      </a:r>
                    </a:p>
                    <a:p>
                      <a:pPr algn="ctr" fontAlgn="ctr">
                        <a:buNone/>
                      </a:pPr>
                      <a:r>
                        <a:rPr lang="en-US" sz="800" b="0" i="0" u="none" strike="noStrike" kern="1200">
                          <a:solidFill>
                            <a:schemeClr val="tx1"/>
                          </a:solidFill>
                          <a:effectLst/>
                          <a:latin typeface="Adani Light"/>
                          <a:ea typeface="+mn-ea"/>
                          <a:cs typeface="+mn-cs"/>
                        </a:rPr>
                        <a:t>31-Aug-26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30-Jan-26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654857988"/>
                  </a:ext>
                </a:extLst>
              </a:tr>
              <a:tr h="389370">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Converter Transformer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Ornet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4510021210 &amp; 4510021241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25-Apr-26</a:t>
                      </a:r>
                    </a:p>
                    <a:p>
                      <a:pPr algn="ctr" fontAlgn="ctr">
                        <a:buNone/>
                      </a:pPr>
                      <a:r>
                        <a:rPr lang="en-US" sz="800" b="0" i="0" u="none" strike="sngStrike">
                          <a:solidFill>
                            <a:srgbClr val="000000"/>
                          </a:solidFill>
                          <a:effectLst/>
                          <a:latin typeface="Adani Regular" panose="02000503000000020004" pitchFamily="2" charset="0"/>
                        </a:rPr>
                        <a:t>01-May-26</a:t>
                      </a:r>
                    </a:p>
                    <a:p>
                      <a:pPr algn="ctr" fontAlgn="ctr">
                        <a:buNone/>
                      </a:pPr>
                      <a:r>
                        <a:rPr lang="en-US" sz="800" b="0" i="0" u="none" strike="noStrike" kern="1200">
                          <a:solidFill>
                            <a:schemeClr val="tx1"/>
                          </a:solidFill>
                          <a:effectLst/>
                          <a:latin typeface="Adani Light"/>
                          <a:ea typeface="+mn-ea"/>
                          <a:cs typeface="+mn-cs"/>
                        </a:rPr>
                        <a:t>01-Aug-26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27-May-26</a:t>
                      </a:r>
                    </a:p>
                    <a:p>
                      <a:pPr algn="ctr" fontAlgn="ctr">
                        <a:buNone/>
                      </a:pPr>
                      <a:r>
                        <a:rPr lang="en-US" sz="800" b="0" i="0" u="none" strike="sngStrike">
                          <a:solidFill>
                            <a:srgbClr val="000000"/>
                          </a:solidFill>
                          <a:effectLst/>
                          <a:latin typeface="Adani Regular" panose="02000503000000020004" pitchFamily="2" charset="0"/>
                        </a:rPr>
                        <a:t>30-May-26</a:t>
                      </a:r>
                    </a:p>
                    <a:p>
                      <a:pPr algn="ctr" fontAlgn="ctr">
                        <a:buNone/>
                      </a:pPr>
                      <a:r>
                        <a:rPr lang="en-US" sz="800" b="0" i="0" u="none" strike="noStrike" kern="1200">
                          <a:solidFill>
                            <a:schemeClr val="tx1"/>
                          </a:solidFill>
                          <a:effectLst/>
                          <a:latin typeface="Adani Light"/>
                          <a:ea typeface="+mn-ea"/>
                          <a:cs typeface="+mn-cs"/>
                        </a:rPr>
                        <a:t>31-Aug-26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934024070"/>
                  </a:ext>
                </a:extLst>
              </a:tr>
              <a:tr h="530959">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CSS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20-May-26</a:t>
                      </a:r>
                    </a:p>
                    <a:p>
                      <a:pPr algn="ctr" fontAlgn="ctr">
                        <a:buNone/>
                      </a:pPr>
                      <a:r>
                        <a:rPr lang="en-US" sz="800" b="0" i="0" u="none" strike="noStrike" kern="1200">
                          <a:solidFill>
                            <a:schemeClr val="tx1"/>
                          </a:solidFill>
                          <a:effectLst/>
                          <a:latin typeface="Adani Light"/>
                          <a:ea typeface="+mn-ea"/>
                          <a:cs typeface="+mn-cs"/>
                        </a:rPr>
                        <a:t>16-Aug-26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10-Jun-26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tx1"/>
                          </a:solidFill>
                          <a:effectLst/>
                          <a:latin typeface="Adani Light"/>
                          <a:ea typeface="+mn-ea"/>
                          <a:cs typeface="+mn-cs"/>
                        </a:rPr>
                        <a:t>15-Sep-26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176057485"/>
                  </a:ext>
                </a:extLst>
              </a:tr>
              <a:tr h="530959">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MV Switchgear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Popular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marR="0" lvl="0" indent="0" algn="ctr" defTabSz="91440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 4510021111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25-Apr-26</a:t>
                      </a:r>
                    </a:p>
                    <a:p>
                      <a:pPr algn="ctr" fontAlgn="ctr">
                        <a:buNone/>
                      </a:pPr>
                      <a:r>
                        <a:rPr lang="en-US" sz="800" b="0" i="0" u="none" strike="sngStrike">
                          <a:solidFill>
                            <a:srgbClr val="000000"/>
                          </a:solidFill>
                          <a:effectLst/>
                          <a:latin typeface="Adani Regular" panose="02000503000000020004" pitchFamily="2" charset="0"/>
                        </a:rPr>
                        <a:t>01-May-26</a:t>
                      </a:r>
                    </a:p>
                    <a:p>
                      <a:pPr algn="ctr" fontAlgn="ctr">
                        <a:buNone/>
                      </a:pPr>
                      <a:r>
                        <a:rPr lang="en-US" sz="800" b="0" i="0" u="none" strike="noStrike" kern="1200">
                          <a:solidFill>
                            <a:schemeClr val="tx1"/>
                          </a:solidFill>
                          <a:effectLst/>
                          <a:latin typeface="Adani Light"/>
                          <a:ea typeface="+mn-ea"/>
                          <a:cs typeface="+mn-cs"/>
                        </a:rPr>
                        <a:t>01-Aug-26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30-Apr-26</a:t>
                      </a:r>
                    </a:p>
                    <a:p>
                      <a:pPr algn="ctr" fontAlgn="ctr">
                        <a:buNone/>
                      </a:pPr>
                      <a:r>
                        <a:rPr lang="en-US" sz="800" b="0" i="0" u="none" strike="sngStrike">
                          <a:solidFill>
                            <a:srgbClr val="000000"/>
                          </a:solidFill>
                          <a:effectLst/>
                          <a:latin typeface="Adani Regular" panose="02000503000000020004" pitchFamily="2" charset="0"/>
                        </a:rPr>
                        <a:t>30-Jun-26</a:t>
                      </a:r>
                    </a:p>
                    <a:p>
                      <a:pPr algn="ctr" fontAlgn="ctr">
                        <a:buNone/>
                      </a:pPr>
                      <a:r>
                        <a:rPr lang="en-US" sz="800" b="0" i="0" u="none" strike="noStrike" kern="1200">
                          <a:solidFill>
                            <a:schemeClr val="tx1"/>
                          </a:solidFill>
                          <a:effectLst/>
                          <a:latin typeface="Adani Light"/>
                          <a:ea typeface="+mn-ea"/>
                          <a:cs typeface="+mn-cs"/>
                        </a:rPr>
                        <a:t>30-Aug-26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(03/06/25)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496878907"/>
                  </a:ext>
                </a:extLst>
              </a:tr>
              <a:tr h="194685">
                <a:tc>
                  <a:txBody>
                    <a:bodyPr/>
                    <a:lstStyle/>
                    <a:p>
                      <a:pPr algn="ctr" rtl="0" fontAlgn="ctr">
                        <a:buNone/>
                      </a:pPr>
                      <a:r>
                        <a:rPr lang="en-US" sz="800" b="0" i="0" u="none" strike="noStrike">
                          <a:solidFill>
                            <a:srgbClr val="33CC33"/>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HT Cable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Paramount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4510021149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31-Dec-25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9-Mar-26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a:txBody>
                    <a:bodyPr/>
                    <a:lstStyle/>
                    <a:p>
                      <a:pPr algn="ctr" rtl="0" fontAlgn="ctr">
                        <a:buNone/>
                      </a:pPr>
                      <a:r>
                        <a:rPr lang="en-US" sz="800" b="0" i="0" u="none" strike="noStrike">
                          <a:solidFill>
                            <a:srgbClr val="33CC33"/>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lang="en-US"/>
                    </a:p>
                  </a:txBody>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71289328"/>
                  </a:ext>
                </a:extLst>
              </a:tr>
              <a:tr h="389370">
                <a:tc>
                  <a:txBody>
                    <a:bodyPr/>
                    <a:lstStyle/>
                    <a:p>
                      <a:pPr algn="ctr" rtl="0" fontAlgn="ctr">
                        <a:buNone/>
                      </a:pPr>
                      <a:r>
                        <a:rPr lang="en-US" sz="800" b="0" i="0" u="none" strike="noStrike">
                          <a:solidFill>
                            <a:srgbClr val="33CC33"/>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DC &amp; LT Cables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962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822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4510021289 &amp; 4510021286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28-Feb-26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7-Apr-26</a:t>
                      </a:r>
                    </a:p>
                    <a:p>
                      <a:pPr algn="ctr" fontAlgn="ctr">
                        <a:buNone/>
                      </a:pPr>
                      <a:r>
                        <a:rPr lang="en-US" sz="800" b="0" i="0" u="none" strike="noStrike">
                          <a:solidFill>
                            <a:srgbClr val="33CC33"/>
                          </a:solidFill>
                          <a:effectLst/>
                          <a:latin typeface="Adani Regular" panose="02000503000000020004" pitchFamily="2" charset="0"/>
                        </a:rPr>
                        <a:t>15-Apr-26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962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a:txBody>
                    <a:bodyPr/>
                    <a:lstStyle/>
                    <a:p>
                      <a:pPr algn="ctr" rtl="0" fontAlgn="ctr">
                        <a:buNone/>
                      </a:pPr>
                      <a:r>
                        <a:rPr lang="en-US" sz="800" b="0" i="0" u="none" strike="noStrike">
                          <a:solidFill>
                            <a:srgbClr val="33CC33"/>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lang="en-US"/>
                    </a:p>
                  </a:txBody>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737123"/>
                  </a:ext>
                </a:extLst>
              </a:tr>
              <a:tr h="389370">
                <a:tc>
                  <a:txBody>
                    <a:bodyPr/>
                    <a:lstStyle/>
                    <a:p>
                      <a:pPr algn="ctr" rtl="0" fontAlgn="ctr">
                        <a:buNone/>
                      </a:pPr>
                      <a:r>
                        <a:rPr lang="en-US" sz="800" b="0" i="0" u="none" strike="noStrike">
                          <a:solidFill>
                            <a:srgbClr val="33CC33"/>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Control Cable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33CC33"/>
                          </a:solidFill>
                          <a:effectLst/>
                          <a:latin typeface="Adani Regular" panose="02000503000000020004" pitchFamily="2" charset="0"/>
                        </a:rPr>
                        <a:t>Gemscab</a:t>
                      </a: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4510021265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rgbClr val="33CC33"/>
                          </a:solidFill>
                          <a:effectLst/>
                          <a:latin typeface="Adani Light"/>
                          <a:ea typeface="+mn-ea"/>
                          <a:cs typeface="+mn-cs"/>
                        </a:rPr>
                        <a:t>10-Mar-26</a:t>
                      </a:r>
                    </a:p>
                    <a:p>
                      <a:pPr marL="0" algn="ctr" defTabSz="914400" rtl="0" eaLnBrk="1" fontAlgn="ctr" latinLnBrk="0" hangingPunct="1">
                        <a:buNone/>
                      </a:pPr>
                      <a:r>
                        <a:rPr lang="en-US" sz="800" b="0" i="0" u="none" strike="noStrike" kern="1200">
                          <a:solidFill>
                            <a:srgbClr val="33CC33"/>
                          </a:solidFill>
                          <a:effectLst/>
                          <a:latin typeface="Adani Light"/>
                          <a:ea typeface="+mn-ea"/>
                          <a:cs typeface="+mn-cs"/>
                        </a:rPr>
                        <a:t>05-Apr-26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sngStrike" kern="1200">
                          <a:solidFill>
                            <a:srgbClr val="33CC33"/>
                          </a:solidFill>
                          <a:effectLst/>
                          <a:latin typeface="Adani Light"/>
                          <a:ea typeface="+mn-ea"/>
                          <a:cs typeface="+mn-cs"/>
                        </a:rPr>
                        <a:t>31-Mar-26</a:t>
                      </a:r>
                    </a:p>
                    <a:p>
                      <a:pPr marL="0" algn="ctr" defTabSz="914400" rtl="0" eaLnBrk="1" fontAlgn="ctr" latinLnBrk="0" hangingPunct="1">
                        <a:buNone/>
                      </a:pPr>
                      <a:r>
                        <a:rPr lang="en-US" sz="800" b="0" i="0" u="none" strike="noStrike" kern="1200">
                          <a:solidFill>
                            <a:srgbClr val="33CC33"/>
                          </a:solidFill>
                          <a:effectLst/>
                          <a:latin typeface="Adani Light"/>
                          <a:ea typeface="+mn-ea"/>
                          <a:cs typeface="+mn-cs"/>
                        </a:rPr>
                        <a:t>15-Apr-26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140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3">
                  <a:txBody>
                    <a:bodyPr/>
                    <a:lstStyle/>
                    <a:p>
                      <a:pPr algn="ctr" rtl="0" fontAlgn="ctr">
                        <a:buNone/>
                      </a:pPr>
                      <a:r>
                        <a:rPr lang="en-US" sz="800" b="0" i="0" u="none" strike="noStrike">
                          <a:solidFill>
                            <a:srgbClr val="33CC33"/>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lang="en-US"/>
                    </a:p>
                  </a:txBody>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367592191"/>
                  </a:ext>
                </a:extLst>
              </a:tr>
              <a:tr h="389370">
                <a:tc>
                  <a:txBody>
                    <a:bodyPr/>
                    <a:lstStyle/>
                    <a:p>
                      <a:pPr algn="ctr" rtl="0" fontAlgn="ctr">
                        <a:buNone/>
                      </a:pPr>
                      <a:r>
                        <a:rPr lang="en-US" sz="800" b="0" i="0" u="none" strike="noStrike">
                          <a:solidFill>
                            <a:srgbClr val="33CC33"/>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SCADA Cable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4510021162 &amp; 4510021167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noStrike" kern="1200">
                          <a:solidFill>
                            <a:srgbClr val="33CC33"/>
                          </a:solidFill>
                          <a:effectLst/>
                          <a:latin typeface="Adani Light"/>
                          <a:ea typeface="+mn-ea"/>
                          <a:cs typeface="+mn-cs"/>
                        </a:rPr>
                        <a:t>15-Mar-26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sngStrike" kern="1200">
                          <a:solidFill>
                            <a:srgbClr val="33CC33"/>
                          </a:solidFill>
                          <a:effectLst/>
                          <a:latin typeface="Adani Light"/>
                          <a:ea typeface="+mn-ea"/>
                          <a:cs typeface="+mn-cs"/>
                        </a:rPr>
                        <a:t>25-Mar-26</a:t>
                      </a:r>
                    </a:p>
                    <a:p>
                      <a:pPr marL="0" algn="ctr" defTabSz="914400" rtl="0" eaLnBrk="1" fontAlgn="ctr" latinLnBrk="0" hangingPunct="1">
                        <a:buNone/>
                      </a:pPr>
                      <a:r>
                        <a:rPr lang="en-US" sz="800" b="0" i="0" u="none" strike="sngStrike" kern="1200">
                          <a:solidFill>
                            <a:srgbClr val="33CC33"/>
                          </a:solidFill>
                          <a:effectLst/>
                          <a:latin typeface="Adani Light"/>
                          <a:ea typeface="+mn-ea"/>
                          <a:cs typeface="+mn-cs"/>
                        </a:rPr>
                        <a:t>20-May-26</a:t>
                      </a:r>
                    </a:p>
                    <a:p>
                      <a:pPr marL="0" algn="ctr" defTabSz="914400" rtl="0" eaLnBrk="1" fontAlgn="ctr" latinLnBrk="0" hangingPunct="1">
                        <a:buNone/>
                      </a:pPr>
                      <a:r>
                        <a:rPr lang="en-US" sz="800" b="0" i="0" u="none" strike="noStrike" kern="1200">
                          <a:solidFill>
                            <a:srgbClr val="33CC33"/>
                          </a:solidFill>
                          <a:effectLst/>
                          <a:latin typeface="Adani Light"/>
                          <a:ea typeface="+mn-ea"/>
                          <a:cs typeface="+mn-cs"/>
                        </a:rPr>
                        <a:t>15-Jun-26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66642142"/>
                  </a:ext>
                </a:extLst>
              </a:tr>
              <a:tr h="539808">
                <a:tc>
                  <a:txBody>
                    <a:bodyPr/>
                    <a:lstStyle/>
                    <a:p>
                      <a:pPr algn="ctr" rtl="0" fontAlgn="ctr">
                        <a:buNone/>
                      </a:pPr>
                      <a:r>
                        <a:rPr lang="en-US" sz="800" b="0" i="0" u="none" strike="noStrike">
                          <a:solidFill>
                            <a:srgbClr val="00000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 Cable</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l" fontAlgn="ctr">
                        <a:buNone/>
                      </a:pPr>
                      <a:r>
                        <a:rPr lang="en-US" sz="800" b="0" i="0" u="none" strike="noStrike">
                          <a:solidFill>
                            <a:srgbClr val="000000"/>
                          </a:solidFill>
                          <a:effectLst/>
                          <a:latin typeface="Adani Regular" panose="02000503000000020004" pitchFamily="2" charset="0"/>
                        </a:rPr>
                        <a:t>Paramount</a:t>
                      </a:r>
                      <a:br>
                        <a:rPr lang="en-US" sz="800" b="0" i="0" u="none" strike="noStrike">
                          <a:solidFill>
                            <a:srgbClr val="000000"/>
                          </a:solidFill>
                          <a:effectLst/>
                          <a:latin typeface="Adani Regular" panose="02000503000000020004" pitchFamily="2" charset="0"/>
                        </a:rPr>
                      </a:br>
                      <a:r>
                        <a:rPr lang="en-US" sz="800" b="0" i="0" u="none" strike="noStrike">
                          <a:solidFill>
                            <a:srgbClr val="000000"/>
                          </a:solidFill>
                          <a:effectLst/>
                          <a:latin typeface="Adani Regular" panose="02000503000000020004" pitchFamily="2" charset="0"/>
                        </a:rPr>
                        <a:t>WestCoast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4510021124</a:t>
                      </a:r>
                    </a:p>
                    <a:p>
                      <a:pPr algn="ctr" fontAlgn="ctr">
                        <a:buNone/>
                      </a:pPr>
                      <a:r>
                        <a:rPr lang="en-US" sz="800" b="0" i="0" u="none" strike="noStrike">
                          <a:solidFill>
                            <a:srgbClr val="000000"/>
                          </a:solidFill>
                          <a:effectLst/>
                          <a:latin typeface="Adani Regular" panose="02000503000000020004" pitchFamily="2" charset="0"/>
                        </a:rPr>
                        <a:t>4510022323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01-May-26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25-Jun-26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31-May-26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15-Jul-26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50089288"/>
                  </a:ext>
                </a:extLst>
              </a:tr>
            </a:tbl>
          </a:graphicData>
        </a:graphic>
      </p:graphicFrame>
    </p:spTree>
    <p:extLst>
      <p:ext uri="{BB962C8B-B14F-4D97-AF65-F5344CB8AC3E}">
        <p14:creationId xmlns:p14="http://schemas.microsoft.com/office/powerpoint/2010/main" val="174386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4A3B2-A76E-C1F6-4F6F-EFACFD0C7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1D376-2531-7818-5C74-7BA7BD12FBB1}"/>
              </a:ext>
            </a:extLst>
          </p:cNvPr>
          <p:cNvSpPr>
            <a:spLocks noGrp="1"/>
          </p:cNvSpPr>
          <p:nvPr>
            <p:ph type="ctrTitle"/>
          </p:nvPr>
        </p:nvSpPr>
        <p:spPr>
          <a:xfrm>
            <a:off x="0" y="89812"/>
            <a:ext cx="12466390" cy="424449"/>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rPr>
              <a:t>PSS 05B</a:t>
            </a:r>
            <a:endParaRPr lang="en-US" sz="2400" b="1">
              <a:gradFill>
                <a:gsLst>
                  <a:gs pos="9735">
                    <a:schemeClr val="tx2"/>
                  </a:gs>
                  <a:gs pos="63000">
                    <a:srgbClr val="8E278F"/>
                  </a:gs>
                  <a:gs pos="38000">
                    <a:srgbClr val="57499E"/>
                  </a:gs>
                </a:gsLst>
                <a:lin ang="0" scaled="0"/>
              </a:gradFill>
              <a:ea typeface="+mn-ea"/>
              <a:cs typeface="+mn-cs"/>
            </a:endParaRPr>
          </a:p>
        </p:txBody>
      </p:sp>
      <p:pic>
        <p:nvPicPr>
          <p:cNvPr id="11" name="Picture 10">
            <a:extLst>
              <a:ext uri="{FF2B5EF4-FFF2-40B4-BE49-F238E27FC236}">
                <a16:creationId xmlns:a16="http://schemas.microsoft.com/office/drawing/2014/main" id="{64EE00D4-ED89-1229-FE40-016562A9E96F}"/>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1FBC7719-0729-D63C-CDF7-5C4B7BF49D94}"/>
              </a:ext>
            </a:extLst>
          </p:cNvPr>
          <p:cNvSpPr>
            <a:spLocks noGrp="1"/>
          </p:cNvSpPr>
          <p:nvPr>
            <p:ph type="sldNum" sz="quarter" idx="12"/>
          </p:nvPr>
        </p:nvSpPr>
        <p:spPr/>
        <p:txBody>
          <a:bodyPr/>
          <a:lstStyle/>
          <a:p>
            <a:fld id="{98B285C1-D8A8-4E98-B28C-1FD972D8EC54}" type="slidenum">
              <a:rPr lang="en-IN" smtClean="0"/>
              <a:t>18</a:t>
            </a:fld>
            <a:endParaRPr lang="en-IN"/>
          </a:p>
        </p:txBody>
      </p:sp>
      <p:graphicFrame>
        <p:nvGraphicFramePr>
          <p:cNvPr id="5" name="Table 4">
            <a:extLst>
              <a:ext uri="{FF2B5EF4-FFF2-40B4-BE49-F238E27FC236}">
                <a16:creationId xmlns:a16="http://schemas.microsoft.com/office/drawing/2014/main" id="{C142B41A-3F72-8566-CBA7-A0C6BD90001D}"/>
              </a:ext>
            </a:extLst>
          </p:cNvPr>
          <p:cNvGraphicFramePr>
            <a:graphicFrameLocks noGrp="1"/>
          </p:cNvGraphicFramePr>
          <p:nvPr>
            <p:extLst>
              <p:ext uri="{D42A27DB-BD31-4B8C-83A1-F6EECF244321}">
                <p14:modId xmlns:p14="http://schemas.microsoft.com/office/powerpoint/2010/main" val="574605681"/>
              </p:ext>
            </p:extLst>
          </p:nvPr>
        </p:nvGraphicFramePr>
        <p:xfrm>
          <a:off x="83820" y="622583"/>
          <a:ext cx="12005400" cy="6230620"/>
        </p:xfrm>
        <a:graphic>
          <a:graphicData uri="http://schemas.openxmlformats.org/drawingml/2006/table">
            <a:tbl>
              <a:tblPr/>
              <a:tblGrid>
                <a:gridCol w="463281">
                  <a:extLst>
                    <a:ext uri="{9D8B030D-6E8A-4147-A177-3AD203B41FA5}">
                      <a16:colId xmlns:a16="http://schemas.microsoft.com/office/drawing/2014/main" val="3112453971"/>
                    </a:ext>
                  </a:extLst>
                </a:gridCol>
                <a:gridCol w="895515">
                  <a:extLst>
                    <a:ext uri="{9D8B030D-6E8A-4147-A177-3AD203B41FA5}">
                      <a16:colId xmlns:a16="http://schemas.microsoft.com/office/drawing/2014/main" val="3928194573"/>
                    </a:ext>
                  </a:extLst>
                </a:gridCol>
                <a:gridCol w="1001731">
                  <a:extLst>
                    <a:ext uri="{9D8B030D-6E8A-4147-A177-3AD203B41FA5}">
                      <a16:colId xmlns:a16="http://schemas.microsoft.com/office/drawing/2014/main" val="3964343167"/>
                    </a:ext>
                  </a:extLst>
                </a:gridCol>
                <a:gridCol w="345621">
                  <a:extLst>
                    <a:ext uri="{9D8B030D-6E8A-4147-A177-3AD203B41FA5}">
                      <a16:colId xmlns:a16="http://schemas.microsoft.com/office/drawing/2014/main" val="3024018081"/>
                    </a:ext>
                  </a:extLst>
                </a:gridCol>
                <a:gridCol w="340216">
                  <a:extLst>
                    <a:ext uri="{9D8B030D-6E8A-4147-A177-3AD203B41FA5}">
                      <a16:colId xmlns:a16="http://schemas.microsoft.com/office/drawing/2014/main" val="3855426317"/>
                    </a:ext>
                  </a:extLst>
                </a:gridCol>
                <a:gridCol w="553225">
                  <a:extLst>
                    <a:ext uri="{9D8B030D-6E8A-4147-A177-3AD203B41FA5}">
                      <a16:colId xmlns:a16="http://schemas.microsoft.com/office/drawing/2014/main" val="4214995260"/>
                    </a:ext>
                  </a:extLst>
                </a:gridCol>
                <a:gridCol w="520302">
                  <a:extLst>
                    <a:ext uri="{9D8B030D-6E8A-4147-A177-3AD203B41FA5}">
                      <a16:colId xmlns:a16="http://schemas.microsoft.com/office/drawing/2014/main" val="3297842989"/>
                    </a:ext>
                  </a:extLst>
                </a:gridCol>
                <a:gridCol w="638123">
                  <a:extLst>
                    <a:ext uri="{9D8B030D-6E8A-4147-A177-3AD203B41FA5}">
                      <a16:colId xmlns:a16="http://schemas.microsoft.com/office/drawing/2014/main" val="3294441451"/>
                    </a:ext>
                  </a:extLst>
                </a:gridCol>
                <a:gridCol w="670829">
                  <a:extLst>
                    <a:ext uri="{9D8B030D-6E8A-4147-A177-3AD203B41FA5}">
                      <a16:colId xmlns:a16="http://schemas.microsoft.com/office/drawing/2014/main" val="487261673"/>
                    </a:ext>
                  </a:extLst>
                </a:gridCol>
                <a:gridCol w="547758">
                  <a:extLst>
                    <a:ext uri="{9D8B030D-6E8A-4147-A177-3AD203B41FA5}">
                      <a16:colId xmlns:a16="http://schemas.microsoft.com/office/drawing/2014/main" val="721798400"/>
                    </a:ext>
                  </a:extLst>
                </a:gridCol>
                <a:gridCol w="673431">
                  <a:extLst>
                    <a:ext uri="{9D8B030D-6E8A-4147-A177-3AD203B41FA5}">
                      <a16:colId xmlns:a16="http://schemas.microsoft.com/office/drawing/2014/main" val="3268721938"/>
                    </a:ext>
                  </a:extLst>
                </a:gridCol>
                <a:gridCol w="1102574">
                  <a:extLst>
                    <a:ext uri="{9D8B030D-6E8A-4147-A177-3AD203B41FA5}">
                      <a16:colId xmlns:a16="http://schemas.microsoft.com/office/drawing/2014/main" val="2947093917"/>
                    </a:ext>
                  </a:extLst>
                </a:gridCol>
                <a:gridCol w="441219">
                  <a:extLst>
                    <a:ext uri="{9D8B030D-6E8A-4147-A177-3AD203B41FA5}">
                      <a16:colId xmlns:a16="http://schemas.microsoft.com/office/drawing/2014/main" val="1589345658"/>
                    </a:ext>
                  </a:extLst>
                </a:gridCol>
                <a:gridCol w="455929">
                  <a:extLst>
                    <a:ext uri="{9D8B030D-6E8A-4147-A177-3AD203B41FA5}">
                      <a16:colId xmlns:a16="http://schemas.microsoft.com/office/drawing/2014/main" val="882294613"/>
                    </a:ext>
                  </a:extLst>
                </a:gridCol>
                <a:gridCol w="360330">
                  <a:extLst>
                    <a:ext uri="{9D8B030D-6E8A-4147-A177-3AD203B41FA5}">
                      <a16:colId xmlns:a16="http://schemas.microsoft.com/office/drawing/2014/main" val="2870258526"/>
                    </a:ext>
                  </a:extLst>
                </a:gridCol>
                <a:gridCol w="375036">
                  <a:extLst>
                    <a:ext uri="{9D8B030D-6E8A-4147-A177-3AD203B41FA5}">
                      <a16:colId xmlns:a16="http://schemas.microsoft.com/office/drawing/2014/main" val="2412527903"/>
                    </a:ext>
                  </a:extLst>
                </a:gridCol>
                <a:gridCol w="375036">
                  <a:extLst>
                    <a:ext uri="{9D8B030D-6E8A-4147-A177-3AD203B41FA5}">
                      <a16:colId xmlns:a16="http://schemas.microsoft.com/office/drawing/2014/main" val="2143662660"/>
                    </a:ext>
                  </a:extLst>
                </a:gridCol>
                <a:gridCol w="352976">
                  <a:extLst>
                    <a:ext uri="{9D8B030D-6E8A-4147-A177-3AD203B41FA5}">
                      <a16:colId xmlns:a16="http://schemas.microsoft.com/office/drawing/2014/main" val="1137484111"/>
                    </a:ext>
                  </a:extLst>
                </a:gridCol>
                <a:gridCol w="367683">
                  <a:extLst>
                    <a:ext uri="{9D8B030D-6E8A-4147-A177-3AD203B41FA5}">
                      <a16:colId xmlns:a16="http://schemas.microsoft.com/office/drawing/2014/main" val="1201534833"/>
                    </a:ext>
                  </a:extLst>
                </a:gridCol>
                <a:gridCol w="367683">
                  <a:extLst>
                    <a:ext uri="{9D8B030D-6E8A-4147-A177-3AD203B41FA5}">
                      <a16:colId xmlns:a16="http://schemas.microsoft.com/office/drawing/2014/main" val="2718293276"/>
                    </a:ext>
                  </a:extLst>
                </a:gridCol>
                <a:gridCol w="436243">
                  <a:extLst>
                    <a:ext uri="{9D8B030D-6E8A-4147-A177-3AD203B41FA5}">
                      <a16:colId xmlns:a16="http://schemas.microsoft.com/office/drawing/2014/main" val="700814788"/>
                    </a:ext>
                  </a:extLst>
                </a:gridCol>
                <a:gridCol w="239640">
                  <a:extLst>
                    <a:ext uri="{9D8B030D-6E8A-4147-A177-3AD203B41FA5}">
                      <a16:colId xmlns:a16="http://schemas.microsoft.com/office/drawing/2014/main" val="3474935574"/>
                    </a:ext>
                  </a:extLst>
                </a:gridCol>
                <a:gridCol w="481019">
                  <a:extLst>
                    <a:ext uri="{9D8B030D-6E8A-4147-A177-3AD203B41FA5}">
                      <a16:colId xmlns:a16="http://schemas.microsoft.com/office/drawing/2014/main" val="1805828376"/>
                    </a:ext>
                  </a:extLst>
                </a:gridCol>
              </a:tblGrid>
              <a:tr h="191597">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8">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432171440"/>
                  </a:ext>
                </a:extLst>
              </a:tr>
              <a:tr h="191597">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Nov-26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Dec-26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Jan-27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9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4011059014"/>
                  </a:ext>
                </a:extLst>
              </a:tr>
              <a:tr h="1915975">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CATL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25-Oct-26</a:t>
                      </a:r>
                    </a:p>
                    <a:p>
                      <a:pPr algn="ctr" fontAlgn="ctr">
                        <a:buNone/>
                      </a:pPr>
                      <a:r>
                        <a:rPr lang="en-US" sz="800" b="0" i="0" u="none" strike="sngStrike">
                          <a:solidFill>
                            <a:srgbClr val="000000"/>
                          </a:solidFill>
                          <a:effectLst/>
                          <a:latin typeface="Adani Regular" panose="02000503000000020004" pitchFamily="2" charset="0"/>
                        </a:rPr>
                        <a:t>01-Aug-26</a:t>
                      </a:r>
                    </a:p>
                    <a:p>
                      <a:pPr algn="ctr" fontAlgn="ctr">
                        <a:buNone/>
                      </a:pPr>
                      <a:r>
                        <a:rPr lang="en-US" sz="800" b="0" i="0" u="none" strike="sngStrike">
                          <a:solidFill>
                            <a:srgbClr val="000000"/>
                          </a:solidFill>
                          <a:effectLst/>
                          <a:latin typeface="Adani Regular" panose="02000503000000020004" pitchFamily="2" charset="0"/>
                        </a:rPr>
                        <a:t>01-Oct-26</a:t>
                      </a:r>
                    </a:p>
                    <a:p>
                      <a:pPr algn="ctr" fontAlgn="ctr">
                        <a:buNone/>
                      </a:pPr>
                      <a:r>
                        <a:rPr lang="en-US" sz="800" b="0" i="0" u="none" strike="noStrike" kern="1200">
                          <a:solidFill>
                            <a:schemeClr val="tx1"/>
                          </a:solidFill>
                          <a:effectLst/>
                          <a:latin typeface="Adani Light"/>
                          <a:ea typeface="+mn-ea"/>
                          <a:cs typeface="+mn-cs"/>
                        </a:rPr>
                        <a:t>31-Oct-26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25-Feb-27</a:t>
                      </a:r>
                    </a:p>
                    <a:p>
                      <a:pPr algn="ctr" fontAlgn="ctr">
                        <a:buNone/>
                      </a:pPr>
                      <a:r>
                        <a:rPr lang="en-US" sz="800" b="0" i="0" u="none" strike="sngStrike">
                          <a:solidFill>
                            <a:srgbClr val="000000"/>
                          </a:solidFill>
                          <a:effectLst/>
                          <a:latin typeface="Adani Regular" panose="02000503000000020004" pitchFamily="2" charset="0"/>
                        </a:rPr>
                        <a:t>20-Nov-26</a:t>
                      </a:r>
                    </a:p>
                    <a:p>
                      <a:pPr algn="ctr" fontAlgn="ctr">
                        <a:buNone/>
                      </a:pPr>
                      <a:r>
                        <a:rPr lang="en-US" sz="800" b="0" i="0" u="none" strike="noStrike">
                          <a:solidFill>
                            <a:srgbClr val="000000"/>
                          </a:solidFill>
                          <a:effectLst/>
                          <a:latin typeface="Adani Regular" panose="02000503000000020004" pitchFamily="2" charset="0"/>
                        </a:rPr>
                        <a:t>1-Jan-27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26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11 Feb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136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IN" sz="800" b="0">
                          <a:effectLst/>
                          <a:latin typeface="Adani Regular" panose="02000503000000020004" pitchFamily="2" charset="0"/>
                        </a:rPr>
                        <a:t>FOB for 15 containers – 30-Sep</a:t>
                      </a:r>
                    </a:p>
                    <a:p>
                      <a:pPr>
                        <a:buNone/>
                      </a:pPr>
                      <a:r>
                        <a:rPr lang="en-IN" sz="800" b="0">
                          <a:effectLst/>
                          <a:latin typeface="Adani Regular" panose="02000503000000020004" pitchFamily="2" charset="0"/>
                        </a:rPr>
                        <a:t>FOB for 140 containers – 20-Oct</a:t>
                      </a:r>
                    </a:p>
                    <a:p>
                      <a:pPr>
                        <a:buNone/>
                      </a:pPr>
                      <a:r>
                        <a:rPr lang="en-IN" sz="800" b="0">
                          <a:effectLst/>
                          <a:latin typeface="Adani Regular" panose="02000503000000020004" pitchFamily="2" charset="0"/>
                        </a:rPr>
                        <a:t>FOB for 132 containers – 31-Oct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a:effectLst/>
                          <a:latin typeface="Adani Regular" panose="02000503000000020004" pitchFamily="2" charset="0"/>
                        </a:rPr>
                        <a:t>FOB for 161 containers – 20-Nov</a:t>
                      </a:r>
                    </a:p>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268461763"/>
                  </a:ext>
                </a:extLst>
              </a:tr>
              <a:tr h="287396">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Shenzen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25-Sep-26</a:t>
                      </a:r>
                    </a:p>
                    <a:p>
                      <a:pPr algn="ctr" fontAlgn="ctr">
                        <a:buNone/>
                      </a:pPr>
                      <a:r>
                        <a:rPr lang="en-US" sz="800" b="0" i="0" u="none" strike="noStrike" kern="1200">
                          <a:solidFill>
                            <a:schemeClr val="tx1"/>
                          </a:solidFill>
                          <a:effectLst/>
                          <a:latin typeface="Adani Light"/>
                          <a:ea typeface="+mn-ea"/>
                          <a:cs typeface="+mn-cs"/>
                        </a:rPr>
                        <a:t>4-Oct-26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25-Nov-26</a:t>
                      </a:r>
                    </a:p>
                    <a:p>
                      <a:pPr algn="ctr" fontAlgn="ctr">
                        <a:buNone/>
                      </a:pPr>
                      <a:r>
                        <a:rPr lang="en-US" sz="800" b="0" i="0" u="none" strike="sngStrike">
                          <a:solidFill>
                            <a:srgbClr val="000000"/>
                          </a:solidFill>
                          <a:effectLst/>
                          <a:latin typeface="Adani Regular" panose="02000503000000020004" pitchFamily="2" charset="0"/>
                        </a:rPr>
                        <a:t>31-Dec-26</a:t>
                      </a:r>
                    </a:p>
                    <a:p>
                      <a:pPr algn="ctr" fontAlgn="ctr">
                        <a:buNone/>
                      </a:pPr>
                      <a:r>
                        <a:rPr lang="en-US" sz="800" b="0" i="0" u="none" strike="noStrike" kern="1200">
                          <a:solidFill>
                            <a:schemeClr val="tx1"/>
                          </a:solidFill>
                          <a:effectLst/>
                          <a:latin typeface="Adani Light"/>
                          <a:ea typeface="+mn-ea"/>
                          <a:cs typeface="+mn-cs"/>
                        </a:rPr>
                        <a:t>29-Nov-26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902448858"/>
                  </a:ext>
                </a:extLst>
              </a:tr>
              <a:tr h="287396">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Emerson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15-Aug-26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31-Aug-26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03-Sep-26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25-Sep-26</a:t>
                      </a:r>
                    </a:p>
                    <a:p>
                      <a:pPr algn="ctr" fontAlgn="ctr">
                        <a:buNone/>
                      </a:pPr>
                      <a:r>
                        <a:rPr lang="en-US" sz="800" b="0" i="0" u="none" strike="sngStrike">
                          <a:solidFill>
                            <a:srgbClr val="000000"/>
                          </a:solidFill>
                          <a:effectLst/>
                          <a:latin typeface="Adani Regular" panose="02000503000000020004" pitchFamily="2" charset="0"/>
                        </a:rPr>
                        <a:t>1-Oct-26</a:t>
                      </a:r>
                    </a:p>
                    <a:p>
                      <a:pPr algn="ctr" fontAlgn="ctr">
                        <a:buNone/>
                      </a:pPr>
                      <a:r>
                        <a:rPr lang="en-US" sz="800" b="0" i="0" u="none" strike="noStrike" kern="1200">
                          <a:solidFill>
                            <a:schemeClr val="tx1"/>
                          </a:solidFill>
                          <a:effectLst/>
                          <a:latin typeface="Adani Light"/>
                          <a:ea typeface="+mn-ea"/>
                          <a:cs typeface="+mn-cs"/>
                        </a:rPr>
                        <a:t>03-Sep-26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(28/05/25)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217735645"/>
                  </a:ext>
                </a:extLst>
              </a:tr>
              <a:tr h="287396">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Tesla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4510021192 &amp; 4510021248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30-May-26</a:t>
                      </a:r>
                    </a:p>
                    <a:p>
                      <a:pPr algn="ctr" fontAlgn="ctr">
                        <a:buNone/>
                      </a:pPr>
                      <a:r>
                        <a:rPr lang="en-US" sz="800" b="0" i="0" u="none" strike="noStrike" kern="1200">
                          <a:solidFill>
                            <a:schemeClr val="tx1"/>
                          </a:solidFill>
                          <a:effectLst/>
                          <a:latin typeface="Adani Light"/>
                          <a:ea typeface="+mn-ea"/>
                          <a:cs typeface="+mn-cs"/>
                        </a:rPr>
                        <a:t>01-Sep-26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30-Sep-26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95190210"/>
                  </a:ext>
                </a:extLst>
              </a:tr>
              <a:tr h="191597">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10-Jun-26</a:t>
                      </a:r>
                    </a:p>
                    <a:p>
                      <a:pPr algn="ctr" fontAlgn="ctr">
                        <a:buNone/>
                      </a:pPr>
                      <a:r>
                        <a:rPr lang="en-US" sz="800" b="0" i="0" u="none" strike="noStrike" kern="1200">
                          <a:solidFill>
                            <a:schemeClr val="tx1"/>
                          </a:solidFill>
                          <a:effectLst/>
                          <a:latin typeface="Adani Light"/>
                          <a:ea typeface="+mn-ea"/>
                          <a:cs typeface="+mn-cs"/>
                        </a:rPr>
                        <a:t>01-Sep-26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25-Jul-26</a:t>
                      </a:r>
                    </a:p>
                    <a:p>
                      <a:pPr algn="ctr" fontAlgn="ctr">
                        <a:buNone/>
                      </a:pPr>
                      <a:r>
                        <a:rPr lang="en-US" sz="800" b="0" i="0" u="none" strike="noStrike" kern="1200">
                          <a:solidFill>
                            <a:schemeClr val="tx1"/>
                          </a:solidFill>
                          <a:effectLst/>
                          <a:latin typeface="Adani Light"/>
                          <a:ea typeface="+mn-ea"/>
                          <a:cs typeface="+mn-cs"/>
                        </a:rPr>
                        <a:t>30-Sep-26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011940401"/>
                  </a:ext>
                </a:extLst>
              </a:tr>
              <a:tr h="191597">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Symatic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 4510021115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23-Jul-26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30-Sep-26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(21/05/25)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56982308"/>
                  </a:ext>
                </a:extLst>
              </a:tr>
              <a:tr h="191597">
                <a:tc>
                  <a:txBody>
                    <a:bodyPr/>
                    <a:lstStyle/>
                    <a:p>
                      <a:pPr algn="ctr" rtl="0" fontAlgn="ctr">
                        <a:buNone/>
                      </a:pPr>
                      <a:r>
                        <a:rPr lang="en-US" sz="800" b="0" i="0" u="none" strike="noStrike">
                          <a:solidFill>
                            <a:srgbClr val="33CC33"/>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Paramount &amp; Diamond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4510021151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31-Dec-25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28-Feb-26</a:t>
                      </a:r>
                    </a:p>
                    <a:p>
                      <a:pPr algn="ctr" fontAlgn="ctr">
                        <a:buNone/>
                      </a:pPr>
                      <a:r>
                        <a:rPr lang="en-US" sz="800" b="0" i="0" u="none" strike="noStrike">
                          <a:solidFill>
                            <a:srgbClr val="33CC33"/>
                          </a:solidFill>
                          <a:effectLst/>
                          <a:latin typeface="Adani Regular" panose="02000503000000020004" pitchFamily="2" charset="0"/>
                        </a:rPr>
                        <a:t>31-Mar-26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31-Mar-26</a:t>
                      </a:r>
                    </a:p>
                    <a:p>
                      <a:pPr algn="ctr" fontAlgn="ctr">
                        <a:buNone/>
                      </a:pPr>
                      <a:r>
                        <a:rPr lang="en-US" sz="800" b="0" i="0" u="none" strike="noStrike">
                          <a:solidFill>
                            <a:srgbClr val="33CC33"/>
                          </a:solidFill>
                          <a:effectLst/>
                          <a:latin typeface="Adani Regular" panose="02000503000000020004" pitchFamily="2" charset="0"/>
                        </a:rPr>
                        <a:t>15-Apr-26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8">
                  <a:txBody>
                    <a:bodyPr/>
                    <a:lstStyle/>
                    <a:p>
                      <a:pPr algn="ctr" rtl="0" fontAlgn="ctr">
                        <a:buNone/>
                      </a:pPr>
                      <a:r>
                        <a:rPr kumimoji="0" lang="en-US" sz="800" b="0" i="0" u="none" strike="noStrike" kern="0" cap="none" spc="0" normalizeH="0" baseline="0" noProof="0">
                          <a:ln>
                            <a:noFill/>
                          </a:ln>
                          <a:solidFill>
                            <a:srgbClr val="33CC33"/>
                          </a:solidFill>
                          <a:effectLst/>
                          <a:uLnTx/>
                          <a:uFillTx/>
                          <a:latin typeface="Adani Regular" panose="02000503000000020004" pitchFamily="2" charset="0"/>
                          <a:ea typeface="+mn-ea"/>
                          <a:cs typeface="+mn-cs"/>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lang="en-US"/>
                    </a:p>
                  </a:txBody>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kumimoji="0" lang="en-US" sz="800" b="0" i="0" u="none" strike="noStrike" kern="0" cap="none" spc="0" normalizeH="0" baseline="0" noProof="0">
                        <a:ln>
                          <a:noFill/>
                        </a:ln>
                        <a:solidFill>
                          <a:srgbClr val="33CC33"/>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957365249"/>
                  </a:ext>
                </a:extLst>
              </a:tr>
              <a:tr h="287396">
                <a:tc>
                  <a:txBody>
                    <a:bodyPr/>
                    <a:lstStyle/>
                    <a:p>
                      <a:pPr algn="ctr" rtl="0" fontAlgn="ctr">
                        <a:buNone/>
                      </a:pPr>
                      <a:r>
                        <a:rPr lang="en-US" sz="800" b="0" i="0" u="none" strike="noStrike">
                          <a:solidFill>
                            <a:srgbClr val="33CC33"/>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APAR &amp; DYNAMIC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1001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1001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4510021283 &amp; 4510021285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15-Apr-26</a:t>
                      </a:r>
                    </a:p>
                    <a:p>
                      <a:pPr algn="ctr" fontAlgn="ctr">
                        <a:buNone/>
                      </a:pPr>
                      <a:r>
                        <a:rPr lang="en-US" sz="800" b="0" i="0" u="none" strike="noStrike">
                          <a:solidFill>
                            <a:srgbClr val="33CC33"/>
                          </a:solidFill>
                          <a:effectLst/>
                          <a:latin typeface="Adani Regular" panose="02000503000000020004" pitchFamily="2" charset="0"/>
                        </a:rPr>
                        <a:t>30-May-26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15-01-2026 &amp; 23-01-26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25-Jan-26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1001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8">
                  <a:txBody>
                    <a:bodyPr/>
                    <a:lstStyle/>
                    <a:p>
                      <a:pPr algn="ctr" rtl="0" fontAlgn="ctr">
                        <a:buNone/>
                      </a:pPr>
                      <a:r>
                        <a:rPr kumimoji="0" lang="en-US" sz="800" b="0" i="0" u="none" strike="noStrike" kern="0" cap="none" spc="0" normalizeH="0" baseline="0" noProof="0">
                          <a:ln>
                            <a:noFill/>
                          </a:ln>
                          <a:solidFill>
                            <a:srgbClr val="33CC33"/>
                          </a:solidFill>
                          <a:effectLst/>
                          <a:uLnTx/>
                          <a:uFillTx/>
                          <a:latin typeface="Adani Regular" panose="02000503000000020004" pitchFamily="2" charset="0"/>
                          <a:ea typeface="+mn-ea"/>
                          <a:cs typeface="+mn-cs"/>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33CC33"/>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kumimoji="0" lang="en-US" sz="800" b="0" i="0" u="none" strike="noStrike" kern="0" cap="none" spc="0" normalizeH="0" baseline="0" noProof="0">
                        <a:ln>
                          <a:noFill/>
                        </a:ln>
                        <a:solidFill>
                          <a:srgbClr val="33CC33"/>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255091766"/>
                  </a:ext>
                </a:extLst>
              </a:tr>
              <a:tr h="191597">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Gemscab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4510021263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10-Mar-26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31-Mar-26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B050"/>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8">
                  <a:txBody>
                    <a:bodyPr/>
                    <a:lstStyle/>
                    <a:p>
                      <a:pPr algn="ctr" rtl="0" fontAlgn="ctr">
                        <a:buNone/>
                      </a:pPr>
                      <a:r>
                        <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lang="en-US"/>
                    </a:p>
                  </a:txBody>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kumimoji="0" lang="en-US" sz="800" b="0" i="0" u="none" strike="noStrike" kern="0" cap="none" spc="0" normalizeH="0" baseline="0" noProof="0">
                        <a:ln>
                          <a:noFill/>
                        </a:ln>
                        <a:solidFill>
                          <a:srgbClr val="00B05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089322544"/>
                  </a:ext>
                </a:extLst>
              </a:tr>
              <a:tr h="287396">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4510021159 &amp; 4510021165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10-Apr-26</a:t>
                      </a:r>
                    </a:p>
                    <a:p>
                      <a:pPr algn="ctr" fontAlgn="ctr">
                        <a:buNone/>
                      </a:pPr>
                      <a:r>
                        <a:rPr lang="en-US" sz="800" b="0" i="0" u="none" strike="noStrike">
                          <a:solidFill>
                            <a:srgbClr val="000000"/>
                          </a:solidFill>
                          <a:effectLst/>
                          <a:latin typeface="Adani Regular" panose="02000503000000020004" pitchFamily="2" charset="0"/>
                        </a:rPr>
                        <a:t>05-May-26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20-Jun-26</a:t>
                      </a:r>
                    </a:p>
                    <a:p>
                      <a:pPr algn="ctr" fontAlgn="ctr">
                        <a:buNone/>
                      </a:pPr>
                      <a:r>
                        <a:rPr lang="en-US" sz="800" b="0" i="0" u="none" strike="noStrike">
                          <a:solidFill>
                            <a:srgbClr val="000000"/>
                          </a:solidFill>
                          <a:effectLst/>
                          <a:latin typeface="Adani Regular" panose="02000503000000020004" pitchFamily="2" charset="0"/>
                        </a:rPr>
                        <a:t>25-Jun-26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156020570"/>
                  </a:ext>
                </a:extLst>
              </a:tr>
              <a:tr h="393174">
                <a:tc>
                  <a:txBody>
                    <a:bodyPr/>
                    <a:lstStyle/>
                    <a:p>
                      <a:pPr algn="ctr" rtl="0" fontAlgn="ctr">
                        <a:buNone/>
                      </a:pPr>
                      <a:r>
                        <a:rPr lang="en-US" sz="800" b="0" i="0" u="none" strike="noStrike">
                          <a:solidFill>
                            <a:srgbClr val="00000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l" fontAlgn="ctr">
                        <a:buNone/>
                      </a:pPr>
                      <a:r>
                        <a:rPr lang="en-US" sz="800" b="0" i="0" u="none" strike="sngStrike">
                          <a:solidFill>
                            <a:srgbClr val="000000"/>
                          </a:solidFill>
                          <a:effectLst/>
                          <a:latin typeface="Adani Regular" panose="02000503000000020004" pitchFamily="2" charset="0"/>
                        </a:rPr>
                        <a:t>Paramount</a:t>
                      </a:r>
                      <a:br>
                        <a:rPr lang="en-US" sz="800" b="0" i="0" u="none" strike="sngStrike">
                          <a:solidFill>
                            <a:srgbClr val="000000"/>
                          </a:solidFill>
                          <a:effectLst/>
                          <a:latin typeface="Adani Regular" panose="02000503000000020004" pitchFamily="2" charset="0"/>
                        </a:rPr>
                      </a:br>
                      <a:r>
                        <a:rPr lang="en-US" sz="800" b="0" i="0" u="none" strike="noStrike">
                          <a:solidFill>
                            <a:srgbClr val="000000"/>
                          </a:solidFill>
                          <a:effectLst/>
                          <a:latin typeface="Adani Regular" panose="02000503000000020004" pitchFamily="2" charset="0"/>
                        </a:rPr>
                        <a:t>WestCoast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01-May-26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15-Jun-26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15-Jun-26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78861285"/>
                  </a:ext>
                </a:extLst>
              </a:tr>
            </a:tbl>
          </a:graphicData>
        </a:graphic>
      </p:graphicFrame>
    </p:spTree>
    <p:extLst>
      <p:ext uri="{BB962C8B-B14F-4D97-AF65-F5344CB8AC3E}">
        <p14:creationId xmlns:p14="http://schemas.microsoft.com/office/powerpoint/2010/main" val="1423515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A3645-E296-8FBF-0490-B92370DD7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C575B-570E-B722-5703-1D8C4CE44585}"/>
              </a:ext>
            </a:extLst>
          </p:cNvPr>
          <p:cNvSpPr>
            <a:spLocks noGrp="1"/>
          </p:cNvSpPr>
          <p:nvPr>
            <p:ph type="ctrTitle"/>
          </p:nvPr>
        </p:nvSpPr>
        <p:spPr>
          <a:xfrm>
            <a:off x="0" y="89812"/>
            <a:ext cx="12466390" cy="424449"/>
          </a:xfrm>
          <a:noFill/>
        </p:spPr>
        <p:txBody>
          <a:bodyPr vert="horz" wrap="square" lIns="91157" tIns="45580" rIns="91157" bIns="45580" rtlCol="0" anchor="b">
            <a:spAutoFit/>
          </a:bodyPr>
          <a:lstStyle/>
          <a:p>
            <a:pPr algn="l">
              <a:spcBef>
                <a:spcPts val="1000"/>
              </a:spcBef>
              <a:defRPr/>
            </a:pPr>
            <a:r>
              <a:rPr lang="en-US" sz="2400" b="1">
                <a:gradFill>
                  <a:gsLst>
                    <a:gs pos="9735">
                      <a:schemeClr val="tx2"/>
                    </a:gs>
                    <a:gs pos="63000">
                      <a:srgbClr val="8E278F"/>
                    </a:gs>
                    <a:gs pos="38000">
                      <a:srgbClr val="57499E"/>
                    </a:gs>
                  </a:gsLst>
                  <a:lin ang="0" scaled="0"/>
                </a:gradFill>
                <a:ea typeface="+mn-ea"/>
                <a:cs typeface="+mn-cs"/>
              </a:rPr>
              <a:t>Procurement &amp; Monthly Rolling Plan for Supply of Equipment – </a:t>
            </a:r>
            <a:r>
              <a:rPr lang="en-IN" sz="2400" b="1">
                <a:gradFill>
                  <a:gsLst>
                    <a:gs pos="9735">
                      <a:schemeClr val="tx2"/>
                    </a:gs>
                    <a:gs pos="63000">
                      <a:srgbClr val="8E278F"/>
                    </a:gs>
                    <a:gs pos="38000">
                      <a:srgbClr val="57499E"/>
                    </a:gs>
                  </a:gsLst>
                  <a:lin ang="0" scaled="0"/>
                </a:gradFill>
              </a:rPr>
              <a:t>PSS 08B</a:t>
            </a:r>
            <a:endParaRPr lang="en-US" sz="2400" b="1">
              <a:gradFill>
                <a:gsLst>
                  <a:gs pos="9735">
                    <a:schemeClr val="tx2"/>
                  </a:gs>
                  <a:gs pos="63000">
                    <a:srgbClr val="8E278F"/>
                  </a:gs>
                  <a:gs pos="38000">
                    <a:srgbClr val="57499E"/>
                  </a:gs>
                </a:gsLst>
                <a:lin ang="0" scaled="0"/>
              </a:gradFill>
              <a:ea typeface="+mn-ea"/>
              <a:cs typeface="+mn-cs"/>
            </a:endParaRPr>
          </a:p>
        </p:txBody>
      </p:sp>
      <p:pic>
        <p:nvPicPr>
          <p:cNvPr id="11" name="Picture 10">
            <a:extLst>
              <a:ext uri="{FF2B5EF4-FFF2-40B4-BE49-F238E27FC236}">
                <a16:creationId xmlns:a16="http://schemas.microsoft.com/office/drawing/2014/main" id="{3446EA0F-0739-747D-11AC-DB5B487497B2}"/>
              </a:ext>
            </a:extLst>
          </p:cNvPr>
          <p:cNvPicPr>
            <a:picLocks noChangeAspect="1"/>
          </p:cNvPicPr>
          <p:nvPr/>
        </p:nvPicPr>
        <p:blipFill>
          <a:blip r:embed="rId3"/>
          <a:stretch>
            <a:fillRect/>
          </a:stretch>
        </p:blipFill>
        <p:spPr>
          <a:xfrm>
            <a:off x="6086475" y="3419475"/>
            <a:ext cx="19050" cy="19050"/>
          </a:xfrm>
          <a:prstGeom prst="rect">
            <a:avLst/>
          </a:prstGeom>
        </p:spPr>
      </p:pic>
      <p:sp>
        <p:nvSpPr>
          <p:cNvPr id="3" name="Slide Number Placeholder 2">
            <a:extLst>
              <a:ext uri="{FF2B5EF4-FFF2-40B4-BE49-F238E27FC236}">
                <a16:creationId xmlns:a16="http://schemas.microsoft.com/office/drawing/2014/main" id="{8B461E0D-2557-E728-0FEC-6F82DBA7E542}"/>
              </a:ext>
            </a:extLst>
          </p:cNvPr>
          <p:cNvSpPr>
            <a:spLocks noGrp="1"/>
          </p:cNvSpPr>
          <p:nvPr>
            <p:ph type="sldNum" sz="quarter" idx="12"/>
          </p:nvPr>
        </p:nvSpPr>
        <p:spPr/>
        <p:txBody>
          <a:bodyPr/>
          <a:lstStyle/>
          <a:p>
            <a:fld id="{98B285C1-D8A8-4E98-B28C-1FD972D8EC54}" type="slidenum">
              <a:rPr lang="en-IN" smtClean="0"/>
              <a:t>19</a:t>
            </a:fld>
            <a:endParaRPr lang="en-IN"/>
          </a:p>
        </p:txBody>
      </p:sp>
      <p:graphicFrame>
        <p:nvGraphicFramePr>
          <p:cNvPr id="4" name="Table 3">
            <a:extLst>
              <a:ext uri="{FF2B5EF4-FFF2-40B4-BE49-F238E27FC236}">
                <a16:creationId xmlns:a16="http://schemas.microsoft.com/office/drawing/2014/main" id="{B1703883-10FA-5172-1C2B-51F29EC6DF87}"/>
              </a:ext>
            </a:extLst>
          </p:cNvPr>
          <p:cNvGraphicFramePr>
            <a:graphicFrameLocks noGrp="1"/>
          </p:cNvGraphicFramePr>
          <p:nvPr>
            <p:extLst>
              <p:ext uri="{D42A27DB-BD31-4B8C-83A1-F6EECF244321}">
                <p14:modId xmlns:p14="http://schemas.microsoft.com/office/powerpoint/2010/main" val="6400198"/>
              </p:ext>
            </p:extLst>
          </p:nvPr>
        </p:nvGraphicFramePr>
        <p:xfrm>
          <a:off x="137161" y="653331"/>
          <a:ext cx="11941428" cy="6230620"/>
        </p:xfrm>
        <a:graphic>
          <a:graphicData uri="http://schemas.openxmlformats.org/drawingml/2006/table">
            <a:tbl>
              <a:tblPr/>
              <a:tblGrid>
                <a:gridCol w="359512">
                  <a:extLst>
                    <a:ext uri="{9D8B030D-6E8A-4147-A177-3AD203B41FA5}">
                      <a16:colId xmlns:a16="http://schemas.microsoft.com/office/drawing/2014/main" val="1750105837"/>
                    </a:ext>
                  </a:extLst>
                </a:gridCol>
                <a:gridCol w="548444">
                  <a:extLst>
                    <a:ext uri="{9D8B030D-6E8A-4147-A177-3AD203B41FA5}">
                      <a16:colId xmlns:a16="http://schemas.microsoft.com/office/drawing/2014/main" val="1570054097"/>
                    </a:ext>
                  </a:extLst>
                </a:gridCol>
                <a:gridCol w="1297081">
                  <a:extLst>
                    <a:ext uri="{9D8B030D-6E8A-4147-A177-3AD203B41FA5}">
                      <a16:colId xmlns:a16="http://schemas.microsoft.com/office/drawing/2014/main" val="1643830248"/>
                    </a:ext>
                  </a:extLst>
                </a:gridCol>
                <a:gridCol w="715757">
                  <a:extLst>
                    <a:ext uri="{9D8B030D-6E8A-4147-A177-3AD203B41FA5}">
                      <a16:colId xmlns:a16="http://schemas.microsoft.com/office/drawing/2014/main" val="3976109410"/>
                    </a:ext>
                  </a:extLst>
                </a:gridCol>
                <a:gridCol w="297379">
                  <a:extLst>
                    <a:ext uri="{9D8B030D-6E8A-4147-A177-3AD203B41FA5}">
                      <a16:colId xmlns:a16="http://schemas.microsoft.com/office/drawing/2014/main" val="3201281921"/>
                    </a:ext>
                  </a:extLst>
                </a:gridCol>
                <a:gridCol w="538115">
                  <a:extLst>
                    <a:ext uri="{9D8B030D-6E8A-4147-A177-3AD203B41FA5}">
                      <a16:colId xmlns:a16="http://schemas.microsoft.com/office/drawing/2014/main" val="1378247570"/>
                    </a:ext>
                  </a:extLst>
                </a:gridCol>
                <a:gridCol w="525723">
                  <a:extLst>
                    <a:ext uri="{9D8B030D-6E8A-4147-A177-3AD203B41FA5}">
                      <a16:colId xmlns:a16="http://schemas.microsoft.com/office/drawing/2014/main" val="1915441235"/>
                    </a:ext>
                  </a:extLst>
                </a:gridCol>
                <a:gridCol w="898689">
                  <a:extLst>
                    <a:ext uri="{9D8B030D-6E8A-4147-A177-3AD203B41FA5}">
                      <a16:colId xmlns:a16="http://schemas.microsoft.com/office/drawing/2014/main" val="1582997793"/>
                    </a:ext>
                  </a:extLst>
                </a:gridCol>
                <a:gridCol w="514278">
                  <a:extLst>
                    <a:ext uri="{9D8B030D-6E8A-4147-A177-3AD203B41FA5}">
                      <a16:colId xmlns:a16="http://schemas.microsoft.com/office/drawing/2014/main" val="1918419089"/>
                    </a:ext>
                  </a:extLst>
                </a:gridCol>
                <a:gridCol w="820416">
                  <a:extLst>
                    <a:ext uri="{9D8B030D-6E8A-4147-A177-3AD203B41FA5}">
                      <a16:colId xmlns:a16="http://schemas.microsoft.com/office/drawing/2014/main" val="181304142"/>
                    </a:ext>
                  </a:extLst>
                </a:gridCol>
                <a:gridCol w="740522">
                  <a:extLst>
                    <a:ext uri="{9D8B030D-6E8A-4147-A177-3AD203B41FA5}">
                      <a16:colId xmlns:a16="http://schemas.microsoft.com/office/drawing/2014/main" val="2034002417"/>
                    </a:ext>
                  </a:extLst>
                </a:gridCol>
                <a:gridCol w="1051972">
                  <a:extLst>
                    <a:ext uri="{9D8B030D-6E8A-4147-A177-3AD203B41FA5}">
                      <a16:colId xmlns:a16="http://schemas.microsoft.com/office/drawing/2014/main" val="1439566369"/>
                    </a:ext>
                  </a:extLst>
                </a:gridCol>
                <a:gridCol w="597773">
                  <a:extLst>
                    <a:ext uri="{9D8B030D-6E8A-4147-A177-3AD203B41FA5}">
                      <a16:colId xmlns:a16="http://schemas.microsoft.com/office/drawing/2014/main" val="2679719577"/>
                    </a:ext>
                  </a:extLst>
                </a:gridCol>
                <a:gridCol w="433681">
                  <a:extLst>
                    <a:ext uri="{9D8B030D-6E8A-4147-A177-3AD203B41FA5}">
                      <a16:colId xmlns:a16="http://schemas.microsoft.com/office/drawing/2014/main" val="2343521248"/>
                    </a:ext>
                  </a:extLst>
                </a:gridCol>
                <a:gridCol w="433681">
                  <a:extLst>
                    <a:ext uri="{9D8B030D-6E8A-4147-A177-3AD203B41FA5}">
                      <a16:colId xmlns:a16="http://schemas.microsoft.com/office/drawing/2014/main" val="718330108"/>
                    </a:ext>
                  </a:extLst>
                </a:gridCol>
                <a:gridCol w="433681">
                  <a:extLst>
                    <a:ext uri="{9D8B030D-6E8A-4147-A177-3AD203B41FA5}">
                      <a16:colId xmlns:a16="http://schemas.microsoft.com/office/drawing/2014/main" val="3790741006"/>
                    </a:ext>
                  </a:extLst>
                </a:gridCol>
                <a:gridCol w="433681">
                  <a:extLst>
                    <a:ext uri="{9D8B030D-6E8A-4147-A177-3AD203B41FA5}">
                      <a16:colId xmlns:a16="http://schemas.microsoft.com/office/drawing/2014/main" val="1092830570"/>
                    </a:ext>
                  </a:extLst>
                </a:gridCol>
                <a:gridCol w="433681">
                  <a:extLst>
                    <a:ext uri="{9D8B030D-6E8A-4147-A177-3AD203B41FA5}">
                      <a16:colId xmlns:a16="http://schemas.microsoft.com/office/drawing/2014/main" val="1978523718"/>
                    </a:ext>
                  </a:extLst>
                </a:gridCol>
                <a:gridCol w="433681">
                  <a:extLst>
                    <a:ext uri="{9D8B030D-6E8A-4147-A177-3AD203B41FA5}">
                      <a16:colId xmlns:a16="http://schemas.microsoft.com/office/drawing/2014/main" val="2410298836"/>
                    </a:ext>
                  </a:extLst>
                </a:gridCol>
                <a:gridCol w="433681">
                  <a:extLst>
                    <a:ext uri="{9D8B030D-6E8A-4147-A177-3AD203B41FA5}">
                      <a16:colId xmlns:a16="http://schemas.microsoft.com/office/drawing/2014/main" val="80435760"/>
                    </a:ext>
                  </a:extLst>
                </a:gridCol>
              </a:tblGrid>
              <a:tr h="100348">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Packages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dirty="0">
                          <a:solidFill>
                            <a:srgbClr val="FFFFFF"/>
                          </a:solidFill>
                          <a:effectLst/>
                          <a:highlight>
                            <a:srgbClr val="FFFF00"/>
                          </a:highlight>
                          <a:latin typeface="Adani Regular" panose="02000503000000020004" pitchFamily="2" charset="0"/>
                        </a:rPr>
                        <a:t>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dirty="0">
                          <a:solidFill>
                            <a:srgbClr val="FFFFFF"/>
                          </a:solidFill>
                          <a:effectLst/>
                          <a:latin typeface="Adani Regular" panose="02000503000000020004" pitchFamily="2" charset="0"/>
                        </a:rPr>
                        <a:t>Ordering 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dirty="0">
                          <a:solidFill>
                            <a:srgbClr val="FFFFFF"/>
                          </a:solidFill>
                          <a:effectLst/>
                          <a:highlight>
                            <a:srgbClr val="FFFF00"/>
                          </a:highlight>
                          <a:latin typeface="Adani Regular" panose="02000503000000020004" pitchFamily="2" charset="0"/>
                        </a:rPr>
                        <a:t>Balance Ordering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dirty="0">
                          <a:solidFill>
                            <a:srgbClr val="FFFFFF"/>
                          </a:solidFill>
                          <a:effectLst/>
                          <a:latin typeface="Adani Regular" panose="02000503000000020004" pitchFamily="2" charset="0"/>
                        </a:rPr>
                        <a:t>PO Number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rowSpan="2">
                  <a:txBody>
                    <a:bodyPr/>
                    <a:lstStyle/>
                    <a:p>
                      <a:pPr algn="ctr" rtl="0" fontAlgn="ctr">
                        <a:buNone/>
                      </a:pPr>
                      <a:r>
                        <a:rPr lang="en-US" sz="800" b="1" i="0" u="none" strike="noStrike" dirty="0">
                          <a:solidFill>
                            <a:srgbClr val="FFFFFF"/>
                          </a:solidFill>
                          <a:effectLst/>
                          <a:latin typeface="Adani Regular" panose="02000503000000020004" pitchFamily="2" charset="0"/>
                        </a:rPr>
                        <a:t>PO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2">
                  <a:txBody>
                    <a:bodyPr/>
                    <a:lstStyle/>
                    <a:p>
                      <a:pPr algn="ctr" rtl="0" fontAlgn="ctr">
                        <a:buNone/>
                      </a:pPr>
                      <a:r>
                        <a:rPr lang="en-US" sz="800" b="1" i="0" u="none" strike="noStrike" dirty="0">
                          <a:solidFill>
                            <a:srgbClr val="FFFFFF"/>
                          </a:solidFill>
                          <a:effectLst/>
                          <a:latin typeface="Adani Regular" panose="02000503000000020004" pitchFamily="2" charset="0"/>
                        </a:rPr>
                        <a:t>Expected Delivery at Site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gridSpan="2">
                  <a:txBody>
                    <a:bodyPr/>
                    <a:lstStyle/>
                    <a:p>
                      <a:pPr algn="ctr" fontAlgn="b">
                        <a:buNone/>
                      </a:pPr>
                      <a:r>
                        <a:rPr lang="en-US" sz="800" b="1" i="0" u="none" strike="noStrike">
                          <a:solidFill>
                            <a:srgbClr val="FFFFFF"/>
                          </a:solidFill>
                          <a:effectLst/>
                          <a:latin typeface="Adani Regular" panose="02000503000000020004" pitchFamily="2" charset="0"/>
                        </a:rPr>
                        <a:t>Manufacturing Status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Delivered At Site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gridSpan="5">
                  <a:txBody>
                    <a:bodyPr/>
                    <a:lstStyle/>
                    <a:p>
                      <a:pPr algn="ctr" rtl="0" fontAlgn="ctr">
                        <a:buNone/>
                      </a:pPr>
                      <a:r>
                        <a:rPr lang="en-US" sz="800" b="1" i="0" u="none" strike="noStrike">
                          <a:solidFill>
                            <a:srgbClr val="FFFFFF"/>
                          </a:solidFill>
                          <a:effectLst/>
                          <a:latin typeface="Adani Regular" panose="02000503000000020004" pitchFamily="2" charset="0"/>
                        </a:rPr>
                        <a:t>Forecast Delivery Schedule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Remarks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607064942"/>
                  </a:ext>
                </a:extLst>
              </a:tr>
              <a:tr h="20069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Start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Finish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QAP Acceptance </a:t>
                      </a:r>
                    </a:p>
                    <a:p>
                      <a:pPr algn="ctr" fontAlgn="ctr">
                        <a:buNone/>
                      </a:pPr>
                      <a:r>
                        <a:rPr lang="en-US" sz="800" b="1" i="0" u="none" strike="noStrike">
                          <a:solidFill>
                            <a:srgbClr val="FFFFFF"/>
                          </a:solidFill>
                          <a:effectLst/>
                          <a:latin typeface="Adani Regular" panose="02000503000000020004" pitchFamily="2" charset="0"/>
                        </a:rPr>
                        <a:t>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fontAlgn="ctr">
                        <a:buNone/>
                      </a:pPr>
                      <a:r>
                        <a:rPr lang="en-US" sz="800" b="1" i="0" u="none" strike="noStrike">
                          <a:solidFill>
                            <a:srgbClr val="FFFFFF"/>
                          </a:solidFill>
                          <a:effectLst/>
                          <a:latin typeface="Adani Regular" panose="02000503000000020004" pitchFamily="2" charset="0"/>
                        </a:rPr>
                        <a:t>MC Date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tc vMerge="1">
                  <a:txBody>
                    <a:bodyPr/>
                    <a:lstStyle/>
                    <a:p>
                      <a:pPr algn="ctr" rtl="0" fontAlgn="ctr">
                        <a:buNone/>
                      </a:pPr>
                      <a:endParaRPr lang="en-US" sz="900" b="1" i="0" u="none" strike="noStrike">
                        <a:solidFill>
                          <a:srgbClr val="FFFFFF"/>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2170"/>
                    </a:solidFill>
                  </a:tcPr>
                </a:tc>
                <a:extLst>
                  <a:ext uri="{0D108BD9-81ED-4DB2-BD59-A6C34878D82A}">
                    <a16:rowId xmlns:a16="http://schemas.microsoft.com/office/drawing/2014/main" val="1741606767"/>
                  </a:ext>
                </a:extLst>
              </a:tr>
              <a:tr h="1906611">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Battery Container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err="1">
                          <a:solidFill>
                            <a:srgbClr val="000000"/>
                          </a:solidFill>
                          <a:effectLst/>
                          <a:latin typeface="Adani Regular" panose="02000503000000020004" pitchFamily="2" charset="0"/>
                        </a:rPr>
                        <a:t>GreatPower</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168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168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dirty="0">
                          <a:solidFill>
                            <a:srgbClr val="000000"/>
                          </a:solidFill>
                          <a:effectLst/>
                          <a:latin typeface="Adani Regular" panose="02000503000000020004" pitchFamily="2" charset="0"/>
                        </a:rPr>
                        <a:t>10-Sep-26</a:t>
                      </a:r>
                    </a:p>
                    <a:p>
                      <a:pPr algn="ctr" fontAlgn="ctr">
                        <a:buNone/>
                      </a:pPr>
                      <a:r>
                        <a:rPr lang="en-US" sz="800" b="0" i="0" u="none" strike="sngStrike" dirty="0">
                          <a:solidFill>
                            <a:srgbClr val="000000"/>
                          </a:solidFill>
                          <a:effectLst/>
                          <a:latin typeface="Adani Regular" panose="02000503000000020004" pitchFamily="2" charset="0"/>
                        </a:rPr>
                        <a:t>31-Oct-26</a:t>
                      </a:r>
                    </a:p>
                    <a:p>
                      <a:pPr algn="ctr" fontAlgn="ctr">
                        <a:buNone/>
                      </a:pPr>
                      <a:r>
                        <a:rPr lang="en-US" sz="800" b="0" i="0" u="none" strike="sngStrike" dirty="0">
                          <a:solidFill>
                            <a:srgbClr val="000000"/>
                          </a:solidFill>
                          <a:effectLst/>
                          <a:latin typeface="Adani Regular" panose="02000503000000020004" pitchFamily="2" charset="0"/>
                        </a:rPr>
                        <a:t>17-Dec-26</a:t>
                      </a:r>
                    </a:p>
                    <a:p>
                      <a:pPr algn="ctr" fontAlgn="ctr">
                        <a:buNone/>
                      </a:pPr>
                      <a:r>
                        <a:rPr lang="en-US" sz="800" b="0" i="0" u="none" strike="noStrike" kern="1200" dirty="0">
                          <a:solidFill>
                            <a:schemeClr val="tx1"/>
                          </a:solidFill>
                          <a:effectLst/>
                          <a:latin typeface="Adani Light"/>
                          <a:ea typeface="+mn-ea"/>
                          <a:cs typeface="+mn-cs"/>
                        </a:rPr>
                        <a:t>31-Aug-26</a:t>
                      </a:r>
                      <a:endParaRPr lang="en-US" sz="8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18-Nov-26</a:t>
                      </a:r>
                    </a:p>
                    <a:p>
                      <a:pPr algn="ctr" fontAlgn="ctr">
                        <a:buNone/>
                      </a:pPr>
                      <a:r>
                        <a:rPr lang="en-US" sz="800" b="0" i="0" u="none" strike="sngStrike">
                          <a:solidFill>
                            <a:srgbClr val="000000"/>
                          </a:solidFill>
                          <a:effectLst/>
                          <a:latin typeface="Adani Regular" panose="02000503000000020004" pitchFamily="2" charset="0"/>
                        </a:rPr>
                        <a:t>31-Dec-26</a:t>
                      </a:r>
                    </a:p>
                    <a:p>
                      <a:pPr algn="ctr" fontAlgn="ctr">
                        <a:buNone/>
                      </a:pPr>
                      <a:r>
                        <a:rPr lang="en-US" sz="800" b="0" i="0" u="none" strike="sngStrike">
                          <a:solidFill>
                            <a:srgbClr val="000000"/>
                          </a:solidFill>
                          <a:effectLst/>
                          <a:latin typeface="Adani Regular" panose="02000503000000020004" pitchFamily="2" charset="0"/>
                        </a:rPr>
                        <a:t>14-Jan-27</a:t>
                      </a:r>
                    </a:p>
                    <a:p>
                      <a:pPr algn="ctr" fontAlgn="ctr">
                        <a:buNone/>
                      </a:pPr>
                      <a:r>
                        <a:rPr lang="en-US" sz="800" b="0" i="0" u="none" strike="noStrike" kern="1200">
                          <a:solidFill>
                            <a:schemeClr val="tx1"/>
                          </a:solidFill>
                          <a:effectLst/>
                          <a:latin typeface="Adani Light"/>
                          <a:ea typeface="+mn-ea"/>
                          <a:cs typeface="+mn-cs"/>
                        </a:rPr>
                        <a:t>31-Oct-26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17 Nov 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12 Mar 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Adani Regular" panose="02000503000000020004" pitchFamily="2" charset="0"/>
                        </a:rPr>
                        <a:t>Discussed with GP and the final dispatch date is 30-Sep which can reach at site by 31-Oct-26 with no implication of LD for 30 days.</a:t>
                      </a:r>
                    </a:p>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657264232"/>
                  </a:ext>
                </a:extLst>
              </a:tr>
              <a:tr h="401392">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Shenzen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5310000935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25-Aug-26</a:t>
                      </a:r>
                    </a:p>
                    <a:p>
                      <a:pPr algn="ctr" fontAlgn="ctr">
                        <a:buNone/>
                      </a:pPr>
                      <a:r>
                        <a:rPr lang="en-US" sz="800" b="0" i="0" u="none" strike="sngStrike">
                          <a:solidFill>
                            <a:srgbClr val="000000"/>
                          </a:solidFill>
                          <a:effectLst/>
                          <a:latin typeface="Adani Regular" panose="02000503000000020004" pitchFamily="2" charset="0"/>
                        </a:rPr>
                        <a:t>15-Oct-26</a:t>
                      </a:r>
                    </a:p>
                    <a:p>
                      <a:pPr algn="ctr" fontAlgn="ctr">
                        <a:buNone/>
                      </a:pPr>
                      <a:r>
                        <a:rPr lang="en-US" sz="800" b="0" i="0" u="none" strike="sngStrike">
                          <a:solidFill>
                            <a:srgbClr val="000000"/>
                          </a:solidFill>
                          <a:effectLst/>
                          <a:latin typeface="Adani Regular" panose="02000503000000020004" pitchFamily="2" charset="0"/>
                        </a:rPr>
                        <a:t>Nov-26</a:t>
                      </a:r>
                    </a:p>
                    <a:p>
                      <a:pPr algn="ctr" fontAlgn="ctr">
                        <a:buNone/>
                      </a:pPr>
                      <a:r>
                        <a:rPr lang="en-US" sz="800" b="0" i="0" u="none" strike="noStrike" kern="1200">
                          <a:solidFill>
                            <a:schemeClr val="tx1"/>
                          </a:solidFill>
                          <a:effectLst/>
                          <a:latin typeface="Adani Light"/>
                          <a:ea typeface="+mn-ea"/>
                          <a:cs typeface="+mn-cs"/>
                        </a:rPr>
                        <a:t>24-Aug-26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25-Oct-26</a:t>
                      </a:r>
                    </a:p>
                    <a:p>
                      <a:pPr algn="ctr" fontAlgn="ctr">
                        <a:buNone/>
                      </a:pPr>
                      <a:r>
                        <a:rPr lang="en-US" sz="800" b="0" i="0" u="none" strike="sngStrike">
                          <a:solidFill>
                            <a:srgbClr val="000000"/>
                          </a:solidFill>
                          <a:effectLst/>
                          <a:latin typeface="Adani Regular" panose="02000503000000020004" pitchFamily="2" charset="0"/>
                        </a:rPr>
                        <a:t>15-Dec-26</a:t>
                      </a:r>
                    </a:p>
                    <a:p>
                      <a:pPr algn="ctr" fontAlgn="ctr">
                        <a:buNone/>
                      </a:pPr>
                      <a:r>
                        <a:rPr lang="en-US" sz="800" b="0" i="0" u="none" strike="sngStrike">
                          <a:solidFill>
                            <a:srgbClr val="000000"/>
                          </a:solidFill>
                          <a:effectLst/>
                          <a:latin typeface="Adani Regular" panose="02000503000000020004" pitchFamily="2" charset="0"/>
                        </a:rPr>
                        <a:t>Jan-27</a:t>
                      </a:r>
                    </a:p>
                    <a:p>
                      <a:pPr algn="ctr" fontAlgn="ctr">
                        <a:buNone/>
                      </a:pPr>
                      <a:r>
                        <a:rPr lang="en-US" sz="800" b="0" i="0" u="none" strike="noStrike" kern="1200">
                          <a:solidFill>
                            <a:schemeClr val="tx1"/>
                          </a:solidFill>
                          <a:effectLst/>
                          <a:latin typeface="Adani Light"/>
                          <a:ea typeface="+mn-ea"/>
                          <a:cs typeface="+mn-cs"/>
                        </a:rPr>
                        <a:t>04-Oct-26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71924260"/>
                  </a:ext>
                </a:extLst>
              </a:tr>
              <a:tr h="301044">
                <a:tc>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Emerson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5-Oct-26</a:t>
                      </a:r>
                    </a:p>
                    <a:p>
                      <a:pPr algn="ctr" fontAlgn="ctr">
                        <a:buNone/>
                      </a:pPr>
                      <a:r>
                        <a:rPr lang="en-US" sz="800" b="0" i="0" u="none" strike="sngStrike">
                          <a:solidFill>
                            <a:srgbClr val="000000"/>
                          </a:solidFill>
                          <a:effectLst/>
                          <a:latin typeface="Adani Regular" panose="02000503000000020004" pitchFamily="2" charset="0"/>
                        </a:rPr>
                        <a:t>1-Dec-26</a:t>
                      </a:r>
                    </a:p>
                    <a:p>
                      <a:pPr algn="ctr" fontAlgn="ctr">
                        <a:buNone/>
                      </a:pPr>
                      <a:r>
                        <a:rPr lang="en-US" sz="800" b="0" i="0" u="none" strike="noStrike" kern="1200">
                          <a:solidFill>
                            <a:schemeClr val="tx1"/>
                          </a:solidFill>
                          <a:effectLst/>
                          <a:latin typeface="Adani Light"/>
                          <a:ea typeface="+mn-ea"/>
                          <a:cs typeface="+mn-cs"/>
                        </a:rPr>
                        <a:t>31-Aug-26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25-Oct-26</a:t>
                      </a:r>
                    </a:p>
                    <a:p>
                      <a:pPr algn="ctr" fontAlgn="ctr">
                        <a:buNone/>
                      </a:pPr>
                      <a:r>
                        <a:rPr lang="en-US" sz="800" b="0" i="0" u="none" strike="sngStrike">
                          <a:solidFill>
                            <a:srgbClr val="000000"/>
                          </a:solidFill>
                          <a:effectLst/>
                          <a:latin typeface="Adani Regular" panose="02000503000000020004" pitchFamily="2" charset="0"/>
                        </a:rPr>
                        <a:t>1-Dec-26</a:t>
                      </a:r>
                    </a:p>
                    <a:p>
                      <a:pPr algn="ctr" fontAlgn="ctr">
                        <a:buNone/>
                      </a:pPr>
                      <a:r>
                        <a:rPr lang="en-US" sz="800" b="0" i="0" u="none" strike="noStrike" kern="1200">
                          <a:solidFill>
                            <a:schemeClr val="tx1"/>
                          </a:solidFill>
                          <a:effectLst/>
                          <a:latin typeface="Adani Light"/>
                          <a:ea typeface="+mn-ea"/>
                          <a:cs typeface="+mn-cs"/>
                        </a:rPr>
                        <a:t>31-Aug-26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(28/05/25)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a:t>
                      </a:r>
                    </a:p>
                    <a:p>
                      <a:pPr algn="ctr" fontAlgn="ctr">
                        <a:buNone/>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15324750"/>
                  </a:ext>
                </a:extLst>
              </a:tr>
              <a:tr h="301044">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Converter Transformer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Ornet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dirty="0">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22-Sep-26</a:t>
                      </a:r>
                    </a:p>
                    <a:p>
                      <a:pPr algn="ctr" fontAlgn="ctr">
                        <a:buNone/>
                      </a:pPr>
                      <a:r>
                        <a:rPr lang="en-US" sz="800" b="0" i="0" u="none" strike="noStrike" kern="1200">
                          <a:solidFill>
                            <a:schemeClr val="tx1"/>
                          </a:solidFill>
                          <a:effectLst/>
                          <a:latin typeface="Adani Light"/>
                          <a:ea typeface="+mn-ea"/>
                          <a:cs typeface="+mn-cs"/>
                        </a:rPr>
                        <a:t>01-Aug-26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30-Sep-26</a:t>
                      </a:r>
                    </a:p>
                    <a:p>
                      <a:pPr algn="ctr" fontAlgn="ctr">
                        <a:buNone/>
                      </a:pPr>
                      <a:r>
                        <a:rPr lang="en-US" sz="800" b="0" i="0" u="none" strike="sngStrike">
                          <a:solidFill>
                            <a:srgbClr val="000000"/>
                          </a:solidFill>
                          <a:effectLst/>
                          <a:latin typeface="Adani Regular" panose="02000503000000020004" pitchFamily="2" charset="0"/>
                        </a:rPr>
                        <a:t>24-Oct-26</a:t>
                      </a:r>
                    </a:p>
                    <a:p>
                      <a:pPr algn="ctr" fontAlgn="ctr">
                        <a:buNone/>
                      </a:pPr>
                      <a:r>
                        <a:rPr lang="en-US" sz="800" b="0" i="0" u="none" strike="noStrike" kern="1200">
                          <a:solidFill>
                            <a:schemeClr val="tx1"/>
                          </a:solidFill>
                          <a:effectLst/>
                          <a:latin typeface="Adani Light"/>
                          <a:ea typeface="+mn-ea"/>
                          <a:cs typeface="+mn-cs"/>
                        </a:rPr>
                        <a:t>31-Aug-26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25-Feb-26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27-Feb-26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874194624"/>
                  </a:ext>
                </a:extLst>
              </a:tr>
              <a:tr h="200696">
                <a:tc>
                  <a:txBody>
                    <a:bodyPr/>
                    <a:lstStyle/>
                    <a:p>
                      <a:pPr algn="ctr" rtl="0" fontAlgn="ctr">
                        <a:buNone/>
                      </a:pPr>
                      <a:r>
                        <a:rPr lang="en-US" sz="800" b="0" i="0" u="none" strike="noStrike">
                          <a:solidFill>
                            <a:srgbClr val="000000"/>
                          </a:solidFill>
                          <a:effectLst/>
                          <a:latin typeface="Adani Regular" panose="02000503000000020004" pitchFamily="2" charset="0"/>
                        </a:rPr>
                        <a:t>5</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CSS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Akshar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16-Jan-26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25-Jul-26</a:t>
                      </a:r>
                    </a:p>
                    <a:p>
                      <a:pPr algn="ctr" fontAlgn="ctr">
                        <a:buNone/>
                      </a:pPr>
                      <a:r>
                        <a:rPr lang="en-US" sz="800" b="0" i="0" u="none" strike="noStrike" kern="1200">
                          <a:solidFill>
                            <a:schemeClr val="tx1"/>
                          </a:solidFill>
                          <a:effectLst/>
                          <a:latin typeface="Adani Light"/>
                          <a:ea typeface="+mn-ea"/>
                          <a:cs typeface="+mn-cs"/>
                        </a:rPr>
                        <a:t>15-Jul-26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30-Aug-26</a:t>
                      </a:r>
                    </a:p>
                    <a:p>
                      <a:pPr algn="ctr" fontAlgn="ctr">
                        <a:buNone/>
                      </a:pPr>
                      <a:r>
                        <a:rPr lang="en-US" sz="800" b="0" i="0" u="none" strike="noStrike" kern="1200">
                          <a:solidFill>
                            <a:schemeClr val="tx1"/>
                          </a:solidFill>
                          <a:effectLst/>
                          <a:latin typeface="Adani Light"/>
                          <a:ea typeface="+mn-ea"/>
                          <a:cs typeface="+mn-cs"/>
                        </a:rPr>
                        <a:t>15-Aug-26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(27/05/25)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037893912"/>
                  </a:ext>
                </a:extLst>
              </a:tr>
              <a:tr h="213911">
                <a:tc>
                  <a:txBody>
                    <a:bodyPr/>
                    <a:lstStyle/>
                    <a:p>
                      <a:pPr algn="ctr" rtl="0" fontAlgn="ctr">
                        <a:buNone/>
                      </a:pPr>
                      <a:r>
                        <a:rPr lang="en-US" sz="800" b="0" i="0" u="none" strike="noStrike">
                          <a:solidFill>
                            <a:srgbClr val="000000"/>
                          </a:solidFill>
                          <a:effectLst/>
                          <a:latin typeface="Adani Regular" panose="02000503000000020004" pitchFamily="2" charset="0"/>
                        </a:rPr>
                        <a:t>6</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MV Switchgear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Symatic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 4510021119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22-Sep-26</a:t>
                      </a:r>
                    </a:p>
                    <a:p>
                      <a:pPr algn="ctr" fontAlgn="ctr">
                        <a:buNone/>
                      </a:pPr>
                      <a:r>
                        <a:rPr lang="en-US" sz="800" b="0" i="0" u="none" strike="noStrike" kern="1200">
                          <a:solidFill>
                            <a:schemeClr val="tx1"/>
                          </a:solidFill>
                          <a:effectLst/>
                          <a:latin typeface="Adani Light"/>
                          <a:ea typeface="+mn-ea"/>
                          <a:cs typeface="+mn-cs"/>
                        </a:rPr>
                        <a:t>01-Jul-26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24-Oct-26</a:t>
                      </a:r>
                    </a:p>
                    <a:p>
                      <a:pPr algn="ctr" fontAlgn="ctr">
                        <a:buNone/>
                      </a:pPr>
                      <a:r>
                        <a:rPr lang="en-US" sz="800" b="0" i="0" u="none" strike="noStrike" kern="1200">
                          <a:solidFill>
                            <a:schemeClr val="tx1"/>
                          </a:solidFill>
                          <a:effectLst/>
                          <a:latin typeface="Adani Light"/>
                          <a:ea typeface="+mn-ea"/>
                          <a:cs typeface="+mn-cs"/>
                        </a:rPr>
                        <a:t>31-Jul-26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(21/05/25)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dani Regular" panose="02000503000000020004" pitchFamily="2"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810701182"/>
                  </a:ext>
                </a:extLst>
              </a:tr>
              <a:tr h="301044">
                <a:tc>
                  <a:txBody>
                    <a:bodyPr/>
                    <a:lstStyle/>
                    <a:p>
                      <a:pPr algn="ctr" rtl="0" fontAlgn="ctr">
                        <a:buNone/>
                      </a:pPr>
                      <a:r>
                        <a:rPr lang="en-US" sz="800" b="0" i="0" u="none" strike="noStrike">
                          <a:solidFill>
                            <a:srgbClr val="000000"/>
                          </a:solidFill>
                          <a:effectLst/>
                          <a:latin typeface="Adani Regular" panose="02000503000000020004" pitchFamily="2" charset="0"/>
                        </a:rPr>
                        <a:t>7</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HT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31-Dec-25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1-Apr-26</a:t>
                      </a:r>
                    </a:p>
                    <a:p>
                      <a:pPr algn="ctr" fontAlgn="ctr">
                        <a:buNone/>
                      </a:pPr>
                      <a:r>
                        <a:rPr lang="en-US" sz="800" b="0" i="0" u="none" strike="sngStrike">
                          <a:solidFill>
                            <a:srgbClr val="000000"/>
                          </a:solidFill>
                          <a:effectLst/>
                          <a:latin typeface="Adani Regular" panose="02000503000000020004" pitchFamily="2" charset="0"/>
                        </a:rPr>
                        <a:t>30-May-26</a:t>
                      </a:r>
                    </a:p>
                    <a:p>
                      <a:pPr algn="ctr" fontAlgn="ctr">
                        <a:buNone/>
                      </a:pPr>
                      <a:r>
                        <a:rPr lang="en-US" sz="800" b="0" i="0" u="none" strike="noStrike" kern="1200">
                          <a:solidFill>
                            <a:schemeClr val="tx1"/>
                          </a:solidFill>
                          <a:effectLst/>
                          <a:latin typeface="Adani Light"/>
                          <a:ea typeface="+mn-ea"/>
                          <a:cs typeface="+mn-cs"/>
                        </a:rPr>
                        <a:t>20-Jun-26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30-Apr-26</a:t>
                      </a:r>
                    </a:p>
                    <a:p>
                      <a:pPr algn="ctr" fontAlgn="ctr">
                        <a:buNone/>
                      </a:pPr>
                      <a:r>
                        <a:rPr lang="en-US" sz="800" b="0" i="0" u="none" strike="sngStrike">
                          <a:solidFill>
                            <a:srgbClr val="000000"/>
                          </a:solidFill>
                          <a:effectLst/>
                          <a:latin typeface="Adani Regular" panose="02000503000000020004" pitchFamily="2" charset="0"/>
                        </a:rPr>
                        <a:t>30-May</a:t>
                      </a:r>
                    </a:p>
                    <a:p>
                      <a:pPr algn="ctr" fontAlgn="ctr">
                        <a:buNone/>
                      </a:pPr>
                      <a:r>
                        <a:rPr lang="en-US" sz="800" b="0" i="0" u="none" strike="noStrike" kern="1200">
                          <a:solidFill>
                            <a:schemeClr val="tx1"/>
                          </a:solidFill>
                          <a:effectLst/>
                          <a:latin typeface="Adani Light"/>
                          <a:ea typeface="+mn-ea"/>
                          <a:cs typeface="+mn-cs"/>
                        </a:rPr>
                        <a:t>20-Jun-26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12-Jan-26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14-Jan-26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177348849"/>
                  </a:ext>
                </a:extLst>
              </a:tr>
              <a:tr h="301044">
                <a:tc>
                  <a:txBody>
                    <a:bodyPr/>
                    <a:lstStyle/>
                    <a:p>
                      <a:pPr algn="ctr" rtl="0" fontAlgn="ctr">
                        <a:buNone/>
                      </a:pPr>
                      <a:r>
                        <a:rPr lang="en-US" sz="800" b="0" i="0" u="none" strike="noStrike">
                          <a:solidFill>
                            <a:srgbClr val="000000"/>
                          </a:solidFill>
                          <a:effectLst/>
                          <a:latin typeface="Adani Regular" panose="02000503000000020004" pitchFamily="2" charset="0"/>
                        </a:rPr>
                        <a:t>8</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DC &amp; LT Cables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PARAMOUNT, Diamond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4510021280 &amp; 4510021284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1-Apr-26</a:t>
                      </a:r>
                    </a:p>
                    <a:p>
                      <a:pPr algn="ctr" fontAlgn="ctr">
                        <a:buNone/>
                      </a:pPr>
                      <a:r>
                        <a:rPr lang="en-US" sz="800" b="0" i="0" u="none" strike="sngStrike">
                          <a:solidFill>
                            <a:srgbClr val="000000"/>
                          </a:solidFill>
                          <a:effectLst/>
                          <a:latin typeface="Adani Regular" panose="02000503000000020004" pitchFamily="2" charset="0"/>
                        </a:rPr>
                        <a:t>01-May-26</a:t>
                      </a:r>
                    </a:p>
                    <a:p>
                      <a:pPr marL="0" marR="0" lvl="0" indent="0" algn="ctr" defTabSz="91440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18-May-26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30-Apr-26</a:t>
                      </a:r>
                    </a:p>
                    <a:p>
                      <a:pPr algn="ctr" fontAlgn="ctr">
                        <a:buNone/>
                      </a:pPr>
                      <a:r>
                        <a:rPr lang="en-US" sz="800" b="0" i="0" u="none" strike="sngStrike">
                          <a:solidFill>
                            <a:srgbClr val="000000"/>
                          </a:solidFill>
                          <a:effectLst/>
                          <a:latin typeface="Adani Regular" panose="02000503000000020004" pitchFamily="2" charset="0"/>
                        </a:rPr>
                        <a:t>31-May-26</a:t>
                      </a:r>
                    </a:p>
                    <a:p>
                      <a:pPr algn="ctr" fontAlgn="ctr">
                        <a:buNone/>
                      </a:pPr>
                      <a:r>
                        <a:rPr lang="en-US" sz="800" b="0" i="0" u="none" strike="noStrike" kern="1200">
                          <a:solidFill>
                            <a:schemeClr val="tx1"/>
                          </a:solidFill>
                          <a:effectLst/>
                          <a:latin typeface="Adani Light"/>
                          <a:ea typeface="+mn-ea"/>
                          <a:cs typeface="+mn-cs"/>
                        </a:rPr>
                        <a:t>31-Jul-26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07-02-26 &amp;</a:t>
                      </a:r>
                    </a:p>
                    <a:p>
                      <a:pPr algn="ctr" fontAlgn="ctr">
                        <a:buNone/>
                      </a:pPr>
                      <a:r>
                        <a:rPr lang="en-US" sz="800" b="0" i="0" u="none" strike="noStrike">
                          <a:solidFill>
                            <a:srgbClr val="000000"/>
                          </a:solidFill>
                          <a:effectLst/>
                          <a:latin typeface="Adani Regular" panose="02000503000000020004" pitchFamily="2" charset="0"/>
                        </a:rPr>
                        <a:t>23-01-26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9-Feb-26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221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135914725"/>
                  </a:ext>
                </a:extLst>
              </a:tr>
              <a:tr h="200696">
                <a:tc>
                  <a:txBody>
                    <a:bodyPr/>
                    <a:lstStyle/>
                    <a:p>
                      <a:pPr algn="ctr" rtl="0" fontAlgn="ctr">
                        <a:buNone/>
                      </a:pPr>
                      <a:r>
                        <a:rPr lang="en-US" sz="800" b="0" i="0" u="none" strike="noStrike">
                          <a:solidFill>
                            <a:srgbClr val="33CC33"/>
                          </a:solidFill>
                          <a:effectLst/>
                          <a:latin typeface="Adani Regular" panose="02000503000000020004" pitchFamily="2" charset="0"/>
                        </a:rPr>
                        <a:t>9</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Control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Gemscab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4510021264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19-Jan-26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15-Apr-26</a:t>
                      </a:r>
                    </a:p>
                    <a:p>
                      <a:pPr algn="ctr" fontAlgn="ctr">
                        <a:buNone/>
                      </a:pPr>
                      <a:r>
                        <a:rPr lang="en-US" sz="800" b="0" i="0" u="none" strike="noStrike">
                          <a:solidFill>
                            <a:srgbClr val="33CC33"/>
                          </a:solidFill>
                          <a:effectLst/>
                          <a:latin typeface="Adani Regular" panose="02000503000000020004" pitchFamily="2" charset="0"/>
                        </a:rPr>
                        <a:t>01-May-26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33CC33"/>
                          </a:solidFill>
                          <a:effectLst/>
                          <a:latin typeface="Adani Regular" panose="02000503000000020004" pitchFamily="2" charset="0"/>
                        </a:rPr>
                        <a:t>30-Apr-26</a:t>
                      </a:r>
                    </a:p>
                    <a:p>
                      <a:pPr algn="ctr" fontAlgn="ctr">
                        <a:buNone/>
                      </a:pPr>
                      <a:r>
                        <a:rPr lang="en-US" sz="800" b="0" i="0" u="none" strike="noStrike">
                          <a:solidFill>
                            <a:srgbClr val="33CC33"/>
                          </a:solidFill>
                          <a:effectLst/>
                          <a:latin typeface="Adani Regular" panose="02000503000000020004" pitchFamily="2" charset="0"/>
                        </a:rPr>
                        <a:t>31-May-26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15-Jan-26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33CC33"/>
                          </a:solidFill>
                          <a:effectLst/>
                          <a:latin typeface="Adani Regular" panose="02000503000000020004" pitchFamily="2" charset="0"/>
                        </a:rPr>
                        <a:t>17-Jan-26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33CC33"/>
                          </a:solidFill>
                          <a:effectLst/>
                          <a:latin typeface="Adani Regular" panose="02000503000000020004" pitchFamily="2"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5">
                  <a:txBody>
                    <a:bodyPr/>
                    <a:lstStyle/>
                    <a:p>
                      <a:pPr algn="ctr" rtl="0" fontAlgn="ctr">
                        <a:buNone/>
                      </a:pPr>
                      <a:r>
                        <a:rPr lang="en-US" sz="800" b="0" i="0" u="none" strike="noStrike">
                          <a:solidFill>
                            <a:srgbClr val="33CC33"/>
                          </a:solidFill>
                          <a:effectLst/>
                          <a:latin typeface="Adani Regular" panose="02000503000000020004" pitchFamily="2" charset="0"/>
                        </a:rPr>
                        <a:t>Completed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pPr algn="ctr" rtl="0" fontAlgn="ctr">
                        <a:buNone/>
                      </a:pPr>
                      <a:endParaRPr lang="en-US" sz="9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33CC33"/>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788931383"/>
                  </a:ext>
                </a:extLst>
              </a:tr>
              <a:tr h="301044">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SCADA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M/s Delton &amp; M/s Suyog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150</a:t>
                      </a:r>
                    </a:p>
                    <a:p>
                      <a:pPr algn="ctr" rtl="0" fontAlgn="ctr">
                        <a:buNone/>
                      </a:pPr>
                      <a:r>
                        <a:rPr lang="en-US" sz="800" b="0" i="0" u="none" strike="noStrike">
                          <a:solidFill>
                            <a:srgbClr val="000000"/>
                          </a:solidFill>
                          <a:effectLst/>
                          <a:latin typeface="Adani Regular" panose="02000503000000020004" pitchFamily="2" charset="0"/>
                        </a:rPr>
                        <a:t>114.5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150</a:t>
                      </a:r>
                    </a:p>
                    <a:p>
                      <a:pPr algn="ctr" rtl="0" fontAlgn="ctr">
                        <a:buNone/>
                      </a:pPr>
                      <a:r>
                        <a:rPr lang="en-US" sz="800" b="0" i="0" u="none" strike="noStrike">
                          <a:solidFill>
                            <a:srgbClr val="000000"/>
                          </a:solidFill>
                          <a:effectLst/>
                          <a:latin typeface="Adani Regular" panose="02000503000000020004" pitchFamily="2" charset="0"/>
                        </a:rPr>
                        <a:t>114.5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4510021160 &amp; 4510021166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01-Apr-26</a:t>
                      </a:r>
                    </a:p>
                    <a:p>
                      <a:pPr algn="ctr" fontAlgn="ctr">
                        <a:buNone/>
                      </a:pPr>
                      <a:r>
                        <a:rPr lang="en-US" sz="800" b="0" i="0" u="none" strike="sngStrike">
                          <a:solidFill>
                            <a:srgbClr val="000000"/>
                          </a:solidFill>
                          <a:effectLst/>
                          <a:latin typeface="Adani Regular" panose="02000503000000020004" pitchFamily="2" charset="0"/>
                        </a:rPr>
                        <a:t>01-May-26</a:t>
                      </a:r>
                    </a:p>
                    <a:p>
                      <a:pPr algn="ctr" fontAlgn="ctr">
                        <a:buNone/>
                      </a:pPr>
                      <a:r>
                        <a:rPr lang="en-US" sz="800" b="0" i="0" u="none" strike="noStrike">
                          <a:solidFill>
                            <a:srgbClr val="000000"/>
                          </a:solidFill>
                          <a:effectLst/>
                          <a:latin typeface="Adani Regular" panose="02000503000000020004" pitchFamily="2" charset="0"/>
                        </a:rPr>
                        <a:t>18-May-26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20-Jun-26</a:t>
                      </a:r>
                    </a:p>
                    <a:p>
                      <a:pPr algn="ctr" fontAlgn="ctr">
                        <a:buNone/>
                      </a:pPr>
                      <a:r>
                        <a:rPr lang="en-US" sz="800" b="0" i="0" u="none" strike="noStrike" kern="1200">
                          <a:solidFill>
                            <a:schemeClr val="tx1"/>
                          </a:solidFill>
                          <a:effectLst/>
                          <a:latin typeface="Adani Light"/>
                          <a:ea typeface="+mn-ea"/>
                          <a:cs typeface="+mn-cs"/>
                        </a:rPr>
                        <a:t>30-Jun-26</a:t>
                      </a: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8-Jan-26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10-Jan-26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720629220"/>
                  </a:ext>
                </a:extLst>
              </a:tr>
              <a:tr h="411845">
                <a:tc>
                  <a:txBody>
                    <a:bodyPr/>
                    <a:lstStyle/>
                    <a:p>
                      <a:pPr algn="ctr" rtl="0" fontAlgn="ctr">
                        <a:buNone/>
                      </a:pPr>
                      <a:r>
                        <a:rPr lang="en-US" sz="800" b="0" i="0" u="none" strike="noStrike">
                          <a:solidFill>
                            <a:srgbClr val="000000"/>
                          </a:solidFill>
                          <a:effectLst/>
                          <a:latin typeface="Adani Regular" panose="02000503000000020004" pitchFamily="2" charset="0"/>
                        </a:rPr>
                        <a:t>11</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 Cable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Paramount</a:t>
                      </a:r>
                      <a:br>
                        <a:rPr lang="en-US" sz="800" b="0" i="0" u="none" strike="sngStrike">
                          <a:solidFill>
                            <a:srgbClr val="000000"/>
                          </a:solidFill>
                          <a:effectLst/>
                          <a:latin typeface="Adani Regular" panose="02000503000000020004" pitchFamily="2" charset="0"/>
                        </a:rPr>
                      </a:br>
                      <a:r>
                        <a:rPr lang="en-US" sz="800" b="0" i="0" u="none" strike="noStrike" err="1">
                          <a:solidFill>
                            <a:srgbClr val="000000"/>
                          </a:solidFill>
                          <a:effectLst/>
                          <a:latin typeface="Adani Regular" panose="02000503000000020004" pitchFamily="2" charset="0"/>
                        </a:rPr>
                        <a:t>WestCoast</a:t>
                      </a:r>
                      <a:endParaRPr lang="en-US" sz="800" b="0" i="0" u="none" strike="noStrike">
                        <a:solidFill>
                          <a:srgbClr val="000000"/>
                        </a:solidFill>
                        <a:effectLst/>
                        <a:latin typeface="Adani Regular" panose="02000503000000020004" pitchFamily="2"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Kms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4510021123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15-Apr-26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01-May-26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08-Jun-26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30-Mar-26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30-Apr-26</a:t>
                      </a:r>
                    </a:p>
                    <a:p>
                      <a:pPr marL="0" algn="ctr" defTabSz="914400" rtl="0" eaLnBrk="1" fontAlgn="ctr" latinLnBrk="0" hangingPunct="1">
                        <a:buNone/>
                      </a:pPr>
                      <a:r>
                        <a:rPr lang="en-US" sz="800" b="0" i="0" u="none" strike="sngStrike" kern="1200">
                          <a:solidFill>
                            <a:schemeClr val="tx1"/>
                          </a:solidFill>
                          <a:effectLst/>
                          <a:latin typeface="Adani Light"/>
                          <a:ea typeface="+mn-ea"/>
                          <a:cs typeface="+mn-cs"/>
                        </a:rPr>
                        <a:t>31-May-26</a:t>
                      </a:r>
                    </a:p>
                    <a:p>
                      <a:pPr marL="0" algn="ctr" defTabSz="914400" rtl="0" eaLnBrk="1" fontAlgn="ctr" latinLnBrk="0" hangingPunct="1">
                        <a:buNone/>
                      </a:pPr>
                      <a:r>
                        <a:rPr lang="en-US" sz="800" b="0" i="0" u="none" strike="noStrike" kern="1200">
                          <a:solidFill>
                            <a:schemeClr val="tx1"/>
                          </a:solidFill>
                          <a:effectLst/>
                          <a:latin typeface="Adani Light"/>
                          <a:ea typeface="+mn-ea"/>
                          <a:cs typeface="+mn-cs"/>
                        </a:rPr>
                        <a:t>08-Jun-26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same as of phase one (14/05/25)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dani Regular" panose="02000503000000020004"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a:txBody>
                    <a:bodyPr/>
                    <a:lstStyle/>
                    <a:p>
                      <a:pPr algn="ctr" rtl="0" fontAlgn="ctr">
                        <a:buNone/>
                      </a:pPr>
                      <a:endParaRPr lang="en-US" sz="800" b="0" i="0" u="none" strike="noStrike" dirty="0">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116042122"/>
                  </a:ext>
                </a:extLst>
              </a:tr>
            </a:tbl>
          </a:graphicData>
        </a:graphic>
      </p:graphicFrame>
    </p:spTree>
    <p:extLst>
      <p:ext uri="{BB962C8B-B14F-4D97-AF65-F5344CB8AC3E}">
        <p14:creationId xmlns:p14="http://schemas.microsoft.com/office/powerpoint/2010/main" val="1924555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C77E9-C850-3A12-8E1C-9D35943DB682}"/>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61CE2EE-7CA6-C13C-5841-14A38F2E4095}"/>
              </a:ext>
            </a:extLst>
          </p:cNvPr>
          <p:cNvSpPr txBox="1">
            <a:spLocks/>
          </p:cNvSpPr>
          <p:nvPr/>
        </p:nvSpPr>
        <p:spPr>
          <a:xfrm>
            <a:off x="0" y="4407108"/>
            <a:ext cx="12192000" cy="719528"/>
          </a:xfrm>
          <a:prstGeom prst="rect">
            <a:avLst/>
          </a:prstGeom>
        </p:spPr>
        <p:txBody>
          <a:bodyPr vert="horz" lIns="91440" tIns="45720" rIns="91440" bIns="45720" rtlCol="0" anchor="t">
            <a:normAutofit/>
          </a:bodyPr>
          <a:lstStyle>
            <a:lvl1pPr algn="l" defTabSz="1219170" rtl="0" eaLnBrk="1" latinLnBrk="0" hangingPunct="1">
              <a:spcBef>
                <a:spcPct val="0"/>
              </a:spcBef>
              <a:buNone/>
              <a:defRPr sz="3733" b="0" kern="1200" cap="none" baseline="0">
                <a:solidFill>
                  <a:schemeClr val="bg1"/>
                </a:solidFill>
                <a:latin typeface="Adani Regular" pitchFamily="2" charset="0"/>
                <a:ea typeface="+mj-ea"/>
                <a:cs typeface="+mj-cs"/>
              </a:defRPr>
            </a:lvl1pPr>
          </a:lstStyle>
          <a:p>
            <a:pPr algn="ctr"/>
            <a:r>
              <a:rPr lang="en-IN" b="1"/>
              <a:t>PSS-11, 12 &amp; 10B Progress</a:t>
            </a:r>
          </a:p>
        </p:txBody>
      </p:sp>
    </p:spTree>
    <p:extLst>
      <p:ext uri="{BB962C8B-B14F-4D97-AF65-F5344CB8AC3E}">
        <p14:creationId xmlns:p14="http://schemas.microsoft.com/office/powerpoint/2010/main" val="1338960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C16B6-2A10-BDE5-26AF-43F0AFD886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F40F8E-D3FE-0C1B-F86F-F7135505CE79}"/>
              </a:ext>
            </a:extLst>
          </p:cNvPr>
          <p:cNvSpPr>
            <a:spLocks noGrp="1"/>
          </p:cNvSpPr>
          <p:nvPr>
            <p:ph type="sldNum" sz="quarter" idx="12"/>
          </p:nvPr>
        </p:nvSpPr>
        <p:spPr>
          <a:xfrm>
            <a:off x="9329408" y="6542887"/>
            <a:ext cx="2844800" cy="365125"/>
          </a:xfrm>
        </p:spPr>
        <p:txBody>
          <a:bodyPr/>
          <a:lstStyle/>
          <a:p>
            <a:fld id="{98B285C1-D8A8-4E98-B28C-1FD972D8EC54}" type="slidenum">
              <a:rPr lang="en-IN" smtClean="0"/>
              <a:t>21</a:t>
            </a:fld>
            <a:endParaRPr lang="en-IN"/>
          </a:p>
        </p:txBody>
      </p:sp>
      <p:sp>
        <p:nvSpPr>
          <p:cNvPr id="5" name="Rectangle 2">
            <a:extLst>
              <a:ext uri="{FF2B5EF4-FFF2-40B4-BE49-F238E27FC236}">
                <a16:creationId xmlns:a16="http://schemas.microsoft.com/office/drawing/2014/main" id="{FF2B2BB0-1033-6900-6529-044A202E7C6C}"/>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Civil Construction Progress (Plan vs Actual) (PSS-11)</a:t>
            </a:r>
            <a:endParaRPr lang="en-US" sz="2400" b="1">
              <a:solidFill>
                <a:srgbClr val="912A82"/>
              </a:solidFill>
              <a:highlight>
                <a:srgbClr val="FFFF00"/>
              </a:highlight>
            </a:endParaRPr>
          </a:p>
        </p:txBody>
      </p:sp>
      <p:graphicFrame>
        <p:nvGraphicFramePr>
          <p:cNvPr id="9" name="Table 8">
            <a:extLst>
              <a:ext uri="{FF2B5EF4-FFF2-40B4-BE49-F238E27FC236}">
                <a16:creationId xmlns:a16="http://schemas.microsoft.com/office/drawing/2014/main" id="{D2CCECF9-1921-8B71-C9E4-FEBB125C7D70}"/>
              </a:ext>
            </a:extLst>
          </p:cNvPr>
          <p:cNvGraphicFramePr>
            <a:graphicFrameLocks noGrp="1"/>
          </p:cNvGraphicFramePr>
          <p:nvPr/>
        </p:nvGraphicFramePr>
        <p:xfrm>
          <a:off x="6096000" y="6359610"/>
          <a:ext cx="4457700" cy="464820"/>
        </p:xfrm>
        <a:graphic>
          <a:graphicData uri="http://schemas.openxmlformats.org/drawingml/2006/table">
            <a:tbl>
              <a:tblPr/>
              <a:tblGrid>
                <a:gridCol w="800100">
                  <a:extLst>
                    <a:ext uri="{9D8B030D-6E8A-4147-A177-3AD203B41FA5}">
                      <a16:colId xmlns:a16="http://schemas.microsoft.com/office/drawing/2014/main" val="2003022228"/>
                    </a:ext>
                  </a:extLst>
                </a:gridCol>
                <a:gridCol w="609600">
                  <a:extLst>
                    <a:ext uri="{9D8B030D-6E8A-4147-A177-3AD203B41FA5}">
                      <a16:colId xmlns:a16="http://schemas.microsoft.com/office/drawing/2014/main" val="386611681"/>
                    </a:ext>
                  </a:extLst>
                </a:gridCol>
                <a:gridCol w="609600">
                  <a:extLst>
                    <a:ext uri="{9D8B030D-6E8A-4147-A177-3AD203B41FA5}">
                      <a16:colId xmlns:a16="http://schemas.microsoft.com/office/drawing/2014/main" val="4175942649"/>
                    </a:ext>
                  </a:extLst>
                </a:gridCol>
                <a:gridCol w="609600">
                  <a:extLst>
                    <a:ext uri="{9D8B030D-6E8A-4147-A177-3AD203B41FA5}">
                      <a16:colId xmlns:a16="http://schemas.microsoft.com/office/drawing/2014/main" val="1926220521"/>
                    </a:ext>
                  </a:extLst>
                </a:gridCol>
                <a:gridCol w="1828800">
                  <a:extLst>
                    <a:ext uri="{9D8B030D-6E8A-4147-A177-3AD203B41FA5}">
                      <a16:colId xmlns:a16="http://schemas.microsoft.com/office/drawing/2014/main" val="2452885526"/>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43621647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3622008970"/>
                  </a:ext>
                </a:extLst>
              </a:tr>
            </a:tbl>
          </a:graphicData>
        </a:graphic>
      </p:graphicFrame>
      <p:sp>
        <p:nvSpPr>
          <p:cNvPr id="7" name="Arrow: Right 6">
            <a:hlinkClick r:id="rId2" action="ppaction://hlinksldjump"/>
            <a:extLst>
              <a:ext uri="{FF2B5EF4-FFF2-40B4-BE49-F238E27FC236}">
                <a16:creationId xmlns:a16="http://schemas.microsoft.com/office/drawing/2014/main" id="{A9442922-B6BA-AAD5-BC09-880DF7F54260}"/>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a:extLst>
              <a:ext uri="{FF2B5EF4-FFF2-40B4-BE49-F238E27FC236}">
                <a16:creationId xmlns:a16="http://schemas.microsoft.com/office/drawing/2014/main" id="{CB4507CA-C354-CF69-27DA-07F8346532E1}"/>
              </a:ext>
            </a:extLst>
          </p:cNvPr>
          <p:cNvGraphicFramePr>
            <a:graphicFrameLocks noChangeAspect="1"/>
          </p:cNvGraphicFramePr>
          <p:nvPr/>
        </p:nvGraphicFramePr>
        <p:xfrm>
          <a:off x="53975" y="514350"/>
          <a:ext cx="7048500" cy="4295775"/>
        </p:xfrm>
        <a:graphic>
          <a:graphicData uri="http://schemas.openxmlformats.org/presentationml/2006/ole">
            <mc:AlternateContent xmlns:mc="http://schemas.openxmlformats.org/markup-compatibility/2006">
              <mc:Choice xmlns:v="urn:schemas-microsoft-com:vml" Requires="v">
                <p:oleObj name="Worksheet" r:id="rId3" imgW="7048341" imgH="4295865" progId="Excel.Sheet.12">
                  <p:link updateAutomatic="1"/>
                </p:oleObj>
              </mc:Choice>
              <mc:Fallback>
                <p:oleObj name="Worksheet" r:id="rId3" imgW="7048341" imgH="4295865" progId="Excel.Sheet.12">
                  <p:link updateAutomatic="1"/>
                  <p:pic>
                    <p:nvPicPr>
                      <p:cNvPr id="8" name="Object 7">
                        <a:extLst>
                          <a:ext uri="{FF2B5EF4-FFF2-40B4-BE49-F238E27FC236}">
                            <a16:creationId xmlns:a16="http://schemas.microsoft.com/office/drawing/2014/main" id="{CB4507CA-C354-CF69-27DA-07F8346532E1}"/>
                          </a:ext>
                        </a:extLst>
                      </p:cNvPr>
                      <p:cNvPicPr/>
                      <p:nvPr/>
                    </p:nvPicPr>
                    <p:blipFill>
                      <a:blip r:embed="rId4"/>
                      <a:stretch>
                        <a:fillRect/>
                      </a:stretch>
                    </p:blipFill>
                    <p:spPr>
                      <a:xfrm>
                        <a:off x="53975" y="514350"/>
                        <a:ext cx="7048500" cy="4295775"/>
                      </a:xfrm>
                      <a:prstGeom prst="rect">
                        <a:avLst/>
                      </a:prstGeom>
                    </p:spPr>
                  </p:pic>
                </p:oleObj>
              </mc:Fallback>
            </mc:AlternateContent>
          </a:graphicData>
        </a:graphic>
      </p:graphicFrame>
      <p:graphicFrame>
        <p:nvGraphicFramePr>
          <p:cNvPr id="10" name="Chart 9">
            <a:extLst>
              <a:ext uri="{FF2B5EF4-FFF2-40B4-BE49-F238E27FC236}">
                <a16:creationId xmlns:a16="http://schemas.microsoft.com/office/drawing/2014/main" id="{9EA5DAF1-2FEE-431D-9DEC-7162D82DCB4C}"/>
              </a:ext>
            </a:extLst>
          </p:cNvPr>
          <p:cNvGraphicFramePr>
            <a:graphicFrameLocks/>
          </p:cNvGraphicFramePr>
          <p:nvPr/>
        </p:nvGraphicFramePr>
        <p:xfrm>
          <a:off x="7179240" y="465470"/>
          <a:ext cx="4882020" cy="42957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Object 10">
            <a:extLst>
              <a:ext uri="{FF2B5EF4-FFF2-40B4-BE49-F238E27FC236}">
                <a16:creationId xmlns:a16="http://schemas.microsoft.com/office/drawing/2014/main" id="{C1A3E71C-038A-1D83-16DA-B6F599104DBC}"/>
              </a:ext>
            </a:extLst>
          </p:cNvPr>
          <p:cNvGraphicFramePr>
            <a:graphicFrameLocks noChangeAspect="1"/>
          </p:cNvGraphicFramePr>
          <p:nvPr/>
        </p:nvGraphicFramePr>
        <p:xfrm>
          <a:off x="53975" y="4927642"/>
          <a:ext cx="7048500" cy="1314450"/>
        </p:xfrm>
        <a:graphic>
          <a:graphicData uri="http://schemas.openxmlformats.org/presentationml/2006/ole">
            <mc:AlternateContent xmlns:mc="http://schemas.openxmlformats.org/markup-compatibility/2006">
              <mc:Choice xmlns:v="urn:schemas-microsoft-com:vml" Requires="v">
                <p:oleObj name="Worksheet" r:id="rId6" imgW="7048341" imgH="1314373" progId="Excel.Sheet.12">
                  <p:link updateAutomatic="1"/>
                </p:oleObj>
              </mc:Choice>
              <mc:Fallback>
                <p:oleObj name="Worksheet" r:id="rId6" imgW="7048341" imgH="1314373" progId="Excel.Sheet.12">
                  <p:link updateAutomatic="1"/>
                  <p:pic>
                    <p:nvPicPr>
                      <p:cNvPr id="11" name="Object 10">
                        <a:extLst>
                          <a:ext uri="{FF2B5EF4-FFF2-40B4-BE49-F238E27FC236}">
                            <a16:creationId xmlns:a16="http://schemas.microsoft.com/office/drawing/2014/main" id="{C1A3E71C-038A-1D83-16DA-B6F599104DBC}"/>
                          </a:ext>
                        </a:extLst>
                      </p:cNvPr>
                      <p:cNvPicPr/>
                      <p:nvPr/>
                    </p:nvPicPr>
                    <p:blipFill>
                      <a:blip r:embed="rId7"/>
                      <a:stretch>
                        <a:fillRect/>
                      </a:stretch>
                    </p:blipFill>
                    <p:spPr>
                      <a:xfrm>
                        <a:off x="53975" y="4927642"/>
                        <a:ext cx="7048500" cy="1314450"/>
                      </a:xfrm>
                      <a:prstGeom prst="rect">
                        <a:avLst/>
                      </a:prstGeom>
                    </p:spPr>
                  </p:pic>
                </p:oleObj>
              </mc:Fallback>
            </mc:AlternateContent>
          </a:graphicData>
        </a:graphic>
      </p:graphicFrame>
      <p:graphicFrame>
        <p:nvGraphicFramePr>
          <p:cNvPr id="6" name="Chart 5">
            <a:extLst>
              <a:ext uri="{FF2B5EF4-FFF2-40B4-BE49-F238E27FC236}">
                <a16:creationId xmlns:a16="http://schemas.microsoft.com/office/drawing/2014/main" id="{70F6314A-3424-4A70-8EBC-784553BF3E4A}"/>
              </a:ext>
            </a:extLst>
          </p:cNvPr>
          <p:cNvGraphicFramePr>
            <a:graphicFrameLocks/>
          </p:cNvGraphicFramePr>
          <p:nvPr/>
        </p:nvGraphicFramePr>
        <p:xfrm>
          <a:off x="7196786" y="4927642"/>
          <a:ext cx="4864474" cy="131445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887929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1FEC-A218-CF85-B9A0-7505C0DFDA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8417EE-9C64-9FE6-A280-9A430E66A6A6}"/>
              </a:ext>
            </a:extLst>
          </p:cNvPr>
          <p:cNvSpPr>
            <a:spLocks noGrp="1"/>
          </p:cNvSpPr>
          <p:nvPr>
            <p:ph type="sldNum" sz="quarter" idx="12"/>
          </p:nvPr>
        </p:nvSpPr>
        <p:spPr>
          <a:xfrm>
            <a:off x="9347200" y="6399054"/>
            <a:ext cx="2844800" cy="365125"/>
          </a:xfrm>
        </p:spPr>
        <p:txBody>
          <a:bodyPr/>
          <a:lstStyle/>
          <a:p>
            <a:fld id="{98B285C1-D8A8-4E98-B28C-1FD972D8EC54}" type="slidenum">
              <a:rPr lang="en-IN" smtClean="0"/>
              <a:t>22</a:t>
            </a:fld>
            <a:endParaRPr lang="en-IN"/>
          </a:p>
        </p:txBody>
      </p:sp>
      <p:sp>
        <p:nvSpPr>
          <p:cNvPr id="5" name="Rectangle 2">
            <a:extLst>
              <a:ext uri="{FF2B5EF4-FFF2-40B4-BE49-F238E27FC236}">
                <a16:creationId xmlns:a16="http://schemas.microsoft.com/office/drawing/2014/main" id="{BBA50B37-0F76-6C62-CE3E-C22E2772763F}"/>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Construction Progress (Plan VS Actual) (PSS-12)</a:t>
            </a:r>
            <a:endParaRPr lang="en-US" sz="2400" b="1">
              <a:solidFill>
                <a:srgbClr val="912A82"/>
              </a:solidFill>
              <a:highlight>
                <a:srgbClr val="FFFF00"/>
              </a:highlight>
            </a:endParaRPr>
          </a:p>
        </p:txBody>
      </p:sp>
      <p:graphicFrame>
        <p:nvGraphicFramePr>
          <p:cNvPr id="8" name="Table 7">
            <a:extLst>
              <a:ext uri="{FF2B5EF4-FFF2-40B4-BE49-F238E27FC236}">
                <a16:creationId xmlns:a16="http://schemas.microsoft.com/office/drawing/2014/main" id="{8DBF99F2-F715-3422-EA25-646E2B8B8492}"/>
              </a:ext>
            </a:extLst>
          </p:cNvPr>
          <p:cNvGraphicFramePr>
            <a:graphicFrameLocks noGrp="1"/>
          </p:cNvGraphicFramePr>
          <p:nvPr/>
        </p:nvGraphicFramePr>
        <p:xfrm>
          <a:off x="6311900" y="6340217"/>
          <a:ext cx="4457700" cy="423962"/>
        </p:xfrm>
        <a:graphic>
          <a:graphicData uri="http://schemas.openxmlformats.org/drawingml/2006/table">
            <a:tbl>
              <a:tblPr/>
              <a:tblGrid>
                <a:gridCol w="800100">
                  <a:extLst>
                    <a:ext uri="{9D8B030D-6E8A-4147-A177-3AD203B41FA5}">
                      <a16:colId xmlns:a16="http://schemas.microsoft.com/office/drawing/2014/main" val="612424164"/>
                    </a:ext>
                  </a:extLst>
                </a:gridCol>
                <a:gridCol w="609600">
                  <a:extLst>
                    <a:ext uri="{9D8B030D-6E8A-4147-A177-3AD203B41FA5}">
                      <a16:colId xmlns:a16="http://schemas.microsoft.com/office/drawing/2014/main" val="2294293670"/>
                    </a:ext>
                  </a:extLst>
                </a:gridCol>
                <a:gridCol w="609600">
                  <a:extLst>
                    <a:ext uri="{9D8B030D-6E8A-4147-A177-3AD203B41FA5}">
                      <a16:colId xmlns:a16="http://schemas.microsoft.com/office/drawing/2014/main" val="2614982559"/>
                    </a:ext>
                  </a:extLst>
                </a:gridCol>
                <a:gridCol w="609600">
                  <a:extLst>
                    <a:ext uri="{9D8B030D-6E8A-4147-A177-3AD203B41FA5}">
                      <a16:colId xmlns:a16="http://schemas.microsoft.com/office/drawing/2014/main" val="1030459174"/>
                    </a:ext>
                  </a:extLst>
                </a:gridCol>
                <a:gridCol w="1828800">
                  <a:extLst>
                    <a:ext uri="{9D8B030D-6E8A-4147-A177-3AD203B41FA5}">
                      <a16:colId xmlns:a16="http://schemas.microsoft.com/office/drawing/2014/main" val="1044490668"/>
                    </a:ext>
                  </a:extLst>
                </a:gridCol>
              </a:tblGrid>
              <a:tr h="149642">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2559921640"/>
                  </a:ext>
                </a:extLst>
              </a:tr>
              <a:tr h="215484">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1783054965"/>
                  </a:ext>
                </a:extLst>
              </a:tr>
            </a:tbl>
          </a:graphicData>
        </a:graphic>
      </p:graphicFrame>
      <p:sp>
        <p:nvSpPr>
          <p:cNvPr id="11" name="Arrow: Right 10">
            <a:hlinkClick r:id="rId3" action="ppaction://hlinksldjump"/>
            <a:extLst>
              <a:ext uri="{FF2B5EF4-FFF2-40B4-BE49-F238E27FC236}">
                <a16:creationId xmlns:a16="http://schemas.microsoft.com/office/drawing/2014/main" id="{B6E6AF0B-C823-FEBC-4511-43E04007A544}"/>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Left 11">
            <a:hlinkClick r:id="rId4" action="ppaction://hlinksldjump"/>
            <a:extLst>
              <a:ext uri="{FF2B5EF4-FFF2-40B4-BE49-F238E27FC236}">
                <a16:creationId xmlns:a16="http://schemas.microsoft.com/office/drawing/2014/main" id="{55517D72-5C19-0AED-F237-4FCFA3C7E235}"/>
              </a:ext>
            </a:extLst>
          </p:cNvPr>
          <p:cNvSpPr>
            <a:spLocks/>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Object 3">
            <a:extLst>
              <a:ext uri="{FF2B5EF4-FFF2-40B4-BE49-F238E27FC236}">
                <a16:creationId xmlns:a16="http://schemas.microsoft.com/office/drawing/2014/main" id="{3122CFCB-ECF2-6C5D-FF1E-8907CC34D3CC}"/>
              </a:ext>
            </a:extLst>
          </p:cNvPr>
          <p:cNvGraphicFramePr>
            <a:graphicFrameLocks noChangeAspect="1"/>
          </p:cNvGraphicFramePr>
          <p:nvPr/>
        </p:nvGraphicFramePr>
        <p:xfrm>
          <a:off x="17463" y="476250"/>
          <a:ext cx="7000875" cy="4314825"/>
        </p:xfrm>
        <a:graphic>
          <a:graphicData uri="http://schemas.openxmlformats.org/presentationml/2006/ole">
            <mc:AlternateContent xmlns:mc="http://schemas.openxmlformats.org/markup-compatibility/2006">
              <mc:Choice xmlns:v="urn:schemas-microsoft-com:vml" Requires="v">
                <p:oleObj name="Worksheet" r:id="rId5" imgW="7000799" imgH="4314979" progId="Excel.Sheet.12">
                  <p:link updateAutomatic="1"/>
                </p:oleObj>
              </mc:Choice>
              <mc:Fallback>
                <p:oleObj name="Worksheet" r:id="rId5" imgW="7000799" imgH="4314979" progId="Excel.Sheet.12">
                  <p:link updateAutomatic="1"/>
                  <p:pic>
                    <p:nvPicPr>
                      <p:cNvPr id="4" name="Object 3">
                        <a:extLst>
                          <a:ext uri="{FF2B5EF4-FFF2-40B4-BE49-F238E27FC236}">
                            <a16:creationId xmlns:a16="http://schemas.microsoft.com/office/drawing/2014/main" id="{3122CFCB-ECF2-6C5D-FF1E-8907CC34D3CC}"/>
                          </a:ext>
                        </a:extLst>
                      </p:cNvPr>
                      <p:cNvPicPr/>
                      <p:nvPr/>
                    </p:nvPicPr>
                    <p:blipFill>
                      <a:blip r:embed="rId6"/>
                      <a:stretch>
                        <a:fillRect/>
                      </a:stretch>
                    </p:blipFill>
                    <p:spPr>
                      <a:xfrm>
                        <a:off x="17463" y="476250"/>
                        <a:ext cx="7000875" cy="4314825"/>
                      </a:xfrm>
                      <a:prstGeom prst="rect">
                        <a:avLst/>
                      </a:prstGeom>
                    </p:spPr>
                  </p:pic>
                </p:oleObj>
              </mc:Fallback>
            </mc:AlternateContent>
          </a:graphicData>
        </a:graphic>
      </p:graphicFrame>
      <p:graphicFrame>
        <p:nvGraphicFramePr>
          <p:cNvPr id="7" name="Chart 6">
            <a:extLst>
              <a:ext uri="{FF2B5EF4-FFF2-40B4-BE49-F238E27FC236}">
                <a16:creationId xmlns:a16="http://schemas.microsoft.com/office/drawing/2014/main" id="{4751D7C7-94AB-4597-BEB7-F3890D8B7E63}"/>
              </a:ext>
            </a:extLst>
          </p:cNvPr>
          <p:cNvGraphicFramePr>
            <a:graphicFrameLocks/>
          </p:cNvGraphicFramePr>
          <p:nvPr/>
        </p:nvGraphicFramePr>
        <p:xfrm>
          <a:off x="7093515" y="508761"/>
          <a:ext cx="5012715" cy="422817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 name="Object 5">
            <a:extLst>
              <a:ext uri="{FF2B5EF4-FFF2-40B4-BE49-F238E27FC236}">
                <a16:creationId xmlns:a16="http://schemas.microsoft.com/office/drawing/2014/main" id="{5E15A979-32D1-745C-AC9D-FDFA2AB6A52E}"/>
              </a:ext>
            </a:extLst>
          </p:cNvPr>
          <p:cNvGraphicFramePr>
            <a:graphicFrameLocks noChangeAspect="1"/>
          </p:cNvGraphicFramePr>
          <p:nvPr/>
        </p:nvGraphicFramePr>
        <p:xfrm>
          <a:off x="26988" y="4875213"/>
          <a:ext cx="7000875" cy="1400175"/>
        </p:xfrm>
        <a:graphic>
          <a:graphicData uri="http://schemas.openxmlformats.org/presentationml/2006/ole">
            <mc:AlternateContent xmlns:mc="http://schemas.openxmlformats.org/markup-compatibility/2006">
              <mc:Choice xmlns:v="urn:schemas-microsoft-com:vml" Requires="v">
                <p:oleObj name="Worksheet" r:id="rId8" imgW="7000799" imgH="1400214" progId="Excel.Sheet.12">
                  <p:link updateAutomatic="1"/>
                </p:oleObj>
              </mc:Choice>
              <mc:Fallback>
                <p:oleObj name="Worksheet" r:id="rId8" imgW="7000799" imgH="1400214" progId="Excel.Sheet.12">
                  <p:link updateAutomatic="1"/>
                  <p:pic>
                    <p:nvPicPr>
                      <p:cNvPr id="6" name="Object 5">
                        <a:extLst>
                          <a:ext uri="{FF2B5EF4-FFF2-40B4-BE49-F238E27FC236}">
                            <a16:creationId xmlns:a16="http://schemas.microsoft.com/office/drawing/2014/main" id="{5E15A979-32D1-745C-AC9D-FDFA2AB6A52E}"/>
                          </a:ext>
                        </a:extLst>
                      </p:cNvPr>
                      <p:cNvPicPr/>
                      <p:nvPr/>
                    </p:nvPicPr>
                    <p:blipFill>
                      <a:blip r:embed="rId9"/>
                      <a:stretch>
                        <a:fillRect/>
                      </a:stretch>
                    </p:blipFill>
                    <p:spPr>
                      <a:xfrm>
                        <a:off x="26988" y="4875213"/>
                        <a:ext cx="7000875" cy="1400175"/>
                      </a:xfrm>
                      <a:prstGeom prst="rect">
                        <a:avLst/>
                      </a:prstGeom>
                    </p:spPr>
                  </p:pic>
                </p:oleObj>
              </mc:Fallback>
            </mc:AlternateContent>
          </a:graphicData>
        </a:graphic>
      </p:graphicFrame>
      <p:graphicFrame>
        <p:nvGraphicFramePr>
          <p:cNvPr id="10" name="Chart 9">
            <a:extLst>
              <a:ext uri="{FF2B5EF4-FFF2-40B4-BE49-F238E27FC236}">
                <a16:creationId xmlns:a16="http://schemas.microsoft.com/office/drawing/2014/main" id="{A7786F4C-1985-49B4-9858-AA1F18462EAB}"/>
              </a:ext>
            </a:extLst>
          </p:cNvPr>
          <p:cNvGraphicFramePr>
            <a:graphicFrameLocks/>
          </p:cNvGraphicFramePr>
          <p:nvPr/>
        </p:nvGraphicFramePr>
        <p:xfrm>
          <a:off x="7093515" y="4850164"/>
          <a:ext cx="5012715" cy="1396232"/>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1496950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F010A-2491-0594-0F69-8A362DF057A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2AAE62-EE9A-1A6C-81AB-FF92FB5EB331}"/>
              </a:ext>
            </a:extLst>
          </p:cNvPr>
          <p:cNvSpPr>
            <a:spLocks noGrp="1"/>
          </p:cNvSpPr>
          <p:nvPr>
            <p:ph type="sldNum" sz="quarter" idx="12"/>
          </p:nvPr>
        </p:nvSpPr>
        <p:spPr>
          <a:xfrm>
            <a:off x="9197828" y="6492875"/>
            <a:ext cx="2844800" cy="365125"/>
          </a:xfrm>
        </p:spPr>
        <p:txBody>
          <a:bodyPr/>
          <a:lstStyle/>
          <a:p>
            <a:fld id="{98B285C1-D8A8-4E98-B28C-1FD972D8EC54}" type="slidenum">
              <a:rPr lang="en-IN" smtClean="0"/>
              <a:t>23</a:t>
            </a:fld>
            <a:endParaRPr lang="en-IN"/>
          </a:p>
        </p:txBody>
      </p:sp>
      <p:sp>
        <p:nvSpPr>
          <p:cNvPr id="5" name="Rectangle 2">
            <a:extLst>
              <a:ext uri="{FF2B5EF4-FFF2-40B4-BE49-F238E27FC236}">
                <a16:creationId xmlns:a16="http://schemas.microsoft.com/office/drawing/2014/main" id="{9F1A35A4-4AA6-6DB3-0C37-14B99E7289B0}"/>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Construction Progress (Plan VS Actual) (PSS-10(B))</a:t>
            </a:r>
            <a:endParaRPr lang="en-US" sz="2400" b="1">
              <a:solidFill>
                <a:srgbClr val="912A82"/>
              </a:solidFill>
              <a:highlight>
                <a:srgbClr val="FFFF00"/>
              </a:highlight>
            </a:endParaRPr>
          </a:p>
        </p:txBody>
      </p:sp>
      <p:graphicFrame>
        <p:nvGraphicFramePr>
          <p:cNvPr id="9" name="Table 8">
            <a:extLst>
              <a:ext uri="{FF2B5EF4-FFF2-40B4-BE49-F238E27FC236}">
                <a16:creationId xmlns:a16="http://schemas.microsoft.com/office/drawing/2014/main" id="{B07BF965-E5B5-CE62-563D-06B7605A4415}"/>
              </a:ext>
            </a:extLst>
          </p:cNvPr>
          <p:cNvGraphicFramePr>
            <a:graphicFrameLocks noGrp="1"/>
          </p:cNvGraphicFramePr>
          <p:nvPr/>
        </p:nvGraphicFramePr>
        <p:xfrm>
          <a:off x="6162528" y="6159619"/>
          <a:ext cx="4457700" cy="464820"/>
        </p:xfrm>
        <a:graphic>
          <a:graphicData uri="http://schemas.openxmlformats.org/drawingml/2006/table">
            <a:tbl>
              <a:tblPr/>
              <a:tblGrid>
                <a:gridCol w="800100">
                  <a:extLst>
                    <a:ext uri="{9D8B030D-6E8A-4147-A177-3AD203B41FA5}">
                      <a16:colId xmlns:a16="http://schemas.microsoft.com/office/drawing/2014/main" val="3191902834"/>
                    </a:ext>
                  </a:extLst>
                </a:gridCol>
                <a:gridCol w="609600">
                  <a:extLst>
                    <a:ext uri="{9D8B030D-6E8A-4147-A177-3AD203B41FA5}">
                      <a16:colId xmlns:a16="http://schemas.microsoft.com/office/drawing/2014/main" val="3440374471"/>
                    </a:ext>
                  </a:extLst>
                </a:gridCol>
                <a:gridCol w="609600">
                  <a:extLst>
                    <a:ext uri="{9D8B030D-6E8A-4147-A177-3AD203B41FA5}">
                      <a16:colId xmlns:a16="http://schemas.microsoft.com/office/drawing/2014/main" val="4154648303"/>
                    </a:ext>
                  </a:extLst>
                </a:gridCol>
                <a:gridCol w="609600">
                  <a:extLst>
                    <a:ext uri="{9D8B030D-6E8A-4147-A177-3AD203B41FA5}">
                      <a16:colId xmlns:a16="http://schemas.microsoft.com/office/drawing/2014/main" val="423793554"/>
                    </a:ext>
                  </a:extLst>
                </a:gridCol>
                <a:gridCol w="1828800">
                  <a:extLst>
                    <a:ext uri="{9D8B030D-6E8A-4147-A177-3AD203B41FA5}">
                      <a16:colId xmlns:a16="http://schemas.microsoft.com/office/drawing/2014/main" val="634941952"/>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82759133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2803369911"/>
                  </a:ext>
                </a:extLst>
              </a:tr>
            </a:tbl>
          </a:graphicData>
        </a:graphic>
      </p:graphicFrame>
      <p:sp>
        <p:nvSpPr>
          <p:cNvPr id="7" name="Arrow: Left 6">
            <a:hlinkClick r:id="rId2" action="ppaction://hlinksldjump"/>
            <a:extLst>
              <a:ext uri="{FF2B5EF4-FFF2-40B4-BE49-F238E27FC236}">
                <a16:creationId xmlns:a16="http://schemas.microsoft.com/office/drawing/2014/main" id="{B55772D6-D437-44B5-7235-606F99EEE9E2}"/>
              </a:ext>
            </a:extLst>
          </p:cNvPr>
          <p:cNvSpPr>
            <a:spLocks/>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hlinkClick r:id="rId3" action="ppaction://hlinksldjump"/>
            <a:extLst>
              <a:ext uri="{FF2B5EF4-FFF2-40B4-BE49-F238E27FC236}">
                <a16:creationId xmlns:a16="http://schemas.microsoft.com/office/drawing/2014/main" id="{3436807E-6C77-00A2-7ACE-D5FE51E8C9E5}"/>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a:extLst>
              <a:ext uri="{FF2B5EF4-FFF2-40B4-BE49-F238E27FC236}">
                <a16:creationId xmlns:a16="http://schemas.microsoft.com/office/drawing/2014/main" id="{3A691E32-6CC6-03F0-CEE3-B88B0E893C0E}"/>
              </a:ext>
            </a:extLst>
          </p:cNvPr>
          <p:cNvGraphicFramePr>
            <a:graphicFrameLocks noChangeAspect="1"/>
          </p:cNvGraphicFramePr>
          <p:nvPr/>
        </p:nvGraphicFramePr>
        <p:xfrm>
          <a:off x="15875" y="479425"/>
          <a:ext cx="7124700" cy="4276725"/>
        </p:xfrm>
        <a:graphic>
          <a:graphicData uri="http://schemas.openxmlformats.org/presentationml/2006/ole">
            <mc:AlternateContent xmlns:mc="http://schemas.openxmlformats.org/markup-compatibility/2006">
              <mc:Choice xmlns:v="urn:schemas-microsoft-com:vml" Requires="v">
                <p:oleObj name="Worksheet" r:id="rId4" imgW="7124686" imgH="4276751" progId="Excel.Sheet.12">
                  <p:link updateAutomatic="1"/>
                </p:oleObj>
              </mc:Choice>
              <mc:Fallback>
                <p:oleObj name="Worksheet" r:id="rId4" imgW="7124686" imgH="4276751" progId="Excel.Sheet.12">
                  <p:link updateAutomatic="1"/>
                  <p:pic>
                    <p:nvPicPr>
                      <p:cNvPr id="8" name="Object 7">
                        <a:extLst>
                          <a:ext uri="{FF2B5EF4-FFF2-40B4-BE49-F238E27FC236}">
                            <a16:creationId xmlns:a16="http://schemas.microsoft.com/office/drawing/2014/main" id="{3A691E32-6CC6-03F0-CEE3-B88B0E893C0E}"/>
                          </a:ext>
                        </a:extLst>
                      </p:cNvPr>
                      <p:cNvPicPr/>
                      <p:nvPr/>
                    </p:nvPicPr>
                    <p:blipFill>
                      <a:blip r:embed="rId5"/>
                      <a:stretch>
                        <a:fillRect/>
                      </a:stretch>
                    </p:blipFill>
                    <p:spPr>
                      <a:xfrm>
                        <a:off x="15875" y="479425"/>
                        <a:ext cx="7124700" cy="4276725"/>
                      </a:xfrm>
                      <a:prstGeom prst="rect">
                        <a:avLst/>
                      </a:prstGeom>
                    </p:spPr>
                  </p:pic>
                </p:oleObj>
              </mc:Fallback>
            </mc:AlternateContent>
          </a:graphicData>
        </a:graphic>
      </p:graphicFrame>
      <p:graphicFrame>
        <p:nvGraphicFramePr>
          <p:cNvPr id="11" name="Chart 10">
            <a:extLst>
              <a:ext uri="{FF2B5EF4-FFF2-40B4-BE49-F238E27FC236}">
                <a16:creationId xmlns:a16="http://schemas.microsoft.com/office/drawing/2014/main" id="{11B61A27-B8C1-4405-A83C-AF1A20C1E783}"/>
              </a:ext>
            </a:extLst>
          </p:cNvPr>
          <p:cNvGraphicFramePr>
            <a:graphicFrameLocks/>
          </p:cNvGraphicFramePr>
          <p:nvPr/>
        </p:nvGraphicFramePr>
        <p:xfrm>
          <a:off x="7177374" y="495768"/>
          <a:ext cx="4865254" cy="424871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 name="Object 3">
            <a:extLst>
              <a:ext uri="{FF2B5EF4-FFF2-40B4-BE49-F238E27FC236}">
                <a16:creationId xmlns:a16="http://schemas.microsoft.com/office/drawing/2014/main" id="{E4EC67AB-9508-D202-F1A8-5F7439059E4E}"/>
              </a:ext>
            </a:extLst>
          </p:cNvPr>
          <p:cNvGraphicFramePr>
            <a:graphicFrameLocks noChangeAspect="1"/>
          </p:cNvGraphicFramePr>
          <p:nvPr/>
        </p:nvGraphicFramePr>
        <p:xfrm>
          <a:off x="15875" y="4828145"/>
          <a:ext cx="7124700" cy="1238250"/>
        </p:xfrm>
        <a:graphic>
          <a:graphicData uri="http://schemas.openxmlformats.org/presentationml/2006/ole">
            <mc:AlternateContent xmlns:mc="http://schemas.openxmlformats.org/markup-compatibility/2006">
              <mc:Choice xmlns:v="urn:schemas-microsoft-com:vml" Requires="v">
                <p:oleObj name="Worksheet" r:id="rId7" imgW="7124686" imgH="1238263" progId="Excel.Sheet.12">
                  <p:link updateAutomatic="1"/>
                </p:oleObj>
              </mc:Choice>
              <mc:Fallback>
                <p:oleObj name="Worksheet" r:id="rId7" imgW="7124686" imgH="1238263" progId="Excel.Sheet.12">
                  <p:link updateAutomatic="1"/>
                  <p:pic>
                    <p:nvPicPr>
                      <p:cNvPr id="4" name="Object 3">
                        <a:extLst>
                          <a:ext uri="{FF2B5EF4-FFF2-40B4-BE49-F238E27FC236}">
                            <a16:creationId xmlns:a16="http://schemas.microsoft.com/office/drawing/2014/main" id="{E4EC67AB-9508-D202-F1A8-5F7439059E4E}"/>
                          </a:ext>
                        </a:extLst>
                      </p:cNvPr>
                      <p:cNvPicPr/>
                      <p:nvPr/>
                    </p:nvPicPr>
                    <p:blipFill>
                      <a:blip r:embed="rId8"/>
                      <a:stretch>
                        <a:fillRect/>
                      </a:stretch>
                    </p:blipFill>
                    <p:spPr>
                      <a:xfrm>
                        <a:off x="15875" y="4828145"/>
                        <a:ext cx="7124700" cy="1238250"/>
                      </a:xfrm>
                      <a:prstGeom prst="rect">
                        <a:avLst/>
                      </a:prstGeom>
                    </p:spPr>
                  </p:pic>
                </p:oleObj>
              </mc:Fallback>
            </mc:AlternateContent>
          </a:graphicData>
        </a:graphic>
      </p:graphicFrame>
      <p:graphicFrame>
        <p:nvGraphicFramePr>
          <p:cNvPr id="12" name="Chart 11">
            <a:extLst>
              <a:ext uri="{FF2B5EF4-FFF2-40B4-BE49-F238E27FC236}">
                <a16:creationId xmlns:a16="http://schemas.microsoft.com/office/drawing/2014/main" id="{F29E3806-8082-4433-A464-64CE3AEE135A}"/>
              </a:ext>
            </a:extLst>
          </p:cNvPr>
          <p:cNvGraphicFramePr>
            <a:graphicFrameLocks/>
          </p:cNvGraphicFramePr>
          <p:nvPr/>
        </p:nvGraphicFramePr>
        <p:xfrm>
          <a:off x="7191732" y="4876735"/>
          <a:ext cx="4864473" cy="1189660"/>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56206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3862B-B8C4-765D-B095-E7461350CC6A}"/>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DA6D2FF-117E-B8D9-F53F-C2D3E037D986}"/>
              </a:ext>
            </a:extLst>
          </p:cNvPr>
          <p:cNvSpPr txBox="1">
            <a:spLocks/>
          </p:cNvSpPr>
          <p:nvPr/>
        </p:nvSpPr>
        <p:spPr>
          <a:xfrm>
            <a:off x="0" y="4407108"/>
            <a:ext cx="12192000" cy="719528"/>
          </a:xfrm>
          <a:prstGeom prst="rect">
            <a:avLst/>
          </a:prstGeom>
        </p:spPr>
        <p:txBody>
          <a:bodyPr vert="horz" lIns="91440" tIns="45720" rIns="91440" bIns="45720" rtlCol="0" anchor="t">
            <a:normAutofit/>
          </a:bodyPr>
          <a:lstStyle>
            <a:lvl1pPr algn="l" defTabSz="1219170" rtl="0" eaLnBrk="1" latinLnBrk="0" hangingPunct="1">
              <a:spcBef>
                <a:spcPct val="0"/>
              </a:spcBef>
              <a:buNone/>
              <a:defRPr sz="3733" b="0" kern="1200" cap="none" baseline="0">
                <a:solidFill>
                  <a:schemeClr val="bg1"/>
                </a:solidFill>
                <a:latin typeface="Adani Regular" pitchFamily="2" charset="0"/>
                <a:ea typeface="+mj-ea"/>
                <a:cs typeface="+mj-cs"/>
              </a:defRPr>
            </a:lvl1pPr>
          </a:lstStyle>
          <a:p>
            <a:pPr algn="ctr"/>
            <a:r>
              <a:rPr lang="en-IN" b="1"/>
              <a:t>PSS-09, 5B &amp; 8B Progress</a:t>
            </a:r>
          </a:p>
        </p:txBody>
      </p:sp>
      <p:sp>
        <p:nvSpPr>
          <p:cNvPr id="2" name="Slide Number Placeholder 1">
            <a:extLst>
              <a:ext uri="{FF2B5EF4-FFF2-40B4-BE49-F238E27FC236}">
                <a16:creationId xmlns:a16="http://schemas.microsoft.com/office/drawing/2014/main" id="{293C0540-1F55-C668-DF9C-FBBA4EE08D58}"/>
              </a:ext>
            </a:extLst>
          </p:cNvPr>
          <p:cNvSpPr>
            <a:spLocks noGrp="1"/>
          </p:cNvSpPr>
          <p:nvPr>
            <p:ph type="sldNum" sz="quarter" idx="12"/>
          </p:nvPr>
        </p:nvSpPr>
        <p:spPr>
          <a:xfrm>
            <a:off x="11560028" y="6492875"/>
            <a:ext cx="482599" cy="365125"/>
          </a:xfrm>
        </p:spPr>
        <p:txBody>
          <a:bodyPr/>
          <a:lstStyle/>
          <a:p>
            <a:fld id="{98B285C1-D8A8-4E98-B28C-1FD972D8EC54}" type="slidenum">
              <a:rPr lang="en-IN" smtClean="0"/>
              <a:t>24</a:t>
            </a:fld>
            <a:endParaRPr lang="en-IN"/>
          </a:p>
        </p:txBody>
      </p:sp>
    </p:spTree>
    <p:extLst>
      <p:ext uri="{BB962C8B-B14F-4D97-AF65-F5344CB8AC3E}">
        <p14:creationId xmlns:p14="http://schemas.microsoft.com/office/powerpoint/2010/main" val="415972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9E9E-B262-52E1-4139-70A49F16FD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E3D21F-38BC-4D5F-F467-D5BDD9B28AB9}"/>
              </a:ext>
            </a:extLst>
          </p:cNvPr>
          <p:cNvSpPr>
            <a:spLocks noGrp="1"/>
          </p:cNvSpPr>
          <p:nvPr>
            <p:ph type="sldNum" sz="quarter" idx="12"/>
          </p:nvPr>
        </p:nvSpPr>
        <p:spPr>
          <a:xfrm>
            <a:off x="9197828" y="6492875"/>
            <a:ext cx="2844800" cy="365125"/>
          </a:xfrm>
        </p:spPr>
        <p:txBody>
          <a:bodyPr/>
          <a:lstStyle/>
          <a:p>
            <a:fld id="{98B285C1-D8A8-4E98-B28C-1FD972D8EC54}" type="slidenum">
              <a:rPr lang="en-IN" smtClean="0"/>
              <a:t>25</a:t>
            </a:fld>
            <a:endParaRPr lang="en-IN"/>
          </a:p>
        </p:txBody>
      </p:sp>
      <p:sp>
        <p:nvSpPr>
          <p:cNvPr id="5" name="Rectangle 2">
            <a:extLst>
              <a:ext uri="{FF2B5EF4-FFF2-40B4-BE49-F238E27FC236}">
                <a16:creationId xmlns:a16="http://schemas.microsoft.com/office/drawing/2014/main" id="{9EE81A8C-81E0-8DA3-02C1-D3A5CDF2541B}"/>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Construction Progress (Plan VS Actual) (PSS-09)</a:t>
            </a:r>
            <a:endParaRPr lang="en-US" sz="2400" b="1">
              <a:solidFill>
                <a:srgbClr val="912A82"/>
              </a:solidFill>
              <a:highlight>
                <a:srgbClr val="FFFF00"/>
              </a:highlight>
            </a:endParaRPr>
          </a:p>
        </p:txBody>
      </p:sp>
      <p:graphicFrame>
        <p:nvGraphicFramePr>
          <p:cNvPr id="9" name="Table 8">
            <a:extLst>
              <a:ext uri="{FF2B5EF4-FFF2-40B4-BE49-F238E27FC236}">
                <a16:creationId xmlns:a16="http://schemas.microsoft.com/office/drawing/2014/main" id="{49D179B5-7A0F-81FA-866B-406333C4E064}"/>
              </a:ext>
            </a:extLst>
          </p:cNvPr>
          <p:cNvGraphicFramePr>
            <a:graphicFrameLocks noGrp="1"/>
          </p:cNvGraphicFramePr>
          <p:nvPr/>
        </p:nvGraphicFramePr>
        <p:xfrm>
          <a:off x="6162528" y="6159619"/>
          <a:ext cx="4457700" cy="464820"/>
        </p:xfrm>
        <a:graphic>
          <a:graphicData uri="http://schemas.openxmlformats.org/drawingml/2006/table">
            <a:tbl>
              <a:tblPr/>
              <a:tblGrid>
                <a:gridCol w="800100">
                  <a:extLst>
                    <a:ext uri="{9D8B030D-6E8A-4147-A177-3AD203B41FA5}">
                      <a16:colId xmlns:a16="http://schemas.microsoft.com/office/drawing/2014/main" val="3191902834"/>
                    </a:ext>
                  </a:extLst>
                </a:gridCol>
                <a:gridCol w="609600">
                  <a:extLst>
                    <a:ext uri="{9D8B030D-6E8A-4147-A177-3AD203B41FA5}">
                      <a16:colId xmlns:a16="http://schemas.microsoft.com/office/drawing/2014/main" val="3440374471"/>
                    </a:ext>
                  </a:extLst>
                </a:gridCol>
                <a:gridCol w="609600">
                  <a:extLst>
                    <a:ext uri="{9D8B030D-6E8A-4147-A177-3AD203B41FA5}">
                      <a16:colId xmlns:a16="http://schemas.microsoft.com/office/drawing/2014/main" val="4154648303"/>
                    </a:ext>
                  </a:extLst>
                </a:gridCol>
                <a:gridCol w="609600">
                  <a:extLst>
                    <a:ext uri="{9D8B030D-6E8A-4147-A177-3AD203B41FA5}">
                      <a16:colId xmlns:a16="http://schemas.microsoft.com/office/drawing/2014/main" val="423793554"/>
                    </a:ext>
                  </a:extLst>
                </a:gridCol>
                <a:gridCol w="1828800">
                  <a:extLst>
                    <a:ext uri="{9D8B030D-6E8A-4147-A177-3AD203B41FA5}">
                      <a16:colId xmlns:a16="http://schemas.microsoft.com/office/drawing/2014/main" val="634941952"/>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82759133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2803369911"/>
                  </a:ext>
                </a:extLst>
              </a:tr>
            </a:tbl>
          </a:graphicData>
        </a:graphic>
      </p:graphicFrame>
      <p:sp>
        <p:nvSpPr>
          <p:cNvPr id="3" name="Arrow: Right 2">
            <a:hlinkClick r:id="rId2" action="ppaction://hlinksldjump"/>
            <a:extLst>
              <a:ext uri="{FF2B5EF4-FFF2-40B4-BE49-F238E27FC236}">
                <a16:creationId xmlns:a16="http://schemas.microsoft.com/office/drawing/2014/main" id="{10103EF8-E48F-AF85-89D1-D27AE18B64D0}"/>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Left 5">
            <a:hlinkClick r:id="rId3" action="ppaction://hlinksldjump"/>
            <a:extLst>
              <a:ext uri="{FF2B5EF4-FFF2-40B4-BE49-F238E27FC236}">
                <a16:creationId xmlns:a16="http://schemas.microsoft.com/office/drawing/2014/main" id="{B41A95E7-916D-5CFB-65A3-4F80D988DB69}"/>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0581C32C-53A3-B318-C7C8-037A3E8AD58E}"/>
              </a:ext>
            </a:extLst>
          </p:cNvPr>
          <p:cNvGraphicFramePr>
            <a:graphicFrameLocks noChangeAspect="1"/>
          </p:cNvGraphicFramePr>
          <p:nvPr/>
        </p:nvGraphicFramePr>
        <p:xfrm>
          <a:off x="57150" y="727075"/>
          <a:ext cx="7219950" cy="4171950"/>
        </p:xfrm>
        <a:graphic>
          <a:graphicData uri="http://schemas.openxmlformats.org/presentationml/2006/ole">
            <mc:AlternateContent xmlns:mc="http://schemas.openxmlformats.org/markup-compatibility/2006">
              <mc:Choice xmlns:v="urn:schemas-microsoft-com:vml" Requires="v">
                <p:oleObj name="Worksheet" r:id="rId4" imgW="7220116" imgH="4171796" progId="Excel.Sheet.12">
                  <p:link updateAutomatic="1"/>
                </p:oleObj>
              </mc:Choice>
              <mc:Fallback>
                <p:oleObj name="Worksheet" r:id="rId4" imgW="7220116" imgH="4171796" progId="Excel.Sheet.12">
                  <p:link updateAutomatic="1"/>
                  <p:pic>
                    <p:nvPicPr>
                      <p:cNvPr id="10" name="Object 9">
                        <a:extLst>
                          <a:ext uri="{FF2B5EF4-FFF2-40B4-BE49-F238E27FC236}">
                            <a16:creationId xmlns:a16="http://schemas.microsoft.com/office/drawing/2014/main" id="{0581C32C-53A3-B318-C7C8-037A3E8AD58E}"/>
                          </a:ext>
                        </a:extLst>
                      </p:cNvPr>
                      <p:cNvPicPr/>
                      <p:nvPr/>
                    </p:nvPicPr>
                    <p:blipFill>
                      <a:blip r:embed="rId5"/>
                      <a:stretch>
                        <a:fillRect/>
                      </a:stretch>
                    </p:blipFill>
                    <p:spPr>
                      <a:xfrm>
                        <a:off x="57150" y="727075"/>
                        <a:ext cx="7219950" cy="4171950"/>
                      </a:xfrm>
                      <a:prstGeom prst="rect">
                        <a:avLst/>
                      </a:prstGeom>
                    </p:spPr>
                  </p:pic>
                </p:oleObj>
              </mc:Fallback>
            </mc:AlternateContent>
          </a:graphicData>
        </a:graphic>
      </p:graphicFrame>
      <p:graphicFrame>
        <p:nvGraphicFramePr>
          <p:cNvPr id="12" name="Chart 11">
            <a:extLst>
              <a:ext uri="{FF2B5EF4-FFF2-40B4-BE49-F238E27FC236}">
                <a16:creationId xmlns:a16="http://schemas.microsoft.com/office/drawing/2014/main" id="{356D414C-F19C-4C0C-BDD7-668B0AC692E8}"/>
              </a:ext>
            </a:extLst>
          </p:cNvPr>
          <p:cNvGraphicFramePr>
            <a:graphicFrameLocks/>
          </p:cNvGraphicFramePr>
          <p:nvPr/>
        </p:nvGraphicFramePr>
        <p:xfrm>
          <a:off x="7367588" y="834175"/>
          <a:ext cx="4687191" cy="398865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7" name="Object 6">
            <a:extLst>
              <a:ext uri="{FF2B5EF4-FFF2-40B4-BE49-F238E27FC236}">
                <a16:creationId xmlns:a16="http://schemas.microsoft.com/office/drawing/2014/main" id="{7F41865F-AD1D-BFA4-BF6F-899A2DC66853}"/>
              </a:ext>
            </a:extLst>
          </p:cNvPr>
          <p:cNvGraphicFramePr>
            <a:graphicFrameLocks noChangeAspect="1"/>
          </p:cNvGraphicFramePr>
          <p:nvPr/>
        </p:nvGraphicFramePr>
        <p:xfrm>
          <a:off x="7491" y="5048309"/>
          <a:ext cx="7219950" cy="962025"/>
        </p:xfrm>
        <a:graphic>
          <a:graphicData uri="http://schemas.openxmlformats.org/presentationml/2006/ole">
            <mc:AlternateContent xmlns:mc="http://schemas.openxmlformats.org/markup-compatibility/2006">
              <mc:Choice xmlns:v="urn:schemas-microsoft-com:vml" Requires="v">
                <p:oleObj name="Worksheet" r:id="rId7" imgW="7220116" imgH="961974" progId="Excel.Sheet.12">
                  <p:link updateAutomatic="1"/>
                </p:oleObj>
              </mc:Choice>
              <mc:Fallback>
                <p:oleObj name="Worksheet" r:id="rId7" imgW="7220116" imgH="961974" progId="Excel.Sheet.12">
                  <p:link updateAutomatic="1"/>
                  <p:pic>
                    <p:nvPicPr>
                      <p:cNvPr id="7" name="Object 6">
                        <a:extLst>
                          <a:ext uri="{FF2B5EF4-FFF2-40B4-BE49-F238E27FC236}">
                            <a16:creationId xmlns:a16="http://schemas.microsoft.com/office/drawing/2014/main" id="{7F41865F-AD1D-BFA4-BF6F-899A2DC66853}"/>
                          </a:ext>
                        </a:extLst>
                      </p:cNvPr>
                      <p:cNvPicPr/>
                      <p:nvPr/>
                    </p:nvPicPr>
                    <p:blipFill>
                      <a:blip r:embed="rId8"/>
                      <a:stretch>
                        <a:fillRect/>
                      </a:stretch>
                    </p:blipFill>
                    <p:spPr>
                      <a:xfrm>
                        <a:off x="7491" y="5048309"/>
                        <a:ext cx="7219950" cy="962025"/>
                      </a:xfrm>
                      <a:prstGeom prst="rect">
                        <a:avLst/>
                      </a:prstGeom>
                    </p:spPr>
                  </p:pic>
                </p:oleObj>
              </mc:Fallback>
            </mc:AlternateContent>
          </a:graphicData>
        </a:graphic>
      </p:graphicFrame>
      <p:graphicFrame>
        <p:nvGraphicFramePr>
          <p:cNvPr id="8" name="Chart 7">
            <a:extLst>
              <a:ext uri="{FF2B5EF4-FFF2-40B4-BE49-F238E27FC236}">
                <a16:creationId xmlns:a16="http://schemas.microsoft.com/office/drawing/2014/main" id="{3A401DA3-2D57-4652-8F8B-1AA4888B7A95}"/>
              </a:ext>
            </a:extLst>
          </p:cNvPr>
          <p:cNvGraphicFramePr>
            <a:graphicFrameLocks/>
          </p:cNvGraphicFramePr>
          <p:nvPr/>
        </p:nvGraphicFramePr>
        <p:xfrm>
          <a:off x="7287989" y="5028794"/>
          <a:ext cx="4754639" cy="962025"/>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2079402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C23D0-AA76-7736-A2D2-C55862EA572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D0D8EF-7EF7-485F-F9A1-8FE98697346B}"/>
              </a:ext>
            </a:extLst>
          </p:cNvPr>
          <p:cNvSpPr>
            <a:spLocks noGrp="1"/>
          </p:cNvSpPr>
          <p:nvPr>
            <p:ph type="sldNum" sz="quarter" idx="12"/>
          </p:nvPr>
        </p:nvSpPr>
        <p:spPr>
          <a:xfrm>
            <a:off x="9197828" y="6492875"/>
            <a:ext cx="2844800" cy="365125"/>
          </a:xfrm>
        </p:spPr>
        <p:txBody>
          <a:bodyPr/>
          <a:lstStyle/>
          <a:p>
            <a:fld id="{98B285C1-D8A8-4E98-B28C-1FD972D8EC54}" type="slidenum">
              <a:rPr lang="en-IN" smtClean="0"/>
              <a:t>26</a:t>
            </a:fld>
            <a:endParaRPr lang="en-IN"/>
          </a:p>
        </p:txBody>
      </p:sp>
      <p:sp>
        <p:nvSpPr>
          <p:cNvPr id="5" name="Rectangle 2">
            <a:extLst>
              <a:ext uri="{FF2B5EF4-FFF2-40B4-BE49-F238E27FC236}">
                <a16:creationId xmlns:a16="http://schemas.microsoft.com/office/drawing/2014/main" id="{89B89C20-D829-FD2F-064A-DFB802C57910}"/>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Construction Progress (Plan VS Actual) (PSS-05(B))</a:t>
            </a:r>
          </a:p>
          <a:p>
            <a:endParaRPr lang="en-US" sz="2400" b="1">
              <a:solidFill>
                <a:srgbClr val="912A82"/>
              </a:solidFill>
              <a:highlight>
                <a:srgbClr val="FFFF00"/>
              </a:highlight>
            </a:endParaRPr>
          </a:p>
        </p:txBody>
      </p:sp>
      <p:graphicFrame>
        <p:nvGraphicFramePr>
          <p:cNvPr id="9" name="Table 8">
            <a:extLst>
              <a:ext uri="{FF2B5EF4-FFF2-40B4-BE49-F238E27FC236}">
                <a16:creationId xmlns:a16="http://schemas.microsoft.com/office/drawing/2014/main" id="{6D6D8FC1-A2C7-3C26-B387-97E7287693E3}"/>
              </a:ext>
            </a:extLst>
          </p:cNvPr>
          <p:cNvGraphicFramePr>
            <a:graphicFrameLocks noGrp="1"/>
          </p:cNvGraphicFramePr>
          <p:nvPr/>
        </p:nvGraphicFramePr>
        <p:xfrm>
          <a:off x="6162528" y="6159619"/>
          <a:ext cx="4457700" cy="464820"/>
        </p:xfrm>
        <a:graphic>
          <a:graphicData uri="http://schemas.openxmlformats.org/drawingml/2006/table">
            <a:tbl>
              <a:tblPr/>
              <a:tblGrid>
                <a:gridCol w="800100">
                  <a:extLst>
                    <a:ext uri="{9D8B030D-6E8A-4147-A177-3AD203B41FA5}">
                      <a16:colId xmlns:a16="http://schemas.microsoft.com/office/drawing/2014/main" val="3191902834"/>
                    </a:ext>
                  </a:extLst>
                </a:gridCol>
                <a:gridCol w="609600">
                  <a:extLst>
                    <a:ext uri="{9D8B030D-6E8A-4147-A177-3AD203B41FA5}">
                      <a16:colId xmlns:a16="http://schemas.microsoft.com/office/drawing/2014/main" val="3440374471"/>
                    </a:ext>
                  </a:extLst>
                </a:gridCol>
                <a:gridCol w="609600">
                  <a:extLst>
                    <a:ext uri="{9D8B030D-6E8A-4147-A177-3AD203B41FA5}">
                      <a16:colId xmlns:a16="http://schemas.microsoft.com/office/drawing/2014/main" val="4154648303"/>
                    </a:ext>
                  </a:extLst>
                </a:gridCol>
                <a:gridCol w="609600">
                  <a:extLst>
                    <a:ext uri="{9D8B030D-6E8A-4147-A177-3AD203B41FA5}">
                      <a16:colId xmlns:a16="http://schemas.microsoft.com/office/drawing/2014/main" val="423793554"/>
                    </a:ext>
                  </a:extLst>
                </a:gridCol>
                <a:gridCol w="1828800">
                  <a:extLst>
                    <a:ext uri="{9D8B030D-6E8A-4147-A177-3AD203B41FA5}">
                      <a16:colId xmlns:a16="http://schemas.microsoft.com/office/drawing/2014/main" val="634941952"/>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82759133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2803369911"/>
                  </a:ext>
                </a:extLst>
              </a:tr>
            </a:tbl>
          </a:graphicData>
        </a:graphic>
      </p:graphicFrame>
      <p:sp>
        <p:nvSpPr>
          <p:cNvPr id="4" name="Arrow: Right 3">
            <a:hlinkClick r:id="rId2" action="ppaction://hlinksldjump"/>
            <a:extLst>
              <a:ext uri="{FF2B5EF4-FFF2-40B4-BE49-F238E27FC236}">
                <a16:creationId xmlns:a16="http://schemas.microsoft.com/office/drawing/2014/main" id="{33043C08-A862-40FA-E2F3-A565330052A1}"/>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Left 6">
            <a:hlinkClick r:id="rId3" action="ppaction://hlinksldjump"/>
            <a:extLst>
              <a:ext uri="{FF2B5EF4-FFF2-40B4-BE49-F238E27FC236}">
                <a16:creationId xmlns:a16="http://schemas.microsoft.com/office/drawing/2014/main" id="{66E1FF4E-5D0D-0133-FF21-662339B60E82}"/>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2DBD2A61-A33E-0049-D20E-93CF9BFD386C}"/>
              </a:ext>
            </a:extLst>
          </p:cNvPr>
          <p:cNvGraphicFramePr>
            <a:graphicFrameLocks noChangeAspect="1"/>
          </p:cNvGraphicFramePr>
          <p:nvPr/>
        </p:nvGraphicFramePr>
        <p:xfrm>
          <a:off x="44450" y="542925"/>
          <a:ext cx="7305675" cy="4391025"/>
        </p:xfrm>
        <a:graphic>
          <a:graphicData uri="http://schemas.openxmlformats.org/presentationml/2006/ole">
            <mc:AlternateContent xmlns:mc="http://schemas.openxmlformats.org/markup-compatibility/2006">
              <mc:Choice xmlns:v="urn:schemas-microsoft-com:vml" Requires="v">
                <p:oleObj name="Worksheet" r:id="rId4" imgW="7305830" imgH="4391089" progId="Excel.Sheet.12">
                  <p:link updateAutomatic="1"/>
                </p:oleObj>
              </mc:Choice>
              <mc:Fallback>
                <p:oleObj name="Worksheet" r:id="rId4" imgW="7305830" imgH="4391089" progId="Excel.Sheet.12">
                  <p:link updateAutomatic="1"/>
                  <p:pic>
                    <p:nvPicPr>
                      <p:cNvPr id="10" name="Object 9">
                        <a:extLst>
                          <a:ext uri="{FF2B5EF4-FFF2-40B4-BE49-F238E27FC236}">
                            <a16:creationId xmlns:a16="http://schemas.microsoft.com/office/drawing/2014/main" id="{2DBD2A61-A33E-0049-D20E-93CF9BFD386C}"/>
                          </a:ext>
                        </a:extLst>
                      </p:cNvPr>
                      <p:cNvPicPr/>
                      <p:nvPr/>
                    </p:nvPicPr>
                    <p:blipFill>
                      <a:blip r:embed="rId5"/>
                      <a:stretch>
                        <a:fillRect/>
                      </a:stretch>
                    </p:blipFill>
                    <p:spPr>
                      <a:xfrm>
                        <a:off x="44450" y="542925"/>
                        <a:ext cx="7305675" cy="4391025"/>
                      </a:xfrm>
                      <a:prstGeom prst="rect">
                        <a:avLst/>
                      </a:prstGeom>
                    </p:spPr>
                  </p:pic>
                </p:oleObj>
              </mc:Fallback>
            </mc:AlternateContent>
          </a:graphicData>
        </a:graphic>
      </p:graphicFrame>
      <p:graphicFrame>
        <p:nvGraphicFramePr>
          <p:cNvPr id="12" name="Chart 11">
            <a:extLst>
              <a:ext uri="{FF2B5EF4-FFF2-40B4-BE49-F238E27FC236}">
                <a16:creationId xmlns:a16="http://schemas.microsoft.com/office/drawing/2014/main" id="{010AE0CF-139C-48A5-ACF0-17A561F52EF9}"/>
              </a:ext>
            </a:extLst>
          </p:cNvPr>
          <p:cNvGraphicFramePr>
            <a:graphicFrameLocks/>
          </p:cNvGraphicFramePr>
          <p:nvPr/>
        </p:nvGraphicFramePr>
        <p:xfrm>
          <a:off x="7481128" y="505291"/>
          <a:ext cx="4561500" cy="420774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 name="Object 2">
            <a:extLst>
              <a:ext uri="{FF2B5EF4-FFF2-40B4-BE49-F238E27FC236}">
                <a16:creationId xmlns:a16="http://schemas.microsoft.com/office/drawing/2014/main" id="{F4970640-9479-06CB-0D4D-2E0474AD6ED7}"/>
              </a:ext>
            </a:extLst>
          </p:cNvPr>
          <p:cNvGraphicFramePr>
            <a:graphicFrameLocks noChangeAspect="1"/>
          </p:cNvGraphicFramePr>
          <p:nvPr/>
        </p:nvGraphicFramePr>
        <p:xfrm>
          <a:off x="44451" y="5022767"/>
          <a:ext cx="7305674" cy="962025"/>
        </p:xfrm>
        <a:graphic>
          <a:graphicData uri="http://schemas.openxmlformats.org/presentationml/2006/ole">
            <mc:AlternateContent xmlns:mc="http://schemas.openxmlformats.org/markup-compatibility/2006">
              <mc:Choice xmlns:v="urn:schemas-microsoft-com:vml" Requires="v">
                <p:oleObj name="Worksheet" r:id="rId7" imgW="7305830" imgH="961974" progId="Excel.Sheet.12">
                  <p:link updateAutomatic="1"/>
                </p:oleObj>
              </mc:Choice>
              <mc:Fallback>
                <p:oleObj name="Worksheet" r:id="rId7" imgW="7305830" imgH="961974" progId="Excel.Sheet.12">
                  <p:link updateAutomatic="1"/>
                  <p:pic>
                    <p:nvPicPr>
                      <p:cNvPr id="3" name="Object 2">
                        <a:extLst>
                          <a:ext uri="{FF2B5EF4-FFF2-40B4-BE49-F238E27FC236}">
                            <a16:creationId xmlns:a16="http://schemas.microsoft.com/office/drawing/2014/main" id="{F4970640-9479-06CB-0D4D-2E0474AD6ED7}"/>
                          </a:ext>
                        </a:extLst>
                      </p:cNvPr>
                      <p:cNvPicPr/>
                      <p:nvPr/>
                    </p:nvPicPr>
                    <p:blipFill>
                      <a:blip r:embed="rId8"/>
                      <a:stretch>
                        <a:fillRect/>
                      </a:stretch>
                    </p:blipFill>
                    <p:spPr>
                      <a:xfrm>
                        <a:off x="44451" y="5022767"/>
                        <a:ext cx="7305674" cy="962025"/>
                      </a:xfrm>
                      <a:prstGeom prst="rect">
                        <a:avLst/>
                      </a:prstGeom>
                    </p:spPr>
                  </p:pic>
                </p:oleObj>
              </mc:Fallback>
            </mc:AlternateContent>
          </a:graphicData>
        </a:graphic>
      </p:graphicFrame>
      <p:graphicFrame>
        <p:nvGraphicFramePr>
          <p:cNvPr id="11" name="Chart 10">
            <a:extLst>
              <a:ext uri="{FF2B5EF4-FFF2-40B4-BE49-F238E27FC236}">
                <a16:creationId xmlns:a16="http://schemas.microsoft.com/office/drawing/2014/main" id="{9B9A09F0-E4D3-4A1C-BB3F-4A49A332B238}"/>
              </a:ext>
            </a:extLst>
          </p:cNvPr>
          <p:cNvGraphicFramePr>
            <a:graphicFrameLocks/>
          </p:cNvGraphicFramePr>
          <p:nvPr/>
        </p:nvGraphicFramePr>
        <p:xfrm>
          <a:off x="7481128" y="4932829"/>
          <a:ext cx="4561500" cy="1185752"/>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930866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A7267-FDC1-D0B2-7E1C-5D6818F7F5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7340DF-9711-8EE1-9CC0-CD2DFC79AA9A}"/>
              </a:ext>
            </a:extLst>
          </p:cNvPr>
          <p:cNvSpPr>
            <a:spLocks noGrp="1"/>
          </p:cNvSpPr>
          <p:nvPr>
            <p:ph type="sldNum" sz="quarter" idx="12"/>
          </p:nvPr>
        </p:nvSpPr>
        <p:spPr>
          <a:xfrm>
            <a:off x="9197828" y="6492875"/>
            <a:ext cx="2844800" cy="365125"/>
          </a:xfrm>
        </p:spPr>
        <p:txBody>
          <a:bodyPr/>
          <a:lstStyle/>
          <a:p>
            <a:fld id="{98B285C1-D8A8-4E98-B28C-1FD972D8EC54}" type="slidenum">
              <a:rPr lang="en-IN" smtClean="0"/>
              <a:t>27</a:t>
            </a:fld>
            <a:endParaRPr lang="en-IN"/>
          </a:p>
        </p:txBody>
      </p:sp>
      <p:sp>
        <p:nvSpPr>
          <p:cNvPr id="5" name="Rectangle 2">
            <a:extLst>
              <a:ext uri="{FF2B5EF4-FFF2-40B4-BE49-F238E27FC236}">
                <a16:creationId xmlns:a16="http://schemas.microsoft.com/office/drawing/2014/main" id="{0A24B50F-3133-B306-C521-BBB32193D62E}"/>
              </a:ext>
            </a:extLst>
          </p:cNvPr>
          <p:cNvSpPr txBox="1">
            <a:spLocks noChangeArrowheads="1"/>
          </p:cNvSpPr>
          <p:nvPr/>
        </p:nvSpPr>
        <p:spPr>
          <a:xfrm>
            <a:off x="130740" y="93821"/>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Construction Progress (Plan VS Actual) (PSS-08(B))</a:t>
            </a:r>
          </a:p>
          <a:p>
            <a:endParaRPr lang="en-US" sz="2400" b="1">
              <a:solidFill>
                <a:srgbClr val="912A82"/>
              </a:solidFill>
              <a:highlight>
                <a:srgbClr val="FFFF00"/>
              </a:highlight>
            </a:endParaRPr>
          </a:p>
        </p:txBody>
      </p:sp>
      <p:graphicFrame>
        <p:nvGraphicFramePr>
          <p:cNvPr id="9" name="Table 8">
            <a:extLst>
              <a:ext uri="{FF2B5EF4-FFF2-40B4-BE49-F238E27FC236}">
                <a16:creationId xmlns:a16="http://schemas.microsoft.com/office/drawing/2014/main" id="{FE3EA0C9-4F9E-55A8-F83B-58FD6A4834F3}"/>
              </a:ext>
            </a:extLst>
          </p:cNvPr>
          <p:cNvGraphicFramePr>
            <a:graphicFrameLocks noGrp="1"/>
          </p:cNvGraphicFramePr>
          <p:nvPr/>
        </p:nvGraphicFramePr>
        <p:xfrm>
          <a:off x="6162528" y="6159619"/>
          <a:ext cx="4457700" cy="464820"/>
        </p:xfrm>
        <a:graphic>
          <a:graphicData uri="http://schemas.openxmlformats.org/drawingml/2006/table">
            <a:tbl>
              <a:tblPr/>
              <a:tblGrid>
                <a:gridCol w="800100">
                  <a:extLst>
                    <a:ext uri="{9D8B030D-6E8A-4147-A177-3AD203B41FA5}">
                      <a16:colId xmlns:a16="http://schemas.microsoft.com/office/drawing/2014/main" val="3191902834"/>
                    </a:ext>
                  </a:extLst>
                </a:gridCol>
                <a:gridCol w="609600">
                  <a:extLst>
                    <a:ext uri="{9D8B030D-6E8A-4147-A177-3AD203B41FA5}">
                      <a16:colId xmlns:a16="http://schemas.microsoft.com/office/drawing/2014/main" val="3440374471"/>
                    </a:ext>
                  </a:extLst>
                </a:gridCol>
                <a:gridCol w="609600">
                  <a:extLst>
                    <a:ext uri="{9D8B030D-6E8A-4147-A177-3AD203B41FA5}">
                      <a16:colId xmlns:a16="http://schemas.microsoft.com/office/drawing/2014/main" val="4154648303"/>
                    </a:ext>
                  </a:extLst>
                </a:gridCol>
                <a:gridCol w="609600">
                  <a:extLst>
                    <a:ext uri="{9D8B030D-6E8A-4147-A177-3AD203B41FA5}">
                      <a16:colId xmlns:a16="http://schemas.microsoft.com/office/drawing/2014/main" val="423793554"/>
                    </a:ext>
                  </a:extLst>
                </a:gridCol>
                <a:gridCol w="1828800">
                  <a:extLst>
                    <a:ext uri="{9D8B030D-6E8A-4147-A177-3AD203B41FA5}">
                      <a16:colId xmlns:a16="http://schemas.microsoft.com/office/drawing/2014/main" val="634941952"/>
                    </a:ext>
                  </a:extLst>
                </a:gridCol>
              </a:tblGrid>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70C0"/>
                    </a:solidFill>
                  </a:tcPr>
                </a:tc>
                <a:tc>
                  <a:txBody>
                    <a:bodyPr/>
                    <a:lstStyle/>
                    <a:p>
                      <a:pPr algn="l" fontAlgn="ctr">
                        <a:buNone/>
                      </a:pPr>
                      <a:r>
                        <a:rPr lang="en-US" sz="900" b="0" i="0" u="none" strike="noStrike">
                          <a:solidFill>
                            <a:srgbClr val="000000"/>
                          </a:solidFill>
                          <a:effectLst/>
                          <a:latin typeface="Adani Light" panose="02000503000000020004" pitchFamily="2" charset="0"/>
                        </a:rPr>
                        <a:t>Plan</a:t>
                      </a:r>
                    </a:p>
                  </a:txBody>
                  <a:tcPr marL="0" marR="0" marT="0" marB="0" anchor="ctr">
                    <a:lnL>
                      <a:noFill/>
                    </a:lnL>
                    <a:lnR>
                      <a:noFill/>
                    </a:lnR>
                    <a:lnT>
                      <a:noFill/>
                    </a:lnT>
                    <a:lnB>
                      <a:noFill/>
                    </a:lnB>
                    <a:noFill/>
                  </a:tcPr>
                </a:tc>
                <a:tc>
                  <a:txBody>
                    <a:bodyPr/>
                    <a:lstStyle/>
                    <a:p>
                      <a:pPr algn="l" fontAlgn="ctr">
                        <a:buNone/>
                      </a:pPr>
                      <a:endParaRPr lang="en-US" sz="900" b="0" i="0" u="none" strike="noStrike">
                        <a:solidFill>
                          <a:srgbClr val="000000"/>
                        </a:solidFill>
                        <a:effectLst/>
                        <a:latin typeface="Adani Light" panose="02000503000000020004" pitchFamily="2" charset="0"/>
                      </a:endParaRPr>
                    </a:p>
                  </a:txBody>
                  <a:tcPr marL="0" marR="0" marT="0" marB="0"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00B05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(80% plan achieved)</a:t>
                      </a:r>
                    </a:p>
                  </a:txBody>
                  <a:tcPr marL="0" marR="0" marT="0" marB="0" anchor="ctr">
                    <a:lnL>
                      <a:noFill/>
                    </a:lnL>
                    <a:lnR>
                      <a:noFill/>
                    </a:lnR>
                    <a:lnT>
                      <a:noFill/>
                    </a:lnT>
                    <a:lnB>
                      <a:noFill/>
                    </a:lnB>
                    <a:noFill/>
                  </a:tcPr>
                </a:tc>
                <a:extLst>
                  <a:ext uri="{0D108BD9-81ED-4DB2-BD59-A6C34878D82A}">
                    <a16:rowId xmlns:a16="http://schemas.microsoft.com/office/drawing/2014/main" val="3827591337"/>
                  </a:ext>
                </a:extLst>
              </a:tr>
              <a:tr h="190500">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FF00"/>
                    </a:solidFill>
                  </a:tcPr>
                </a:tc>
                <a:tc gridSpan="2">
                  <a:txBody>
                    <a:bodyPr/>
                    <a:lstStyle/>
                    <a:p>
                      <a:pPr algn="l" fontAlgn="ctr">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ctr">
                    <a:lnL>
                      <a:noFill/>
                    </a:lnL>
                    <a:lnR>
                      <a:noFill/>
                    </a:lnR>
                    <a:lnT>
                      <a:noFill/>
                    </a:lnT>
                    <a:lnB>
                      <a:noFill/>
                    </a:lnB>
                    <a:noFill/>
                  </a:tcPr>
                </a:tc>
                <a:tc hMerge="1">
                  <a:txBody>
                    <a:bodyPr/>
                    <a:lstStyle/>
                    <a:p>
                      <a:endParaRPr lang="en-US"/>
                    </a:p>
                  </a:txBody>
                  <a:tcPr/>
                </a:tc>
                <a:tc>
                  <a:txBody>
                    <a:bodyPr/>
                    <a:lstStyle/>
                    <a:p>
                      <a:pPr algn="l" fontAlgn="ctr">
                        <a:buNone/>
                      </a:pPr>
                      <a:r>
                        <a:rPr lang="en-US" sz="900" b="0" i="0" u="none" strike="noStrike">
                          <a:solidFill>
                            <a:srgbClr val="000000"/>
                          </a:solidFill>
                          <a:effectLst/>
                          <a:latin typeface="Adani Light" panose="02000503000000020004" pitchFamily="2" charset="0"/>
                        </a:rPr>
                        <a:t> </a:t>
                      </a:r>
                    </a:p>
                  </a:txBody>
                  <a:tcPr marL="0" marR="0" marT="0" marB="0" anchor="ctr">
                    <a:lnL>
                      <a:noFill/>
                    </a:lnL>
                    <a:lnR>
                      <a:noFill/>
                    </a:lnR>
                    <a:lnT>
                      <a:noFill/>
                    </a:lnT>
                    <a:lnB>
                      <a:noFill/>
                    </a:lnB>
                    <a:solidFill>
                      <a:srgbClr val="FF0000"/>
                    </a:solidFill>
                  </a:tcPr>
                </a:tc>
                <a:tc>
                  <a:txBody>
                    <a:bodyPr/>
                    <a:lstStyle/>
                    <a:p>
                      <a:pPr algn="l" fontAlgn="ctr">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ctr">
                    <a:lnL>
                      <a:noFill/>
                    </a:lnL>
                    <a:lnR>
                      <a:noFill/>
                    </a:lnR>
                    <a:lnT>
                      <a:noFill/>
                    </a:lnT>
                    <a:lnB>
                      <a:noFill/>
                    </a:lnB>
                    <a:noFill/>
                  </a:tcPr>
                </a:tc>
                <a:extLst>
                  <a:ext uri="{0D108BD9-81ED-4DB2-BD59-A6C34878D82A}">
                    <a16:rowId xmlns:a16="http://schemas.microsoft.com/office/drawing/2014/main" val="2803369911"/>
                  </a:ext>
                </a:extLst>
              </a:tr>
            </a:tbl>
          </a:graphicData>
        </a:graphic>
      </p:graphicFrame>
      <p:sp>
        <p:nvSpPr>
          <p:cNvPr id="4" name="Arrow: Left 3">
            <a:hlinkClick r:id="rId2" action="ppaction://hlinksldjump"/>
            <a:extLst>
              <a:ext uri="{FF2B5EF4-FFF2-40B4-BE49-F238E27FC236}">
                <a16:creationId xmlns:a16="http://schemas.microsoft.com/office/drawing/2014/main" id="{D50824D7-DD1E-34EF-7B63-43B2F0077AD3}"/>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a:extLst>
              <a:ext uri="{FF2B5EF4-FFF2-40B4-BE49-F238E27FC236}">
                <a16:creationId xmlns:a16="http://schemas.microsoft.com/office/drawing/2014/main" id="{B67DD42C-E0D9-1D98-DFFF-4BF2D759E50D}"/>
              </a:ext>
            </a:extLst>
          </p:cNvPr>
          <p:cNvGraphicFramePr>
            <a:graphicFrameLocks noChangeAspect="1"/>
          </p:cNvGraphicFramePr>
          <p:nvPr/>
        </p:nvGraphicFramePr>
        <p:xfrm>
          <a:off x="47625" y="482600"/>
          <a:ext cx="7600950" cy="4391025"/>
        </p:xfrm>
        <a:graphic>
          <a:graphicData uri="http://schemas.openxmlformats.org/presentationml/2006/ole">
            <mc:AlternateContent xmlns:mc="http://schemas.openxmlformats.org/markup-compatibility/2006">
              <mc:Choice xmlns:v="urn:schemas-microsoft-com:vml" Requires="v">
                <p:oleObj name="Worksheet" r:id="rId3" imgW="7600798" imgH="4391089" progId="Excel.Sheet.12">
                  <p:link updateAutomatic="1"/>
                </p:oleObj>
              </mc:Choice>
              <mc:Fallback>
                <p:oleObj name="Worksheet" r:id="rId3" imgW="7600798" imgH="4391089" progId="Excel.Sheet.12">
                  <p:link updateAutomatic="1"/>
                  <p:pic>
                    <p:nvPicPr>
                      <p:cNvPr id="3" name="Object 2">
                        <a:extLst>
                          <a:ext uri="{FF2B5EF4-FFF2-40B4-BE49-F238E27FC236}">
                            <a16:creationId xmlns:a16="http://schemas.microsoft.com/office/drawing/2014/main" id="{B67DD42C-E0D9-1D98-DFFF-4BF2D759E50D}"/>
                          </a:ext>
                        </a:extLst>
                      </p:cNvPr>
                      <p:cNvPicPr/>
                      <p:nvPr/>
                    </p:nvPicPr>
                    <p:blipFill>
                      <a:blip r:embed="rId4"/>
                      <a:stretch>
                        <a:fillRect/>
                      </a:stretch>
                    </p:blipFill>
                    <p:spPr>
                      <a:xfrm>
                        <a:off x="47625" y="482600"/>
                        <a:ext cx="7600950" cy="4391025"/>
                      </a:xfrm>
                      <a:prstGeom prst="rect">
                        <a:avLst/>
                      </a:prstGeom>
                    </p:spPr>
                  </p:pic>
                </p:oleObj>
              </mc:Fallback>
            </mc:AlternateContent>
          </a:graphicData>
        </a:graphic>
      </p:graphicFrame>
      <p:graphicFrame>
        <p:nvGraphicFramePr>
          <p:cNvPr id="11" name="Chart 10">
            <a:extLst>
              <a:ext uri="{FF2B5EF4-FFF2-40B4-BE49-F238E27FC236}">
                <a16:creationId xmlns:a16="http://schemas.microsoft.com/office/drawing/2014/main" id="{9022CC91-EF99-426E-8DF0-58F577CAFBCD}"/>
              </a:ext>
            </a:extLst>
          </p:cNvPr>
          <p:cNvGraphicFramePr>
            <a:graphicFrameLocks/>
          </p:cNvGraphicFramePr>
          <p:nvPr/>
        </p:nvGraphicFramePr>
        <p:xfrm>
          <a:off x="7731691" y="538840"/>
          <a:ext cx="4385696" cy="421293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Object 6">
            <a:extLst>
              <a:ext uri="{FF2B5EF4-FFF2-40B4-BE49-F238E27FC236}">
                <a16:creationId xmlns:a16="http://schemas.microsoft.com/office/drawing/2014/main" id="{B15720F5-5936-2BAA-35D9-4EDA5767BF56}"/>
              </a:ext>
            </a:extLst>
          </p:cNvPr>
          <p:cNvGraphicFramePr>
            <a:graphicFrameLocks noChangeAspect="1"/>
          </p:cNvGraphicFramePr>
          <p:nvPr/>
        </p:nvGraphicFramePr>
        <p:xfrm>
          <a:off x="47625" y="5021302"/>
          <a:ext cx="7600950" cy="962025"/>
        </p:xfrm>
        <a:graphic>
          <a:graphicData uri="http://schemas.openxmlformats.org/presentationml/2006/ole">
            <mc:AlternateContent xmlns:mc="http://schemas.openxmlformats.org/markup-compatibility/2006">
              <mc:Choice xmlns:v="urn:schemas-microsoft-com:vml" Requires="v">
                <p:oleObj name="Worksheet" r:id="rId6" imgW="7600798" imgH="961974" progId="Excel.Sheet.12">
                  <p:link updateAutomatic="1"/>
                </p:oleObj>
              </mc:Choice>
              <mc:Fallback>
                <p:oleObj name="Worksheet" r:id="rId6" imgW="7600798" imgH="961974" progId="Excel.Sheet.12">
                  <p:link updateAutomatic="1"/>
                  <p:pic>
                    <p:nvPicPr>
                      <p:cNvPr id="7" name="Object 6">
                        <a:extLst>
                          <a:ext uri="{FF2B5EF4-FFF2-40B4-BE49-F238E27FC236}">
                            <a16:creationId xmlns:a16="http://schemas.microsoft.com/office/drawing/2014/main" id="{B15720F5-5936-2BAA-35D9-4EDA5767BF56}"/>
                          </a:ext>
                        </a:extLst>
                      </p:cNvPr>
                      <p:cNvPicPr/>
                      <p:nvPr/>
                    </p:nvPicPr>
                    <p:blipFill>
                      <a:blip r:embed="rId7"/>
                      <a:stretch>
                        <a:fillRect/>
                      </a:stretch>
                    </p:blipFill>
                    <p:spPr>
                      <a:xfrm>
                        <a:off x="47625" y="5021302"/>
                        <a:ext cx="7600950" cy="962025"/>
                      </a:xfrm>
                      <a:prstGeom prst="rect">
                        <a:avLst/>
                      </a:prstGeom>
                    </p:spPr>
                  </p:pic>
                </p:oleObj>
              </mc:Fallback>
            </mc:AlternateContent>
          </a:graphicData>
        </a:graphic>
      </p:graphicFrame>
      <p:graphicFrame>
        <p:nvGraphicFramePr>
          <p:cNvPr id="10" name="Chart 9">
            <a:extLst>
              <a:ext uri="{FF2B5EF4-FFF2-40B4-BE49-F238E27FC236}">
                <a16:creationId xmlns:a16="http://schemas.microsoft.com/office/drawing/2014/main" id="{E92F70DD-DA7A-4665-81F0-BEED5B178DBC}"/>
              </a:ext>
            </a:extLst>
          </p:cNvPr>
          <p:cNvGraphicFramePr>
            <a:graphicFrameLocks/>
          </p:cNvGraphicFramePr>
          <p:nvPr/>
        </p:nvGraphicFramePr>
        <p:xfrm>
          <a:off x="7731691" y="4907856"/>
          <a:ext cx="4385696" cy="1206793"/>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4113395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17BD-3A80-87D8-9B3F-E558FF489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D2D04-6513-D04F-4902-64B6EBA9FA66}"/>
              </a:ext>
            </a:extLst>
          </p:cNvPr>
          <p:cNvSpPr>
            <a:spLocks noGrp="1"/>
          </p:cNvSpPr>
          <p:nvPr>
            <p:ph type="title"/>
          </p:nvPr>
        </p:nvSpPr>
        <p:spPr/>
        <p:txBody>
          <a:bodyPr/>
          <a:lstStyle/>
          <a:p>
            <a:r>
              <a:rPr lang="en-US"/>
              <a:t>Manpower Status: PSS 11, 12, 10B, 9, 05B &amp; 08B </a:t>
            </a:r>
          </a:p>
        </p:txBody>
      </p:sp>
    </p:spTree>
    <p:extLst>
      <p:ext uri="{BB962C8B-B14F-4D97-AF65-F5344CB8AC3E}">
        <p14:creationId xmlns:p14="http://schemas.microsoft.com/office/powerpoint/2010/main" val="19101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A2B1B-FD51-C500-CD55-47ED13C727D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7129A40-6F44-9069-3E58-FBB70110F58C}"/>
              </a:ext>
            </a:extLst>
          </p:cNvPr>
          <p:cNvSpPr txBox="1">
            <a:spLocks/>
          </p:cNvSpPr>
          <p:nvPr/>
        </p:nvSpPr>
        <p:spPr>
          <a:xfrm>
            <a:off x="323941" y="125885"/>
            <a:ext cx="11853369" cy="341349"/>
          </a:xfrm>
          <a:prstGeom prst="rect">
            <a:avLst/>
          </a:prstGeom>
          <a:noFill/>
        </p:spPr>
        <p:txBody>
          <a:bodyPr vert="horz" wrap="square" lIns="0" tIns="45580" rIns="91157" bIns="45580" rtlCol="0" anchor="b">
            <a:spAutoFit/>
          </a:bodyPr>
          <a:lstStyle>
            <a:lvl1pPr marL="109192" defTabSz="911377">
              <a:lnSpc>
                <a:spcPct val="90000"/>
              </a:lnSpc>
              <a:spcBef>
                <a:spcPct val="0"/>
              </a:spcBef>
              <a:buNone/>
              <a:defRPr sz="2400" b="1">
                <a:gradFill>
                  <a:gsLst>
                    <a:gs pos="9735">
                      <a:schemeClr val="tx2"/>
                    </a:gs>
                    <a:gs pos="63000">
                      <a:srgbClr val="8E278F"/>
                    </a:gs>
                    <a:gs pos="38000">
                      <a:srgbClr val="57499E"/>
                    </a:gs>
                  </a:gsLst>
                  <a:lin ang="0" scaled="0"/>
                </a:gradFill>
                <a:latin typeface="Adani Regular" panose="02000503000000020004" pitchFamily="2" charset="0"/>
              </a:defRPr>
            </a:lvl1pPr>
          </a:lstStyle>
          <a:p>
            <a:pPr marL="0" lvl="0">
              <a:defRPr/>
            </a:pPr>
            <a:r>
              <a:rPr kumimoji="0" lang="en-US" sz="1800"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rPr>
              <a:t>Manpower Deployment Plan vs Actual for Overall Project Execution-</a:t>
            </a:r>
            <a:r>
              <a:rPr lang="en-US" sz="1800">
                <a:gradFill>
                  <a:gsLst>
                    <a:gs pos="9735">
                      <a:srgbClr val="1F497D"/>
                    </a:gs>
                    <a:gs pos="63000">
                      <a:srgbClr val="8E278F"/>
                    </a:gs>
                    <a:gs pos="38000">
                      <a:srgbClr val="57499E"/>
                    </a:gs>
                  </a:gsLst>
                  <a:lin ang="0" scaled="0"/>
                </a:gradFill>
              </a:rPr>
              <a:t> PSS </a:t>
            </a:r>
            <a:r>
              <a:rPr lang="en-US" sz="1800"/>
              <a:t>11, 12, 10B, 09, 08B &amp; 05B</a:t>
            </a:r>
            <a:endParaRPr kumimoji="0" lang="en-US" sz="1800"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endParaRPr>
          </a:p>
        </p:txBody>
      </p:sp>
      <p:sp>
        <p:nvSpPr>
          <p:cNvPr id="4" name="Slide Number Placeholder 3">
            <a:extLst>
              <a:ext uri="{FF2B5EF4-FFF2-40B4-BE49-F238E27FC236}">
                <a16:creationId xmlns:a16="http://schemas.microsoft.com/office/drawing/2014/main" id="{C236B912-CB4F-0083-6ED3-E059838D99AE}"/>
              </a:ext>
            </a:extLst>
          </p:cNvPr>
          <p:cNvSpPr>
            <a:spLocks noGrp="1"/>
          </p:cNvSpPr>
          <p:nvPr>
            <p:ph type="sldNum" sz="quarter" idx="12"/>
          </p:nvPr>
        </p:nvSpPr>
        <p:spPr/>
        <p:txBody>
          <a:bodyPr/>
          <a:lstStyle/>
          <a:p>
            <a:fld id="{98B285C1-D8A8-4E98-B28C-1FD972D8EC54}" type="slidenum">
              <a:rPr lang="en-IN" smtClean="0"/>
              <a:t>29</a:t>
            </a:fld>
            <a:endParaRPr lang="en-IN"/>
          </a:p>
        </p:txBody>
      </p:sp>
      <p:sp>
        <p:nvSpPr>
          <p:cNvPr id="3" name="TextBox 2">
            <a:extLst>
              <a:ext uri="{FF2B5EF4-FFF2-40B4-BE49-F238E27FC236}">
                <a16:creationId xmlns:a16="http://schemas.microsoft.com/office/drawing/2014/main" id="{90DF3B9F-0E9A-075D-38A9-859FC8F8F247}"/>
              </a:ext>
            </a:extLst>
          </p:cNvPr>
          <p:cNvSpPr txBox="1"/>
          <p:nvPr/>
        </p:nvSpPr>
        <p:spPr>
          <a:xfrm>
            <a:off x="619239" y="6350729"/>
            <a:ext cx="10601325" cy="292388"/>
          </a:xfrm>
          <a:prstGeom prst="rect">
            <a:avLst/>
          </a:prstGeom>
          <a:noFill/>
        </p:spPr>
        <p:txBody>
          <a:bodyPr wrap="square" rtlCol="0">
            <a:spAutoFit/>
          </a:bodyPr>
          <a:lstStyle/>
          <a:p>
            <a:r>
              <a:rPr lang="en-US" sz="1200" b="1" i="1">
                <a:solidFill>
                  <a:srgbClr val="0000FF"/>
                </a:solidFill>
                <a:latin typeface="Adani Regular" panose="02000503000000020004" pitchFamily="2" charset="0"/>
              </a:rPr>
              <a:t>Note: Shortage of Contractor’s Manpower is impacting planned completion timelines. As a result, the work timelines will get extended</a:t>
            </a:r>
            <a:r>
              <a:rPr lang="en-US" sz="1300" b="1" i="1">
                <a:solidFill>
                  <a:srgbClr val="0000FF"/>
                </a:solidFill>
                <a:latin typeface="Adani Regular" panose="02000503000000020004" pitchFamily="2" charset="0"/>
              </a:rPr>
              <a:t>.</a:t>
            </a:r>
          </a:p>
        </p:txBody>
      </p:sp>
      <p:graphicFrame>
        <p:nvGraphicFramePr>
          <p:cNvPr id="6" name="Chart 5">
            <a:extLst>
              <a:ext uri="{FF2B5EF4-FFF2-40B4-BE49-F238E27FC236}">
                <a16:creationId xmlns:a16="http://schemas.microsoft.com/office/drawing/2014/main" id="{FCD4F58C-14BF-9E62-7213-F7EDDE7B1AC3}"/>
              </a:ext>
            </a:extLst>
          </p:cNvPr>
          <p:cNvGraphicFramePr>
            <a:graphicFrameLocks/>
          </p:cNvGraphicFramePr>
          <p:nvPr>
            <p:extLst>
              <p:ext uri="{D42A27DB-BD31-4B8C-83A1-F6EECF244321}">
                <p14:modId xmlns:p14="http://schemas.microsoft.com/office/powerpoint/2010/main" val="606319854"/>
              </p:ext>
            </p:extLst>
          </p:nvPr>
        </p:nvGraphicFramePr>
        <p:xfrm>
          <a:off x="499730" y="861237"/>
          <a:ext cx="11025963" cy="509299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06605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19EF-1FF4-A4D5-5550-1B0F2CBC4D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0365AB-494D-821A-2369-392FF4E674DE}"/>
              </a:ext>
            </a:extLst>
          </p:cNvPr>
          <p:cNvSpPr txBox="1"/>
          <p:nvPr/>
        </p:nvSpPr>
        <p:spPr>
          <a:xfrm>
            <a:off x="554182" y="196334"/>
            <a:ext cx="609600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912A82"/>
                </a:solidFill>
                <a:effectLst/>
                <a:uLnTx/>
                <a:uFillTx/>
                <a:latin typeface="Adani Regular" panose="02000503000000020004" pitchFamily="2" charset="0"/>
                <a:ea typeface="+mn-ea"/>
                <a:cs typeface="+mn-cs"/>
              </a:rPr>
              <a:t>Contractor Manpower Status PSS-11</a:t>
            </a:r>
          </a:p>
        </p:txBody>
      </p:sp>
      <p:sp>
        <p:nvSpPr>
          <p:cNvPr id="5" name="Arrow: Right 4">
            <a:hlinkClick r:id="rId3" action="ppaction://hlinksldjump"/>
            <a:extLst>
              <a:ext uri="{FF2B5EF4-FFF2-40B4-BE49-F238E27FC236}">
                <a16:creationId xmlns:a16="http://schemas.microsoft.com/office/drawing/2014/main" id="{E10F68E6-8AA7-9F45-0B84-CBE7F717198B}"/>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a:extLst>
              <a:ext uri="{FF2B5EF4-FFF2-40B4-BE49-F238E27FC236}">
                <a16:creationId xmlns:a16="http://schemas.microsoft.com/office/drawing/2014/main" id="{1E4F41A9-8349-7D40-BBF0-46C70475C773}"/>
              </a:ext>
            </a:extLst>
          </p:cNvPr>
          <p:cNvGraphicFramePr>
            <a:graphicFrameLocks noChangeAspect="1"/>
          </p:cNvGraphicFramePr>
          <p:nvPr>
            <p:extLst>
              <p:ext uri="{D42A27DB-BD31-4B8C-83A1-F6EECF244321}">
                <p14:modId xmlns:p14="http://schemas.microsoft.com/office/powerpoint/2010/main" val="3826271464"/>
              </p:ext>
            </p:extLst>
          </p:nvPr>
        </p:nvGraphicFramePr>
        <p:xfrm>
          <a:off x="61912" y="799754"/>
          <a:ext cx="12068175" cy="3756025"/>
        </p:xfrm>
        <a:graphic>
          <a:graphicData uri="http://schemas.openxmlformats.org/presentationml/2006/ole">
            <mc:AlternateContent xmlns:mc="http://schemas.openxmlformats.org/markup-compatibility/2006">
              <mc:Choice xmlns:v="urn:schemas-microsoft-com:vml" Requires="v">
                <p:oleObj name="Worksheet" r:id="rId4" imgW="31546775" imgH="8877458" progId="Excel.Sheet.12">
                  <p:link updateAutomatic="1"/>
                </p:oleObj>
              </mc:Choice>
              <mc:Fallback>
                <p:oleObj name="Worksheet" r:id="rId4" imgW="31546775" imgH="8877458" progId="Excel.Sheet.12">
                  <p:link updateAutomatic="1"/>
                  <p:pic>
                    <p:nvPicPr>
                      <p:cNvPr id="6" name="Object 5">
                        <a:extLst>
                          <a:ext uri="{FF2B5EF4-FFF2-40B4-BE49-F238E27FC236}">
                            <a16:creationId xmlns:a16="http://schemas.microsoft.com/office/drawing/2014/main" id="{1E4F41A9-8349-7D40-BBF0-46C70475C773}"/>
                          </a:ext>
                        </a:extLst>
                      </p:cNvPr>
                      <p:cNvPicPr/>
                      <p:nvPr/>
                    </p:nvPicPr>
                    <p:blipFill>
                      <a:blip r:embed="rId5"/>
                      <a:stretch>
                        <a:fillRect/>
                      </a:stretch>
                    </p:blipFill>
                    <p:spPr>
                      <a:xfrm>
                        <a:off x="61912" y="799754"/>
                        <a:ext cx="12068175" cy="3756025"/>
                      </a:xfrm>
                      <a:prstGeom prst="rect">
                        <a:avLst/>
                      </a:prstGeom>
                    </p:spPr>
                  </p:pic>
                </p:oleObj>
              </mc:Fallback>
            </mc:AlternateContent>
          </a:graphicData>
        </a:graphic>
      </p:graphicFrame>
    </p:spTree>
    <p:extLst>
      <p:ext uri="{BB962C8B-B14F-4D97-AF65-F5344CB8AC3E}">
        <p14:creationId xmlns:p14="http://schemas.microsoft.com/office/powerpoint/2010/main" val="2025334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1B35F-B3EE-10DB-C7E6-6EDD2745F1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E69952-A1CB-CAFC-BD41-5181BF7AEBFA}"/>
              </a:ext>
            </a:extLst>
          </p:cNvPr>
          <p:cNvSpPr txBox="1"/>
          <p:nvPr/>
        </p:nvSpPr>
        <p:spPr>
          <a:xfrm>
            <a:off x="554182" y="196334"/>
            <a:ext cx="609600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912A82"/>
                </a:solidFill>
                <a:effectLst/>
                <a:uLnTx/>
                <a:uFillTx/>
                <a:latin typeface="Adani Regular" panose="02000503000000020004" pitchFamily="2" charset="0"/>
                <a:ea typeface="+mn-ea"/>
                <a:cs typeface="+mn-cs"/>
              </a:rPr>
              <a:t>Contractor Manpower Status (PSS-12)</a:t>
            </a:r>
          </a:p>
        </p:txBody>
      </p:sp>
      <p:sp>
        <p:nvSpPr>
          <p:cNvPr id="2" name="Arrow: Right 1">
            <a:hlinkClick r:id="rId3" action="ppaction://hlinksldjump"/>
            <a:extLst>
              <a:ext uri="{FF2B5EF4-FFF2-40B4-BE49-F238E27FC236}">
                <a16:creationId xmlns:a16="http://schemas.microsoft.com/office/drawing/2014/main" id="{7F6C82F0-DC25-BBE8-1BDA-198408A14D27}"/>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hlinkClick r:id="rId4" action="ppaction://hlinksldjump"/>
            <a:extLst>
              <a:ext uri="{FF2B5EF4-FFF2-40B4-BE49-F238E27FC236}">
                <a16:creationId xmlns:a16="http://schemas.microsoft.com/office/drawing/2014/main" id="{AFD0F89D-7BC8-DAF0-89AC-E765D8426410}"/>
              </a:ext>
            </a:extLst>
          </p:cNvPr>
          <p:cNvSpPr>
            <a:spLocks/>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a:extLst>
              <a:ext uri="{FF2B5EF4-FFF2-40B4-BE49-F238E27FC236}">
                <a16:creationId xmlns:a16="http://schemas.microsoft.com/office/drawing/2014/main" id="{4CB04D2E-EA8E-5625-1A77-EDDB734B4080}"/>
              </a:ext>
            </a:extLst>
          </p:cNvPr>
          <p:cNvGraphicFramePr>
            <a:graphicFrameLocks noChangeAspect="1"/>
          </p:cNvGraphicFramePr>
          <p:nvPr/>
        </p:nvGraphicFramePr>
        <p:xfrm>
          <a:off x="74613" y="833438"/>
          <a:ext cx="12022137" cy="3205162"/>
        </p:xfrm>
        <a:graphic>
          <a:graphicData uri="http://schemas.openxmlformats.org/presentationml/2006/ole">
            <mc:AlternateContent xmlns:mc="http://schemas.openxmlformats.org/markup-compatibility/2006">
              <mc:Choice xmlns:v="urn:schemas-microsoft-com:vml" Requires="v">
                <p:oleObj name="Worksheet" r:id="rId5" imgW="39576213" imgH="8544070" progId="Excel.Sheet.12">
                  <p:link updateAutomatic="1"/>
                </p:oleObj>
              </mc:Choice>
              <mc:Fallback>
                <p:oleObj name="Worksheet" r:id="rId5" imgW="39576213" imgH="8544070" progId="Excel.Sheet.12">
                  <p:link updateAutomatic="1"/>
                  <p:pic>
                    <p:nvPicPr>
                      <p:cNvPr id="6" name="Object 5">
                        <a:extLst>
                          <a:ext uri="{FF2B5EF4-FFF2-40B4-BE49-F238E27FC236}">
                            <a16:creationId xmlns:a16="http://schemas.microsoft.com/office/drawing/2014/main" id="{4CB04D2E-EA8E-5625-1A77-EDDB734B4080}"/>
                          </a:ext>
                        </a:extLst>
                      </p:cNvPr>
                      <p:cNvPicPr/>
                      <p:nvPr/>
                    </p:nvPicPr>
                    <p:blipFill>
                      <a:blip r:embed="rId6"/>
                      <a:stretch>
                        <a:fillRect/>
                      </a:stretch>
                    </p:blipFill>
                    <p:spPr>
                      <a:xfrm>
                        <a:off x="74613" y="833438"/>
                        <a:ext cx="12022137" cy="3205162"/>
                      </a:xfrm>
                      <a:prstGeom prst="rect">
                        <a:avLst/>
                      </a:prstGeom>
                    </p:spPr>
                  </p:pic>
                </p:oleObj>
              </mc:Fallback>
            </mc:AlternateContent>
          </a:graphicData>
        </a:graphic>
      </p:graphicFrame>
    </p:spTree>
    <p:extLst>
      <p:ext uri="{BB962C8B-B14F-4D97-AF65-F5344CB8AC3E}">
        <p14:creationId xmlns:p14="http://schemas.microsoft.com/office/powerpoint/2010/main" val="28410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A22B1-7D80-72A7-F582-58458509CE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D945DD-D714-79D1-CD1E-0DD71D4B2115}"/>
              </a:ext>
            </a:extLst>
          </p:cNvPr>
          <p:cNvSpPr txBox="1"/>
          <p:nvPr/>
        </p:nvSpPr>
        <p:spPr>
          <a:xfrm>
            <a:off x="554182" y="196334"/>
            <a:ext cx="609600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912A82"/>
                </a:solidFill>
                <a:effectLst/>
                <a:uLnTx/>
                <a:uFillTx/>
                <a:latin typeface="Adani Regular" panose="02000503000000020004" pitchFamily="2" charset="0"/>
                <a:ea typeface="+mn-ea"/>
                <a:cs typeface="+mn-cs"/>
              </a:rPr>
              <a:t>Contractor Manpower Status ( PSS-10(B) )</a:t>
            </a:r>
          </a:p>
        </p:txBody>
      </p:sp>
      <p:sp>
        <p:nvSpPr>
          <p:cNvPr id="6" name="Arrow: Right 5">
            <a:hlinkClick r:id="rId3" action="ppaction://hlinksldjump"/>
            <a:extLst>
              <a:ext uri="{FF2B5EF4-FFF2-40B4-BE49-F238E27FC236}">
                <a16:creationId xmlns:a16="http://schemas.microsoft.com/office/drawing/2014/main" id="{A7AF15E7-4DB3-F954-27A0-973B1DB32053}"/>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Left 6">
            <a:hlinkClick r:id="rId4" action="ppaction://hlinksldjump"/>
            <a:extLst>
              <a:ext uri="{FF2B5EF4-FFF2-40B4-BE49-F238E27FC236}">
                <a16:creationId xmlns:a16="http://schemas.microsoft.com/office/drawing/2014/main" id="{C20D8D8C-6F47-5671-A286-73E14FB7AFEF}"/>
              </a:ext>
            </a:extLst>
          </p:cNvPr>
          <p:cNvSpPr>
            <a:spLocks/>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a:extLst>
              <a:ext uri="{FF2B5EF4-FFF2-40B4-BE49-F238E27FC236}">
                <a16:creationId xmlns:a16="http://schemas.microsoft.com/office/drawing/2014/main" id="{10B79901-E480-C6C3-C156-76F4B1781394}"/>
              </a:ext>
            </a:extLst>
          </p:cNvPr>
          <p:cNvGraphicFramePr>
            <a:graphicFrameLocks noChangeAspect="1"/>
          </p:cNvGraphicFramePr>
          <p:nvPr/>
        </p:nvGraphicFramePr>
        <p:xfrm>
          <a:off x="74613" y="833438"/>
          <a:ext cx="12050712" cy="4157662"/>
        </p:xfrm>
        <a:graphic>
          <a:graphicData uri="http://schemas.openxmlformats.org/presentationml/2006/ole">
            <mc:AlternateContent xmlns:mc="http://schemas.openxmlformats.org/markup-compatibility/2006">
              <mc:Choice xmlns:v="urn:schemas-microsoft-com:vml" Requires="v">
                <p:oleObj name="Worksheet" r:id="rId5" imgW="33290017" imgH="11486966" progId="Excel.Sheet.12">
                  <p:link updateAutomatic="1"/>
                </p:oleObj>
              </mc:Choice>
              <mc:Fallback>
                <p:oleObj name="Worksheet" r:id="rId5" imgW="33290017" imgH="11486966" progId="Excel.Sheet.12">
                  <p:link updateAutomatic="1"/>
                  <p:pic>
                    <p:nvPicPr>
                      <p:cNvPr id="2" name="Object 1">
                        <a:extLst>
                          <a:ext uri="{FF2B5EF4-FFF2-40B4-BE49-F238E27FC236}">
                            <a16:creationId xmlns:a16="http://schemas.microsoft.com/office/drawing/2014/main" id="{10B79901-E480-C6C3-C156-76F4B1781394}"/>
                          </a:ext>
                        </a:extLst>
                      </p:cNvPr>
                      <p:cNvPicPr/>
                      <p:nvPr/>
                    </p:nvPicPr>
                    <p:blipFill>
                      <a:blip r:embed="rId6"/>
                      <a:stretch>
                        <a:fillRect/>
                      </a:stretch>
                    </p:blipFill>
                    <p:spPr>
                      <a:xfrm>
                        <a:off x="74613" y="833438"/>
                        <a:ext cx="12050712" cy="4157662"/>
                      </a:xfrm>
                      <a:prstGeom prst="rect">
                        <a:avLst/>
                      </a:prstGeom>
                    </p:spPr>
                  </p:pic>
                </p:oleObj>
              </mc:Fallback>
            </mc:AlternateContent>
          </a:graphicData>
        </a:graphic>
      </p:graphicFrame>
    </p:spTree>
    <p:extLst>
      <p:ext uri="{BB962C8B-B14F-4D97-AF65-F5344CB8AC3E}">
        <p14:creationId xmlns:p14="http://schemas.microsoft.com/office/powerpoint/2010/main" val="28537028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506A0-97B6-916E-846C-24F0E42579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12CF3C-C331-3363-B5D0-6BF350D540F3}"/>
              </a:ext>
            </a:extLst>
          </p:cNvPr>
          <p:cNvSpPr txBox="1"/>
          <p:nvPr/>
        </p:nvSpPr>
        <p:spPr>
          <a:xfrm>
            <a:off x="554182" y="196334"/>
            <a:ext cx="609600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912A82"/>
                </a:solidFill>
                <a:effectLst/>
                <a:uLnTx/>
                <a:uFillTx/>
                <a:latin typeface="Adani Regular" panose="02000503000000020004" pitchFamily="2" charset="0"/>
                <a:ea typeface="+mn-ea"/>
                <a:cs typeface="+mn-cs"/>
              </a:rPr>
              <a:t>Contractor Manpower Status (PSS-09)</a:t>
            </a:r>
          </a:p>
        </p:txBody>
      </p:sp>
      <p:sp>
        <p:nvSpPr>
          <p:cNvPr id="4" name="Arrow: Right 3">
            <a:hlinkClick r:id="rId3" action="ppaction://hlinksldjump"/>
            <a:extLst>
              <a:ext uri="{FF2B5EF4-FFF2-40B4-BE49-F238E27FC236}">
                <a16:creationId xmlns:a16="http://schemas.microsoft.com/office/drawing/2014/main" id="{BDF5D161-7790-8D73-A6F4-956BCF343D55}"/>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Left 5">
            <a:hlinkClick r:id="rId4" action="ppaction://hlinksldjump"/>
            <a:extLst>
              <a:ext uri="{FF2B5EF4-FFF2-40B4-BE49-F238E27FC236}">
                <a16:creationId xmlns:a16="http://schemas.microsoft.com/office/drawing/2014/main" id="{22E8B429-0ECC-ED49-3A40-7720CCDB44A5}"/>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a:extLst>
              <a:ext uri="{FF2B5EF4-FFF2-40B4-BE49-F238E27FC236}">
                <a16:creationId xmlns:a16="http://schemas.microsoft.com/office/drawing/2014/main" id="{87C261C7-E512-F0F3-F0BC-5B103563C96C}"/>
              </a:ext>
            </a:extLst>
          </p:cNvPr>
          <p:cNvGraphicFramePr>
            <a:graphicFrameLocks noChangeAspect="1"/>
          </p:cNvGraphicFramePr>
          <p:nvPr/>
        </p:nvGraphicFramePr>
        <p:xfrm>
          <a:off x="98425" y="1008063"/>
          <a:ext cx="11887200" cy="3408362"/>
        </p:xfrm>
        <a:graphic>
          <a:graphicData uri="http://schemas.openxmlformats.org/presentationml/2006/ole">
            <mc:AlternateContent xmlns:mc="http://schemas.openxmlformats.org/markup-compatibility/2006">
              <mc:Choice xmlns:v="urn:schemas-microsoft-com:vml" Requires="v">
                <p:oleObj name="Worksheet" r:id="rId5" imgW="33108955" imgH="7010400" progId="Excel.Sheet.12">
                  <p:link updateAutomatic="1"/>
                </p:oleObj>
              </mc:Choice>
              <mc:Fallback>
                <p:oleObj name="Worksheet" r:id="rId5" imgW="33108955" imgH="7010400" progId="Excel.Sheet.12">
                  <p:link updateAutomatic="1"/>
                  <p:pic>
                    <p:nvPicPr>
                      <p:cNvPr id="2" name="Object 1">
                        <a:extLst>
                          <a:ext uri="{FF2B5EF4-FFF2-40B4-BE49-F238E27FC236}">
                            <a16:creationId xmlns:a16="http://schemas.microsoft.com/office/drawing/2014/main" id="{87C261C7-E512-F0F3-F0BC-5B103563C96C}"/>
                          </a:ext>
                        </a:extLst>
                      </p:cNvPr>
                      <p:cNvPicPr/>
                      <p:nvPr/>
                    </p:nvPicPr>
                    <p:blipFill>
                      <a:blip r:embed="rId6"/>
                      <a:stretch>
                        <a:fillRect/>
                      </a:stretch>
                    </p:blipFill>
                    <p:spPr>
                      <a:xfrm>
                        <a:off x="98425" y="1008063"/>
                        <a:ext cx="11887200" cy="3408362"/>
                      </a:xfrm>
                      <a:prstGeom prst="rect">
                        <a:avLst/>
                      </a:prstGeom>
                    </p:spPr>
                  </p:pic>
                </p:oleObj>
              </mc:Fallback>
            </mc:AlternateContent>
          </a:graphicData>
        </a:graphic>
      </p:graphicFrame>
    </p:spTree>
    <p:extLst>
      <p:ext uri="{BB962C8B-B14F-4D97-AF65-F5344CB8AC3E}">
        <p14:creationId xmlns:p14="http://schemas.microsoft.com/office/powerpoint/2010/main" val="101603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E573B-7203-CBF1-0720-75ABE598F5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51A6B0-2638-1DA4-1A6A-903EF602A4DC}"/>
              </a:ext>
            </a:extLst>
          </p:cNvPr>
          <p:cNvSpPr txBox="1"/>
          <p:nvPr/>
        </p:nvSpPr>
        <p:spPr>
          <a:xfrm>
            <a:off x="554182" y="196334"/>
            <a:ext cx="609600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912A82"/>
                </a:solidFill>
                <a:effectLst/>
                <a:uLnTx/>
                <a:uFillTx/>
                <a:latin typeface="Adani Regular" panose="02000503000000020004" pitchFamily="2" charset="0"/>
                <a:ea typeface="+mn-ea"/>
                <a:cs typeface="+mn-cs"/>
              </a:rPr>
              <a:t>Contractor Manpower Status PSS-05(B)</a:t>
            </a:r>
          </a:p>
        </p:txBody>
      </p:sp>
      <p:sp>
        <p:nvSpPr>
          <p:cNvPr id="6" name="Arrow: Right 5">
            <a:hlinkClick r:id="rId3" action="ppaction://hlinksldjump"/>
            <a:extLst>
              <a:ext uri="{FF2B5EF4-FFF2-40B4-BE49-F238E27FC236}">
                <a16:creationId xmlns:a16="http://schemas.microsoft.com/office/drawing/2014/main" id="{BCF42CB8-BE94-6B9B-7A25-FDABA93E452C}"/>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Left 6">
            <a:hlinkClick r:id="rId4" action="ppaction://hlinksldjump"/>
            <a:extLst>
              <a:ext uri="{FF2B5EF4-FFF2-40B4-BE49-F238E27FC236}">
                <a16:creationId xmlns:a16="http://schemas.microsoft.com/office/drawing/2014/main" id="{C81990AA-EAC1-D6ED-5350-9C852A859937}"/>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a:extLst>
              <a:ext uri="{FF2B5EF4-FFF2-40B4-BE49-F238E27FC236}">
                <a16:creationId xmlns:a16="http://schemas.microsoft.com/office/drawing/2014/main" id="{9E660673-C2F8-B743-AC44-50A9479DA355}"/>
              </a:ext>
            </a:extLst>
          </p:cNvPr>
          <p:cNvGraphicFramePr>
            <a:graphicFrameLocks noChangeAspect="1"/>
          </p:cNvGraphicFramePr>
          <p:nvPr/>
        </p:nvGraphicFramePr>
        <p:xfrm>
          <a:off x="138113" y="825500"/>
          <a:ext cx="11950700" cy="3551238"/>
        </p:xfrm>
        <a:graphic>
          <a:graphicData uri="http://schemas.openxmlformats.org/presentationml/2006/ole">
            <mc:AlternateContent xmlns:mc="http://schemas.openxmlformats.org/markup-compatibility/2006">
              <mc:Choice xmlns:v="urn:schemas-microsoft-com:vml" Requires="v">
                <p:oleObj name="Worksheet" r:id="rId5" imgW="25317424" imgH="5095836" progId="Excel.Sheet.12">
                  <p:link updateAutomatic="1"/>
                </p:oleObj>
              </mc:Choice>
              <mc:Fallback>
                <p:oleObj name="Worksheet" r:id="rId5" imgW="25317424" imgH="5095836" progId="Excel.Sheet.12">
                  <p:link updateAutomatic="1"/>
                  <p:pic>
                    <p:nvPicPr>
                      <p:cNvPr id="2" name="Object 1">
                        <a:extLst>
                          <a:ext uri="{FF2B5EF4-FFF2-40B4-BE49-F238E27FC236}">
                            <a16:creationId xmlns:a16="http://schemas.microsoft.com/office/drawing/2014/main" id="{9E660673-C2F8-B743-AC44-50A9479DA355}"/>
                          </a:ext>
                        </a:extLst>
                      </p:cNvPr>
                      <p:cNvPicPr/>
                      <p:nvPr/>
                    </p:nvPicPr>
                    <p:blipFill>
                      <a:blip r:embed="rId6"/>
                      <a:stretch>
                        <a:fillRect/>
                      </a:stretch>
                    </p:blipFill>
                    <p:spPr>
                      <a:xfrm>
                        <a:off x="138113" y="825500"/>
                        <a:ext cx="11950700" cy="3551238"/>
                      </a:xfrm>
                      <a:prstGeom prst="rect">
                        <a:avLst/>
                      </a:prstGeom>
                    </p:spPr>
                  </p:pic>
                </p:oleObj>
              </mc:Fallback>
            </mc:AlternateContent>
          </a:graphicData>
        </a:graphic>
      </p:graphicFrame>
    </p:spTree>
    <p:extLst>
      <p:ext uri="{BB962C8B-B14F-4D97-AF65-F5344CB8AC3E}">
        <p14:creationId xmlns:p14="http://schemas.microsoft.com/office/powerpoint/2010/main" val="2328336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91380-4F34-6391-16B5-3A06C0717A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CBD998-5E3A-82EA-2397-90FABF9785B4}"/>
              </a:ext>
            </a:extLst>
          </p:cNvPr>
          <p:cNvSpPr txBox="1"/>
          <p:nvPr/>
        </p:nvSpPr>
        <p:spPr>
          <a:xfrm>
            <a:off x="554182" y="196334"/>
            <a:ext cx="609600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912A82"/>
                </a:solidFill>
                <a:effectLst/>
                <a:uLnTx/>
                <a:uFillTx/>
                <a:latin typeface="Adani Regular" panose="02000503000000020004" pitchFamily="2" charset="0"/>
                <a:ea typeface="+mn-ea"/>
                <a:cs typeface="+mn-cs"/>
              </a:rPr>
              <a:t>Contractor Manpower Status PSS-08(B)</a:t>
            </a:r>
          </a:p>
        </p:txBody>
      </p:sp>
      <p:sp>
        <p:nvSpPr>
          <p:cNvPr id="5" name="Arrow: Left 4">
            <a:hlinkClick r:id="rId3" action="ppaction://hlinksldjump"/>
            <a:extLst>
              <a:ext uri="{FF2B5EF4-FFF2-40B4-BE49-F238E27FC236}">
                <a16:creationId xmlns:a16="http://schemas.microsoft.com/office/drawing/2014/main" id="{685C6E39-49C9-1058-DC49-4FE48F4D3C0F}"/>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Object 3">
            <a:extLst>
              <a:ext uri="{FF2B5EF4-FFF2-40B4-BE49-F238E27FC236}">
                <a16:creationId xmlns:a16="http://schemas.microsoft.com/office/drawing/2014/main" id="{E367BD34-C551-818E-834F-639689AF3B70}"/>
              </a:ext>
            </a:extLst>
          </p:cNvPr>
          <p:cNvGraphicFramePr>
            <a:graphicFrameLocks noChangeAspect="1"/>
          </p:cNvGraphicFramePr>
          <p:nvPr/>
        </p:nvGraphicFramePr>
        <p:xfrm>
          <a:off x="190500" y="931863"/>
          <a:ext cx="11761788" cy="3040062"/>
        </p:xfrm>
        <a:graphic>
          <a:graphicData uri="http://schemas.openxmlformats.org/presentationml/2006/ole">
            <mc:AlternateContent xmlns:mc="http://schemas.openxmlformats.org/markup-compatibility/2006">
              <mc:Choice xmlns:v="urn:schemas-microsoft-com:vml" Requires="v">
                <p:oleObj name="Worksheet" r:id="rId4" imgW="27117510" imgH="5076917" progId="Excel.Sheet.12">
                  <p:link updateAutomatic="1"/>
                </p:oleObj>
              </mc:Choice>
              <mc:Fallback>
                <p:oleObj name="Worksheet" r:id="rId4" imgW="27117510" imgH="5076917" progId="Excel.Sheet.12">
                  <p:link updateAutomatic="1"/>
                  <p:pic>
                    <p:nvPicPr>
                      <p:cNvPr id="4" name="Object 3">
                        <a:extLst>
                          <a:ext uri="{FF2B5EF4-FFF2-40B4-BE49-F238E27FC236}">
                            <a16:creationId xmlns:a16="http://schemas.microsoft.com/office/drawing/2014/main" id="{E367BD34-C551-818E-834F-639689AF3B70}"/>
                          </a:ext>
                        </a:extLst>
                      </p:cNvPr>
                      <p:cNvPicPr/>
                      <p:nvPr/>
                    </p:nvPicPr>
                    <p:blipFill>
                      <a:blip r:embed="rId5"/>
                      <a:stretch>
                        <a:fillRect/>
                      </a:stretch>
                    </p:blipFill>
                    <p:spPr>
                      <a:xfrm>
                        <a:off x="190500" y="931863"/>
                        <a:ext cx="11761788" cy="3040062"/>
                      </a:xfrm>
                      <a:prstGeom prst="rect">
                        <a:avLst/>
                      </a:prstGeom>
                    </p:spPr>
                  </p:pic>
                </p:oleObj>
              </mc:Fallback>
            </mc:AlternateContent>
          </a:graphicData>
        </a:graphic>
      </p:graphicFrame>
    </p:spTree>
    <p:extLst>
      <p:ext uri="{BB962C8B-B14F-4D97-AF65-F5344CB8AC3E}">
        <p14:creationId xmlns:p14="http://schemas.microsoft.com/office/powerpoint/2010/main" val="2346796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25D70-FD01-61E9-6566-948E98E2D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D72B3-8D10-3477-B9DF-8D6D788FE588}"/>
              </a:ext>
            </a:extLst>
          </p:cNvPr>
          <p:cNvSpPr>
            <a:spLocks noGrp="1"/>
          </p:cNvSpPr>
          <p:nvPr>
            <p:ph type="ctrTitle"/>
          </p:nvPr>
        </p:nvSpPr>
        <p:spPr>
          <a:xfrm>
            <a:off x="391557" y="97973"/>
            <a:ext cx="11577483" cy="461382"/>
          </a:xfrm>
          <a:noFill/>
        </p:spPr>
        <p:txBody>
          <a:bodyPr vert="horz" wrap="square" lIns="91157" tIns="45580" rIns="91157" bIns="45580" rtlCol="0" anchor="b">
            <a:spAutoFit/>
          </a:bodyPr>
          <a:lstStyle/>
          <a:p>
            <a:pPr marL="109192" algn="l" defTabSz="911377"/>
            <a:r>
              <a:rPr lang="en-US" sz="2400" b="1">
                <a:gradFill>
                  <a:gsLst>
                    <a:gs pos="9735">
                      <a:schemeClr val="tx2"/>
                    </a:gs>
                    <a:gs pos="63000">
                      <a:srgbClr val="8E278F"/>
                    </a:gs>
                    <a:gs pos="38000">
                      <a:srgbClr val="57499E"/>
                    </a:gs>
                  </a:gsLst>
                  <a:lin ang="0" scaled="0"/>
                </a:gradFill>
                <a:ea typeface="+mn-ea"/>
                <a:cs typeface="+mn-cs"/>
              </a:rPr>
              <a:t>Major Milestones – Next 3 months </a:t>
            </a:r>
            <a:r>
              <a:rPr lang="en-US" sz="2400" b="1">
                <a:gradFill>
                  <a:gsLst>
                    <a:gs pos="9735">
                      <a:schemeClr val="tx2"/>
                    </a:gs>
                    <a:gs pos="63000">
                      <a:srgbClr val="8E278F"/>
                    </a:gs>
                    <a:gs pos="38000">
                      <a:srgbClr val="57499E"/>
                    </a:gs>
                  </a:gsLst>
                  <a:lin ang="0" scaled="0"/>
                </a:gradFill>
              </a:rPr>
              <a:t>(PSS – 11, 12, 10B, 9, 5B, 8B)</a:t>
            </a:r>
            <a:endParaRPr lang="en-US" sz="2400" b="1">
              <a:gradFill>
                <a:gsLst>
                  <a:gs pos="9735">
                    <a:schemeClr val="tx2"/>
                  </a:gs>
                  <a:gs pos="63000">
                    <a:srgbClr val="8E278F"/>
                  </a:gs>
                  <a:gs pos="38000">
                    <a:srgbClr val="57499E"/>
                  </a:gs>
                </a:gsLst>
                <a:lin ang="0" scaled="0"/>
              </a:gradFill>
              <a:ea typeface="+mn-ea"/>
              <a:cs typeface="+mn-cs"/>
            </a:endParaRPr>
          </a:p>
        </p:txBody>
      </p:sp>
      <p:pic>
        <p:nvPicPr>
          <p:cNvPr id="11" name="Picture 10">
            <a:extLst>
              <a:ext uri="{FF2B5EF4-FFF2-40B4-BE49-F238E27FC236}">
                <a16:creationId xmlns:a16="http://schemas.microsoft.com/office/drawing/2014/main" id="{776B8AF7-7A83-3227-AA3E-A68E1DC93F2B}"/>
              </a:ext>
            </a:extLst>
          </p:cNvPr>
          <p:cNvPicPr>
            <a:picLocks noChangeAspect="1"/>
          </p:cNvPicPr>
          <p:nvPr/>
        </p:nvPicPr>
        <p:blipFill>
          <a:blip r:embed="rId3"/>
          <a:stretch>
            <a:fillRect/>
          </a:stretch>
        </p:blipFill>
        <p:spPr>
          <a:xfrm>
            <a:off x="6086475" y="3419475"/>
            <a:ext cx="19050" cy="19050"/>
          </a:xfrm>
          <a:prstGeom prst="rect">
            <a:avLst/>
          </a:prstGeom>
        </p:spPr>
      </p:pic>
      <p:graphicFrame>
        <p:nvGraphicFramePr>
          <p:cNvPr id="4" name="Table 3">
            <a:extLst>
              <a:ext uri="{FF2B5EF4-FFF2-40B4-BE49-F238E27FC236}">
                <a16:creationId xmlns:a16="http://schemas.microsoft.com/office/drawing/2014/main" id="{BB08045F-0C5C-B236-2682-3B9CF523079E}"/>
              </a:ext>
            </a:extLst>
          </p:cNvPr>
          <p:cNvGraphicFramePr>
            <a:graphicFrameLocks noGrp="1"/>
          </p:cNvGraphicFramePr>
          <p:nvPr>
            <p:extLst>
              <p:ext uri="{D42A27DB-BD31-4B8C-83A1-F6EECF244321}">
                <p14:modId xmlns:p14="http://schemas.microsoft.com/office/powerpoint/2010/main" val="2053065332"/>
              </p:ext>
            </p:extLst>
          </p:nvPr>
        </p:nvGraphicFramePr>
        <p:xfrm>
          <a:off x="163773" y="649415"/>
          <a:ext cx="11805267" cy="5770824"/>
        </p:xfrm>
        <a:graphic>
          <a:graphicData uri="http://schemas.openxmlformats.org/drawingml/2006/table">
            <a:tbl>
              <a:tblPr firstRow="1" bandRow="1">
                <a:tableStyleId>{5C22544A-7EE6-4342-B048-85BDC9FD1C3A}</a:tableStyleId>
              </a:tblPr>
              <a:tblGrid>
                <a:gridCol w="3652327">
                  <a:extLst>
                    <a:ext uri="{9D8B030D-6E8A-4147-A177-3AD203B41FA5}">
                      <a16:colId xmlns:a16="http://schemas.microsoft.com/office/drawing/2014/main" val="1044031235"/>
                    </a:ext>
                  </a:extLst>
                </a:gridCol>
                <a:gridCol w="4072841">
                  <a:extLst>
                    <a:ext uri="{9D8B030D-6E8A-4147-A177-3AD203B41FA5}">
                      <a16:colId xmlns:a16="http://schemas.microsoft.com/office/drawing/2014/main" val="3226430816"/>
                    </a:ext>
                  </a:extLst>
                </a:gridCol>
                <a:gridCol w="4080099">
                  <a:extLst>
                    <a:ext uri="{9D8B030D-6E8A-4147-A177-3AD203B41FA5}">
                      <a16:colId xmlns:a16="http://schemas.microsoft.com/office/drawing/2014/main" val="213421749"/>
                    </a:ext>
                  </a:extLst>
                </a:gridCol>
              </a:tblGrid>
              <a:tr h="239641">
                <a:tc>
                  <a:txBody>
                    <a:bodyPr/>
                    <a:lstStyle/>
                    <a:p>
                      <a:pPr algn="ctr"/>
                      <a:r>
                        <a:rPr lang="en-US" sz="1100">
                          <a:solidFill>
                            <a:schemeClr val="bg1"/>
                          </a:solidFill>
                          <a:latin typeface="Adani Regular" panose="02000503000000020004" pitchFamily="2" charset="0"/>
                        </a:rPr>
                        <a:t>Jun-26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1100">
                          <a:solidFill>
                            <a:schemeClr val="bg1"/>
                          </a:solidFill>
                          <a:latin typeface="Adani Regular" panose="02000503000000020004" pitchFamily="2" charset="0"/>
                        </a:rPr>
                        <a:t>Jul-26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1100">
                          <a:solidFill>
                            <a:schemeClr val="bg1"/>
                          </a:solidFill>
                          <a:latin typeface="Adani Regular" panose="02000503000000020004" pitchFamily="2" charset="0"/>
                        </a:rPr>
                        <a:t>Aug-26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3649064186"/>
                  </a:ext>
                </a:extLst>
              </a:tr>
              <a:tr h="5511744">
                <a:tc>
                  <a:txBody>
                    <a:bodyPr/>
                    <a:lstStyle/>
                    <a:p>
                      <a:pPr marL="0" marR="0" lvl="0" indent="0" algn="l">
                        <a:lnSpc>
                          <a:spcPct val="100000"/>
                        </a:lnSpc>
                        <a:spcBef>
                          <a:spcPts val="0"/>
                        </a:spcBef>
                        <a:spcAft>
                          <a:spcPts val="0"/>
                        </a:spcAft>
                        <a:buNone/>
                      </a:pPr>
                      <a:r>
                        <a:rPr lang="en-US" sz="1100" b="1" i="0" u="none" strike="noStrike" noProof="0">
                          <a:solidFill>
                            <a:schemeClr val="tx1"/>
                          </a:solidFill>
                          <a:latin typeface="Adani Regular" panose="02000503000000020004" pitchFamily="2" charset="0"/>
                        </a:rPr>
                        <a:t>Civil:</a:t>
                      </a:r>
                    </a:p>
                    <a:p>
                      <a:pPr marL="0" marR="0" lvl="0" indent="0" algn="l">
                        <a:lnSpc>
                          <a:spcPct val="100000"/>
                        </a:lnSpc>
                        <a:spcBef>
                          <a:spcPts val="0"/>
                        </a:spcBef>
                        <a:spcAft>
                          <a:spcPts val="0"/>
                        </a:spcAft>
                        <a:buNone/>
                      </a:pPr>
                      <a:endParaRPr lang="en-US" sz="1100" b="1"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Completion of BOP for PSS 11.</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Progress of BOP work for 12, 10B, 09, 05B, &amp; 08B.</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0" i="0" u="none" strike="noStrike" noProof="0">
                          <a:solidFill>
                            <a:schemeClr val="tx1"/>
                          </a:solidFill>
                          <a:latin typeface="Adani Regular" panose="02000503000000020004" pitchFamily="2" charset="0"/>
                        </a:rPr>
                        <a:t>Monsoon Work Completion for PSS 11, 12, 10B, 09, 05B and 08B.</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0" i="0" u="none" strike="noStrike" noProof="0">
                          <a:solidFill>
                            <a:schemeClr val="tx1"/>
                          </a:solidFill>
                          <a:latin typeface="Adani Regular" panose="02000503000000020004" pitchFamily="2" charset="0"/>
                        </a:rPr>
                        <a:t>Completion of Roads Work for PSS 11,12,10B.</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Electrical:</a:t>
                      </a: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Progress of Electrical work for </a:t>
                      </a:r>
                      <a:r>
                        <a:rPr lang="en-US" sz="1100" b="0">
                          <a:solidFill>
                            <a:schemeClr val="tx1"/>
                          </a:solidFill>
                          <a:latin typeface="Adani Regular" panose="02000503000000020004" pitchFamily="2" charset="0"/>
                        </a:rPr>
                        <a:t>11, 12, &amp; </a:t>
                      </a:r>
                      <a:r>
                        <a:rPr lang="en-US" sz="1100" b="0" i="0" u="none" strike="noStrike" noProof="0">
                          <a:solidFill>
                            <a:schemeClr val="tx1"/>
                          </a:solidFill>
                          <a:latin typeface="Adani Regular" panose="02000503000000020004" pitchFamily="2" charset="0"/>
                        </a:rPr>
                        <a:t>10B</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Grid Study</a:t>
                      </a: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Completion of System Studies for PSS 11, 12, 10B</a:t>
                      </a: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1">
                          <a:solidFill>
                            <a:schemeClr val="tx1"/>
                          </a:solidFill>
                          <a:latin typeface="Adani Regular" panose="02000503000000020004" pitchFamily="2" charset="0"/>
                        </a:rPr>
                        <a:t>Approvals :</a:t>
                      </a: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1">
                          <a:solidFill>
                            <a:schemeClr val="tx1"/>
                          </a:solidFill>
                          <a:latin typeface="Adani Regular" panose="02000503000000020004" pitchFamily="2" charset="0"/>
                        </a:rPr>
                        <a:t>PSS 11,12 &amp; 10B:</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Metering Scheme approval </a:t>
                      </a:r>
                      <a:endParaRPr lang="en-US" sz="1100" b="1">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CON-IV</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a:solidFill>
                          <a:srgbClr val="000000"/>
                        </a:solidFill>
                        <a:effectLst/>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Delivery at Site: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1"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11 : Battery Container – 324 (CATL)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11 : PCS – 288 (</a:t>
                      </a:r>
                      <a:r>
                        <a:rPr lang="en-US" sz="1100" b="0" i="0" u="none" strike="noStrike" noProof="0" err="1">
                          <a:solidFill>
                            <a:schemeClr val="tx1"/>
                          </a:solidFill>
                          <a:latin typeface="Adani Regular" panose="02000503000000020004" pitchFamily="2" charset="0"/>
                        </a:rPr>
                        <a:t>Hopewind</a:t>
                      </a:r>
                      <a:r>
                        <a:rPr lang="en-US" sz="1100" b="0" i="0" u="none" strike="noStrike" noProof="0">
                          <a:solidFill>
                            <a:schemeClr val="tx1"/>
                          </a:solidFill>
                          <a:latin typeface="Adani Regular" panose="02000503000000020004" pitchFamily="2"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10B : Battery Container – 84 (Jinko)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1" i="0" u="none" strike="noStrike" noProof="0">
                        <a:solidFill>
                          <a:schemeClr val="tx1"/>
                        </a:solidFill>
                        <a:highlight>
                          <a:srgbClr val="FFFF00"/>
                        </a:highlight>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a:solidFill>
                          <a:srgbClr val="000000"/>
                        </a:solidFill>
                        <a:effectLst/>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a:solidFill>
                          <a:srgbClr val="000000"/>
                        </a:solidFill>
                        <a:effectLst/>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a:solidFill>
                          <a:srgbClr val="000000"/>
                        </a:solidFill>
                        <a:effectLst/>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None/>
                      </a:pPr>
                      <a:r>
                        <a:rPr lang="en-US" sz="1100" b="1" i="0" u="none" strike="noStrike" noProof="0">
                          <a:solidFill>
                            <a:schemeClr val="tx1"/>
                          </a:solidFill>
                          <a:latin typeface="Adani Regular" panose="02000503000000020004" pitchFamily="2" charset="0"/>
                        </a:rPr>
                        <a:t>Civil:</a:t>
                      </a:r>
                    </a:p>
                    <a:p>
                      <a:pPr marL="0" marR="0" lvl="0" indent="0" algn="l">
                        <a:lnSpc>
                          <a:spcPct val="100000"/>
                        </a:lnSpc>
                        <a:spcBef>
                          <a:spcPts val="0"/>
                        </a:spcBef>
                        <a:spcAft>
                          <a:spcPts val="0"/>
                        </a:spcAft>
                        <a:buNone/>
                      </a:pPr>
                      <a:endParaRPr lang="en-US" sz="1100" b="1"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Completion of BOP for PSS 12, 10B &amp; 08B.</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Progress of BOP work for 05B &amp; 09</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Electrical:</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Progress of Electrical work for </a:t>
                      </a:r>
                      <a:r>
                        <a:rPr lang="en-US" sz="1100" b="0">
                          <a:solidFill>
                            <a:schemeClr val="tx1"/>
                          </a:solidFill>
                          <a:latin typeface="Adani Regular" panose="02000503000000020004" pitchFamily="2" charset="0"/>
                        </a:rPr>
                        <a:t>11, 12, </a:t>
                      </a:r>
                      <a:r>
                        <a:rPr lang="en-US" sz="1100" b="0" i="0" u="none" strike="noStrike" noProof="0">
                          <a:solidFill>
                            <a:schemeClr val="tx1"/>
                          </a:solidFill>
                          <a:latin typeface="Adani Regular" panose="02000503000000020004" pitchFamily="2" charset="0"/>
                        </a:rPr>
                        <a:t>10B, 05B, 08B &amp; 09.</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Grid Study</a:t>
                      </a:r>
                    </a:p>
                    <a:p>
                      <a:pPr marL="0" marR="0" lvl="0" indent="0" algn="l" defTabSz="914400" eaLnBrk="1" fontAlgn="auto" latinLnBrk="0" hangingPunct="1">
                        <a:lnSpc>
                          <a:spcPct val="100000"/>
                        </a:lnSpc>
                        <a:spcBef>
                          <a:spcPts val="0"/>
                        </a:spcBef>
                        <a:spcAft>
                          <a:spcPts val="0"/>
                        </a:spcAft>
                        <a:buClrTx/>
                        <a:buSzTx/>
                        <a:buFontTx/>
                        <a:buNone/>
                        <a:tabLst/>
                        <a:defRPr/>
                      </a:pPr>
                      <a:endParaRPr lang="en-US" sz="1100" b="1"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Completion of System Studies for PSS 05B, 08B &amp; 09.</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Delivery at Site: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11 :  Battery Container - 108 CATL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11 : PCS – 144 (</a:t>
                      </a:r>
                      <a:r>
                        <a:rPr lang="en-US" sz="1100" b="0" i="0" u="none" strike="noStrike" noProof="0" err="1">
                          <a:solidFill>
                            <a:schemeClr val="tx1"/>
                          </a:solidFill>
                          <a:latin typeface="Adani Regular" panose="02000503000000020004" pitchFamily="2" charset="0"/>
                        </a:rPr>
                        <a:t>Hopewind</a:t>
                      </a:r>
                      <a:r>
                        <a:rPr lang="en-US" sz="1100" b="0" i="0" u="none" strike="noStrike" noProof="0">
                          <a:solidFill>
                            <a:schemeClr val="tx1"/>
                          </a:solidFill>
                          <a:latin typeface="Adani Regular" panose="02000503000000020004" pitchFamily="2"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10B : PCS - 240 (</a:t>
                      </a:r>
                      <a:r>
                        <a:rPr lang="en-US" sz="1100" b="0" i="0" u="none" strike="noStrike" noProof="0" err="1">
                          <a:solidFill>
                            <a:schemeClr val="tx1"/>
                          </a:solidFill>
                          <a:latin typeface="Adani Regular" panose="02000503000000020004" pitchFamily="2" charset="0"/>
                        </a:rPr>
                        <a:t>Inovance</a:t>
                      </a:r>
                      <a:r>
                        <a:rPr lang="en-US" sz="1100" b="0" i="0" u="none" strike="noStrike" noProof="0">
                          <a:solidFill>
                            <a:schemeClr val="tx1"/>
                          </a:solidFill>
                          <a:latin typeface="Adani Regular" panose="02000503000000020004" pitchFamily="2"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10B : Battery Container - 156 Jinko</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r>
                        <a:rPr lang="en-US" sz="1100" b="1">
                          <a:solidFill>
                            <a:schemeClr val="tx1"/>
                          </a:solidFill>
                          <a:latin typeface="Adani Regular" panose="02000503000000020004" pitchFamily="2" charset="0"/>
                        </a:rPr>
                        <a:t>Integration, Pre-Commissioning &amp; Commissioning:</a:t>
                      </a:r>
                    </a:p>
                    <a:p>
                      <a:pPr marL="0" marR="0" lvl="0" indent="0" algn="just">
                        <a:lnSpc>
                          <a:spcPct val="100000"/>
                        </a:lnSpc>
                        <a:spcBef>
                          <a:spcPts val="0"/>
                        </a:spcBef>
                        <a:spcAft>
                          <a:spcPts val="0"/>
                        </a:spcAft>
                        <a:buNone/>
                      </a:pPr>
                      <a:endParaRPr lang="en-US" sz="1100" b="1">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r>
                        <a:rPr lang="en-US" sz="1100" b="0">
                          <a:solidFill>
                            <a:schemeClr val="tx1"/>
                          </a:solidFill>
                          <a:latin typeface="Adani Regular" panose="02000503000000020004" pitchFamily="2" charset="0"/>
                        </a:rPr>
                        <a:t>PSS 11 : 192 Containers (1084 MWh)</a:t>
                      </a: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10B : </a:t>
                      </a:r>
                      <a:r>
                        <a:rPr lang="en-US" sz="1100" b="0">
                          <a:solidFill>
                            <a:schemeClr val="tx1"/>
                          </a:solidFill>
                          <a:latin typeface="Adani Regular" panose="02000503000000020004" pitchFamily="2" charset="0"/>
                        </a:rPr>
                        <a:t>96 Containers (481 MWh)</a:t>
                      </a: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1">
                          <a:solidFill>
                            <a:schemeClr val="tx1"/>
                          </a:solidFill>
                          <a:latin typeface="Adani Regular" panose="02000503000000020004" pitchFamily="2" charset="0"/>
                        </a:rPr>
                        <a:t>Approvals :</a:t>
                      </a: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1">
                          <a:solidFill>
                            <a:schemeClr val="tx1"/>
                          </a:solidFill>
                          <a:latin typeface="Adani Regular" panose="02000503000000020004" pitchFamily="2" charset="0"/>
                        </a:rPr>
                        <a:t>PSS 11,12 &amp; 10B:</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CON-V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Connectivity Agreement (CON VI)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Civil: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i="0" u="none" strike="noStrike" noProof="0">
                        <a:solidFill>
                          <a:schemeClr val="tx1"/>
                        </a:solidFill>
                        <a:latin typeface="Adani Regular"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Progress of BOP for PSS 05B &amp; 09</a:t>
                      </a:r>
                    </a:p>
                    <a:p>
                      <a:pPr marL="0" marR="0" lvl="0" indent="0" algn="l">
                        <a:lnSpc>
                          <a:spcPct val="100000"/>
                        </a:lnSpc>
                        <a:spcBef>
                          <a:spcPts val="0"/>
                        </a:spcBef>
                        <a:spcAft>
                          <a:spcPts val="0"/>
                        </a:spcAft>
                        <a:buNone/>
                      </a:pPr>
                      <a:endParaRPr lang="en-US" sz="1100" b="1" i="0" u="none" strike="noStrike" noProof="0">
                        <a:solidFill>
                          <a:schemeClr val="tx1"/>
                        </a:solidFill>
                        <a:latin typeface="Adani Regular" panose="02000503000000020004" pitchFamily="2" charset="0"/>
                      </a:endParaRPr>
                    </a:p>
                    <a:p>
                      <a:pPr marL="0" marR="0" lvl="0" indent="0" algn="l">
                        <a:lnSpc>
                          <a:spcPct val="100000"/>
                        </a:lnSpc>
                        <a:spcBef>
                          <a:spcPts val="0"/>
                        </a:spcBef>
                        <a:spcAft>
                          <a:spcPts val="0"/>
                        </a:spcAft>
                        <a:buNone/>
                      </a:pPr>
                      <a:r>
                        <a:rPr lang="en-US" sz="1100" b="1" i="0" u="none" strike="noStrike" noProof="0">
                          <a:solidFill>
                            <a:schemeClr val="tx1"/>
                          </a:solidFill>
                          <a:latin typeface="Adani Regular" panose="02000503000000020004" pitchFamily="2" charset="0"/>
                        </a:rPr>
                        <a:t>Electrical:</a:t>
                      </a:r>
                    </a:p>
                    <a:p>
                      <a:pPr marL="0" marR="0" lvl="0" indent="0" algn="l">
                        <a:lnSpc>
                          <a:spcPct val="100000"/>
                        </a:lnSpc>
                        <a:spcBef>
                          <a:spcPts val="0"/>
                        </a:spcBef>
                        <a:spcAft>
                          <a:spcPts val="0"/>
                        </a:spcAft>
                        <a:buNone/>
                      </a:pPr>
                      <a:endParaRPr lang="en-US" sz="1100" b="0" i="0" u="none" strike="noStrike" noProof="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Progress of Electrical work for </a:t>
                      </a:r>
                      <a:r>
                        <a:rPr lang="en-US" sz="1100" b="0">
                          <a:solidFill>
                            <a:schemeClr val="tx1"/>
                          </a:solidFill>
                          <a:latin typeface="Adani Regular" panose="02000503000000020004" pitchFamily="2" charset="0"/>
                        </a:rPr>
                        <a:t>11, 12, </a:t>
                      </a:r>
                      <a:r>
                        <a:rPr lang="en-US" sz="1100" b="0" i="0" u="none" strike="noStrike" noProof="0">
                          <a:solidFill>
                            <a:schemeClr val="tx1"/>
                          </a:solidFill>
                          <a:latin typeface="Adani Regular" panose="02000503000000020004" pitchFamily="2" charset="0"/>
                        </a:rPr>
                        <a:t>10B, 05B, 08B &amp; 09</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endParaRPr lang="en-US" sz="1100" b="1">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Delivery at Site: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1" i="0" u="none" strike="noStrike" noProof="0">
                        <a:solidFill>
                          <a:schemeClr val="tx1"/>
                        </a:solidFill>
                        <a:latin typeface="Adani Regular" panose="02000503000000020004" pitchFamily="2"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12   :  PCS – 384 (</a:t>
                      </a:r>
                      <a:r>
                        <a:rPr lang="en-US" sz="1100" b="0" i="0" u="none" strike="noStrike" noProof="0" err="1">
                          <a:solidFill>
                            <a:schemeClr val="tx1"/>
                          </a:solidFill>
                          <a:latin typeface="Adani Regular" panose="02000503000000020004" pitchFamily="2" charset="0"/>
                        </a:rPr>
                        <a:t>Inovance</a:t>
                      </a:r>
                      <a:r>
                        <a:rPr lang="en-US" sz="1100" b="0" i="0" u="none" strike="noStrike" noProof="0">
                          <a:solidFill>
                            <a:schemeClr val="tx1"/>
                          </a:solidFill>
                          <a:latin typeface="Adani Regular" panose="02000503000000020004" pitchFamily="2" charset="0"/>
                        </a:rPr>
                        <a:t>)</a:t>
                      </a:r>
                    </a:p>
                    <a:p>
                      <a:pPr marL="0" marR="0" lvl="0" indent="0" algn="l" defTabSz="91440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12   :  Battery Container – 384 (CATL)</a:t>
                      </a:r>
                      <a:endParaRPr lang="en-US" sz="1100" b="1">
                        <a:solidFill>
                          <a:schemeClr val="tx1"/>
                        </a:solidFill>
                        <a:latin typeface="Adani Regular" panose="02000503000000020004" pitchFamily="2"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r>
                        <a:rPr lang="en-US" sz="1100" b="1">
                          <a:solidFill>
                            <a:schemeClr val="tx1"/>
                          </a:solidFill>
                          <a:latin typeface="Adani Regular" panose="02000503000000020004" pitchFamily="2" charset="0"/>
                        </a:rPr>
                        <a:t>Integration, Pre-Commissioning &amp; Commissioning:</a:t>
                      </a:r>
                    </a:p>
                    <a:p>
                      <a:pPr marL="0" marR="0" lvl="0" indent="0" algn="just">
                        <a:lnSpc>
                          <a:spcPct val="100000"/>
                        </a:lnSpc>
                        <a:spcBef>
                          <a:spcPts val="0"/>
                        </a:spcBef>
                        <a:spcAft>
                          <a:spcPts val="0"/>
                        </a:spcAft>
                        <a:buNone/>
                      </a:pPr>
                      <a:endParaRPr lang="en-US" sz="1100" b="0">
                        <a:solidFill>
                          <a:schemeClr val="tx1"/>
                        </a:solidFill>
                        <a:highlight>
                          <a:srgbClr val="FFFF00"/>
                        </a:highlight>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Adani Regular" panose="02000503000000020004" pitchFamily="2" charset="0"/>
                        </a:rPr>
                        <a:t>PSS 10B : </a:t>
                      </a:r>
                      <a:r>
                        <a:rPr lang="en-US" sz="1100" b="0">
                          <a:solidFill>
                            <a:schemeClr val="tx1"/>
                          </a:solidFill>
                          <a:latin typeface="Adani Regular" panose="02000503000000020004" pitchFamily="2" charset="0"/>
                        </a:rPr>
                        <a:t>48 Containers (241 MWh)</a:t>
                      </a:r>
                      <a:endParaRPr lang="en-US" sz="1100" b="0" i="0" u="none" strike="noStrike" noProof="0">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endParaRPr lang="en-US" sz="1100" b="0">
                        <a:solidFill>
                          <a:schemeClr val="tx1"/>
                        </a:solidFill>
                        <a:latin typeface="Adani Regular"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6566165"/>
                  </a:ext>
                </a:extLst>
              </a:tr>
            </a:tbl>
          </a:graphicData>
        </a:graphic>
      </p:graphicFrame>
      <p:sp>
        <p:nvSpPr>
          <p:cNvPr id="3" name="Slide Number Placeholder 2">
            <a:extLst>
              <a:ext uri="{FF2B5EF4-FFF2-40B4-BE49-F238E27FC236}">
                <a16:creationId xmlns:a16="http://schemas.microsoft.com/office/drawing/2014/main" id="{E0F9D4CB-0D26-A4F2-9800-48C30D2D9329}"/>
              </a:ext>
            </a:extLst>
          </p:cNvPr>
          <p:cNvSpPr>
            <a:spLocks noGrp="1"/>
          </p:cNvSpPr>
          <p:nvPr>
            <p:ph type="sldNum" sz="quarter" idx="12"/>
          </p:nvPr>
        </p:nvSpPr>
        <p:spPr/>
        <p:txBody>
          <a:bodyPr/>
          <a:lstStyle/>
          <a:p>
            <a:fld id="{98B285C1-D8A8-4E98-B28C-1FD972D8EC54}" type="slidenum">
              <a:rPr lang="en-IN" smtClean="0"/>
              <a:t>36</a:t>
            </a:fld>
            <a:endParaRPr lang="en-IN"/>
          </a:p>
        </p:txBody>
      </p:sp>
    </p:spTree>
    <p:extLst>
      <p:ext uri="{BB962C8B-B14F-4D97-AF65-F5344CB8AC3E}">
        <p14:creationId xmlns:p14="http://schemas.microsoft.com/office/powerpoint/2010/main" val="35090245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EF8F1-124A-BBBF-4FD5-C6687A4DA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24869-7833-5CF0-A08E-9D76D662B459}"/>
              </a:ext>
            </a:extLst>
          </p:cNvPr>
          <p:cNvSpPr>
            <a:spLocks noGrp="1"/>
          </p:cNvSpPr>
          <p:nvPr>
            <p:ph type="title"/>
          </p:nvPr>
        </p:nvSpPr>
        <p:spPr>
          <a:xfrm>
            <a:off x="153808" y="158816"/>
            <a:ext cx="10829925" cy="461382"/>
          </a:xfrm>
          <a:noFill/>
        </p:spPr>
        <p:txBody>
          <a:bodyPr vert="horz" wrap="square" lIns="91157" tIns="45580" rIns="91157" bIns="45580" rtlCol="0" anchor="ctr">
            <a:spAutoFit/>
          </a:bodyPr>
          <a:lstStyle/>
          <a:p>
            <a:pPr marL="109192" defTabSz="911377"/>
            <a:r>
              <a:rPr lang="en-US" sz="2400" b="1">
                <a:gradFill>
                  <a:gsLst>
                    <a:gs pos="9735">
                      <a:schemeClr val="tx2"/>
                    </a:gs>
                    <a:gs pos="63000">
                      <a:srgbClr val="8E278F"/>
                    </a:gs>
                    <a:gs pos="38000">
                      <a:srgbClr val="57499E"/>
                    </a:gs>
                  </a:gsLst>
                  <a:lin ang="0" scaled="0"/>
                </a:gradFill>
                <a:latin typeface="Adani Regular" panose="02000503000000020004" pitchFamily="2" charset="0"/>
                <a:ea typeface="+mn-ea"/>
                <a:cs typeface="+mn-cs"/>
              </a:rPr>
              <a:t>CRITICAL ISSUES FY 26-27</a:t>
            </a:r>
          </a:p>
        </p:txBody>
      </p:sp>
      <p:graphicFrame>
        <p:nvGraphicFramePr>
          <p:cNvPr id="4" name="Table 3">
            <a:extLst>
              <a:ext uri="{FF2B5EF4-FFF2-40B4-BE49-F238E27FC236}">
                <a16:creationId xmlns:a16="http://schemas.microsoft.com/office/drawing/2014/main" id="{BE1DC54F-407A-47AA-2879-9D300BFA0FCA}"/>
              </a:ext>
            </a:extLst>
          </p:cNvPr>
          <p:cNvGraphicFramePr>
            <a:graphicFrameLocks noGrp="1"/>
          </p:cNvGraphicFramePr>
          <p:nvPr>
            <p:extLst>
              <p:ext uri="{D42A27DB-BD31-4B8C-83A1-F6EECF244321}">
                <p14:modId xmlns:p14="http://schemas.microsoft.com/office/powerpoint/2010/main" val="4033958947"/>
              </p:ext>
            </p:extLst>
          </p:nvPr>
        </p:nvGraphicFramePr>
        <p:xfrm>
          <a:off x="149373" y="701701"/>
          <a:ext cx="11962416" cy="5518125"/>
        </p:xfrm>
        <a:graphic>
          <a:graphicData uri="http://schemas.openxmlformats.org/drawingml/2006/table">
            <a:tbl>
              <a:tblPr/>
              <a:tblGrid>
                <a:gridCol w="303618">
                  <a:extLst>
                    <a:ext uri="{9D8B030D-6E8A-4147-A177-3AD203B41FA5}">
                      <a16:colId xmlns:a16="http://schemas.microsoft.com/office/drawing/2014/main" val="1937269532"/>
                    </a:ext>
                  </a:extLst>
                </a:gridCol>
                <a:gridCol w="1019935">
                  <a:extLst>
                    <a:ext uri="{9D8B030D-6E8A-4147-A177-3AD203B41FA5}">
                      <a16:colId xmlns:a16="http://schemas.microsoft.com/office/drawing/2014/main" val="2780564658"/>
                    </a:ext>
                  </a:extLst>
                </a:gridCol>
                <a:gridCol w="1305899">
                  <a:extLst>
                    <a:ext uri="{9D8B030D-6E8A-4147-A177-3AD203B41FA5}">
                      <a16:colId xmlns:a16="http://schemas.microsoft.com/office/drawing/2014/main" val="1656575301"/>
                    </a:ext>
                  </a:extLst>
                </a:gridCol>
                <a:gridCol w="4477381">
                  <a:extLst>
                    <a:ext uri="{9D8B030D-6E8A-4147-A177-3AD203B41FA5}">
                      <a16:colId xmlns:a16="http://schemas.microsoft.com/office/drawing/2014/main" val="2047575609"/>
                    </a:ext>
                  </a:extLst>
                </a:gridCol>
                <a:gridCol w="1027985">
                  <a:extLst>
                    <a:ext uri="{9D8B030D-6E8A-4147-A177-3AD203B41FA5}">
                      <a16:colId xmlns:a16="http://schemas.microsoft.com/office/drawing/2014/main" val="1227767698"/>
                    </a:ext>
                  </a:extLst>
                </a:gridCol>
                <a:gridCol w="494681">
                  <a:extLst>
                    <a:ext uri="{9D8B030D-6E8A-4147-A177-3AD203B41FA5}">
                      <a16:colId xmlns:a16="http://schemas.microsoft.com/office/drawing/2014/main" val="3797749600"/>
                    </a:ext>
                  </a:extLst>
                </a:gridCol>
                <a:gridCol w="2530812">
                  <a:extLst>
                    <a:ext uri="{9D8B030D-6E8A-4147-A177-3AD203B41FA5}">
                      <a16:colId xmlns:a16="http://schemas.microsoft.com/office/drawing/2014/main" val="2918615442"/>
                    </a:ext>
                  </a:extLst>
                </a:gridCol>
                <a:gridCol w="802105">
                  <a:extLst>
                    <a:ext uri="{9D8B030D-6E8A-4147-A177-3AD203B41FA5}">
                      <a16:colId xmlns:a16="http://schemas.microsoft.com/office/drawing/2014/main" val="3809812117"/>
                    </a:ext>
                  </a:extLst>
                </a:gridCol>
              </a:tblGrid>
              <a:tr h="518451">
                <a:tc rowSpan="2">
                  <a:txBody>
                    <a:bodyPr/>
                    <a:lstStyle/>
                    <a:p>
                      <a:pPr algn="ctr" rtl="0" fontAlgn="ctr"/>
                      <a:r>
                        <a:rPr lang="en-US" sz="1200" b="1" i="0" u="none" strike="noStrike">
                          <a:solidFill>
                            <a:schemeClr val="bg1"/>
                          </a:solidFill>
                          <a:effectLst/>
                          <a:latin typeface="Adani Regular"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Issues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Potential Impact</a:t>
                      </a:r>
                    </a:p>
                    <a:p>
                      <a:pPr algn="ctr" rtl="0" fontAlgn="ctr"/>
                      <a:r>
                        <a:rPr lang="en-US" sz="1200" b="1" i="0" u="none" strike="noStrike">
                          <a:solidFill>
                            <a:schemeClr val="bg1"/>
                          </a:solidFill>
                          <a:effectLst/>
                          <a:latin typeface="Adani Regular" panose="02000503000000020004" pitchFamily="2" charset="0"/>
                        </a:rPr>
                        <a:t>(Time &amp; Cost)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Corrective </a:t>
                      </a:r>
                    </a:p>
                    <a:p>
                      <a:pPr algn="ctr" rtl="0" fontAlgn="ctr"/>
                      <a:r>
                        <a:rPr lang="en-US" sz="1200" b="1" i="0" u="none" strike="noStrike">
                          <a:solidFill>
                            <a:schemeClr val="bg1"/>
                          </a:solidFill>
                          <a:effectLst/>
                          <a:latin typeface="Adani Regular" panose="02000503000000020004" pitchFamily="2" charset="0"/>
                        </a:rPr>
                        <a:t>Action(s)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rtl="0" fontAlgn="ctr"/>
                      <a:r>
                        <a:rPr lang="en-US" sz="1200" b="1" i="0" u="none" strike="noStrike">
                          <a:solidFill>
                            <a:schemeClr val="bg1"/>
                          </a:solidFill>
                          <a:effectLst/>
                          <a:latin typeface="Adani Regular" panose="02000503000000020004" pitchFamily="2" charset="0"/>
                        </a:rPr>
                        <a:t>Action By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lang="kn-IN"/>
                    </a:p>
                  </a:txBody>
                  <a:tcPr/>
                </a:tc>
                <a:tc rowSpan="2">
                  <a:txBody>
                    <a:bodyPr/>
                    <a:lstStyle/>
                    <a:p>
                      <a:pPr algn="ctr" rtl="0" fontAlgn="ctr"/>
                      <a:r>
                        <a:rPr lang="en-US" sz="1200" b="1" i="0" u="none" strike="noStrike">
                          <a:solidFill>
                            <a:schemeClr val="bg1"/>
                          </a:solidFill>
                          <a:effectLst/>
                          <a:latin typeface="Adani Regular" panose="02000503000000020004" pitchFamily="2" charset="0"/>
                        </a:rPr>
                        <a:t>Current </a:t>
                      </a:r>
                    </a:p>
                    <a:p>
                      <a:pPr algn="ctr" rtl="0" fontAlgn="ctr"/>
                      <a:r>
                        <a:rPr lang="en-US" sz="1200" b="1" i="0" u="none" strike="noStrike">
                          <a:solidFill>
                            <a:schemeClr val="bg1"/>
                          </a:solidFill>
                          <a:effectLst/>
                          <a:latin typeface="Adani Regular" panose="02000503000000020004" pitchFamily="2" charset="0"/>
                        </a:rPr>
                        <a:t>Status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Support </a:t>
                      </a:r>
                    </a:p>
                    <a:p>
                      <a:pPr algn="ctr" rtl="0" fontAlgn="ctr"/>
                      <a:r>
                        <a:rPr lang="en-US" sz="1200" b="1" i="0" u="none" strike="noStrike">
                          <a:solidFill>
                            <a:schemeClr val="bg1"/>
                          </a:solidFill>
                          <a:effectLst/>
                          <a:latin typeface="Adani Regular" panose="02000503000000020004" pitchFamily="2" charset="0"/>
                        </a:rPr>
                        <a:t>Required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2307056465"/>
                  </a:ext>
                </a:extLst>
              </a:tr>
              <a:tr h="518451">
                <a:tc vMerge="1">
                  <a:txBody>
                    <a:bodyPr/>
                    <a:lstStyle/>
                    <a:p>
                      <a:endParaRPr lang="kn-IN"/>
                    </a:p>
                  </a:txBody>
                  <a:tcPr/>
                </a:tc>
                <a:tc vMerge="1">
                  <a:txBody>
                    <a:bodyPr/>
                    <a:lstStyle/>
                    <a:p>
                      <a:endParaRPr lang="kn-IN"/>
                    </a:p>
                  </a:txBody>
                  <a:tcPr/>
                </a:tc>
                <a:tc vMerge="1">
                  <a:txBody>
                    <a:bodyPr/>
                    <a:lstStyle/>
                    <a:p>
                      <a:endParaRPr lang="kn-IN"/>
                    </a:p>
                  </a:txBody>
                  <a:tcPr/>
                </a:tc>
                <a:tc vMerge="1">
                  <a:txBody>
                    <a:bodyPr/>
                    <a:lstStyle/>
                    <a:p>
                      <a:endParaRPr lang="kn-IN"/>
                    </a:p>
                  </a:txBody>
                  <a:tcPr/>
                </a:tc>
                <a:tc>
                  <a:txBody>
                    <a:bodyPr/>
                    <a:lstStyle/>
                    <a:p>
                      <a:pPr algn="ctr" rtl="0" fontAlgn="ctr"/>
                      <a:r>
                        <a:rPr lang="en-US" sz="1200" b="1" i="0" u="none" strike="noStrike">
                          <a:solidFill>
                            <a:schemeClr val="bg1"/>
                          </a:solidFill>
                          <a:effectLst/>
                          <a:latin typeface="Adani Regular" panose="02000503000000020004" pitchFamily="2" charset="0"/>
                        </a:rPr>
                        <a:t>Whom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r>
                        <a:rPr lang="en-US" sz="1200" b="1" i="0" u="none" strike="noStrike">
                          <a:solidFill>
                            <a:schemeClr val="bg1"/>
                          </a:solidFill>
                          <a:effectLst/>
                          <a:latin typeface="Adani Regular" panose="02000503000000020004" pitchFamily="2" charset="0"/>
                        </a:rPr>
                        <a:t>Date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lang="kn-IN"/>
                    </a:p>
                  </a:txBody>
                  <a:tcPr/>
                </a:tc>
                <a:tc vMerge="1">
                  <a:txBody>
                    <a:bodyPr/>
                    <a:lstStyle/>
                    <a:p>
                      <a:endParaRPr lang="kn-IN"/>
                    </a:p>
                  </a:txBody>
                  <a:tcPr/>
                </a:tc>
                <a:extLst>
                  <a:ext uri="{0D108BD9-81ED-4DB2-BD59-A6C34878D82A}">
                    <a16:rowId xmlns:a16="http://schemas.microsoft.com/office/drawing/2014/main" val="3427794270"/>
                  </a:ext>
                </a:extLst>
              </a:tr>
              <a:tr h="1772799">
                <a:tc>
                  <a:txBody>
                    <a:bodyPr/>
                    <a:lstStyle/>
                    <a:p>
                      <a:pPr algn="ctr" rtl="0" fontAlgn="ctr"/>
                      <a:r>
                        <a:rPr lang="en-US" sz="1100" b="0" i="0" u="none" strike="noStrike">
                          <a:solidFill>
                            <a:srgbClr val="000000"/>
                          </a:solidFill>
                          <a:effectLst/>
                          <a:latin typeface="Adani Regular" panose="02000503000000020004" pitchFamily="2"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rgbClr val="000000"/>
                          </a:solidFill>
                          <a:effectLst/>
                          <a:latin typeface="Adani Regular" panose="02000503000000020004" pitchFamily="2" charset="0"/>
                        </a:rPr>
                        <a:t>Inadequate Manpower (Workmen)</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rgbClr val="000000"/>
                          </a:solidFill>
                          <a:effectLst/>
                          <a:latin typeface="Adani Regular" panose="02000503000000020004" pitchFamily="2" charset="0"/>
                        </a:rPr>
                        <a:t>Slow Progress of civil works</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6213" lvl="0" indent="-176213" algn="just">
                        <a:buFont typeface="Arial" panose="020B0604020202020204" pitchFamily="34" charset="0"/>
                        <a:buChar char="•"/>
                      </a:pPr>
                      <a:r>
                        <a:rPr lang="en-US" sz="1100" b="0" i="0">
                          <a:solidFill>
                            <a:schemeClr val="tx1"/>
                          </a:solidFill>
                          <a:effectLst/>
                          <a:latin typeface="Adani Regular" panose="02000503000000020004" pitchFamily="2" charset="0"/>
                          <a:ea typeface="+mn-ea"/>
                          <a:cs typeface="+mn-cs"/>
                        </a:rPr>
                        <a:t>Regular coordination meetings are being conducted with the Contractors to closely monitor progress and ensure manpower mobilization is increased in line with the required levels. </a:t>
                      </a:r>
                    </a:p>
                    <a:p>
                      <a:pPr marL="176213" lvl="0" indent="-176213" algn="just">
                        <a:buFont typeface="Arial" panose="020B0604020202020204" pitchFamily="34" charset="0"/>
                        <a:buChar char="•"/>
                      </a:pPr>
                      <a:r>
                        <a:rPr lang="en-US" sz="1100" b="0" i="0">
                          <a:solidFill>
                            <a:schemeClr val="tx1"/>
                          </a:solidFill>
                          <a:effectLst/>
                          <a:latin typeface="Adani Regular" panose="02000503000000020004" pitchFamily="2" charset="0"/>
                          <a:ea typeface="+mn-ea"/>
                          <a:cs typeface="+mn-cs"/>
                        </a:rPr>
                        <a:t>Warning letters have been issued to M/s MSC and M/s Shreeji, clearly stating that failure to complete the works as per contractual timelines will entitle the Adani team to execute the balance works at the Contractor’s Risk and Cost, in accordance with the contract provisions. </a:t>
                      </a:r>
                    </a:p>
                    <a:p>
                      <a:pPr marL="176213" lvl="0" indent="-176213" algn="just">
                        <a:buFont typeface="Arial" panose="020B0604020202020204" pitchFamily="34" charset="0"/>
                        <a:buChar char="•"/>
                      </a:pPr>
                      <a:r>
                        <a:rPr lang="en-US" sz="1100" b="0" i="0">
                          <a:solidFill>
                            <a:schemeClr val="tx1"/>
                          </a:solidFill>
                          <a:effectLst/>
                          <a:latin typeface="Adani Regular" panose="02000503000000020004" pitchFamily="2" charset="0"/>
                          <a:ea typeface="+mn-ea"/>
                          <a:cs typeface="+mn-cs"/>
                        </a:rPr>
                        <a:t>In addition, alternate Vendors being identified. </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panose="02000503000000020004" pitchFamily="2" charset="0"/>
                        </a:rPr>
                        <a:t>Site Execution &amp; Resource team</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chemeClr val="tx1"/>
                          </a:solidFill>
                          <a:effectLst/>
                          <a:latin typeface="Adani Regular" panose="02000503000000020004" pitchFamily="2" charset="0"/>
                        </a:rPr>
                        <a:t>-</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fontAlgn="ctr" latinLnBrk="0" hangingPunct="1">
                        <a:lnSpc>
                          <a:spcPct val="100000"/>
                        </a:lnSpc>
                        <a:buFont typeface="Arial" panose="020B0604020202020204" pitchFamily="34" charset="0"/>
                        <a:buNone/>
                      </a:pPr>
                      <a:r>
                        <a:rPr lang="en-IN" sz="1100" b="0" i="0" kern="1200">
                          <a:solidFill>
                            <a:schemeClr val="tx1"/>
                          </a:solidFill>
                          <a:effectLst/>
                          <a:latin typeface="Adani Regular" panose="02000503000000020004" pitchFamily="2" charset="0"/>
                          <a:ea typeface="+mn-ea"/>
                          <a:cs typeface="+mn-cs"/>
                        </a:rPr>
                        <a:t>Following are the Manpower available for PSS: </a:t>
                      </a:r>
                    </a:p>
                    <a:p>
                      <a:pPr marL="236538" indent="-236538" algn="l" defTabSz="914400" rtl="0" eaLnBrk="1" fontAlgn="ctr" latinLnBrk="0" hangingPunct="1">
                        <a:lnSpc>
                          <a:spcPct val="100000"/>
                        </a:lnSpc>
                        <a:buFont typeface="Arial" panose="020B0604020202020204" pitchFamily="34" charset="0"/>
                        <a:buChar char="•"/>
                      </a:pPr>
                      <a:r>
                        <a:rPr lang="en-IN" sz="1100" b="0" i="0" kern="1200">
                          <a:solidFill>
                            <a:schemeClr val="tx1"/>
                          </a:solidFill>
                          <a:effectLst/>
                          <a:latin typeface="Adani Regular" panose="02000503000000020004" pitchFamily="2" charset="0"/>
                          <a:ea typeface="+mn-ea"/>
                          <a:cs typeface="+mn-cs"/>
                        </a:rPr>
                        <a:t>MSC for PSS-11 148/350, PSS-12 117/350, PSS-09 55/350</a:t>
                      </a:r>
                    </a:p>
                    <a:p>
                      <a:pPr marL="236538" indent="-236538" algn="l" defTabSz="914400" rtl="0" eaLnBrk="1" fontAlgn="ctr" latinLnBrk="0" hangingPunct="1">
                        <a:lnSpc>
                          <a:spcPct val="100000"/>
                        </a:lnSpc>
                        <a:buFont typeface="Arial" panose="020B0604020202020204" pitchFamily="34" charset="0"/>
                        <a:buChar char="•"/>
                      </a:pPr>
                      <a:r>
                        <a:rPr lang="en-IN" sz="1100" b="0" i="0" kern="1200" err="1">
                          <a:solidFill>
                            <a:schemeClr val="tx1"/>
                          </a:solidFill>
                          <a:effectLst/>
                          <a:latin typeface="Adani Regular" panose="02000503000000020004" pitchFamily="2" charset="0"/>
                          <a:ea typeface="+mn-ea"/>
                          <a:cs typeface="+mn-cs"/>
                        </a:rPr>
                        <a:t>Godhara</a:t>
                      </a:r>
                      <a:r>
                        <a:rPr lang="en-IN" sz="1100" b="0" i="0" kern="1200">
                          <a:solidFill>
                            <a:schemeClr val="tx1"/>
                          </a:solidFill>
                          <a:effectLst/>
                          <a:latin typeface="Adani Regular" panose="02000503000000020004" pitchFamily="2" charset="0"/>
                          <a:ea typeface="+mn-ea"/>
                          <a:cs typeface="+mn-cs"/>
                        </a:rPr>
                        <a:t> for PSS-10B 28/150</a:t>
                      </a:r>
                    </a:p>
                    <a:p>
                      <a:pPr marL="236538" indent="-236538" algn="l" defTabSz="914400" rtl="0" eaLnBrk="1" fontAlgn="ctr" latinLnBrk="0" hangingPunct="1">
                        <a:lnSpc>
                          <a:spcPct val="100000"/>
                        </a:lnSpc>
                        <a:buFont typeface="Arial" panose="020B0604020202020204" pitchFamily="34" charset="0"/>
                        <a:buChar char="•"/>
                      </a:pPr>
                      <a:r>
                        <a:rPr lang="en-IN" sz="1100" b="0" i="0" kern="1200">
                          <a:solidFill>
                            <a:schemeClr val="tx1"/>
                          </a:solidFill>
                          <a:effectLst/>
                          <a:latin typeface="Adani Regular" panose="02000503000000020004" pitchFamily="2" charset="0"/>
                          <a:ea typeface="+mn-ea"/>
                          <a:cs typeface="+mn-cs"/>
                        </a:rPr>
                        <a:t>Shree </a:t>
                      </a:r>
                      <a:r>
                        <a:rPr lang="en-IN" sz="1100" b="0" i="0" kern="1200" err="1">
                          <a:solidFill>
                            <a:schemeClr val="tx1"/>
                          </a:solidFill>
                          <a:effectLst/>
                          <a:latin typeface="Adani Regular" panose="02000503000000020004" pitchFamily="2" charset="0"/>
                          <a:ea typeface="+mn-ea"/>
                          <a:cs typeface="+mn-cs"/>
                        </a:rPr>
                        <a:t>Rajnagnechi</a:t>
                      </a:r>
                      <a:r>
                        <a:rPr lang="en-IN" sz="1100" b="0" i="0" kern="1200">
                          <a:solidFill>
                            <a:schemeClr val="tx1"/>
                          </a:solidFill>
                          <a:effectLst/>
                          <a:latin typeface="Adani Regular" panose="02000503000000020004" pitchFamily="2" charset="0"/>
                          <a:ea typeface="+mn-ea"/>
                          <a:cs typeface="+mn-cs"/>
                        </a:rPr>
                        <a:t>  for PSS-05B 36/350</a:t>
                      </a:r>
                    </a:p>
                    <a:p>
                      <a:pPr marL="236538" indent="-236538" algn="l" defTabSz="914400" rtl="0" eaLnBrk="1" fontAlgn="ctr" latinLnBrk="0" hangingPunct="1">
                        <a:lnSpc>
                          <a:spcPct val="100000"/>
                        </a:lnSpc>
                        <a:buFont typeface="Arial" panose="020B0604020202020204" pitchFamily="34" charset="0"/>
                        <a:buChar char="•"/>
                      </a:pPr>
                      <a:r>
                        <a:rPr lang="en-IN" sz="1100" b="0" i="0" kern="1200" err="1">
                          <a:solidFill>
                            <a:schemeClr val="tx1"/>
                          </a:solidFill>
                          <a:effectLst/>
                          <a:latin typeface="Adani Regular" panose="02000503000000020004" pitchFamily="2" charset="0"/>
                          <a:ea typeface="+mn-ea"/>
                          <a:cs typeface="+mn-cs"/>
                        </a:rPr>
                        <a:t>Shreeji</a:t>
                      </a:r>
                      <a:r>
                        <a:rPr lang="en-IN" sz="1100" b="0" i="0" kern="1200">
                          <a:solidFill>
                            <a:schemeClr val="tx1"/>
                          </a:solidFill>
                          <a:effectLst/>
                          <a:latin typeface="Adani Regular" panose="02000503000000020004" pitchFamily="2" charset="0"/>
                          <a:ea typeface="+mn-ea"/>
                          <a:cs typeface="+mn-cs"/>
                        </a:rPr>
                        <a:t> for PSS-08B 15/350</a:t>
                      </a:r>
                      <a:endParaRPr lang="en-US" sz="1100" b="0" i="0" kern="1200">
                        <a:solidFill>
                          <a:schemeClr val="tx1"/>
                        </a:solidFill>
                        <a:effectLst/>
                        <a:latin typeface="Adani Regular" panose="02000503000000020004" pitchFamily="2"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rgbClr val="000000"/>
                          </a:solidFill>
                          <a:effectLst/>
                          <a:latin typeface="Adani Regular" panose="02000503000000020004" pitchFamily="2" charset="0"/>
                        </a:rPr>
                        <a:t>-</a:t>
                      </a:r>
                    </a:p>
                  </a:txBody>
                  <a:tcPr marL="4572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5185025"/>
                  </a:ext>
                </a:extLst>
              </a:tr>
              <a:tr h="1354212">
                <a:tc>
                  <a:txBody>
                    <a:bodyPr/>
                    <a:lstStyle/>
                    <a:p>
                      <a:pPr marL="0" lvl="0" algn="ctr" defTabSz="914400">
                        <a:buNone/>
                      </a:pPr>
                      <a:r>
                        <a:rPr lang="en-US" sz="1100" b="0" i="0" u="none" strike="noStrike" kern="1200">
                          <a:solidFill>
                            <a:srgbClr val="000000"/>
                          </a:solidFill>
                          <a:effectLst/>
                          <a:latin typeface="Adani Regular" panose="02000503000000020004" pitchFamily="2" charset="0"/>
                          <a:ea typeface="+mn-ea"/>
                          <a:cs typeface="+mn-cs"/>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Monsoon Plan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Work delay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100" b="0" i="0">
                          <a:effectLst/>
                          <a:latin typeface="Adani Regular" panose="02000503000000020004" pitchFamily="2" charset="0"/>
                        </a:rPr>
                        <a:t>Work orders for Internal Roads, Earthen Drains, and Bund construction have been awarded to multiple contractors to ensure completion before the monsoon season.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u="none" strike="noStrike">
                          <a:solidFill>
                            <a:schemeClr val="tx1"/>
                          </a:solidFill>
                          <a:effectLst/>
                          <a:latin typeface="Adani Regular" panose="02000503000000020004" pitchFamily="2" charset="0"/>
                        </a:rPr>
                        <a:t>Site Execution</a:t>
                      </a:r>
                      <a:endParaRPr lang="en-US" sz="1100" b="0" i="0">
                        <a:solidFill>
                          <a:srgbClr val="000000"/>
                        </a:solidFill>
                        <a:effectLst/>
                        <a:latin typeface="Adani Regular"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endParaRPr lang="en-US" sz="1100" b="0" i="0">
                        <a:solidFill>
                          <a:srgbClr val="000000"/>
                        </a:solidFill>
                        <a:effectLst/>
                        <a:latin typeface="Adani Regular" panose="02000503000000020004" pitchFamily="2" charset="0"/>
                        <a:ea typeface="+mn-ea"/>
                        <a:cs typeface="+mn-cs"/>
                      </a:endParaRPr>
                    </a:p>
                    <a:p>
                      <a:pPr marL="0" indent="0">
                        <a:buFont typeface="Arial" panose="020B0604020202020204" pitchFamily="34" charset="0"/>
                        <a:buNone/>
                      </a:pPr>
                      <a:endParaRPr lang="en-US" sz="1100" b="0" i="0">
                        <a:solidFill>
                          <a:srgbClr val="000000"/>
                        </a:solidFill>
                        <a:effectLst/>
                        <a:latin typeface="Adani Regular" panose="02000503000000020004" pitchFamily="2" charset="0"/>
                        <a:ea typeface="+mn-ea"/>
                        <a:cs typeface="+mn-cs"/>
                      </a:endParaRPr>
                    </a:p>
                    <a:p>
                      <a:pPr marL="0" indent="0">
                        <a:buFont typeface="Arial" panose="020B0604020202020204" pitchFamily="34" charset="0"/>
                        <a:buNone/>
                      </a:pPr>
                      <a:endParaRPr lang="en-US" sz="1100" b="0" i="0">
                        <a:solidFill>
                          <a:srgbClr val="000000"/>
                        </a:solidFill>
                        <a:effectLst/>
                        <a:latin typeface="Adani Regular" panose="02000503000000020004" pitchFamily="2" charset="0"/>
                        <a:ea typeface="+mn-ea"/>
                        <a:cs typeface="+mn-cs"/>
                      </a:endParaRPr>
                    </a:p>
                    <a:p>
                      <a:pPr marL="171450" indent="-171450" algn="l">
                        <a:buFont typeface="Arial" panose="020B0604020202020204" pitchFamily="34" charset="0"/>
                        <a:buChar char="•"/>
                      </a:pPr>
                      <a:r>
                        <a:rPr lang="en-US" sz="1100" b="0" i="0">
                          <a:solidFill>
                            <a:srgbClr val="000000"/>
                          </a:solidFill>
                          <a:effectLst/>
                          <a:latin typeface="Adani Regular" panose="02000503000000020004" pitchFamily="2" charset="0"/>
                          <a:ea typeface="+mn-ea"/>
                          <a:cs typeface="+mn-cs"/>
                        </a:rPr>
                        <a:t>Work</a:t>
                      </a:r>
                      <a:r>
                        <a:rPr lang="en-US" sz="1100" kern="1200">
                          <a:solidFill>
                            <a:schemeClr val="tx1"/>
                          </a:solidFill>
                          <a:effectLst/>
                          <a:latin typeface="Adani Regular" panose="02000503000000020004" pitchFamily="2" charset="0"/>
                          <a:ea typeface="+mn-ea"/>
                          <a:cs typeface="+mn-cs"/>
                        </a:rPr>
                        <a:t> for Roads, Drains and Bund is expected to be completed by 10-Jun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3455352"/>
                  </a:ext>
                </a:extLst>
              </a:tr>
              <a:tr h="1354212">
                <a:tc>
                  <a:txBody>
                    <a:bodyPr/>
                    <a:lstStyle/>
                    <a:p>
                      <a:pPr marL="0" lvl="0" algn="ctr" defTabSz="914400">
                        <a:buNone/>
                      </a:pPr>
                      <a:r>
                        <a:rPr lang="en-US" sz="1100" b="0" i="0" u="none" strike="noStrike" kern="1200">
                          <a:solidFill>
                            <a:srgbClr val="000000"/>
                          </a:solidFill>
                          <a:effectLst/>
                          <a:latin typeface="Adani Regular" panose="02000503000000020004" pitchFamily="2" charset="0"/>
                          <a:ea typeface="+mn-ea"/>
                          <a:cs typeface="+mn-cs"/>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Completion of Grid Study  &amp; Ordering of Harmonic Filter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Can delay Commissioning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kern="1200">
                          <a:solidFill>
                            <a:schemeClr val="tx1"/>
                          </a:solidFill>
                          <a:effectLst/>
                          <a:latin typeface="Adani Regular" panose="02000503000000020004" pitchFamily="2" charset="0"/>
                          <a:ea typeface="+mn-ea"/>
                          <a:cs typeface="+mn-cs"/>
                        </a:rPr>
                        <a:t>Meeting held with Senior Management of M/s Hitachi to expedite progress &amp; completion of Grid Studies.</a:t>
                      </a:r>
                    </a:p>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100" b="0" i="0" u="none" strike="noStrike" kern="1200">
                        <a:solidFill>
                          <a:schemeClr val="tx1"/>
                        </a:solidFill>
                        <a:effectLst/>
                        <a:latin typeface="Adani Regular" panose="02000503000000020004" pitchFamily="2" charset="0"/>
                        <a:ea typeface="+mn-ea"/>
                        <a:cs typeface="+mn-cs"/>
                      </a:endParaRP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kern="1200">
                          <a:solidFill>
                            <a:schemeClr val="tx1"/>
                          </a:solidFill>
                          <a:effectLst/>
                          <a:latin typeface="Adani Regular" panose="02000503000000020004" pitchFamily="2" charset="0"/>
                          <a:ea typeface="+mn-ea"/>
                          <a:cs typeface="+mn-cs"/>
                        </a:rPr>
                        <a:t>Ordering of Harmonic Filters (once specifications are received) being expedited.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Engineering &amp; Project Team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lgn="l" rtl="0" fontAlgn="base">
                        <a:lnSpc>
                          <a:spcPct val="100000"/>
                        </a:lnSpc>
                        <a:buFont typeface="Arial" panose="020B0604020202020204" pitchFamily="34" charset="0"/>
                        <a:buChar char="•"/>
                      </a:pPr>
                      <a:r>
                        <a:rPr lang="en-US" sz="1100" b="0" i="0">
                          <a:solidFill>
                            <a:srgbClr val="000000"/>
                          </a:solidFill>
                          <a:effectLst/>
                          <a:latin typeface="Adani Regular" panose="02000503000000020004" pitchFamily="2" charset="0"/>
                        </a:rPr>
                        <a:t>PSS 10B – Steady State and Power Quality Analysis completed. Specifications for Harmonic Filters received. Ordering Placed on 26-Mar.</a:t>
                      </a:r>
                      <a:endParaRPr lang="en-US" sz="1100" b="0" i="0" u="none" strike="noStrike">
                        <a:solidFill>
                          <a:srgbClr val="000000"/>
                        </a:solidFill>
                        <a:effectLst/>
                        <a:latin typeface="Adani Regular"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ase">
                        <a:lnSpc>
                          <a:spcPct val="100000"/>
                        </a:lnSpc>
                        <a:buNone/>
                      </a:pPr>
                      <a:r>
                        <a:rPr lang="en-US" sz="1100" b="0" i="0">
                          <a:solidFill>
                            <a:srgbClr val="000000"/>
                          </a:solidFill>
                          <a:effectLst/>
                          <a:latin typeface="Adani Regular" panose="02000503000000020004"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7997569"/>
                  </a:ext>
                </a:extLst>
              </a:tr>
            </a:tbl>
          </a:graphicData>
        </a:graphic>
      </p:graphicFrame>
      <p:sp>
        <p:nvSpPr>
          <p:cNvPr id="3" name="Slide Number Placeholder 1">
            <a:extLst>
              <a:ext uri="{FF2B5EF4-FFF2-40B4-BE49-F238E27FC236}">
                <a16:creationId xmlns:a16="http://schemas.microsoft.com/office/drawing/2014/main" id="{A4E1C33D-B25A-FC07-A389-137AA3981314}"/>
              </a:ext>
            </a:extLst>
          </p:cNvPr>
          <p:cNvSpPr>
            <a:spLocks noGrp="1"/>
          </p:cNvSpPr>
          <p:nvPr>
            <p:ph type="sldNum" sz="quarter" idx="12"/>
          </p:nvPr>
        </p:nvSpPr>
        <p:spPr>
          <a:xfrm>
            <a:off x="11560028" y="6492875"/>
            <a:ext cx="482599" cy="365125"/>
          </a:xfrm>
        </p:spPr>
        <p:txBody>
          <a:bodyPr/>
          <a:lstStyle/>
          <a:p>
            <a:fld id="{98B285C1-D8A8-4E98-B28C-1FD972D8EC54}" type="slidenum">
              <a:rPr lang="en-IN" smtClean="0"/>
              <a:t>37</a:t>
            </a:fld>
            <a:endParaRPr lang="en-IN"/>
          </a:p>
        </p:txBody>
      </p:sp>
    </p:spTree>
    <p:extLst>
      <p:ext uri="{BB962C8B-B14F-4D97-AF65-F5344CB8AC3E}">
        <p14:creationId xmlns:p14="http://schemas.microsoft.com/office/powerpoint/2010/main" val="3682797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938BBE9-257D-1350-6B0B-0E29C72D9911}"/>
              </a:ext>
            </a:extLst>
          </p:cNvPr>
          <p:cNvSpPr txBox="1">
            <a:spLocks/>
          </p:cNvSpPr>
          <p:nvPr/>
        </p:nvSpPr>
        <p:spPr>
          <a:xfrm>
            <a:off x="400342" y="-1969662"/>
            <a:ext cx="11577483" cy="2522064"/>
          </a:xfrm>
          <a:noFill/>
        </p:spPr>
        <p:txBody>
          <a:bodyPr vert="horz" wrap="square" lIns="91157" tIns="45580" rIns="91157" bIns="45580" rtlCol="0" anchor="b">
            <a:spAutoFit/>
          </a:bodyPr>
          <a:lstStyle>
            <a:lvl1pPr algn="l" defTabSz="914400" rtl="0" eaLnBrk="1" latinLnBrk="0" hangingPunct="1">
              <a:lnSpc>
                <a:spcPct val="90000"/>
              </a:lnSpc>
              <a:spcBef>
                <a:spcPct val="0"/>
              </a:spcBef>
              <a:buNone/>
              <a:defRPr sz="2200" kern="1200">
                <a:solidFill>
                  <a:srgbClr val="922682"/>
                </a:solidFill>
                <a:latin typeface="Adani Medium" panose="02000503000000020004" pitchFamily="2" charset="0"/>
                <a:ea typeface="+mj-ea"/>
                <a:cs typeface="+mj-cs"/>
              </a:defRPr>
            </a:lvl1pPr>
          </a:lstStyle>
          <a:p>
            <a:pPr marL="108585" defTabSz="911377"/>
            <a:r>
              <a:rPr lang="en-US" sz="2400" b="1">
                <a:solidFill>
                  <a:srgbClr val="7030A0"/>
                </a:solidFill>
                <a:latin typeface="Adani Regular" panose="02000503000000020004"/>
                <a:ea typeface="+mn-ea"/>
                <a:cs typeface="+mn-cs"/>
              </a:rPr>
              <a:t>Financial S Curve </a:t>
            </a:r>
            <a:r>
              <a:rPr lang="en-US" sz="2400" b="1" i="1">
                <a:gradFill>
                  <a:gsLst>
                    <a:gs pos="9735">
                      <a:schemeClr val="tx2"/>
                    </a:gs>
                    <a:gs pos="63000">
                      <a:srgbClr val="8E278F"/>
                    </a:gs>
                    <a:gs pos="38000">
                      <a:srgbClr val="57499E"/>
                    </a:gs>
                  </a:gsLst>
                  <a:lin ang="0" scaled="0"/>
                </a:gradFill>
                <a:latin typeface="Adani Regular" panose="02000503000000020004"/>
              </a:rPr>
              <a:t>PSS – 11, 12, 10B, 9, 8B &amp; 5B</a:t>
            </a:r>
            <a:r>
              <a:rPr lang="en-US" sz="2400" b="1">
                <a:solidFill>
                  <a:srgbClr val="7030A0"/>
                </a:solidFill>
                <a:latin typeface="Adani Regular" panose="02000503000000020004"/>
                <a:ea typeface="+mn-ea"/>
                <a:cs typeface="+mn-cs"/>
              </a:rPr>
              <a:t> </a:t>
            </a:r>
            <a:r>
              <a:rPr lang="en-US" sz="2400" b="1" i="1">
                <a:gradFill>
                  <a:gsLst>
                    <a:gs pos="9735">
                      <a:schemeClr val="tx2"/>
                    </a:gs>
                    <a:gs pos="63000">
                      <a:srgbClr val="8E278F"/>
                    </a:gs>
                    <a:gs pos="38000">
                      <a:srgbClr val="57499E"/>
                    </a:gs>
                  </a:gsLst>
                  <a:lin ang="0" scaled="0"/>
                </a:gradFill>
                <a:latin typeface="Adani Regular" panose="02000503000000020004"/>
              </a:rPr>
              <a:t>[updated till 31 May 26] </a:t>
            </a:r>
            <a:endParaRPr lang="en-US" sz="2400" b="1">
              <a:solidFill>
                <a:srgbClr val="7030A0"/>
              </a:solidFill>
              <a:latin typeface="Adani Regular" panose="02000503000000020004"/>
              <a:ea typeface="+mn-ea"/>
              <a:cs typeface="+mn-cs"/>
            </a:endParaRPr>
          </a:p>
        </p:txBody>
      </p:sp>
      <p:graphicFrame>
        <p:nvGraphicFramePr>
          <p:cNvPr id="8" name="Table 7">
            <a:extLst>
              <a:ext uri="{FF2B5EF4-FFF2-40B4-BE49-F238E27FC236}">
                <a16:creationId xmlns:a16="http://schemas.microsoft.com/office/drawing/2014/main" id="{21932BDC-9387-46C9-65D3-664C417824A4}"/>
              </a:ext>
            </a:extLst>
          </p:cNvPr>
          <p:cNvGraphicFramePr>
            <a:graphicFrameLocks noGrp="1"/>
          </p:cNvGraphicFramePr>
          <p:nvPr>
            <p:extLst>
              <p:ext uri="{D42A27DB-BD31-4B8C-83A1-F6EECF244321}">
                <p14:modId xmlns:p14="http://schemas.microsoft.com/office/powerpoint/2010/main" val="2502331200"/>
              </p:ext>
            </p:extLst>
          </p:nvPr>
        </p:nvGraphicFramePr>
        <p:xfrm>
          <a:off x="177800" y="4195526"/>
          <a:ext cx="11800025" cy="1900471"/>
        </p:xfrm>
        <a:graphic>
          <a:graphicData uri="http://schemas.openxmlformats.org/drawingml/2006/table">
            <a:tbl>
              <a:tblPr/>
              <a:tblGrid>
                <a:gridCol w="1751754">
                  <a:extLst>
                    <a:ext uri="{9D8B030D-6E8A-4147-A177-3AD203B41FA5}">
                      <a16:colId xmlns:a16="http://schemas.microsoft.com/office/drawing/2014/main" val="1305421145"/>
                    </a:ext>
                  </a:extLst>
                </a:gridCol>
                <a:gridCol w="624837">
                  <a:extLst>
                    <a:ext uri="{9D8B030D-6E8A-4147-A177-3AD203B41FA5}">
                      <a16:colId xmlns:a16="http://schemas.microsoft.com/office/drawing/2014/main" val="3552762853"/>
                    </a:ext>
                  </a:extLst>
                </a:gridCol>
                <a:gridCol w="726743">
                  <a:extLst>
                    <a:ext uri="{9D8B030D-6E8A-4147-A177-3AD203B41FA5}">
                      <a16:colId xmlns:a16="http://schemas.microsoft.com/office/drawing/2014/main" val="2004234457"/>
                    </a:ext>
                  </a:extLst>
                </a:gridCol>
                <a:gridCol w="726743">
                  <a:extLst>
                    <a:ext uri="{9D8B030D-6E8A-4147-A177-3AD203B41FA5}">
                      <a16:colId xmlns:a16="http://schemas.microsoft.com/office/drawing/2014/main" val="1022481317"/>
                    </a:ext>
                  </a:extLst>
                </a:gridCol>
                <a:gridCol w="702518">
                  <a:extLst>
                    <a:ext uri="{9D8B030D-6E8A-4147-A177-3AD203B41FA5}">
                      <a16:colId xmlns:a16="http://schemas.microsoft.com/office/drawing/2014/main" val="1973524772"/>
                    </a:ext>
                  </a:extLst>
                </a:gridCol>
                <a:gridCol w="726743">
                  <a:extLst>
                    <a:ext uri="{9D8B030D-6E8A-4147-A177-3AD203B41FA5}">
                      <a16:colId xmlns:a16="http://schemas.microsoft.com/office/drawing/2014/main" val="1120892829"/>
                    </a:ext>
                  </a:extLst>
                </a:gridCol>
                <a:gridCol w="726743">
                  <a:extLst>
                    <a:ext uri="{9D8B030D-6E8A-4147-A177-3AD203B41FA5}">
                      <a16:colId xmlns:a16="http://schemas.microsoft.com/office/drawing/2014/main" val="1559335703"/>
                    </a:ext>
                  </a:extLst>
                </a:gridCol>
                <a:gridCol w="726743">
                  <a:extLst>
                    <a:ext uri="{9D8B030D-6E8A-4147-A177-3AD203B41FA5}">
                      <a16:colId xmlns:a16="http://schemas.microsoft.com/office/drawing/2014/main" val="980414030"/>
                    </a:ext>
                  </a:extLst>
                </a:gridCol>
                <a:gridCol w="726743">
                  <a:extLst>
                    <a:ext uri="{9D8B030D-6E8A-4147-A177-3AD203B41FA5}">
                      <a16:colId xmlns:a16="http://schemas.microsoft.com/office/drawing/2014/main" val="2787771928"/>
                    </a:ext>
                  </a:extLst>
                </a:gridCol>
                <a:gridCol w="726743">
                  <a:extLst>
                    <a:ext uri="{9D8B030D-6E8A-4147-A177-3AD203B41FA5}">
                      <a16:colId xmlns:a16="http://schemas.microsoft.com/office/drawing/2014/main" val="1225673837"/>
                    </a:ext>
                  </a:extLst>
                </a:gridCol>
                <a:gridCol w="726743">
                  <a:extLst>
                    <a:ext uri="{9D8B030D-6E8A-4147-A177-3AD203B41FA5}">
                      <a16:colId xmlns:a16="http://schemas.microsoft.com/office/drawing/2014/main" val="287390473"/>
                    </a:ext>
                  </a:extLst>
                </a:gridCol>
                <a:gridCol w="726743">
                  <a:extLst>
                    <a:ext uri="{9D8B030D-6E8A-4147-A177-3AD203B41FA5}">
                      <a16:colId xmlns:a16="http://schemas.microsoft.com/office/drawing/2014/main" val="2460313470"/>
                    </a:ext>
                  </a:extLst>
                </a:gridCol>
                <a:gridCol w="726743">
                  <a:extLst>
                    <a:ext uri="{9D8B030D-6E8A-4147-A177-3AD203B41FA5}">
                      <a16:colId xmlns:a16="http://schemas.microsoft.com/office/drawing/2014/main" val="3431579605"/>
                    </a:ext>
                  </a:extLst>
                </a:gridCol>
                <a:gridCol w="726743">
                  <a:extLst>
                    <a:ext uri="{9D8B030D-6E8A-4147-A177-3AD203B41FA5}">
                      <a16:colId xmlns:a16="http://schemas.microsoft.com/office/drawing/2014/main" val="3002055702"/>
                    </a:ext>
                  </a:extLst>
                </a:gridCol>
                <a:gridCol w="726743">
                  <a:extLst>
                    <a:ext uri="{9D8B030D-6E8A-4147-A177-3AD203B41FA5}">
                      <a16:colId xmlns:a16="http://schemas.microsoft.com/office/drawing/2014/main" val="16209082"/>
                    </a:ext>
                  </a:extLst>
                </a:gridCol>
              </a:tblGrid>
              <a:tr h="331334">
                <a:tc>
                  <a:txBody>
                    <a:bodyPr/>
                    <a:lstStyle/>
                    <a:p>
                      <a:pPr algn="ctr" fontAlgn="b">
                        <a:buNone/>
                      </a:pPr>
                      <a:r>
                        <a:rPr lang="en-US" sz="1200" b="1" i="0" u="none" strike="noStrike">
                          <a:solidFill>
                            <a:schemeClr val="bg1"/>
                          </a:solidFill>
                          <a:effectLst/>
                          <a:latin typeface="Adani Regular" panose="02000503000000020004" pitchFamily="2"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FY-26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Apr-26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May-26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Jun-26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Jul-26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Aug-26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Sep-26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Oct-26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Nov-26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Dec-26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Jan-27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Feb-27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Mar-27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buNone/>
                      </a:pPr>
                      <a:r>
                        <a:rPr lang="en-US" sz="1200" b="1" i="0" u="none" strike="noStrike">
                          <a:solidFill>
                            <a:srgbClr val="FFFFFF"/>
                          </a:solidFill>
                          <a:effectLst/>
                          <a:latin typeface="Adani Regular" panose="02000503000000020004" pitchFamily="2" charset="0"/>
                        </a:rPr>
                        <a:t>Apr-27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2332656804"/>
                  </a:ext>
                </a:extLst>
              </a:tr>
              <a:tr h="331334">
                <a:tc>
                  <a:txBody>
                    <a:bodyPr/>
                    <a:lstStyle/>
                    <a:p>
                      <a:pPr algn="ctr" fontAlgn="b">
                        <a:buNone/>
                      </a:pPr>
                      <a:r>
                        <a:rPr lang="en-US" sz="1000" b="1" i="0" u="none" strike="noStrike">
                          <a:solidFill>
                            <a:srgbClr val="000000"/>
                          </a:solidFill>
                          <a:effectLst/>
                          <a:latin typeface="Adani Regular" panose="02000503000000020004" pitchFamily="2" charset="0"/>
                        </a:rPr>
                        <a:t>Budgeted- cumulative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1625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2770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4474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5338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6080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7036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8780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11296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13404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14773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16132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16347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16358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2861219"/>
                  </a:ext>
                </a:extLst>
              </a:tr>
              <a:tr h="412601">
                <a:tc>
                  <a:txBody>
                    <a:bodyPr/>
                    <a:lstStyle/>
                    <a:p>
                      <a:pPr algn="ctr" fontAlgn="b">
                        <a:buNone/>
                      </a:pPr>
                      <a:r>
                        <a:rPr lang="en-US" sz="1000" b="1" i="0" u="none" strike="noStrike">
                          <a:solidFill>
                            <a:srgbClr val="000000"/>
                          </a:solidFill>
                          <a:effectLst/>
                          <a:latin typeface="Adani Regular" panose="02000503000000020004" pitchFamily="2" charset="0"/>
                        </a:rPr>
                        <a:t>Monthly Budgeted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 -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485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660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 1,705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863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743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956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1,743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2,516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2,108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1,369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1,359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215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a:rPr>
                        <a:t>11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763709"/>
                  </a:ext>
                </a:extLst>
              </a:tr>
              <a:tr h="412601">
                <a:tc>
                  <a:txBody>
                    <a:bodyPr/>
                    <a:lstStyle/>
                    <a:p>
                      <a:pPr algn="ctr" fontAlgn="b">
                        <a:buNone/>
                      </a:pPr>
                      <a:r>
                        <a:rPr lang="en-US" sz="1000" b="1" i="0" u="none" strike="noStrike">
                          <a:solidFill>
                            <a:srgbClr val="000000"/>
                          </a:solidFill>
                          <a:effectLst/>
                          <a:latin typeface="Adani Regular" panose="02000503000000020004" pitchFamily="2" charset="0"/>
                        </a:rPr>
                        <a:t>Actual Cumulative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284.91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538.73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756.5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436248"/>
                  </a:ext>
                </a:extLst>
              </a:tr>
              <a:tr h="412601">
                <a:tc>
                  <a:txBody>
                    <a:bodyPr/>
                    <a:lstStyle/>
                    <a:p>
                      <a:pPr algn="ctr" fontAlgn="b">
                        <a:buNone/>
                      </a:pPr>
                      <a:r>
                        <a:rPr lang="en-US" sz="1000" b="1" i="0" u="none" strike="noStrike">
                          <a:solidFill>
                            <a:srgbClr val="000000"/>
                          </a:solidFill>
                          <a:effectLst/>
                          <a:latin typeface="Adani Regular" panose="02000503000000020004" pitchFamily="2" charset="0"/>
                        </a:rPr>
                        <a:t>Monthly Actual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253.82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dani Regular" panose="02000503000000020004" pitchFamily="2" charset="0"/>
                        </a:rPr>
                        <a:t>217.77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0" b="0" i="0" u="none" strike="noStrike">
                        <a:solidFill>
                          <a:srgbClr val="000000"/>
                        </a:solidFill>
                        <a:effectLst/>
                        <a:latin typeface="Adani Regular"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1619399"/>
                  </a:ext>
                </a:extLst>
              </a:tr>
            </a:tbl>
          </a:graphicData>
        </a:graphic>
      </p:graphicFrame>
      <p:sp>
        <p:nvSpPr>
          <p:cNvPr id="2" name="Slide Number Placeholder 2">
            <a:extLst>
              <a:ext uri="{FF2B5EF4-FFF2-40B4-BE49-F238E27FC236}">
                <a16:creationId xmlns:a16="http://schemas.microsoft.com/office/drawing/2014/main" id="{4E5D1B7D-78EA-4F16-159C-EB7968474DF2}"/>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38</a:t>
            </a:fld>
            <a:endParaRPr lang="en-IN"/>
          </a:p>
        </p:txBody>
      </p:sp>
      <p:graphicFrame>
        <p:nvGraphicFramePr>
          <p:cNvPr id="6" name="Chart 5">
            <a:extLst>
              <a:ext uri="{FF2B5EF4-FFF2-40B4-BE49-F238E27FC236}">
                <a16:creationId xmlns:a16="http://schemas.microsoft.com/office/drawing/2014/main" id="{BF0C13F8-DE95-3E2D-87E2-5886456614E2}"/>
              </a:ext>
            </a:extLst>
          </p:cNvPr>
          <p:cNvGraphicFramePr>
            <a:graphicFrameLocks/>
          </p:cNvGraphicFramePr>
          <p:nvPr>
            <p:extLst>
              <p:ext uri="{D42A27DB-BD31-4B8C-83A1-F6EECF244321}">
                <p14:modId xmlns:p14="http://schemas.microsoft.com/office/powerpoint/2010/main" val="2776408179"/>
              </p:ext>
            </p:extLst>
          </p:nvPr>
        </p:nvGraphicFramePr>
        <p:xfrm>
          <a:off x="177801" y="762003"/>
          <a:ext cx="11800024" cy="330337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31151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CDE71-EAD3-5847-F8D2-AA1D415119C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DFA5F84-4CB4-1A44-33C8-3AE62028C7F1}"/>
              </a:ext>
            </a:extLst>
          </p:cNvPr>
          <p:cNvSpPr txBox="1"/>
          <p:nvPr/>
        </p:nvSpPr>
        <p:spPr>
          <a:xfrm>
            <a:off x="1019335" y="2889281"/>
            <a:ext cx="10153330" cy="584775"/>
          </a:xfrm>
          <a:prstGeom prst="rect">
            <a:avLst/>
          </a:prstGeom>
          <a:noFill/>
        </p:spPr>
        <p:txBody>
          <a:bodyPr wrap="square" rtlCol="0">
            <a:spAutoFit/>
          </a:bodyPr>
          <a:lstStyle/>
          <a:p>
            <a:pPr algn="ctr"/>
            <a:r>
              <a:rPr lang="en-US" sz="3200">
                <a:latin typeface="Adani Medium" pitchFamily="2" charset="0"/>
              </a:rPr>
              <a:t>Thank You</a:t>
            </a:r>
          </a:p>
        </p:txBody>
      </p:sp>
      <p:pic>
        <p:nvPicPr>
          <p:cNvPr id="4" name="Picture 3">
            <a:extLst>
              <a:ext uri="{FF2B5EF4-FFF2-40B4-BE49-F238E27FC236}">
                <a16:creationId xmlns:a16="http://schemas.microsoft.com/office/drawing/2014/main" id="{16C26BEB-257A-5977-C7F3-ABF142009C91}"/>
              </a:ext>
            </a:extLst>
          </p:cNvPr>
          <p:cNvPicPr>
            <a:picLocks noChangeAspect="1"/>
          </p:cNvPicPr>
          <p:nvPr/>
        </p:nvPicPr>
        <p:blipFill>
          <a:blip r:embed="rId3"/>
          <a:stretch>
            <a:fillRect/>
          </a:stretch>
        </p:blipFill>
        <p:spPr>
          <a:xfrm>
            <a:off x="-1" y="3413760"/>
            <a:ext cx="12192001" cy="3444240"/>
          </a:xfrm>
          <a:prstGeom prst="rect">
            <a:avLst/>
          </a:prstGeom>
        </p:spPr>
      </p:pic>
      <p:pic>
        <p:nvPicPr>
          <p:cNvPr id="1026" name="Picture 2" descr="C:\Users\30005286\Desktop\Adani with GWG-01.png">
            <a:extLst>
              <a:ext uri="{FF2B5EF4-FFF2-40B4-BE49-F238E27FC236}">
                <a16:creationId xmlns:a16="http://schemas.microsoft.com/office/drawing/2014/main" id="{3C4D7AEB-5AC3-6E33-C49A-817A3BE8653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56049" y="308397"/>
            <a:ext cx="5380567" cy="1634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79687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A8BA3-0E8D-FE74-F83F-7D337F5E6C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C33C6A-ED4C-DA95-48AD-33D5A4283FD7}"/>
              </a:ext>
            </a:extLst>
          </p:cNvPr>
          <p:cNvSpPr>
            <a:spLocks noGrp="1"/>
          </p:cNvSpPr>
          <p:nvPr>
            <p:ph type="title"/>
          </p:nvPr>
        </p:nvSpPr>
        <p:spPr>
          <a:xfrm>
            <a:off x="0" y="4080641"/>
            <a:ext cx="12192000" cy="1342696"/>
          </a:xfrm>
        </p:spPr>
        <p:txBody>
          <a:bodyPr>
            <a:normAutofit/>
          </a:bodyPr>
          <a:lstStyle/>
          <a:p>
            <a:pPr algn="ctr"/>
            <a:r>
              <a:rPr lang="en-IN" sz="3700">
                <a:latin typeface="Adani Regular"/>
              </a:rPr>
              <a:t>Ordering Status </a:t>
            </a:r>
            <a:br>
              <a:rPr lang="en-IN" sz="3700">
                <a:latin typeface="Adani Regular"/>
              </a:rPr>
            </a:br>
            <a:r>
              <a:rPr lang="en-IN" sz="3700">
                <a:latin typeface="Adani Regular"/>
              </a:rPr>
              <a:t>PSS-11, 12 &amp; 10(B)</a:t>
            </a:r>
            <a:endParaRPr lang="en-IN">
              <a:latin typeface="Adani Regular"/>
            </a:endParaRPr>
          </a:p>
        </p:txBody>
      </p:sp>
      <p:sp>
        <p:nvSpPr>
          <p:cNvPr id="2" name="Slide Number Placeholder 1">
            <a:extLst>
              <a:ext uri="{FF2B5EF4-FFF2-40B4-BE49-F238E27FC236}">
                <a16:creationId xmlns:a16="http://schemas.microsoft.com/office/drawing/2014/main" id="{33470492-EE6B-DB1E-B668-DCEBEBA7BC49}"/>
              </a:ext>
            </a:extLst>
          </p:cNvPr>
          <p:cNvSpPr txBox="1">
            <a:spLocks/>
          </p:cNvSpPr>
          <p:nvPr/>
        </p:nvSpPr>
        <p:spPr>
          <a:xfrm>
            <a:off x="9448800" y="654429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8B285C1-D8A8-4E98-B28C-1FD972D8EC54}" type="slidenum">
              <a:rPr lang="en-IN" smtClean="0"/>
              <a:pPr/>
              <a:t>40</a:t>
            </a:fld>
            <a:endParaRPr lang="en-IN"/>
          </a:p>
        </p:txBody>
      </p:sp>
    </p:spTree>
    <p:extLst>
      <p:ext uri="{BB962C8B-B14F-4D97-AF65-F5344CB8AC3E}">
        <p14:creationId xmlns:p14="http://schemas.microsoft.com/office/powerpoint/2010/main" val="39917515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D4D55-7E14-E364-2D3B-5AAEA251437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6098618-672F-FEFF-DE0E-DC10B5323963}"/>
              </a:ext>
            </a:extLst>
          </p:cNvPr>
          <p:cNvGraphicFramePr>
            <a:graphicFrameLocks noGrp="1"/>
          </p:cNvGraphicFramePr>
          <p:nvPr/>
        </p:nvGraphicFramePr>
        <p:xfrm>
          <a:off x="120620" y="641997"/>
          <a:ext cx="11950760" cy="5593913"/>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823921">
                  <a:extLst>
                    <a:ext uri="{9D8B030D-6E8A-4147-A177-3AD203B41FA5}">
                      <a16:colId xmlns:a16="http://schemas.microsoft.com/office/drawing/2014/main" val="1705681307"/>
                    </a:ext>
                  </a:extLst>
                </a:gridCol>
                <a:gridCol w="1619999">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5">
                  <a:extLst>
                    <a:ext uri="{9D8B030D-6E8A-4147-A177-3AD203B41FA5}">
                      <a16:colId xmlns:a16="http://schemas.microsoft.com/office/drawing/2014/main" val="773725385"/>
                    </a:ext>
                  </a:extLst>
                </a:gridCol>
              </a:tblGrid>
              <a:tr h="516217">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197509">
                <a:tc>
                  <a:txBody>
                    <a:bodyPr/>
                    <a:lstStyle/>
                    <a:p>
                      <a:pPr algn="ctr" fontAlgn="ctr"/>
                      <a:r>
                        <a:rPr lang="en-US" sz="1100" b="1" i="0" u="none" strike="noStrike">
                          <a:solidFill>
                            <a:srgbClr val="00B050"/>
                          </a:solidFill>
                          <a:effectLst/>
                          <a:latin typeface="Adani Regular" panose="02000503000000020004" pitchFamily="2"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fontAlgn="ctr"/>
                      <a:r>
                        <a:rPr lang="en-US" sz="1100" b="1" i="0" u="none" strike="noStrike">
                          <a:solidFill>
                            <a:srgbClr val="00B050"/>
                          </a:solidFill>
                          <a:effectLst/>
                          <a:latin typeface="Adani Regular" panose="02000503000000020004" pitchFamily="2" charset="0"/>
                        </a:rPr>
                        <a:t>Battery Container Package</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432 NOS</a:t>
                      </a:r>
                    </a:p>
                    <a:p>
                      <a:pPr algn="ctr" fontAlgn="ctr"/>
                      <a:r>
                        <a:rPr lang="en-US" sz="1100" b="1" i="0" u="none" strike="noStrike">
                          <a:solidFill>
                            <a:srgbClr val="00B050"/>
                          </a:solidFill>
                          <a:effectLst/>
                          <a:latin typeface="Adani Regular" panose="02000503000000020004" pitchFamily="2" charset="0"/>
                        </a:rPr>
                        <a:t>384 NOS</a:t>
                      </a:r>
                    </a:p>
                    <a:p>
                      <a:pPr algn="ctr" fontAlgn="ctr"/>
                      <a:r>
                        <a:rPr lang="en-US" sz="1100" b="1" i="0" u="none" strike="noStrike">
                          <a:solidFill>
                            <a:srgbClr val="00B050"/>
                          </a:solidFill>
                          <a:effectLst/>
                          <a:latin typeface="Adani Regular" panose="02000503000000020004" pitchFamily="2" charset="0"/>
                        </a:rPr>
                        <a:t>240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30-Oct-25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22 Nov 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a:rPr>
                        <a:t> Offers from Svolt, Jinko, Greatpower, Sunwoda, REPT, Narada</a:t>
                      </a:r>
                    </a:p>
                    <a:p>
                      <a:pPr algn="ctr" fontAlgn="ctr"/>
                      <a:r>
                        <a:rPr lang="en-US" sz="1100" b="1" i="0" u="none" strike="noStrike">
                          <a:solidFill>
                            <a:srgbClr val="00B050"/>
                          </a:solidFill>
                          <a:effectLst/>
                          <a:latin typeface="Adani Regular"/>
                        </a:rPr>
                        <a:t>Starcharge, Hyperstrong, Cospower</a:t>
                      </a:r>
                    </a:p>
                    <a:p>
                      <a:pPr algn="ctr" fontAlgn="ctr"/>
                      <a:r>
                        <a:rPr lang="en-US" sz="1100" b="1" i="0" u="none" strike="noStrike">
                          <a:solidFill>
                            <a:srgbClr val="00B050"/>
                          </a:solidFill>
                          <a:effectLst/>
                          <a:latin typeface="Adani Regular"/>
                        </a:rPr>
                        <a:t>Hithium, CATL</a:t>
                      </a:r>
                    </a:p>
                    <a:p>
                      <a:pPr algn="ctr" fontAlgn="ctr"/>
                      <a:r>
                        <a:rPr lang="en-US" sz="1100" b="1" i="0" u="none" strike="noStrike">
                          <a:solidFill>
                            <a:srgbClr val="00B050"/>
                          </a:solidFill>
                          <a:effectLst/>
                          <a:latin typeface="Adani Regular" panose="02000503000000020004" pitchFamily="2" charset="0"/>
                        </a:rPr>
                        <a:t>Lishen, Saft, BYD</a:t>
                      </a:r>
                      <a:endPar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11-Nov-25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CATL for PSS-11 &amp; PSS-12 on 16-Dec-25</a:t>
                      </a:r>
                    </a:p>
                    <a:p>
                      <a:pPr marL="85725" marR="0" lvl="0" indent="0" algn="l"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Jinko for PSS-10(B) on 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686540">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PCS (Power Conversion System)</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432 NOS</a:t>
                      </a:r>
                    </a:p>
                    <a:p>
                      <a:pPr algn="ctr" fontAlgn="ctr"/>
                      <a:r>
                        <a:rPr lang="en-US" sz="1100" b="1" i="0" u="none" strike="noStrike">
                          <a:solidFill>
                            <a:srgbClr val="00B050"/>
                          </a:solidFill>
                          <a:effectLst/>
                          <a:latin typeface="Adani Regular" panose="02000503000000020004" pitchFamily="2" charset="0"/>
                        </a:rPr>
                        <a:t>384 NOS</a:t>
                      </a:r>
                    </a:p>
                    <a:p>
                      <a:pPr algn="ctr" fontAlgn="ctr"/>
                      <a:r>
                        <a:rPr lang="en-US" sz="1100" b="1" i="0" u="none" strike="noStrike">
                          <a:solidFill>
                            <a:srgbClr val="00B050"/>
                          </a:solidFill>
                          <a:effectLst/>
                          <a:latin typeface="Adani Regular" panose="02000503000000020004" pitchFamily="2" charset="0"/>
                        </a:rPr>
                        <a:t>240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04-Nov 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18-Nov-25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strike="noStrike">
                          <a:solidFill>
                            <a:srgbClr val="00B050"/>
                          </a:solidFill>
                          <a:effectLst/>
                          <a:latin typeface="Adani Regular"/>
                          <a:ea typeface="Aptos" panose="020B0004020202020204" pitchFamily="34" charset="0"/>
                          <a:cs typeface="Aptos" panose="020B0004020202020204" pitchFamily="34" charset="0"/>
                        </a:rPr>
                        <a:t>Offers from </a:t>
                      </a:r>
                      <a:r>
                        <a:rPr lang="en-US" sz="1100" b="1" i="0" u="none" strike="noStrike" err="1">
                          <a:solidFill>
                            <a:srgbClr val="00B050"/>
                          </a:solidFill>
                          <a:effectLst/>
                          <a:latin typeface="Adani Regular"/>
                        </a:rPr>
                        <a:t>Sineng</a:t>
                      </a:r>
                      <a:endParaRPr lang="en-US" sz="1100" b="1" i="0" u="none" strike="noStrike">
                        <a:solidFill>
                          <a:srgbClr val="00B050"/>
                        </a:solidFill>
                        <a:effectLst/>
                        <a:latin typeface="Adani Regular"/>
                      </a:endParaRPr>
                    </a:p>
                    <a:p>
                      <a:pPr algn="ctr" fontAlgn="ctr"/>
                      <a:r>
                        <a:rPr lang="en-US" sz="1100" b="1" i="0" u="none" strike="noStrike">
                          <a:solidFill>
                            <a:srgbClr val="00B050"/>
                          </a:solidFill>
                          <a:effectLst/>
                          <a:latin typeface="Adani Regular"/>
                        </a:rPr>
                        <a:t>Hopewind, NR Electric</a:t>
                      </a:r>
                    </a:p>
                    <a:p>
                      <a:pPr algn="ctr" fontAlgn="ctr"/>
                      <a:r>
                        <a:rPr lang="en-US" sz="1100" b="1" i="0" u="none" strike="noStrike">
                          <a:solidFill>
                            <a:srgbClr val="00B050"/>
                          </a:solidFill>
                          <a:effectLst/>
                          <a:latin typeface="Adani Regular"/>
                        </a:rPr>
                        <a:t>Inovance, Soaring</a:t>
                      </a:r>
                    </a:p>
                    <a:p>
                      <a:pPr algn="ctr" fontAlgn="ctr"/>
                      <a:r>
                        <a:rPr lang="en-US" sz="1100" b="1" i="0" u="none" strike="noStrike">
                          <a:solidFill>
                            <a:srgbClr val="00B050"/>
                          </a:solidFill>
                          <a:effectLst/>
                          <a:latin typeface="Adani Regular"/>
                        </a:rPr>
                        <a:t>Sifang, </a:t>
                      </a:r>
                      <a:r>
                        <a:rPr lang="en-US" sz="1100" b="1" i="0" u="none" strike="noStrike" err="1">
                          <a:solidFill>
                            <a:srgbClr val="00B050"/>
                          </a:solidFill>
                          <a:effectLst/>
                          <a:latin typeface="Adani Regular"/>
                        </a:rPr>
                        <a:t>Hoymiles</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14-Nov-25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06-Dec-25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Hopewind for PSS-11 on 15-Dec.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INOVA for PSS-12 &amp; PSS-10(B) on 13-Dec-25</a:t>
                      </a:r>
                      <a:endParaRPr lang="en-US" sz="1100" b="1">
                        <a:solidFill>
                          <a:srgbClr val="00B050"/>
                        </a:solidFill>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686540">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EMS (Energy Management System)</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01-Nov-25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02-Dec-25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ES" sz="1100" b="1" i="0" u="none" strike="noStrike">
                          <a:solidFill>
                            <a:srgbClr val="00B050"/>
                          </a:solidFill>
                          <a:effectLst/>
                          <a:latin typeface="Adani Regular"/>
                        </a:rPr>
                        <a:t>Adaptive, Emerson, </a:t>
                      </a:r>
                      <a:r>
                        <a:rPr lang="es-ES" sz="1100" b="1" i="0" u="none" strike="noStrike" err="1">
                          <a:solidFill>
                            <a:srgbClr val="00B050"/>
                          </a:solidFill>
                          <a:effectLst/>
                          <a:latin typeface="Adani Regular"/>
                        </a:rPr>
                        <a:t>Schenider</a:t>
                      </a:r>
                      <a:r>
                        <a:rPr lang="es-ES" sz="1100" b="1" i="0" u="none" strike="noStrike">
                          <a:solidFill>
                            <a:srgbClr val="00B050"/>
                          </a:solidFill>
                          <a:effectLst/>
                          <a:latin typeface="Adani Regular"/>
                        </a:rPr>
                        <a:t>, Honeywell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10-Nov-25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Emerson on 15-Dec.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Honeywell on 17-Dec.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Adaptive on 17-Dec</a:t>
                      </a:r>
                      <a:endParaRPr lang="en-US" sz="1100" b="1">
                        <a:solidFill>
                          <a:srgbClr val="00B050"/>
                        </a:solidFill>
                        <a:highlight>
                          <a:srgbClr val="FFFF00"/>
                        </a:highlight>
                        <a:latin typeface="Adani Regular" panose="02000503000000020004" pitchFamily="2" charset="0"/>
                      </a:endParaRPr>
                    </a:p>
                    <a:p>
                      <a:pPr marL="95250" marR="0" lvl="0" indent="0" algn="l" defTabSz="1219170" rtl="0" eaLnBrk="1" fontAlgn="ctr" latinLnBrk="0" hangingPunct="1">
                        <a:lnSpc>
                          <a:spcPct val="100000"/>
                        </a:lnSpc>
                        <a:spcBef>
                          <a:spcPts val="0"/>
                        </a:spcBef>
                        <a:spcAft>
                          <a:spcPts val="0"/>
                        </a:spcAft>
                        <a:buClrTx/>
                        <a:buSzTx/>
                        <a:buFontTx/>
                        <a:buNone/>
                        <a:tabLst/>
                        <a:defRPr/>
                      </a:pPr>
                      <a:endParaRPr lang="en-US" sz="1100" b="1">
                        <a:solidFill>
                          <a:srgbClr val="00B050"/>
                        </a:solidFill>
                        <a:highlight>
                          <a:srgbClr val="FFFF00"/>
                        </a:highligh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516217">
                <a:tc>
                  <a:txBody>
                    <a:bodyPr/>
                    <a:lstStyle/>
                    <a:p>
                      <a:pPr algn="ctr" fontAlgn="ctr"/>
                      <a:r>
                        <a:rPr lang="en-US" sz="1100" b="1" i="0" u="none" strike="noStrike">
                          <a:solidFill>
                            <a:srgbClr val="00B050"/>
                          </a:solidFill>
                          <a:effectLst/>
                          <a:latin typeface="Adani Regular" panose="02000503000000020004" pitchFamily="2" charset="0"/>
                        </a:rPr>
                        <a:t>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Converter Transformer</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54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48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30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sv-SE" sz="1100" b="1" i="0" u="none" strike="noStrike">
                          <a:solidFill>
                            <a:srgbClr val="00B050"/>
                          </a:solidFill>
                          <a:effectLst/>
                          <a:latin typeface="Adani Regular"/>
                        </a:rPr>
                        <a:t>Ornet, Silchar, Atlanta,Tesla, SSE</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06-Dec-25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17-Dec-25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Ornet on 17-Dec.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Tesla on 17-Dec.</a:t>
                      </a:r>
                    </a:p>
                    <a:p>
                      <a:pPr marL="95250"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Ornet on 17-Dec.</a:t>
                      </a:r>
                      <a:endParaRPr lang="en-US" sz="1100" b="1">
                        <a:solidFill>
                          <a:srgbClr val="00B050"/>
                        </a:solidFill>
                        <a:highlight>
                          <a:srgbClr val="FFFF00"/>
                        </a:highligh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r h="686540">
                <a:tc>
                  <a:txBody>
                    <a:bodyPr/>
                    <a:lstStyle/>
                    <a:p>
                      <a:pPr algn="ctr" fontAlgn="ctr"/>
                      <a:r>
                        <a:rPr lang="en-US" sz="1100" b="1" i="0" u="none" strike="noStrike">
                          <a:solidFill>
                            <a:srgbClr val="00B050"/>
                          </a:solidFill>
                          <a:effectLst/>
                          <a:latin typeface="Adani Regular" panose="02000503000000020004" pitchFamily="2" charset="0"/>
                        </a:rPr>
                        <a:t>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CSS (Auxiliary Transformer)</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9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5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ABB, Siemens, Schneider, Akshar, Trisquare, Voltamp, Sudhir, Rhine</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07-Jan-26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16-Jan-26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released to M/s Akshar on 16-Jan-26.</a:t>
                      </a:r>
                      <a:endParaRPr lang="en-US" sz="1100" b="1">
                        <a:solidFill>
                          <a:srgbClr val="00B050"/>
                        </a:solidFill>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976789"/>
                  </a:ext>
                </a:extLst>
              </a:tr>
              <a:tr h="617810">
                <a:tc>
                  <a:txBody>
                    <a:bodyPr/>
                    <a:lstStyle/>
                    <a:p>
                      <a:pPr algn="ctr" fontAlgn="ctr"/>
                      <a:r>
                        <a:rPr lang="en-US" sz="1100" b="1" i="0" u="none" strike="noStrike">
                          <a:solidFill>
                            <a:srgbClr val="00B050"/>
                          </a:solidFill>
                          <a:effectLst/>
                          <a:latin typeface="Adani Regular" panose="02000503000000020004" pitchFamily="2" charset="0"/>
                        </a:rPr>
                        <a:t>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MV Switchgear</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16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10 NOS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RFP: </a:t>
                      </a:r>
                      <a:r>
                        <a:rPr lang="en-US" sz="1100" b="1" i="0" u="none" strike="noStrike">
                          <a:solidFill>
                            <a:srgbClr val="00B050"/>
                          </a:solidFill>
                          <a:effectLst/>
                          <a:latin typeface="Adani Regular"/>
                        </a:rPr>
                        <a:t>Trisquare, Symatic, Popular, Technocraft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a:rPr>
                        <a:t>Previous approved specs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30-Dec-25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Trisquare on 30-Dec.</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686540">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LT Panel - ACDB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54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48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30 NOS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RFP: </a:t>
                      </a:r>
                      <a:r>
                        <a:rPr lang="en-US" sz="1100" b="1" i="0" u="none" strike="noStrike">
                          <a:solidFill>
                            <a:srgbClr val="00B050"/>
                          </a:solidFill>
                          <a:effectLst/>
                          <a:latin typeface="Adani Regular"/>
                        </a:rPr>
                        <a:t>Akshar, Active, ECS, Swati, Prima, Trisquare, C&amp;S, Narkhede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Received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31-Dec-25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Prima Automation on 31-Dec-25 for PSS-11.</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Active Engineers on 31-Dec-25 for PSS-12 &amp; PSS-10(B).</a:t>
                      </a:r>
                      <a:endParaRPr lang="en-US" sz="1100" b="1">
                        <a:solidFill>
                          <a:srgbClr val="00B050"/>
                        </a:solidFill>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57901352"/>
                  </a:ext>
                </a:extLst>
              </a:tr>
            </a:tbl>
          </a:graphicData>
        </a:graphic>
      </p:graphicFrame>
      <p:sp>
        <p:nvSpPr>
          <p:cNvPr id="3" name="Slide Number Placeholder 1">
            <a:extLst>
              <a:ext uri="{FF2B5EF4-FFF2-40B4-BE49-F238E27FC236}">
                <a16:creationId xmlns:a16="http://schemas.microsoft.com/office/drawing/2014/main" id="{7643CC77-21C1-3EAD-8032-5219F969D964}"/>
              </a:ext>
            </a:extLst>
          </p:cNvPr>
          <p:cNvSpPr>
            <a:spLocks noGrp="1"/>
          </p:cNvSpPr>
          <p:nvPr>
            <p:ph type="sldNum" sz="quarter" idx="12"/>
          </p:nvPr>
        </p:nvSpPr>
        <p:spPr>
          <a:xfrm>
            <a:off x="11553370" y="6544298"/>
            <a:ext cx="638629" cy="365125"/>
          </a:xfrm>
        </p:spPr>
        <p:txBody>
          <a:bodyPr/>
          <a:lstStyle/>
          <a:p>
            <a:fld id="{98B285C1-D8A8-4E98-B28C-1FD972D8EC54}" type="slidenum">
              <a:rPr lang="en-IN" smtClean="0"/>
              <a:t>41</a:t>
            </a:fld>
            <a:endParaRPr lang="en-IN"/>
          </a:p>
        </p:txBody>
      </p:sp>
      <p:sp>
        <p:nvSpPr>
          <p:cNvPr id="5" name="Rectangle 2">
            <a:extLst>
              <a:ext uri="{FF2B5EF4-FFF2-40B4-BE49-F238E27FC236}">
                <a16:creationId xmlns:a16="http://schemas.microsoft.com/office/drawing/2014/main" id="{27CFA11C-93DF-A292-B7FE-6DDCED9C7B8B}"/>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Supply ordering Status (</a:t>
            </a:r>
            <a:r>
              <a:rPr lang="en-IN" sz="2400" b="1">
                <a:solidFill>
                  <a:srgbClr val="912A82"/>
                </a:solidFill>
              </a:rPr>
              <a:t>PSS-11, 12 &amp; 10(B))</a:t>
            </a:r>
            <a:r>
              <a:rPr lang="en-IN" sz="2400" b="1">
                <a:solidFill>
                  <a:srgbClr val="00B050"/>
                </a:solidFill>
              </a:rPr>
              <a:t> - Completed </a:t>
            </a:r>
            <a:endParaRPr lang="en-US" sz="2400" b="1">
              <a:solidFill>
                <a:srgbClr val="00B050"/>
              </a:solidFill>
            </a:endParaRPr>
          </a:p>
        </p:txBody>
      </p:sp>
    </p:spTree>
    <p:extLst>
      <p:ext uri="{BB962C8B-B14F-4D97-AF65-F5344CB8AC3E}">
        <p14:creationId xmlns:p14="http://schemas.microsoft.com/office/powerpoint/2010/main" val="3277742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C0ECC-39B9-F5DF-0F17-90C536A39C8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F4A8772-B8FF-6803-59B5-81D5DBD5D7FF}"/>
              </a:ext>
            </a:extLst>
          </p:cNvPr>
          <p:cNvGraphicFramePr>
            <a:graphicFrameLocks noGrp="1"/>
          </p:cNvGraphicFramePr>
          <p:nvPr/>
        </p:nvGraphicFramePr>
        <p:xfrm>
          <a:off x="66695" y="641998"/>
          <a:ext cx="12058610" cy="5518960"/>
        </p:xfrm>
        <a:graphic>
          <a:graphicData uri="http://schemas.openxmlformats.org/drawingml/2006/table">
            <a:tbl>
              <a:tblPr/>
              <a:tblGrid>
                <a:gridCol w="402992">
                  <a:extLst>
                    <a:ext uri="{9D8B030D-6E8A-4147-A177-3AD203B41FA5}">
                      <a16:colId xmlns:a16="http://schemas.microsoft.com/office/drawing/2014/main" val="2829026117"/>
                    </a:ext>
                  </a:extLst>
                </a:gridCol>
                <a:gridCol w="1271371">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851534">
                  <a:extLst>
                    <a:ext uri="{9D8B030D-6E8A-4147-A177-3AD203B41FA5}">
                      <a16:colId xmlns:a16="http://schemas.microsoft.com/office/drawing/2014/main" val="3499724676"/>
                    </a:ext>
                  </a:extLst>
                </a:gridCol>
                <a:gridCol w="816390">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523618">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041913">
                <a:tc>
                  <a:txBody>
                    <a:bodyPr/>
                    <a:lstStyle/>
                    <a:p>
                      <a:pPr algn="ctr" fontAlgn="ctr"/>
                      <a:r>
                        <a:rPr lang="en-US" sz="1100" b="1" i="0" u="none" strike="noStrike">
                          <a:solidFill>
                            <a:srgbClr val="00B050"/>
                          </a:solidFill>
                          <a:effectLst/>
                          <a:latin typeface="Adani Regular" panose="02000503000000020004" pitchFamily="2" charset="0"/>
                        </a:rPr>
                        <a:t>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HT Cable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73.5 km</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62 km</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62 Km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Havells, Paramount, V Marc, DICAB, UCL, Polycab,TCL</a:t>
                      </a: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Diamond for PSS-11 on 18-Dec-25.</a:t>
                      </a:r>
                    </a:p>
                    <a:p>
                      <a:pPr marL="85725" indent="0" algn="l" fontAlgn="ctr"/>
                      <a:r>
                        <a:rPr lang="en-US" sz="1100" b="1" i="0" u="none" strike="noStrike">
                          <a:solidFill>
                            <a:srgbClr val="00B050"/>
                          </a:solidFill>
                          <a:effectLst/>
                          <a:latin typeface="Adani Regular" panose="02000503000000020004" pitchFamily="2" charset="0"/>
                        </a:rPr>
                        <a:t>Order issued to Paramount for PSS-12 on 18-Dec-25.</a:t>
                      </a:r>
                    </a:p>
                    <a:p>
                      <a:pPr marL="85725" indent="0" algn="l" fontAlgn="ctr"/>
                      <a:r>
                        <a:rPr lang="en-US" sz="1100" b="1" i="0" u="none" strike="noStrike">
                          <a:solidFill>
                            <a:srgbClr val="00B050"/>
                          </a:solidFill>
                          <a:effectLst/>
                          <a:latin typeface="Adani Regular" panose="02000503000000020004" pitchFamily="2" charset="0"/>
                        </a:rPr>
                        <a:t>Order issued to Diamond for PSS-10(B) on 18-Dec-25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4784010"/>
                  </a:ext>
                </a:extLst>
              </a:tr>
              <a:tr h="770003">
                <a:tc>
                  <a:txBody>
                    <a:bodyPr/>
                    <a:lstStyle/>
                    <a:p>
                      <a:pPr algn="ctr" fontAlgn="ctr"/>
                      <a:r>
                        <a:rPr lang="en-US" sz="1100" b="1" i="0" u="none" strike="noStrike">
                          <a:solidFill>
                            <a:srgbClr val="00B050"/>
                          </a:solidFill>
                          <a:effectLst/>
                          <a:latin typeface="Adani Regular" panose="02000503000000020004" pitchFamily="2" charset="0"/>
                        </a:rPr>
                        <a:t>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DC &amp; LT Cables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822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765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480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Offers: PARAMOUNT, KEI, DIAMOND, VMARC, FINOLEX, DYNAMIC, GEMSCAB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08-Dec-25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DIAMOND (PSS-11), APAR &amp; DYNAMIC (PSS-12), PARAMOUNT &amp; DYNAMIC (PSS-10(B)) dated 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869149">
                <a:tc>
                  <a:txBody>
                    <a:bodyPr/>
                    <a:lstStyle/>
                    <a:p>
                      <a:pPr algn="ctr" fontAlgn="ctr"/>
                      <a:r>
                        <a:rPr lang="en-US" sz="1100" b="1" i="0" u="none" strike="noStrike">
                          <a:solidFill>
                            <a:srgbClr val="00B050"/>
                          </a:solidFill>
                          <a:effectLst/>
                          <a:latin typeface="Adani Regular" panose="02000503000000020004" pitchFamily="2" charset="0"/>
                        </a:rPr>
                        <a:t>10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Control Cables</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140.4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124.8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78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Offers: </a:t>
                      </a:r>
                      <a:r>
                        <a:rPr lang="sv-SE" sz="1100" b="1" i="0" u="none" strike="noStrike">
                          <a:solidFill>
                            <a:srgbClr val="00B050"/>
                          </a:solidFill>
                          <a:effectLst/>
                          <a:latin typeface="Adani Regular" panose="02000503000000020004" pitchFamily="2" charset="0"/>
                        </a:rPr>
                        <a:t>Delton, Diamond, Havells, Ravin, Special, Suyog, Polycab, Paramount, Gemscab, Dynamic, Chandresh</a:t>
                      </a: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06-Dec-25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GEMSCAB dated 19-Jan-26.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575230">
                <a:tc>
                  <a:txBody>
                    <a:bodyPr/>
                    <a:lstStyle/>
                    <a:p>
                      <a:pPr algn="ctr" fontAlgn="ctr"/>
                      <a:r>
                        <a:rPr lang="en-US" sz="1100" b="1" i="0" u="none" strike="noStrike">
                          <a:solidFill>
                            <a:srgbClr val="00B050"/>
                          </a:solidFill>
                          <a:effectLst/>
                          <a:latin typeface="Adani Regular" panose="02000503000000020004" pitchFamily="2" charset="0"/>
                        </a:rPr>
                        <a:t>11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SCADA Cable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294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262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166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buNone/>
                      </a:pPr>
                      <a:r>
                        <a:rPr lang="en-US" sz="1100" b="1" i="0" u="none" strike="noStrike">
                          <a:solidFill>
                            <a:srgbClr val="00B050"/>
                          </a:solidFill>
                          <a:effectLst/>
                          <a:latin typeface="Adani Regular" panose="02000503000000020004" pitchFamily="2" charset="0"/>
                        </a:rPr>
                        <a:t>Special, Paramount, Gemscab, Suyog, Delton, KEI</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18-Dec-25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US" sz="1100" b="1" i="0" u="none" strike="noStrike">
                          <a:solidFill>
                            <a:srgbClr val="00B050"/>
                          </a:solidFill>
                          <a:effectLst/>
                          <a:latin typeface="Adani Regular" panose="02000503000000020004" pitchFamily="2" charset="0"/>
                        </a:rPr>
                        <a:t>02-Jan-26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US" sz="1100" b="1" i="0" u="none" strike="noStrike">
                          <a:solidFill>
                            <a:srgbClr val="00B050"/>
                          </a:solidFill>
                          <a:effectLst/>
                          <a:latin typeface="Adani Regular" panose="02000503000000020004" pitchFamily="2" charset="0"/>
                        </a:rPr>
                        <a:t>08-Jan-26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4138" indent="0" algn="l" fontAlgn="ctr">
                        <a:buNone/>
                      </a:pPr>
                      <a:r>
                        <a:rPr lang="en-US" sz="1100" b="1" i="0" u="none" strike="noStrike">
                          <a:solidFill>
                            <a:srgbClr val="00B050"/>
                          </a:solidFill>
                          <a:effectLst/>
                          <a:latin typeface="Adani Regular" panose="02000503000000020004" pitchFamily="2" charset="0"/>
                        </a:rPr>
                        <a:t>Order releases to M/s Delton &amp; M/s Suyog dated 08-Jan-26.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50030462"/>
                  </a:ext>
                </a:extLst>
              </a:tr>
              <a:tr h="650016">
                <a:tc>
                  <a:txBody>
                    <a:bodyPr/>
                    <a:lstStyle/>
                    <a:p>
                      <a:pPr algn="ctr" fontAlgn="ctr"/>
                      <a:r>
                        <a:rPr lang="en-US" sz="1100" b="1" i="0" u="none" strike="noStrike">
                          <a:solidFill>
                            <a:srgbClr val="00B050"/>
                          </a:solidFill>
                          <a:effectLst/>
                          <a:latin typeface="Adani Regular" panose="02000503000000020004" pitchFamily="2" charset="0"/>
                        </a:rPr>
                        <a:t>12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FO Cable</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21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R0: 21-Nov-25</a:t>
                      </a:r>
                    </a:p>
                    <a:p>
                      <a:pPr algn="ctr" fontAlgn="ctr"/>
                      <a:r>
                        <a:rPr lang="en-US" sz="1100" b="1" i="0" u="none" strike="noStrike">
                          <a:solidFill>
                            <a:srgbClr val="00B050"/>
                          </a:solidFill>
                          <a:effectLst/>
                          <a:latin typeface="Adani Regular" panose="02000503000000020004" pitchFamily="2" charset="0"/>
                        </a:rPr>
                        <a:t>R1: 04-Dec-25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Repeat order confirmation received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27-Dec-25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Paramount on 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1089031">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Precast Supply (Monolithic Beam, Staircase, BOT and NIFPS)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1008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896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570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890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10-Dec-25</a:t>
                      </a:r>
                    </a:p>
                    <a:p>
                      <a:pPr marL="8890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22-Dec-25</a:t>
                      </a:r>
                    </a:p>
                    <a:p>
                      <a:pPr marL="8890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30-Dec-25</a:t>
                      </a:r>
                    </a:p>
                    <a:p>
                      <a:pPr marL="8890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04-Jan-26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RFP: </a:t>
                      </a:r>
                      <a:r>
                        <a:rPr lang="en-US" sz="1100" b="1" i="0" u="none" strike="noStrike">
                          <a:solidFill>
                            <a:srgbClr val="00B050"/>
                          </a:solidFill>
                          <a:effectLst/>
                          <a:latin typeface="Adani Regular" panose="02000503000000020004" pitchFamily="2" charset="0"/>
                        </a:rPr>
                        <a:t>Buildcast, Sachi Precast, Sachi Agency, Shreeji, VAB, Fuji</a:t>
                      </a: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06-Dec-25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16-Jan-26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28-Jan-26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Vendors finalized. Orders for Monolithic Beam &amp; BOT released dated 15-Jan-26. Orders for NIFPS and Staircase for BCF, PCS &amp; SGR released on 28-Jan.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bl>
          </a:graphicData>
        </a:graphic>
      </p:graphicFrame>
      <p:sp>
        <p:nvSpPr>
          <p:cNvPr id="3" name="Slide Number Placeholder 1">
            <a:extLst>
              <a:ext uri="{FF2B5EF4-FFF2-40B4-BE49-F238E27FC236}">
                <a16:creationId xmlns:a16="http://schemas.microsoft.com/office/drawing/2014/main" id="{5A222C87-BAF6-985B-0089-A9AA66A6EC60}"/>
              </a:ext>
            </a:extLst>
          </p:cNvPr>
          <p:cNvSpPr>
            <a:spLocks noGrp="1"/>
          </p:cNvSpPr>
          <p:nvPr>
            <p:ph type="sldNum" sz="quarter" idx="12"/>
          </p:nvPr>
        </p:nvSpPr>
        <p:spPr>
          <a:xfrm>
            <a:off x="11742056" y="6544298"/>
            <a:ext cx="449943" cy="365125"/>
          </a:xfrm>
        </p:spPr>
        <p:txBody>
          <a:bodyPr/>
          <a:lstStyle/>
          <a:p>
            <a:fld id="{98B285C1-D8A8-4E98-B28C-1FD972D8EC54}" type="slidenum">
              <a:rPr lang="en-IN" smtClean="0"/>
              <a:t>42</a:t>
            </a:fld>
            <a:endParaRPr lang="en-IN"/>
          </a:p>
        </p:txBody>
      </p:sp>
      <p:sp>
        <p:nvSpPr>
          <p:cNvPr id="5" name="Rectangle 2">
            <a:extLst>
              <a:ext uri="{FF2B5EF4-FFF2-40B4-BE49-F238E27FC236}">
                <a16:creationId xmlns:a16="http://schemas.microsoft.com/office/drawing/2014/main" id="{ADB873FB-D16A-EB72-1414-1428BDA32673}"/>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Supply ordering Status (</a:t>
            </a:r>
            <a:r>
              <a:rPr lang="en-IN" sz="2400" b="1">
                <a:solidFill>
                  <a:srgbClr val="912A82"/>
                </a:solidFill>
              </a:rPr>
              <a:t>PSS-11, 12 &amp; 10(B))</a:t>
            </a:r>
            <a:r>
              <a:rPr lang="en-IN" sz="2400" b="1">
                <a:solidFill>
                  <a:srgbClr val="00B050"/>
                </a:solidFill>
              </a:rPr>
              <a:t> - Completed </a:t>
            </a:r>
            <a:endParaRPr lang="en-US" sz="2400" b="1">
              <a:solidFill>
                <a:srgbClr val="00B050"/>
              </a:solidFill>
            </a:endParaRPr>
          </a:p>
        </p:txBody>
      </p:sp>
    </p:spTree>
    <p:extLst>
      <p:ext uri="{BB962C8B-B14F-4D97-AF65-F5344CB8AC3E}">
        <p14:creationId xmlns:p14="http://schemas.microsoft.com/office/powerpoint/2010/main" val="2164572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CA9C3-7549-16AF-9461-2879F3B35FC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66D78C7-1D5F-4A0B-56CA-65F6F4746CE5}"/>
              </a:ext>
            </a:extLst>
          </p:cNvPr>
          <p:cNvGraphicFramePr>
            <a:graphicFrameLocks noGrp="1"/>
          </p:cNvGraphicFramePr>
          <p:nvPr>
            <p:extLst>
              <p:ext uri="{D42A27DB-BD31-4B8C-83A1-F6EECF244321}">
                <p14:modId xmlns:p14="http://schemas.microsoft.com/office/powerpoint/2010/main" val="1613508026"/>
              </p:ext>
            </p:extLst>
          </p:nvPr>
        </p:nvGraphicFramePr>
        <p:xfrm>
          <a:off x="66695" y="641997"/>
          <a:ext cx="12058610" cy="5598527"/>
        </p:xfrm>
        <a:graphic>
          <a:graphicData uri="http://schemas.openxmlformats.org/drawingml/2006/table">
            <a:tbl>
              <a:tblPr/>
              <a:tblGrid>
                <a:gridCol w="398000">
                  <a:extLst>
                    <a:ext uri="{9D8B030D-6E8A-4147-A177-3AD203B41FA5}">
                      <a16:colId xmlns:a16="http://schemas.microsoft.com/office/drawing/2014/main" val="2829026117"/>
                    </a:ext>
                  </a:extLst>
                </a:gridCol>
                <a:gridCol w="1276363">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779489">
                  <a:extLst>
                    <a:ext uri="{9D8B030D-6E8A-4147-A177-3AD203B41FA5}">
                      <a16:colId xmlns:a16="http://schemas.microsoft.com/office/drawing/2014/main" val="3499724676"/>
                    </a:ext>
                  </a:extLst>
                </a:gridCol>
                <a:gridCol w="888435">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610998">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783144">
                <a:tc>
                  <a:txBody>
                    <a:bodyPr/>
                    <a:lstStyle/>
                    <a:p>
                      <a:pPr algn="ctr" fontAlgn="ctr"/>
                      <a:r>
                        <a:rPr lang="en-US" sz="1100" b="1" i="0" u="none" strike="noStrike">
                          <a:solidFill>
                            <a:srgbClr val="00B050"/>
                          </a:solidFill>
                          <a:effectLst/>
                          <a:latin typeface="Adani Regular" panose="02000503000000020004" pitchFamily="2" charset="0"/>
                        </a:rPr>
                        <a:t>14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Harmonic Filter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SET</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SET</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 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24-Feb-26</a:t>
                      </a:r>
                    </a:p>
                    <a:p>
                      <a:pPr algn="ctr" fontAlgn="ctr"/>
                      <a:r>
                        <a:rPr lang="en-US" sz="1100" b="1" i="0" u="none" strike="noStrike">
                          <a:solidFill>
                            <a:srgbClr val="00B050"/>
                          </a:solidFill>
                          <a:effectLst/>
                          <a:latin typeface="Adani Regular" panose="02000503000000020004" pitchFamily="2" charset="0"/>
                        </a:rPr>
                        <a:t>13-Mar-26/</a:t>
                      </a:r>
                    </a:p>
                    <a:p>
                      <a:pPr algn="ctr" fontAlgn="ctr"/>
                      <a:r>
                        <a:rPr lang="en-US" sz="1100" b="1" i="0" u="none" strike="noStrike">
                          <a:solidFill>
                            <a:srgbClr val="00B050"/>
                          </a:solidFill>
                          <a:effectLst/>
                          <a:latin typeface="Adani Regular" panose="02000503000000020004" pitchFamily="2" charset="0"/>
                        </a:rPr>
                        <a:t>12-Mar-26/</a:t>
                      </a:r>
                    </a:p>
                    <a:p>
                      <a:pPr algn="ctr" fontAlgn="ctr"/>
                      <a:r>
                        <a:rPr lang="en-US" sz="1100" b="1" i="0" u="none" strike="noStrike">
                          <a:solidFill>
                            <a:srgbClr val="00B050"/>
                          </a:solidFill>
                          <a:effectLst/>
                          <a:latin typeface="Adani Regular" panose="02000503000000020004" pitchFamily="2" charset="0"/>
                        </a:rPr>
                        <a:t>07-Mar-26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03-Apr-26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Released for PSS-10(B) on 26-Mar.</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HF sizing shared for PSS-11 on 13-Mar &amp; PSS-12 on 12-Mar.</a:t>
                      </a:r>
                    </a:p>
                    <a:p>
                      <a:pPr marL="85725" indent="0" algn="l" fontAlgn="ctr"/>
                      <a:r>
                        <a:rPr lang="en-US" sz="1100" b="1" i="0" u="none" strike="noStrike">
                          <a:solidFill>
                            <a:srgbClr val="00B050"/>
                          </a:solidFill>
                          <a:effectLst/>
                          <a:latin typeface="Adani Regular" panose="02000503000000020004" pitchFamily="2" charset="0"/>
                        </a:rPr>
                        <a:t>Letter of award (LOA) released for PSS-11 &amp; PSS-12 to Hitachi on 07-Apr.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4784010"/>
                  </a:ext>
                </a:extLst>
              </a:tr>
              <a:tr h="718208">
                <a:tc>
                  <a:txBody>
                    <a:bodyPr/>
                    <a:lstStyle/>
                    <a:p>
                      <a:pPr algn="ctr" fontAlgn="ctr"/>
                      <a:r>
                        <a:rPr lang="en-US" sz="1100" b="1" i="0" u="none" strike="noStrike">
                          <a:solidFill>
                            <a:srgbClr val="00B050"/>
                          </a:solidFill>
                          <a:effectLst/>
                          <a:latin typeface="Adani Regular" panose="02000503000000020004" pitchFamily="2" charset="0"/>
                        </a:rPr>
                        <a:t>15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High Mast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6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strike="noStrike">
                          <a:solidFill>
                            <a:srgbClr val="00B050"/>
                          </a:solidFill>
                          <a:effectLst/>
                          <a:latin typeface="Adani Regular"/>
                          <a:ea typeface="Aptos" panose="020B0004020202020204" pitchFamily="34" charset="0"/>
                          <a:cs typeface="Aptos" panose="020B0004020202020204" pitchFamily="34" charset="0"/>
                        </a:rPr>
                        <a:t>Pratibha, Akshar, Excel Infra, </a:t>
                      </a:r>
                      <a:r>
                        <a:rPr lang="en-US" sz="1100" b="1" strike="noStrike" err="1">
                          <a:solidFill>
                            <a:srgbClr val="00B050"/>
                          </a:solidFill>
                          <a:effectLst/>
                          <a:latin typeface="Adani Regular"/>
                          <a:ea typeface="Aptos" panose="020B0004020202020204" pitchFamily="34" charset="0"/>
                          <a:cs typeface="Aptos" panose="020B0004020202020204" pitchFamily="34" charset="0"/>
                        </a:rPr>
                        <a:t>Sunlake</a:t>
                      </a:r>
                      <a:r>
                        <a:rPr lang="en-US" sz="1100" b="1" strike="noStrike">
                          <a:solidFill>
                            <a:srgbClr val="00B050"/>
                          </a:solidFill>
                          <a:effectLst/>
                          <a:latin typeface="Adani Regular"/>
                          <a:ea typeface="Aptos" panose="020B0004020202020204" pitchFamily="34" charset="0"/>
                          <a:cs typeface="Aptos" panose="020B0004020202020204" pitchFamily="34" charset="0"/>
                        </a:rPr>
                        <a:t>, </a:t>
                      </a:r>
                      <a:r>
                        <a:rPr lang="en-US" sz="1100" b="1" strike="noStrike" err="1">
                          <a:solidFill>
                            <a:srgbClr val="00B050"/>
                          </a:solidFill>
                          <a:effectLst/>
                          <a:latin typeface="Adani Regular"/>
                          <a:ea typeface="Aptos" panose="020B0004020202020204" pitchFamily="34" charset="0"/>
                          <a:cs typeface="Aptos" panose="020B0004020202020204" pitchFamily="34" charset="0"/>
                        </a:rPr>
                        <a:t>Ompech</a:t>
                      </a:r>
                      <a:endParaRPr lang="en-US" sz="1100" b="1" strike="noStrike">
                        <a:solidFill>
                          <a:srgbClr val="00B050"/>
                        </a:solidFill>
                        <a:effectLst/>
                        <a:latin typeface="Adani Regular"/>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M/s </a:t>
                      </a:r>
                      <a:r>
                        <a:rPr kumimoji="0" lang="en-US" sz="1100" b="1" i="0" u="none" strike="noStrike" kern="1200" cap="none" spc="0" normalizeH="0" baseline="0" noProof="0" err="1">
                          <a:ln>
                            <a:noFill/>
                          </a:ln>
                          <a:solidFill>
                            <a:srgbClr val="00B050"/>
                          </a:solidFill>
                          <a:effectLst/>
                          <a:uLnTx/>
                          <a:uFillTx/>
                          <a:latin typeface="Adani Regular" panose="02000503000000020004" pitchFamily="2" charset="0"/>
                          <a:ea typeface="+mn-ea"/>
                          <a:cs typeface="+mn-cs"/>
                        </a:rPr>
                        <a:t>Sunelec</a:t>
                      </a: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1201441">
                <a:tc>
                  <a:txBody>
                    <a:bodyPr/>
                    <a:lstStyle/>
                    <a:p>
                      <a:pPr algn="ctr" fontAlgn="ctr"/>
                      <a:r>
                        <a:rPr lang="en-US" sz="1100" b="1" i="0" u="none" strike="noStrike">
                          <a:solidFill>
                            <a:srgbClr val="00B050"/>
                          </a:solidFill>
                          <a:effectLst/>
                          <a:latin typeface="Adani Regular" panose="02000503000000020004" pitchFamily="2" charset="0"/>
                        </a:rPr>
                        <a:t>16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Fire Protection, Detection &amp; Alarm System Package incl of (Hooter, Fire extinguisher, Panel. )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05-Mar-26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01-May-26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endParaRPr lang="en-US" sz="1100" b="1" kern="1200">
                        <a:solidFill>
                          <a:srgbClr val="00B050"/>
                        </a:solidFill>
                        <a:effectLst/>
                        <a:latin typeface="Adani Regular" panose="02000503000000020004" pitchFamily="2" charset="0"/>
                        <a:ea typeface="+mn-ea"/>
                        <a:cs typeface="+mn-cs"/>
                      </a:endParaRP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TBER concluded on 18-Apr-26; </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LOA released to M/s APSNP on 01-May-26.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21455541"/>
                  </a:ext>
                </a:extLst>
              </a:tr>
              <a:tr h="968506">
                <a:tc>
                  <a:txBody>
                    <a:bodyPr/>
                    <a:lstStyle/>
                    <a:p>
                      <a:pPr algn="ctr" fontAlgn="ctr"/>
                      <a:r>
                        <a:rPr lang="en-US" sz="1100" b="1" i="0" u="none" strike="noStrike">
                          <a:solidFill>
                            <a:srgbClr val="00B050"/>
                          </a:solidFill>
                          <a:effectLst/>
                          <a:latin typeface="Adani Regular" panose="02000503000000020004" pitchFamily="2" charset="0"/>
                        </a:rPr>
                        <a:t>17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Electrical Modification in existing PSS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07-Feb-26</a:t>
                      </a:r>
                    </a:p>
                    <a:p>
                      <a:pPr algn="ctr" fontAlgn="ctr"/>
                      <a:r>
                        <a:rPr lang="en-US" sz="1100" b="1" i="0" u="none" strike="noStrike">
                          <a:solidFill>
                            <a:srgbClr val="00B050"/>
                          </a:solidFill>
                          <a:effectLst/>
                          <a:latin typeface="Adani Regular" panose="02000503000000020004" pitchFamily="2" charset="0"/>
                        </a:rPr>
                        <a:t>16-Feb-26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01-Apr-26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06-Apr-26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Letter of award (LOA) issued to M/s Trisquare for PSS-11 &amp; PSS-10(B) on 06-Apr-26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968506">
                <a:tc>
                  <a:txBody>
                    <a:bodyPr/>
                    <a:lstStyle/>
                    <a:p>
                      <a:pPr algn="ctr" fontAlgn="ctr"/>
                      <a:r>
                        <a:rPr lang="en-US" sz="1100" b="1" i="0" u="none" strike="noStrike">
                          <a:solidFill>
                            <a:srgbClr val="00B050"/>
                          </a:solidFill>
                          <a:effectLst/>
                          <a:latin typeface="Adani Regular" panose="02000503000000020004" pitchFamily="2" charset="0"/>
                        </a:rPr>
                        <a:t>18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kern="1200">
                          <a:solidFill>
                            <a:srgbClr val="00B050"/>
                          </a:solidFill>
                          <a:effectLst/>
                          <a:latin typeface="Adani Regular" panose="02000503000000020004" pitchFamily="2" charset="0"/>
                          <a:ea typeface="+mn-ea"/>
                          <a:cs typeface="+mn-cs"/>
                        </a:rPr>
                        <a:t>Structural modification works in existing PSS</a:t>
                      </a:r>
                    </a:p>
                    <a:p>
                      <a:pPr marL="85725" indent="0" algn="l" fontAlgn="ctr"/>
                      <a:r>
                        <a:rPr lang="en-US" sz="1100" b="1" i="0" u="none" strike="noStrike" kern="1200">
                          <a:solidFill>
                            <a:srgbClr val="00B050"/>
                          </a:solidFill>
                          <a:effectLst/>
                          <a:latin typeface="Adani Regular" panose="02000503000000020004" pitchFamily="2" charset="0"/>
                          <a:ea typeface="+mn-ea"/>
                          <a:cs typeface="+mn-cs"/>
                        </a:rPr>
                        <a:t>(Containerized solution)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NOS</a:t>
                      </a:r>
                    </a:p>
                    <a:p>
                      <a:pPr algn="ctr" fontAlgn="ctr"/>
                      <a:r>
                        <a:rPr lang="en-US" sz="1100" b="1" i="0" u="none" strike="noStrike">
                          <a:solidFill>
                            <a:srgbClr val="00B050"/>
                          </a:solidFill>
                          <a:effectLst/>
                          <a:latin typeface="Adani Regular" panose="02000503000000020004" pitchFamily="2" charset="0"/>
                        </a:rPr>
                        <a:t>1 NOS</a:t>
                      </a:r>
                    </a:p>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07-Feb-26</a:t>
                      </a:r>
                    </a:p>
                    <a:p>
                      <a:pPr algn="ctr" fontAlgn="ctr"/>
                      <a:r>
                        <a:rPr lang="en-US" sz="1100" b="1" i="0" u="none" strike="sngStrike">
                          <a:solidFill>
                            <a:srgbClr val="00B050"/>
                          </a:solidFill>
                          <a:effectLst/>
                          <a:latin typeface="Adani Regular" panose="02000503000000020004" pitchFamily="2" charset="0"/>
                        </a:rPr>
                        <a:t>28-Feb-26</a:t>
                      </a:r>
                    </a:p>
                    <a:p>
                      <a:pPr algn="ctr" fontAlgn="ctr"/>
                      <a:r>
                        <a:rPr lang="en-US" sz="1100" b="1" i="0" u="none" strike="sngStrike">
                          <a:solidFill>
                            <a:srgbClr val="00B050"/>
                          </a:solidFill>
                          <a:effectLst/>
                          <a:latin typeface="Adani Regular" panose="02000503000000020004" pitchFamily="2" charset="0"/>
                        </a:rPr>
                        <a:t>10-Mar-26</a:t>
                      </a:r>
                    </a:p>
                    <a:p>
                      <a:pPr algn="ctr" fontAlgn="ctr"/>
                      <a:r>
                        <a:rPr lang="en-US" sz="1100" b="1" i="0" u="none" strike="noStrike">
                          <a:solidFill>
                            <a:srgbClr val="00B050"/>
                          </a:solidFill>
                          <a:effectLst/>
                          <a:latin typeface="Adani Regular" panose="02000503000000020004" pitchFamily="2" charset="0"/>
                        </a:rPr>
                        <a:t>23-Mar-26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14-Feb-26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27-Feb-26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08-Mar-26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31-Mar-26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14-Apr-26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03-Mar-26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12-Mar-26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04-Apr-26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LOA issued to M/s RV Enterprise dated 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11342138"/>
                  </a:ext>
                </a:extLst>
              </a:tr>
            </a:tbl>
          </a:graphicData>
        </a:graphic>
      </p:graphicFrame>
      <p:sp>
        <p:nvSpPr>
          <p:cNvPr id="3" name="Slide Number Placeholder 1">
            <a:extLst>
              <a:ext uri="{FF2B5EF4-FFF2-40B4-BE49-F238E27FC236}">
                <a16:creationId xmlns:a16="http://schemas.microsoft.com/office/drawing/2014/main" id="{502C627D-F80A-6DD1-36B5-39A913D366B9}"/>
              </a:ext>
            </a:extLst>
          </p:cNvPr>
          <p:cNvSpPr>
            <a:spLocks noGrp="1"/>
          </p:cNvSpPr>
          <p:nvPr>
            <p:ph type="sldNum" sz="quarter" idx="12"/>
          </p:nvPr>
        </p:nvSpPr>
        <p:spPr>
          <a:xfrm>
            <a:off x="11596914" y="6544298"/>
            <a:ext cx="595085" cy="365125"/>
          </a:xfrm>
        </p:spPr>
        <p:txBody>
          <a:bodyPr/>
          <a:lstStyle/>
          <a:p>
            <a:fld id="{98B285C1-D8A8-4E98-B28C-1FD972D8EC54}" type="slidenum">
              <a:rPr lang="en-IN" smtClean="0"/>
              <a:t>43</a:t>
            </a:fld>
            <a:endParaRPr lang="en-IN"/>
          </a:p>
        </p:txBody>
      </p:sp>
      <p:sp>
        <p:nvSpPr>
          <p:cNvPr id="5" name="Rectangle 2">
            <a:extLst>
              <a:ext uri="{FF2B5EF4-FFF2-40B4-BE49-F238E27FC236}">
                <a16:creationId xmlns:a16="http://schemas.microsoft.com/office/drawing/2014/main" id="{406E8E9A-1861-345C-6FA3-CEC59A882ABF}"/>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Supply ordering Status (</a:t>
            </a:r>
            <a:r>
              <a:rPr lang="en-IN" sz="2400" b="1">
                <a:solidFill>
                  <a:srgbClr val="912A82"/>
                </a:solidFill>
              </a:rPr>
              <a:t>PSS-11, 12 &amp; 10(B))</a:t>
            </a:r>
            <a:r>
              <a:rPr lang="en-IN" sz="2400" b="1">
                <a:solidFill>
                  <a:srgbClr val="00B050"/>
                </a:solidFill>
              </a:rPr>
              <a:t> - Completed </a:t>
            </a:r>
            <a:endParaRPr lang="en-US" sz="2400" b="1">
              <a:solidFill>
                <a:srgbClr val="00B050"/>
              </a:solidFill>
            </a:endParaRPr>
          </a:p>
        </p:txBody>
      </p:sp>
    </p:spTree>
    <p:extLst>
      <p:ext uri="{BB962C8B-B14F-4D97-AF65-F5344CB8AC3E}">
        <p14:creationId xmlns:p14="http://schemas.microsoft.com/office/powerpoint/2010/main" val="41772235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0BB9B-1D37-3257-B99C-F958FC01CBC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3DBCFF3-88F7-97D9-D1FA-2376A8B4448B}"/>
              </a:ext>
            </a:extLst>
          </p:cNvPr>
          <p:cNvGraphicFramePr>
            <a:graphicFrameLocks noGrp="1"/>
          </p:cNvGraphicFramePr>
          <p:nvPr/>
        </p:nvGraphicFramePr>
        <p:xfrm>
          <a:off x="66695" y="641996"/>
          <a:ext cx="12058610" cy="5384049"/>
        </p:xfrm>
        <a:graphic>
          <a:graphicData uri="http://schemas.openxmlformats.org/drawingml/2006/table">
            <a:tbl>
              <a:tblPr/>
              <a:tblGrid>
                <a:gridCol w="402992">
                  <a:extLst>
                    <a:ext uri="{9D8B030D-6E8A-4147-A177-3AD203B41FA5}">
                      <a16:colId xmlns:a16="http://schemas.microsoft.com/office/drawing/2014/main" val="2829026117"/>
                    </a:ext>
                  </a:extLst>
                </a:gridCol>
                <a:gridCol w="1271371">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851534">
                  <a:extLst>
                    <a:ext uri="{9D8B030D-6E8A-4147-A177-3AD203B41FA5}">
                      <a16:colId xmlns:a16="http://schemas.microsoft.com/office/drawing/2014/main" val="3499724676"/>
                    </a:ext>
                  </a:extLst>
                </a:gridCol>
                <a:gridCol w="816390">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1594797">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894626">
                <a:tc>
                  <a:txBody>
                    <a:bodyPr/>
                    <a:lstStyle/>
                    <a:p>
                      <a:pPr algn="ctr" fontAlgn="ctr"/>
                      <a:r>
                        <a:rPr lang="en-US" sz="1100" b="1" i="0" u="none" strike="noStrike">
                          <a:solidFill>
                            <a:srgbClr val="00B050"/>
                          </a:solidFill>
                          <a:effectLst/>
                          <a:latin typeface="Adani Regular" panose="02000503000000020004" pitchFamily="2" charset="0"/>
                        </a:rPr>
                        <a:t>19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Security Porta Cabin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 NOS</a:t>
                      </a:r>
                    </a:p>
                    <a:p>
                      <a:pPr algn="ctr" fontAlgn="ctr"/>
                      <a:r>
                        <a:rPr lang="en-US" sz="1100" b="1" i="0" u="none" strike="noStrike">
                          <a:solidFill>
                            <a:srgbClr val="00B050"/>
                          </a:solidFill>
                          <a:effectLst/>
                          <a:latin typeface="Adani Regular" panose="02000503000000020004" pitchFamily="2" charset="0"/>
                        </a:rPr>
                        <a:t>2 NOS</a:t>
                      </a:r>
                    </a:p>
                    <a:p>
                      <a:pPr algn="ctr" fontAlgn="ctr"/>
                      <a:r>
                        <a:rPr lang="en-US" sz="1100" b="1" i="0" u="none" strike="noStrike">
                          <a:solidFill>
                            <a:srgbClr val="00B050"/>
                          </a:solidFill>
                          <a:effectLst/>
                          <a:latin typeface="Adani Regular" panose="02000503000000020004" pitchFamily="2" charset="0"/>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Meta Steel Prefab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11-Feb-26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kern="1200">
                          <a:solidFill>
                            <a:srgbClr val="00B050"/>
                          </a:solidFill>
                          <a:effectLst/>
                          <a:latin typeface="Adani Regular" panose="02000503000000020004" pitchFamily="2" charset="0"/>
                          <a:ea typeface="+mn-ea"/>
                          <a:cs typeface="+mn-cs"/>
                        </a:rPr>
                        <a:t>24-Feb-26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Commercial NFA approved. Order placed to Meta Steel Prefab on 24-Feb-26.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27141618"/>
                  </a:ext>
                </a:extLst>
              </a:tr>
              <a:tr h="1894626">
                <a:tc>
                  <a:txBody>
                    <a:bodyPr/>
                    <a:lstStyle/>
                    <a:p>
                      <a:pPr algn="ctr" fontAlgn="ctr"/>
                      <a:r>
                        <a:rPr lang="en-US" sz="1100" b="1" i="0" u="none" strike="noStrike">
                          <a:solidFill>
                            <a:srgbClr val="00B050"/>
                          </a:solidFill>
                          <a:effectLst/>
                          <a:latin typeface="Adani Regular" panose="02000503000000020004" pitchFamily="2" charset="0"/>
                        </a:rPr>
                        <a:t>20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Supply for FIT Kit with Hardware &amp; Software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15-Jan-26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Emerson, Honeywell, Adaptive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PSS-11 &amp; 10(B):</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08-Feb-26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21-Feb-26</a:t>
                      </a:r>
                    </a:p>
                    <a:p>
                      <a:pPr marL="0" marR="0" lvl="0" indent="0" algn="ctr" defTabSz="91440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B050"/>
                        </a:solidFill>
                        <a:effectLst/>
                        <a:latin typeface="Adani Regular" panose="02000503000000020004" pitchFamily="2"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PSS-12:</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08-Feb-26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19-Feb-26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sngStrike">
                          <a:solidFill>
                            <a:srgbClr val="00B050"/>
                          </a:solidFill>
                          <a:effectLst/>
                          <a:latin typeface="Adani Regular" panose="02000503000000020004" pitchFamily="2" charset="0"/>
                        </a:rPr>
                        <a:t>28-Feb-26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03-Mar-26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Supply of Kit not required, instead logistics, travel &amp; lodging-boarding required. Commercial NFA considered along with EMS Package. </a:t>
                      </a:r>
                    </a:p>
                    <a:p>
                      <a:pPr marL="85725" indent="0" algn="l" fontAlgn="ctr"/>
                      <a:r>
                        <a:rPr lang="en-US" sz="1100" b="1" i="0" u="none" strike="noStrike">
                          <a:solidFill>
                            <a:srgbClr val="00B050"/>
                          </a:solidFill>
                          <a:effectLst/>
                          <a:latin typeface="Adani Regular" panose="02000503000000020004" pitchFamily="2" charset="0"/>
                        </a:rPr>
                        <a:t>Order placed for PSS-11 to Emerson on 21-Feb; PSS-10(B) to Adaptive on 17-Feb; </a:t>
                      </a:r>
                    </a:p>
                    <a:p>
                      <a:pPr marL="85725" indent="0" algn="l" fontAlgn="ctr"/>
                      <a:r>
                        <a:rPr lang="en-US" sz="1100" b="1" i="0" u="none" strike="noStrike">
                          <a:solidFill>
                            <a:srgbClr val="00B050"/>
                          </a:solidFill>
                          <a:effectLst/>
                          <a:latin typeface="Adani Regular" panose="02000503000000020004" pitchFamily="2" charset="0"/>
                        </a:rPr>
                        <a:t>Order for PSS-12 placed on Honeywell on </a:t>
                      </a:r>
                      <a:r>
                        <a:rPr lang="en-US" sz="1100" b="1" i="0" u="none" strike="sngStrike">
                          <a:solidFill>
                            <a:srgbClr val="00B050"/>
                          </a:solidFill>
                          <a:effectLst/>
                          <a:latin typeface="Adani Regular" panose="02000503000000020004" pitchFamily="2" charset="0"/>
                        </a:rPr>
                        <a:t>28-Feb</a:t>
                      </a:r>
                      <a:r>
                        <a:rPr lang="en-US" sz="1100" b="1" i="0" u="none" strike="noStrike">
                          <a:solidFill>
                            <a:srgbClr val="00B050"/>
                          </a:solidFill>
                          <a:effectLst/>
                          <a:latin typeface="Adani Regular" panose="02000503000000020004" pitchFamily="2" charset="0"/>
                        </a:rPr>
                        <a:t> 03-Mar.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50030462"/>
                  </a:ext>
                </a:extLst>
              </a:tr>
            </a:tbl>
          </a:graphicData>
        </a:graphic>
      </p:graphicFrame>
      <p:sp>
        <p:nvSpPr>
          <p:cNvPr id="3" name="Slide Number Placeholder 1">
            <a:extLst>
              <a:ext uri="{FF2B5EF4-FFF2-40B4-BE49-F238E27FC236}">
                <a16:creationId xmlns:a16="http://schemas.microsoft.com/office/drawing/2014/main" id="{543C0C3D-69F2-DA26-07F1-2A3345670200}"/>
              </a:ext>
            </a:extLst>
          </p:cNvPr>
          <p:cNvSpPr>
            <a:spLocks noGrp="1"/>
          </p:cNvSpPr>
          <p:nvPr>
            <p:ph type="sldNum" sz="quarter" idx="12"/>
          </p:nvPr>
        </p:nvSpPr>
        <p:spPr>
          <a:xfrm>
            <a:off x="11640457" y="6544298"/>
            <a:ext cx="551542" cy="365125"/>
          </a:xfrm>
        </p:spPr>
        <p:txBody>
          <a:bodyPr/>
          <a:lstStyle/>
          <a:p>
            <a:fld id="{98B285C1-D8A8-4E98-B28C-1FD972D8EC54}" type="slidenum">
              <a:rPr lang="en-IN" smtClean="0"/>
              <a:t>44</a:t>
            </a:fld>
            <a:endParaRPr lang="en-IN"/>
          </a:p>
        </p:txBody>
      </p:sp>
      <p:sp>
        <p:nvSpPr>
          <p:cNvPr id="5" name="Rectangle 2">
            <a:extLst>
              <a:ext uri="{FF2B5EF4-FFF2-40B4-BE49-F238E27FC236}">
                <a16:creationId xmlns:a16="http://schemas.microsoft.com/office/drawing/2014/main" id="{D3C5756F-D3E7-EEE0-2181-7FA4DC888C4B}"/>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Supply ordering Status (</a:t>
            </a:r>
            <a:r>
              <a:rPr lang="en-IN" sz="2400" b="1">
                <a:solidFill>
                  <a:srgbClr val="912A82"/>
                </a:solidFill>
              </a:rPr>
              <a:t>PSS-11, 12 &amp; 10(B))</a:t>
            </a:r>
            <a:r>
              <a:rPr lang="en-IN" sz="2400" b="1">
                <a:solidFill>
                  <a:srgbClr val="00B050"/>
                </a:solidFill>
              </a:rPr>
              <a:t> - Completed  </a:t>
            </a:r>
            <a:endParaRPr lang="en-US" sz="2400" b="1">
              <a:solidFill>
                <a:srgbClr val="00B050"/>
              </a:solidFill>
            </a:endParaRPr>
          </a:p>
        </p:txBody>
      </p:sp>
    </p:spTree>
    <p:extLst>
      <p:ext uri="{BB962C8B-B14F-4D97-AF65-F5344CB8AC3E}">
        <p14:creationId xmlns:p14="http://schemas.microsoft.com/office/powerpoint/2010/main" val="15115785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6505B-DF36-6BE7-6124-A9B756AD44D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4C0E375-D6BC-702E-B48E-814AD71B06EE}"/>
              </a:ext>
            </a:extLst>
          </p:cNvPr>
          <p:cNvGraphicFramePr>
            <a:graphicFrameLocks noGrp="1"/>
          </p:cNvGraphicFramePr>
          <p:nvPr>
            <p:extLst>
              <p:ext uri="{D42A27DB-BD31-4B8C-83A1-F6EECF244321}">
                <p14:modId xmlns:p14="http://schemas.microsoft.com/office/powerpoint/2010/main" val="1506211093"/>
              </p:ext>
            </p:extLst>
          </p:nvPr>
        </p:nvGraphicFramePr>
        <p:xfrm>
          <a:off x="100256" y="744875"/>
          <a:ext cx="11950762" cy="5572238"/>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823921">
                  <a:extLst>
                    <a:ext uri="{9D8B030D-6E8A-4147-A177-3AD203B41FA5}">
                      <a16:colId xmlns:a16="http://schemas.microsoft.com/office/drawing/2014/main" val="1705681307"/>
                    </a:ext>
                  </a:extLst>
                </a:gridCol>
                <a:gridCol w="1620000">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6">
                  <a:extLst>
                    <a:ext uri="{9D8B030D-6E8A-4147-A177-3AD203B41FA5}">
                      <a16:colId xmlns:a16="http://schemas.microsoft.com/office/drawing/2014/main" val="773725385"/>
                    </a:ext>
                  </a:extLst>
                </a:gridCol>
              </a:tblGrid>
              <a:tr h="484705">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484705">
                <a:tc>
                  <a:txBody>
                    <a:bodyPr/>
                    <a:lstStyle/>
                    <a:p>
                      <a:pPr algn="ctr" fontAlgn="ctr"/>
                      <a:r>
                        <a:rPr lang="en-US" sz="1100" b="1" i="0" u="none" strike="noStrike">
                          <a:solidFill>
                            <a:srgbClr val="00B050"/>
                          </a:solidFill>
                          <a:effectLst/>
                          <a:latin typeface="Adani Regular" panose="02000503000000020004" pitchFamily="2"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Engineering Consultancy Services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15-Nov-25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err="1">
                          <a:solidFill>
                            <a:srgbClr val="00B050"/>
                          </a:solidFill>
                          <a:effectLst/>
                          <a:latin typeface="Adani Regular" panose="02000503000000020004" pitchFamily="2" charset="0"/>
                          <a:ea typeface="Aptos" panose="020B0004020202020204" pitchFamily="34" charset="0"/>
                          <a:cs typeface="Aptos" panose="020B0004020202020204" pitchFamily="34" charset="0"/>
                        </a:rPr>
                        <a:t>Fictner</a:t>
                      </a: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 Worley, Tractebel  &amp; TCE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17-Nov-25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18-Nov-25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kern="1200">
                          <a:solidFill>
                            <a:srgbClr val="00B050"/>
                          </a:solidFill>
                          <a:effectLst/>
                          <a:latin typeface="Adani Regular" panose="02000503000000020004" pitchFamily="2" charset="0"/>
                          <a:ea typeface="+mn-ea"/>
                          <a:cs typeface="+mn-cs"/>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Worley for PSS-11, 12 &amp; 10(B).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484705">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ACDC Electrical works</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27-Nov-25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Akshar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B050"/>
                          </a:solidFill>
                          <a:effectLst/>
                          <a:latin typeface="Adani Regular" panose="02000503000000020004" pitchFamily="2" charset="0"/>
                          <a:ea typeface="+mn-ea"/>
                          <a:cs typeface="+mn-cs"/>
                        </a:rPr>
                        <a:t>17-Jan-26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M/s Pratibha for PSS-11 and M/s Akshar for PSS-12 &amp; 10(B) dated 17-Jan-26.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532481">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Grid Modelling &amp; System Study</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06-Nov-25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15-Nov-25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Hitachi</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24-Nov-25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M/s Hitachi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484705">
                <a:tc>
                  <a:txBody>
                    <a:bodyPr/>
                    <a:lstStyle/>
                    <a:p>
                      <a:pPr algn="ctr" fontAlgn="ctr"/>
                      <a:r>
                        <a:rPr lang="en-US" sz="1100" b="1" i="0" u="none" strike="noStrike">
                          <a:solidFill>
                            <a:srgbClr val="00B050"/>
                          </a:solidFill>
                          <a:effectLst/>
                          <a:latin typeface="Adani Regular" panose="02000503000000020004" pitchFamily="2" charset="0"/>
                        </a:rPr>
                        <a:t>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Piling works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32,750 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28,444 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21,336 m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18-Nov-25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Cemindia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25-Nov-25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Cemindia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r h="1284335">
                <a:tc>
                  <a:txBody>
                    <a:bodyPr/>
                    <a:lstStyle/>
                    <a:p>
                      <a:pPr algn="ctr" fontAlgn="ctr"/>
                      <a:r>
                        <a:rPr lang="en-US" sz="1100" b="1" i="0" u="none" strike="noStrike">
                          <a:solidFill>
                            <a:srgbClr val="00B050"/>
                          </a:solidFill>
                          <a:effectLst/>
                          <a:latin typeface="Adani Regular" panose="02000503000000020004" pitchFamily="2" charset="0"/>
                        </a:rPr>
                        <a:t>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Civil Works – BOP (Equip. foundations, HF, Roads-drains-fencing, Security cabin, Exist. PSS modification)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Shreeji, Himalaya, Rajaram&amp;Sons, Rokane, Rathore, Nageshwar Infra, Vinayaka, HSB, DEK &amp; Mavericks, SMP, RAVJI MANJI, NRUPUR, GODARA, DNC, MEERA, M S CHOUHAN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B050"/>
                          </a:solidFill>
                          <a:effectLst/>
                          <a:latin typeface="Adani Regular" panose="02000503000000020004" pitchFamily="2" charset="0"/>
                          <a:ea typeface="+mn-ea"/>
                          <a:cs typeface="+mn-cs"/>
                        </a:rPr>
                        <a:t>30-Dec-25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Oder issued to MS Chauhan for PSS-11 &amp; PSS-12 on 30-Dec-25.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Godhara Infratech for PSS-10(B) on 30-Dec-25.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GP Project for Roads-Drain on 03-Jan-26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976789"/>
                  </a:ext>
                </a:extLst>
              </a:tr>
              <a:tr h="644631">
                <a:tc>
                  <a:txBody>
                    <a:bodyPr/>
                    <a:lstStyle/>
                    <a:p>
                      <a:pPr algn="ctr" fontAlgn="ctr"/>
                      <a:r>
                        <a:rPr lang="en-US" sz="1100" b="1" i="0" u="none" strike="noStrike">
                          <a:solidFill>
                            <a:srgbClr val="00B050"/>
                          </a:solidFill>
                          <a:effectLst/>
                          <a:latin typeface="Adani Regular" panose="02000503000000020004" pitchFamily="2" charset="0"/>
                        </a:rPr>
                        <a:t>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Structural/PEB works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486 MT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431 MT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270 MT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RFP sent to BNAL(regret), DP Consteel, Vats group, Synergy thirlling ton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200" b="1" i="0" u="none" strike="noStrike" kern="1200">
                          <a:solidFill>
                            <a:srgbClr val="00B050"/>
                          </a:solidFill>
                          <a:effectLst/>
                          <a:latin typeface="Adani Regular" panose="02000503000000020004" pitchFamily="2" charset="0"/>
                          <a:ea typeface="+mn-ea"/>
                          <a:cs typeface="+mn-cs"/>
                        </a:rPr>
                        <a:t>03-Jan-26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Oder issued to DP Consteel on 03-Jan-26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451638">
                <a:tc>
                  <a:txBody>
                    <a:bodyPr/>
                    <a:lstStyle/>
                    <a:p>
                      <a:pPr algn="ctr" fontAlgn="ctr"/>
                      <a:r>
                        <a:rPr lang="en-US" sz="1100" b="1" i="0" u="none" strike="noStrike">
                          <a:solidFill>
                            <a:srgbClr val="00B050"/>
                          </a:solidFill>
                          <a:effectLst/>
                          <a:latin typeface="Adani Regular" panose="02000503000000020004" pitchFamily="2" charset="0"/>
                        </a:rPr>
                        <a:t>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Consultancy for FSPA &amp; Fire NOC</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05-Jan-26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for FSPA &amp; Fire NOC consultancy placed on 05-Jan-26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93175227"/>
                  </a:ext>
                </a:extLst>
              </a:tr>
              <a:tr h="484705">
                <a:tc>
                  <a:txBody>
                    <a:bodyPr/>
                    <a:lstStyle/>
                    <a:p>
                      <a:pPr algn="ctr" fontAlgn="ctr"/>
                      <a:r>
                        <a:rPr lang="en-US" sz="1100" b="1" i="0" u="none" strike="noStrike">
                          <a:solidFill>
                            <a:srgbClr val="00B050"/>
                          </a:solidFill>
                          <a:effectLst/>
                          <a:latin typeface="Adani Regular" panose="02000503000000020004" pitchFamily="2" charset="0"/>
                        </a:rPr>
                        <a:t>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BESS Cloud &amp; Integration with ENOC</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30-Jan-26</a:t>
                      </a:r>
                    </a:p>
                    <a:p>
                      <a:pPr algn="ctr" fontAlgn="ctr"/>
                      <a:r>
                        <a:rPr lang="en-US" sz="1100" b="1" i="0" u="none" strike="noStrike">
                          <a:solidFill>
                            <a:srgbClr val="00B050"/>
                          </a:solidFill>
                          <a:effectLst/>
                          <a:latin typeface="Adani Regular" panose="02000503000000020004" pitchFamily="2" charset="0"/>
                        </a:rPr>
                        <a:t>12-Feb-26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Dell, HP</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kern="1200">
                          <a:solidFill>
                            <a:srgbClr val="00B050"/>
                          </a:solidFill>
                          <a:effectLst/>
                          <a:latin typeface="Adani Regular" panose="02000503000000020004" pitchFamily="2" charset="0"/>
                          <a:ea typeface="+mn-ea"/>
                          <a:cs typeface="+mn-cs"/>
                        </a:rPr>
                        <a:t>18-Feb-26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dated 18-Feb to Dell.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69877776"/>
                  </a:ext>
                </a:extLst>
              </a:tr>
            </a:tbl>
          </a:graphicData>
        </a:graphic>
      </p:graphicFrame>
      <p:sp>
        <p:nvSpPr>
          <p:cNvPr id="3" name="Slide Number Placeholder 1">
            <a:extLst>
              <a:ext uri="{FF2B5EF4-FFF2-40B4-BE49-F238E27FC236}">
                <a16:creationId xmlns:a16="http://schemas.microsoft.com/office/drawing/2014/main" id="{E393C480-005E-F6F4-C450-91D7A790C3DE}"/>
              </a:ext>
            </a:extLst>
          </p:cNvPr>
          <p:cNvSpPr>
            <a:spLocks noGrp="1"/>
          </p:cNvSpPr>
          <p:nvPr>
            <p:ph type="sldNum" sz="quarter" idx="12"/>
          </p:nvPr>
        </p:nvSpPr>
        <p:spPr>
          <a:xfrm>
            <a:off x="11684000" y="6504188"/>
            <a:ext cx="508000" cy="365125"/>
          </a:xfrm>
        </p:spPr>
        <p:txBody>
          <a:bodyPr/>
          <a:lstStyle/>
          <a:p>
            <a:fld id="{98B285C1-D8A8-4E98-B28C-1FD972D8EC54}" type="slidenum">
              <a:rPr lang="en-IN" smtClean="0"/>
              <a:t>45</a:t>
            </a:fld>
            <a:endParaRPr lang="en-IN"/>
          </a:p>
        </p:txBody>
      </p:sp>
      <p:sp>
        <p:nvSpPr>
          <p:cNvPr id="5" name="Rectangle 2">
            <a:extLst>
              <a:ext uri="{FF2B5EF4-FFF2-40B4-BE49-F238E27FC236}">
                <a16:creationId xmlns:a16="http://schemas.microsoft.com/office/drawing/2014/main" id="{E116BABB-4D03-BDB0-4822-CD5B942AD3FD}"/>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Service ordering Status (</a:t>
            </a:r>
            <a:r>
              <a:rPr lang="en-IN" sz="2400" b="1">
                <a:solidFill>
                  <a:srgbClr val="912A82"/>
                </a:solidFill>
              </a:rPr>
              <a:t>PSS-11, 12 &amp; 10(B))</a:t>
            </a:r>
            <a:r>
              <a:rPr lang="en-IN" sz="2400" b="1">
                <a:solidFill>
                  <a:srgbClr val="00B050"/>
                </a:solidFill>
              </a:rPr>
              <a:t> - Completed</a:t>
            </a:r>
            <a:endParaRPr lang="en-US" sz="2400" b="1">
              <a:solidFill>
                <a:srgbClr val="3D3DFF"/>
              </a:solidFill>
            </a:endParaRPr>
          </a:p>
        </p:txBody>
      </p:sp>
    </p:spTree>
    <p:extLst>
      <p:ext uri="{BB962C8B-B14F-4D97-AF65-F5344CB8AC3E}">
        <p14:creationId xmlns:p14="http://schemas.microsoft.com/office/powerpoint/2010/main" val="12350168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0E6D2-7065-40EE-0CEA-2CB74323B04A}"/>
            </a:ext>
          </a:extLst>
        </p:cNvPr>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2C59A8BF-10C4-1E3B-32B1-AE9EA484EEC3}"/>
              </a:ext>
            </a:extLst>
          </p:cNvPr>
          <p:cNvSpPr>
            <a:spLocks noGrp="1"/>
          </p:cNvSpPr>
          <p:nvPr>
            <p:ph type="sldNum" sz="quarter" idx="12"/>
          </p:nvPr>
        </p:nvSpPr>
        <p:spPr>
          <a:xfrm>
            <a:off x="11727543" y="6504188"/>
            <a:ext cx="464456" cy="365125"/>
          </a:xfrm>
        </p:spPr>
        <p:txBody>
          <a:bodyPr/>
          <a:lstStyle/>
          <a:p>
            <a:fld id="{98B285C1-D8A8-4E98-B28C-1FD972D8EC54}" type="slidenum">
              <a:rPr lang="en-IN" smtClean="0"/>
              <a:t>46</a:t>
            </a:fld>
            <a:endParaRPr lang="en-IN"/>
          </a:p>
        </p:txBody>
      </p:sp>
      <p:sp>
        <p:nvSpPr>
          <p:cNvPr id="5" name="Rectangle 2">
            <a:extLst>
              <a:ext uri="{FF2B5EF4-FFF2-40B4-BE49-F238E27FC236}">
                <a16:creationId xmlns:a16="http://schemas.microsoft.com/office/drawing/2014/main" id="{18F9214A-2274-0D96-FA42-CA1B02284AD6}"/>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Service ordering Status (</a:t>
            </a:r>
            <a:r>
              <a:rPr lang="en-IN" sz="2400" b="1">
                <a:solidFill>
                  <a:srgbClr val="912A82"/>
                </a:solidFill>
              </a:rPr>
              <a:t>PSS-11, 12 &amp; 10(B))</a:t>
            </a:r>
            <a:r>
              <a:rPr lang="en-IN" sz="2400" b="1">
                <a:solidFill>
                  <a:srgbClr val="00B050"/>
                </a:solidFill>
              </a:rPr>
              <a:t> - Completed </a:t>
            </a:r>
            <a:endParaRPr lang="en-US" sz="2400" b="1">
              <a:solidFill>
                <a:srgbClr val="3D3DFF"/>
              </a:solidFill>
            </a:endParaRPr>
          </a:p>
        </p:txBody>
      </p:sp>
      <p:graphicFrame>
        <p:nvGraphicFramePr>
          <p:cNvPr id="6" name="Table 5">
            <a:extLst>
              <a:ext uri="{FF2B5EF4-FFF2-40B4-BE49-F238E27FC236}">
                <a16:creationId xmlns:a16="http://schemas.microsoft.com/office/drawing/2014/main" id="{334BEF99-C76F-7A4C-02DE-882BD9428E53}"/>
              </a:ext>
            </a:extLst>
          </p:cNvPr>
          <p:cNvGraphicFramePr>
            <a:graphicFrameLocks noGrp="1"/>
          </p:cNvGraphicFramePr>
          <p:nvPr/>
        </p:nvGraphicFramePr>
        <p:xfrm>
          <a:off x="100256" y="744871"/>
          <a:ext cx="11936847" cy="3897744"/>
        </p:xfrm>
        <a:graphic>
          <a:graphicData uri="http://schemas.openxmlformats.org/drawingml/2006/table">
            <a:tbl>
              <a:tblPr/>
              <a:tblGrid>
                <a:gridCol w="398923">
                  <a:extLst>
                    <a:ext uri="{9D8B030D-6E8A-4147-A177-3AD203B41FA5}">
                      <a16:colId xmlns:a16="http://schemas.microsoft.com/office/drawing/2014/main" val="2829026117"/>
                    </a:ext>
                  </a:extLst>
                </a:gridCol>
                <a:gridCol w="1258533">
                  <a:extLst>
                    <a:ext uri="{9D8B030D-6E8A-4147-A177-3AD203B41FA5}">
                      <a16:colId xmlns:a16="http://schemas.microsoft.com/office/drawing/2014/main" val="2773142122"/>
                    </a:ext>
                  </a:extLst>
                </a:gridCol>
                <a:gridCol w="791078">
                  <a:extLst>
                    <a:ext uri="{9D8B030D-6E8A-4147-A177-3AD203B41FA5}">
                      <a16:colId xmlns:a16="http://schemas.microsoft.com/office/drawing/2014/main" val="246702370"/>
                    </a:ext>
                  </a:extLst>
                </a:gridCol>
                <a:gridCol w="1060356">
                  <a:extLst>
                    <a:ext uri="{9D8B030D-6E8A-4147-A177-3AD203B41FA5}">
                      <a16:colId xmlns:a16="http://schemas.microsoft.com/office/drawing/2014/main" val="3558478565"/>
                    </a:ext>
                  </a:extLst>
                </a:gridCol>
                <a:gridCol w="822962">
                  <a:extLst>
                    <a:ext uri="{9D8B030D-6E8A-4147-A177-3AD203B41FA5}">
                      <a16:colId xmlns:a16="http://schemas.microsoft.com/office/drawing/2014/main" val="1271983604"/>
                    </a:ext>
                  </a:extLst>
                </a:gridCol>
                <a:gridCol w="973157">
                  <a:extLst>
                    <a:ext uri="{9D8B030D-6E8A-4147-A177-3AD203B41FA5}">
                      <a16:colId xmlns:a16="http://schemas.microsoft.com/office/drawing/2014/main" val="1705681307"/>
                    </a:ext>
                  </a:extLst>
                </a:gridCol>
                <a:gridCol w="1467918">
                  <a:extLst>
                    <a:ext uri="{9D8B030D-6E8A-4147-A177-3AD203B41FA5}">
                      <a16:colId xmlns:a16="http://schemas.microsoft.com/office/drawing/2014/main" val="916472123"/>
                    </a:ext>
                  </a:extLst>
                </a:gridCol>
                <a:gridCol w="808146">
                  <a:extLst>
                    <a:ext uri="{9D8B030D-6E8A-4147-A177-3AD203B41FA5}">
                      <a16:colId xmlns:a16="http://schemas.microsoft.com/office/drawing/2014/main" val="86425436"/>
                    </a:ext>
                  </a:extLst>
                </a:gridCol>
                <a:gridCol w="808146">
                  <a:extLst>
                    <a:ext uri="{9D8B030D-6E8A-4147-A177-3AD203B41FA5}">
                      <a16:colId xmlns:a16="http://schemas.microsoft.com/office/drawing/2014/main" val="3499724676"/>
                    </a:ext>
                  </a:extLst>
                </a:gridCol>
                <a:gridCol w="808146">
                  <a:extLst>
                    <a:ext uri="{9D8B030D-6E8A-4147-A177-3AD203B41FA5}">
                      <a16:colId xmlns:a16="http://schemas.microsoft.com/office/drawing/2014/main" val="708652653"/>
                    </a:ext>
                  </a:extLst>
                </a:gridCol>
                <a:gridCol w="2739482">
                  <a:extLst>
                    <a:ext uri="{9D8B030D-6E8A-4147-A177-3AD203B41FA5}">
                      <a16:colId xmlns:a16="http://schemas.microsoft.com/office/drawing/2014/main" val="773725385"/>
                    </a:ext>
                  </a:extLst>
                </a:gridCol>
              </a:tblGrid>
              <a:tr h="845828">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762979">
                <a:tc>
                  <a:txBody>
                    <a:bodyPr/>
                    <a:lstStyle/>
                    <a:p>
                      <a:pPr algn="ctr" fontAlgn="ctr"/>
                      <a:r>
                        <a:rPr lang="en-US" sz="1100" b="1" i="0" u="none" strike="noStrike">
                          <a:solidFill>
                            <a:srgbClr val="00B050"/>
                          </a:solidFill>
                          <a:effectLst/>
                          <a:latin typeface="Adani Regular" panose="02000503000000020004" pitchFamily="2" charset="0"/>
                        </a:rPr>
                        <a:t>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Transportation of Precast items (from </a:t>
                      </a:r>
                      <a:r>
                        <a:rPr lang="en-US" sz="1100" b="1" i="0" u="none" strike="noStrike" err="1">
                          <a:solidFill>
                            <a:srgbClr val="00B050"/>
                          </a:solidFill>
                          <a:effectLst/>
                          <a:latin typeface="Adani Regular" panose="02000503000000020004" pitchFamily="2" charset="0"/>
                        </a:rPr>
                        <a:t>Buildcast</a:t>
                      </a:r>
                      <a:r>
                        <a:rPr lang="en-US" sz="1100" b="1" i="0" u="none" strike="noStrike">
                          <a:solidFill>
                            <a:srgbClr val="00B050"/>
                          </a:solidFill>
                          <a:effectLst/>
                          <a:latin typeface="Adani Regular" panose="02000503000000020004" pitchFamily="2" charset="0"/>
                        </a:rPr>
                        <a: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Adani Logistics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a:t>
                      </a:r>
                      <a:r>
                        <a:rPr lang="en-US" sz="1100" b="1" i="0" u="none" strike="noStrike">
                          <a:solidFill>
                            <a:srgbClr val="00B050"/>
                          </a:solidFill>
                          <a:effectLst/>
                          <a:latin typeface="Adani Regular" panose="02000503000000020004" pitchFamily="2" charset="0"/>
                        </a:rPr>
                        <a:t>Adani Logistics</a:t>
                      </a:r>
                      <a:r>
                        <a:rPr lang="en-US" sz="1100" b="1" i="0" u="none" strike="noStrike" kern="1200">
                          <a:solidFill>
                            <a:srgbClr val="00B050"/>
                          </a:solidFill>
                          <a:effectLst/>
                          <a:latin typeface="Adani Regular" panose="02000503000000020004" pitchFamily="2" charset="0"/>
                          <a:ea typeface="+mn-ea"/>
                          <a:cs typeface="+mn-cs"/>
                        </a:rPr>
                        <a:t> dated 17-Feb-26.</a:t>
                      </a:r>
                      <a:endParaRPr lang="en-US" sz="1100" b="1" i="0" u="none" strike="noStrike">
                        <a:solidFill>
                          <a:srgbClr val="00B050"/>
                        </a:solidFill>
                        <a:effectLst/>
                        <a:latin typeface="Adani Regular" panose="02000503000000020004" pitchFamily="2"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762979">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Hiring for Survey team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Vital Infratech</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placed to Vital Infratech on 04-Feb-26.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05037478"/>
                  </a:ext>
                </a:extLst>
              </a:tr>
              <a:tr h="762979">
                <a:tc>
                  <a:txBody>
                    <a:bodyPr/>
                    <a:lstStyle/>
                    <a:p>
                      <a:pPr algn="ctr" fontAlgn="ctr"/>
                      <a:r>
                        <a:rPr lang="en-US" sz="1100" b="1" i="0" u="none" strike="noStrike">
                          <a:solidFill>
                            <a:srgbClr val="00B050"/>
                          </a:solidFill>
                          <a:effectLst/>
                          <a:latin typeface="Adani Regular" panose="02000503000000020004" pitchFamily="2" charset="0"/>
                        </a:rPr>
                        <a:t>11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kern="1200">
                          <a:solidFill>
                            <a:srgbClr val="00B050"/>
                          </a:solidFill>
                          <a:effectLst/>
                          <a:latin typeface="Adani Regular" panose="02000503000000020004" pitchFamily="2" charset="0"/>
                          <a:ea typeface="+mn-ea"/>
                          <a:cs typeface="+mn-cs"/>
                        </a:rPr>
                        <a:t>Farana/Crane for Stores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6 NOS</a:t>
                      </a:r>
                    </a:p>
                    <a:p>
                      <a:pPr algn="ctr" fontAlgn="ctr"/>
                      <a:r>
                        <a:rPr lang="en-US" sz="1100" b="1" i="0" u="none" strike="noStrike">
                          <a:solidFill>
                            <a:srgbClr val="00B050"/>
                          </a:solidFill>
                          <a:effectLst/>
                          <a:latin typeface="Adani Regular" panose="02000503000000020004" pitchFamily="2" charset="0"/>
                        </a:rPr>
                        <a:t>6 NOS</a:t>
                      </a:r>
                    </a:p>
                    <a:p>
                      <a:pPr algn="ctr" fontAlgn="ctr"/>
                      <a:r>
                        <a:rPr lang="en-US" sz="1100" b="1" i="0" u="none" strike="noStrike">
                          <a:solidFill>
                            <a:srgbClr val="00B050"/>
                          </a:solidFill>
                          <a:effectLst/>
                          <a:latin typeface="Adani Regular" panose="02000503000000020004" pitchFamily="2" charset="0"/>
                        </a:rPr>
                        <a:t>3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14-Jan-26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05-Feb-26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25-Feb-26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05-Mar-26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12-Mar-26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M/s SAFAR Cranes on 12-Mar-26.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998947"/>
                  </a:ext>
                </a:extLst>
              </a:tr>
              <a:tr h="762979">
                <a:tc>
                  <a:txBody>
                    <a:bodyPr/>
                    <a:lstStyle/>
                    <a:p>
                      <a:pPr algn="ctr" fontAlgn="ctr"/>
                      <a:r>
                        <a:rPr lang="en-US" sz="1100" b="1" i="0" u="none" strike="noStrike">
                          <a:solidFill>
                            <a:srgbClr val="00B050"/>
                          </a:solidFill>
                          <a:effectLst/>
                          <a:latin typeface="Adani Regular" panose="02000503000000020004" pitchFamily="2" charset="0"/>
                        </a:rPr>
                        <a:t>12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Mobile Lighting towers (MLT)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19-Jan-26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29-Jan-26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Accurate Power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10-Feb-26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Accurate Power dated 16-Feb-26.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44048308"/>
                  </a:ext>
                </a:extLst>
              </a:tr>
            </a:tbl>
          </a:graphicData>
        </a:graphic>
      </p:graphicFrame>
    </p:spTree>
    <p:extLst>
      <p:ext uri="{BB962C8B-B14F-4D97-AF65-F5344CB8AC3E}">
        <p14:creationId xmlns:p14="http://schemas.microsoft.com/office/powerpoint/2010/main" val="29808286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EEA52-71DE-B31D-0B10-61B3470829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C69A00-C117-33A5-BCDA-04839048F8AF}"/>
              </a:ext>
            </a:extLst>
          </p:cNvPr>
          <p:cNvSpPr>
            <a:spLocks noGrp="1"/>
          </p:cNvSpPr>
          <p:nvPr>
            <p:ph type="title"/>
          </p:nvPr>
        </p:nvSpPr>
        <p:spPr>
          <a:xfrm>
            <a:off x="0" y="4080641"/>
            <a:ext cx="12192000" cy="1342696"/>
          </a:xfrm>
        </p:spPr>
        <p:txBody>
          <a:bodyPr>
            <a:normAutofit/>
          </a:bodyPr>
          <a:lstStyle/>
          <a:p>
            <a:pPr algn="ctr"/>
            <a:r>
              <a:rPr lang="en-IN" sz="3700">
                <a:latin typeface="Adani Regular"/>
              </a:rPr>
              <a:t>Ordering Status </a:t>
            </a:r>
            <a:br>
              <a:rPr lang="en-IN" sz="3700">
                <a:latin typeface="Adani Regular"/>
              </a:rPr>
            </a:br>
            <a:r>
              <a:rPr lang="en-IN" sz="3700">
                <a:latin typeface="Adani Regular"/>
              </a:rPr>
              <a:t>PSS-09, 05(B) &amp; 08(B)</a:t>
            </a:r>
            <a:endParaRPr lang="en-IN">
              <a:latin typeface="Adani Regular"/>
            </a:endParaRPr>
          </a:p>
        </p:txBody>
      </p:sp>
      <p:sp>
        <p:nvSpPr>
          <p:cNvPr id="2" name="Slide Number Placeholder 1">
            <a:extLst>
              <a:ext uri="{FF2B5EF4-FFF2-40B4-BE49-F238E27FC236}">
                <a16:creationId xmlns:a16="http://schemas.microsoft.com/office/drawing/2014/main" id="{792CC6BB-9AD7-D676-621C-B9239E18CBFF}"/>
              </a:ext>
            </a:extLst>
          </p:cNvPr>
          <p:cNvSpPr>
            <a:spLocks noGrp="1"/>
          </p:cNvSpPr>
          <p:nvPr>
            <p:ph type="sldNum" sz="quarter" idx="12"/>
          </p:nvPr>
        </p:nvSpPr>
        <p:spPr>
          <a:xfrm>
            <a:off x="11560028" y="6492875"/>
            <a:ext cx="482599" cy="365125"/>
          </a:xfrm>
        </p:spPr>
        <p:txBody>
          <a:bodyPr/>
          <a:lstStyle/>
          <a:p>
            <a:fld id="{98B285C1-D8A8-4E98-B28C-1FD972D8EC54}" type="slidenum">
              <a:rPr lang="en-IN" smtClean="0"/>
              <a:t>47</a:t>
            </a:fld>
            <a:endParaRPr lang="en-IN"/>
          </a:p>
        </p:txBody>
      </p:sp>
    </p:spTree>
    <p:extLst>
      <p:ext uri="{BB962C8B-B14F-4D97-AF65-F5344CB8AC3E}">
        <p14:creationId xmlns:p14="http://schemas.microsoft.com/office/powerpoint/2010/main" val="27201379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FA304-68EF-11B4-B7B8-7A629A64E756}"/>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85794099-E09C-F1C0-85EE-65F8EF7DE35C}"/>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Supply ordering Status (</a:t>
            </a:r>
            <a:r>
              <a:rPr lang="en-IN" sz="2400" b="1">
                <a:solidFill>
                  <a:srgbClr val="912A82"/>
                </a:solidFill>
              </a:rPr>
              <a:t>PSS-09, 05(B) &amp; 08(B))</a:t>
            </a:r>
            <a:r>
              <a:rPr lang="en-IN" sz="2400" b="1">
                <a:solidFill>
                  <a:srgbClr val="00B050"/>
                </a:solidFill>
              </a:rPr>
              <a:t> - Completed</a:t>
            </a:r>
            <a:endParaRPr lang="en-US" sz="2400" b="1">
              <a:solidFill>
                <a:srgbClr val="3D3DFF"/>
              </a:solidFill>
            </a:endParaRPr>
          </a:p>
        </p:txBody>
      </p:sp>
      <p:graphicFrame>
        <p:nvGraphicFramePr>
          <p:cNvPr id="4" name="Table 3">
            <a:extLst>
              <a:ext uri="{FF2B5EF4-FFF2-40B4-BE49-F238E27FC236}">
                <a16:creationId xmlns:a16="http://schemas.microsoft.com/office/drawing/2014/main" id="{A25A5B15-C4C2-710D-41F2-3D9060CC6D84}"/>
              </a:ext>
            </a:extLst>
          </p:cNvPr>
          <p:cNvGraphicFramePr>
            <a:graphicFrameLocks noGrp="1"/>
          </p:cNvGraphicFramePr>
          <p:nvPr/>
        </p:nvGraphicFramePr>
        <p:xfrm>
          <a:off x="100256" y="630571"/>
          <a:ext cx="11950760" cy="6076360"/>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823921">
                  <a:extLst>
                    <a:ext uri="{9D8B030D-6E8A-4147-A177-3AD203B41FA5}">
                      <a16:colId xmlns:a16="http://schemas.microsoft.com/office/drawing/2014/main" val="1705681307"/>
                    </a:ext>
                  </a:extLst>
                </a:gridCol>
                <a:gridCol w="1619999">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5">
                  <a:extLst>
                    <a:ext uri="{9D8B030D-6E8A-4147-A177-3AD203B41FA5}">
                      <a16:colId xmlns:a16="http://schemas.microsoft.com/office/drawing/2014/main" val="773725385"/>
                    </a:ext>
                  </a:extLst>
                </a:gridCol>
              </a:tblGrid>
              <a:tr h="472134">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095245">
                <a:tc>
                  <a:txBody>
                    <a:bodyPr/>
                    <a:lstStyle/>
                    <a:p>
                      <a:pPr algn="ctr" fontAlgn="ctr"/>
                      <a:r>
                        <a:rPr lang="en-US" sz="1100" b="1" i="0" u="none" strike="noStrike">
                          <a:solidFill>
                            <a:srgbClr val="00B050"/>
                          </a:solidFill>
                          <a:effectLst/>
                          <a:latin typeface="Adani Regular" panose="02000503000000020004" pitchFamily="2"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fontAlgn="ctr"/>
                      <a:r>
                        <a:rPr lang="en-US" sz="1100" b="1" i="0" u="none" strike="noStrike">
                          <a:solidFill>
                            <a:srgbClr val="00B050"/>
                          </a:solidFill>
                          <a:effectLst/>
                          <a:latin typeface="Adani Regular" panose="02000503000000020004" pitchFamily="2" charset="0"/>
                        </a:rPr>
                        <a:t>Battery Container Package</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432 NOS</a:t>
                      </a:r>
                    </a:p>
                    <a:p>
                      <a:pPr algn="ctr" fontAlgn="ctr"/>
                      <a:r>
                        <a:rPr lang="en-US" sz="1100" b="1" i="0" u="none" strike="noStrike">
                          <a:solidFill>
                            <a:srgbClr val="00B050"/>
                          </a:solidFill>
                          <a:effectLst/>
                          <a:latin typeface="Adani Regular" panose="02000503000000020004" pitchFamily="2" charset="0"/>
                        </a:rPr>
                        <a:t>448 NOS</a:t>
                      </a:r>
                    </a:p>
                    <a:p>
                      <a:pPr algn="ctr" fontAlgn="ctr"/>
                      <a:r>
                        <a:rPr lang="en-US" sz="1100" b="1" i="0" u="none" strike="noStrike">
                          <a:solidFill>
                            <a:srgbClr val="00B050"/>
                          </a:solidFill>
                          <a:effectLst/>
                          <a:latin typeface="Adani Regular" panose="02000503000000020004" pitchFamily="2" charset="0"/>
                        </a:rPr>
                        <a:t>168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30-Oct-25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a:rPr>
                        <a:t> Offers from Svolt, Jinko, Greatpower, Sunwoda, REPT, Narada</a:t>
                      </a:r>
                    </a:p>
                    <a:p>
                      <a:pPr algn="ctr" fontAlgn="ctr"/>
                      <a:r>
                        <a:rPr lang="en-US" sz="1100" b="1" i="0" u="none" strike="noStrike">
                          <a:solidFill>
                            <a:srgbClr val="00B050"/>
                          </a:solidFill>
                          <a:effectLst/>
                          <a:latin typeface="Adani Regular"/>
                        </a:rPr>
                        <a:t>Starcharge, Hyperstrong, Cospower</a:t>
                      </a:r>
                    </a:p>
                    <a:p>
                      <a:pPr algn="ctr" fontAlgn="ctr"/>
                      <a:r>
                        <a:rPr lang="en-US" sz="1100" b="1" i="0" u="none" strike="noStrike">
                          <a:solidFill>
                            <a:srgbClr val="00B050"/>
                          </a:solidFill>
                          <a:effectLst/>
                          <a:latin typeface="Adani Regular"/>
                        </a:rPr>
                        <a:t>Hithium, CATL</a:t>
                      </a:r>
                    </a:p>
                    <a:p>
                      <a:pPr algn="ctr" fontAlgn="ctr"/>
                      <a:r>
                        <a:rPr lang="en-US" sz="1100" b="1" i="0" u="none" strike="noStrike">
                          <a:solidFill>
                            <a:srgbClr val="00B050"/>
                          </a:solidFill>
                          <a:effectLst/>
                          <a:latin typeface="Adani Regular" panose="02000503000000020004" pitchFamily="2" charset="0"/>
                        </a:rPr>
                        <a:t>Lishen, Saft, BYD</a:t>
                      </a:r>
                      <a:endPar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05-Jan-26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Xiamen </a:t>
                      </a:r>
                      <a:r>
                        <a:rPr kumimoji="0" lang="en-US" sz="1100" b="1" i="0" u="none" strike="noStrike" kern="1200" cap="none" spc="0" normalizeH="0" baseline="0" noProof="0" err="1">
                          <a:ln>
                            <a:noFill/>
                          </a:ln>
                          <a:solidFill>
                            <a:srgbClr val="00B050"/>
                          </a:solidFill>
                          <a:effectLst/>
                          <a:uLnTx/>
                          <a:uFillTx/>
                          <a:latin typeface="Adani Regular" panose="02000503000000020004" pitchFamily="2" charset="0"/>
                          <a:ea typeface="+mn-ea"/>
                          <a:cs typeface="+mn-cs"/>
                        </a:rPr>
                        <a:t>Ampace</a:t>
                      </a: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 Technology for PSS-09 &amp; PSS-05(B) on 01-Jan-26.</a:t>
                      </a:r>
                    </a:p>
                    <a:p>
                      <a:pPr marL="85725"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a:t>
                      </a:r>
                      <a:r>
                        <a:rPr kumimoji="0" lang="en-US" sz="1100" b="1" i="0" u="none" strike="noStrike" kern="1200" cap="none" spc="0" normalizeH="0" baseline="0" noProof="0" err="1">
                          <a:ln>
                            <a:noFill/>
                          </a:ln>
                          <a:solidFill>
                            <a:srgbClr val="00B050"/>
                          </a:solidFill>
                          <a:effectLst/>
                          <a:uLnTx/>
                          <a:uFillTx/>
                          <a:latin typeface="Adani Regular" panose="02000503000000020004" pitchFamily="2" charset="0"/>
                          <a:ea typeface="+mn-ea"/>
                          <a:cs typeface="+mn-cs"/>
                        </a:rPr>
                        <a:t>GreatPower</a:t>
                      </a: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 for PSS-08(B) on 05-Jan-26.</a:t>
                      </a: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783689">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PCS (Power Conversion System)</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432 NOS</a:t>
                      </a:r>
                    </a:p>
                    <a:p>
                      <a:pPr algn="ctr" fontAlgn="ctr"/>
                      <a:r>
                        <a:rPr lang="en-US" sz="1100" b="1" i="0" u="none" strike="noStrike">
                          <a:solidFill>
                            <a:srgbClr val="00B050"/>
                          </a:solidFill>
                          <a:effectLst/>
                          <a:latin typeface="Adani Regular" panose="02000503000000020004" pitchFamily="2" charset="0"/>
                        </a:rPr>
                        <a:t>448 NOS</a:t>
                      </a:r>
                    </a:p>
                    <a:p>
                      <a:pPr algn="ctr" fontAlgn="ctr"/>
                      <a:r>
                        <a:rPr lang="en-US" sz="1100" b="1" i="0" u="none" strike="noStrike">
                          <a:solidFill>
                            <a:srgbClr val="00B050"/>
                          </a:solidFill>
                          <a:effectLst/>
                          <a:latin typeface="Adani Regular" panose="02000503000000020004" pitchFamily="2" charset="0"/>
                        </a:rPr>
                        <a:t>168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04-Nov 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strike="noStrike">
                          <a:solidFill>
                            <a:srgbClr val="00B050"/>
                          </a:solidFill>
                          <a:effectLst/>
                          <a:latin typeface="Adani Regular"/>
                          <a:ea typeface="Aptos" panose="020B0004020202020204" pitchFamily="34" charset="0"/>
                          <a:cs typeface="Aptos" panose="020B0004020202020204" pitchFamily="34" charset="0"/>
                        </a:rPr>
                        <a:t>Offers from </a:t>
                      </a:r>
                      <a:r>
                        <a:rPr lang="en-US" sz="1100" b="1" i="0" u="none" strike="noStrike" err="1">
                          <a:solidFill>
                            <a:srgbClr val="00B050"/>
                          </a:solidFill>
                          <a:effectLst/>
                          <a:latin typeface="Adani Regular"/>
                        </a:rPr>
                        <a:t>Sineng</a:t>
                      </a:r>
                      <a:endParaRPr lang="en-US" sz="1100" b="1" i="0" u="none" strike="noStrike">
                        <a:solidFill>
                          <a:srgbClr val="00B050"/>
                        </a:solidFill>
                        <a:effectLst/>
                        <a:latin typeface="Adani Regular"/>
                      </a:endParaRPr>
                    </a:p>
                    <a:p>
                      <a:pPr algn="ctr" fontAlgn="ctr"/>
                      <a:r>
                        <a:rPr lang="en-US" sz="1100" b="1" i="0" u="none" strike="noStrike">
                          <a:solidFill>
                            <a:srgbClr val="00B050"/>
                          </a:solidFill>
                          <a:effectLst/>
                          <a:latin typeface="Adani Regular"/>
                        </a:rPr>
                        <a:t>Hopewind, NR Electric</a:t>
                      </a:r>
                    </a:p>
                    <a:p>
                      <a:pPr algn="ctr" fontAlgn="ctr"/>
                      <a:r>
                        <a:rPr lang="en-US" sz="1100" b="1" i="0" u="none" strike="noStrike">
                          <a:solidFill>
                            <a:srgbClr val="00B050"/>
                          </a:solidFill>
                          <a:effectLst/>
                          <a:latin typeface="Adani Regular"/>
                        </a:rPr>
                        <a:t>Inovance, Soaring</a:t>
                      </a:r>
                    </a:p>
                    <a:p>
                      <a:pPr algn="ctr" fontAlgn="ctr"/>
                      <a:r>
                        <a:rPr lang="en-US" sz="1100" b="1" i="0" u="none" strike="noStrike">
                          <a:solidFill>
                            <a:srgbClr val="00B050"/>
                          </a:solidFill>
                          <a:effectLst/>
                          <a:latin typeface="Adani Regular"/>
                        </a:rPr>
                        <a:t>Sifang, </a:t>
                      </a:r>
                      <a:r>
                        <a:rPr lang="en-US" sz="1100" b="1" i="0" u="none" strike="noStrike" err="1">
                          <a:solidFill>
                            <a:srgbClr val="00B050"/>
                          </a:solidFill>
                          <a:effectLst/>
                          <a:latin typeface="Adani Regular"/>
                        </a:rPr>
                        <a:t>Hoymiles</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INOVA Automation on 02-Jan-26</a:t>
                      </a:r>
                    </a:p>
                    <a:p>
                      <a:pPr marL="95250"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SHENZEN Hope wind Energy for PSS-05(B) &amp; PSS-08(B) on 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471776"/>
                  </a:ext>
                </a:extLst>
              </a:tr>
              <a:tr h="627912">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EMS (Energy Management System)</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01-Nov-25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ES" sz="1100" b="1" i="0" u="none" strike="noStrike">
                          <a:solidFill>
                            <a:srgbClr val="00B050"/>
                          </a:solidFill>
                          <a:effectLst/>
                          <a:latin typeface="Adani Regular"/>
                        </a:rPr>
                        <a:t>Adaptive, Emerson, Schenider, Honeywell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17-Dec-25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5250"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Honeywell Automation for PSS-09 on 02-Jan-26</a:t>
                      </a:r>
                    </a:p>
                    <a:p>
                      <a:pPr marL="95250"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Emerson for PSS-05(B) &amp; PSS-08(B) on 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783689">
                <a:tc>
                  <a:txBody>
                    <a:bodyPr/>
                    <a:lstStyle/>
                    <a:p>
                      <a:pPr algn="ctr" fontAlgn="ctr"/>
                      <a:r>
                        <a:rPr lang="en-US" sz="1100" b="1" i="0" u="none" strike="noStrike">
                          <a:solidFill>
                            <a:srgbClr val="00B050"/>
                          </a:solidFill>
                          <a:effectLst/>
                          <a:latin typeface="Adani Regular" panose="02000503000000020004" pitchFamily="2" charset="0"/>
                        </a:rPr>
                        <a:t>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Converter Transformer</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54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56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sv-SE" sz="1100" b="1" i="0" u="none" strike="noStrike">
                          <a:solidFill>
                            <a:srgbClr val="00B050"/>
                          </a:solidFill>
                          <a:effectLst/>
                          <a:latin typeface="Adani Regular"/>
                        </a:rPr>
                        <a:t>Ornet, Silchar, Atlanta,Tesla, SSE</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25-Dec-25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r>
                        <a:rPr lang="en-US" sz="1100" b="1" i="0" u="none" strike="noStrike">
                          <a:solidFill>
                            <a:srgbClr val="00B050"/>
                          </a:solidFill>
                          <a:effectLst/>
                          <a:latin typeface="Adani Regular" panose="02000503000000020004" pitchFamily="2" charset="0"/>
                        </a:rPr>
                        <a:t>13-Jan-26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91440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for Convertor Transformer for PSS-09 &amp; 05(B) released on 13-Jan-26. </a:t>
                      </a:r>
                      <a:r>
                        <a:rPr kumimoji="0" lang="en-US" sz="1100" b="0" i="0" u="none" strike="noStrike" kern="1200" cap="none" spc="0" normalizeH="0" baseline="0" noProof="0">
                          <a:ln>
                            <a:noFill/>
                          </a:ln>
                          <a:solidFill>
                            <a:schemeClr val="tx1"/>
                          </a:solidFill>
                          <a:effectLst/>
                          <a:uLnTx/>
                          <a:uFillTx/>
                          <a:latin typeface="Adani Regular" panose="02000503000000020004" pitchFamily="2" charset="0"/>
                          <a:ea typeface="+mn-ea"/>
                          <a:cs typeface="+mn-cs"/>
                        </a:rPr>
                        <a:t>NFA approved for PSS-08(B), IMP Power based on type test approval, else Performance based to existing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r h="627912">
                <a:tc>
                  <a:txBody>
                    <a:bodyPr/>
                    <a:lstStyle/>
                    <a:p>
                      <a:pPr algn="ctr" fontAlgn="ctr"/>
                      <a:r>
                        <a:rPr lang="en-US" sz="1100" b="1" i="0" u="none" strike="noStrike">
                          <a:solidFill>
                            <a:srgbClr val="00B050"/>
                          </a:solidFill>
                          <a:effectLst/>
                          <a:latin typeface="Adani Regular" panose="02000503000000020004" pitchFamily="2" charset="0"/>
                        </a:rPr>
                        <a:t>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CSS (Auxiliary Transformer)</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9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10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4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ABB, Siemens, Schneider, Akshar, Trisquare, Voltamp, Sudhir, Rhine</a:t>
                      </a:r>
                      <a:endParaRPr lang="en-US" sz="1100" b="1" i="0" u="none" strike="noStrike">
                        <a:solidFill>
                          <a:srgbClr val="00B050"/>
                        </a:solidFill>
                        <a:effectLst/>
                        <a:latin typeface="Adani Regular"/>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07-Jan-26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16-Jan-26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released to M/s Akshar on 16-Jan-26.</a:t>
                      </a:r>
                      <a:endParaRPr lang="en-US" sz="1100" b="1">
                        <a:solidFill>
                          <a:srgbClr val="00B050"/>
                        </a:solidFill>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976789"/>
                  </a:ext>
                </a:extLst>
              </a:tr>
              <a:tr h="627912">
                <a:tc>
                  <a:txBody>
                    <a:bodyPr/>
                    <a:lstStyle/>
                    <a:p>
                      <a:pPr algn="ctr" fontAlgn="ctr"/>
                      <a:r>
                        <a:rPr lang="en-US" sz="1100" b="1" i="0" u="none" strike="noStrike">
                          <a:solidFill>
                            <a:srgbClr val="00B050"/>
                          </a:solidFill>
                          <a:effectLst/>
                          <a:latin typeface="Adani Regular" panose="02000503000000020004" pitchFamily="2" charset="0"/>
                        </a:rPr>
                        <a:t>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MV Switchgear</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20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08 NOS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RFP: </a:t>
                      </a:r>
                      <a:r>
                        <a:rPr lang="en-US" sz="1100" b="1" i="0" u="none" strike="noStrike">
                          <a:solidFill>
                            <a:srgbClr val="00B050"/>
                          </a:solidFill>
                          <a:effectLst/>
                          <a:latin typeface="Adani Regular"/>
                        </a:rPr>
                        <a:t>Trisquare, Symatic, Popular, Technocraft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a:rPr>
                        <a:t>Previous approved specs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Popular for PSS-09 on 01-Jan-26.</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a:t>
                      </a:r>
                      <a:r>
                        <a:rPr lang="en-US" sz="1100" b="1" i="0" u="none" strike="noStrike" err="1">
                          <a:solidFill>
                            <a:srgbClr val="00B050"/>
                          </a:solidFill>
                          <a:effectLst/>
                          <a:latin typeface="Adani Regular" panose="02000503000000020004" pitchFamily="2" charset="0"/>
                        </a:rPr>
                        <a:t>Symatic</a:t>
                      </a:r>
                      <a:r>
                        <a:rPr lang="en-US" sz="1100" b="1" i="0" u="none" strike="noStrike">
                          <a:solidFill>
                            <a:srgbClr val="00B050"/>
                          </a:solidFill>
                          <a:effectLst/>
                          <a:latin typeface="Adani Regular" panose="02000503000000020004" pitchFamily="2" charset="0"/>
                        </a:rPr>
                        <a:t> for PSS-05(B) and PSS-08(B) on 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627912">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LT Panel - ACDB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54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56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21 NOS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a:ea typeface="+mn-ea"/>
                          <a:cs typeface="+mn-cs"/>
                        </a:rPr>
                        <a:t>RFP: </a:t>
                      </a:r>
                      <a:r>
                        <a:rPr lang="en-US" sz="1100" b="1" i="0" u="none" strike="noStrike">
                          <a:solidFill>
                            <a:srgbClr val="00B050"/>
                          </a:solidFill>
                          <a:effectLst/>
                          <a:latin typeface="Adani Regular"/>
                        </a:rPr>
                        <a:t>Akshar, Active, ECS, Swati, Prima, </a:t>
                      </a:r>
                      <a:r>
                        <a:rPr lang="en-US" sz="1100" b="1" i="0" u="none" strike="noStrike" err="1">
                          <a:solidFill>
                            <a:srgbClr val="00B050"/>
                          </a:solidFill>
                          <a:effectLst/>
                          <a:latin typeface="Adani Regular"/>
                        </a:rPr>
                        <a:t>Trisquare</a:t>
                      </a:r>
                      <a:r>
                        <a:rPr lang="en-US" sz="1100" b="1" i="0" u="none" strike="noStrike">
                          <a:solidFill>
                            <a:srgbClr val="00B050"/>
                          </a:solidFill>
                          <a:effectLst/>
                          <a:latin typeface="Adani Regular"/>
                        </a:rPr>
                        <a:t>, C&amp;S, Narkhede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Received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Prima Automation for PSS-09 &amp; PSS-08(B).</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Active Engineer for PSS-05(B) on 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57901352"/>
                  </a:ext>
                </a:extLst>
              </a:tr>
            </a:tbl>
          </a:graphicData>
        </a:graphic>
      </p:graphicFrame>
      <p:sp>
        <p:nvSpPr>
          <p:cNvPr id="3" name="Slide Number Placeholder 1">
            <a:extLst>
              <a:ext uri="{FF2B5EF4-FFF2-40B4-BE49-F238E27FC236}">
                <a16:creationId xmlns:a16="http://schemas.microsoft.com/office/drawing/2014/main" id="{4F0389B6-CAD9-4002-75F4-B0116A047357}"/>
              </a:ext>
            </a:extLst>
          </p:cNvPr>
          <p:cNvSpPr>
            <a:spLocks noGrp="1"/>
          </p:cNvSpPr>
          <p:nvPr>
            <p:ph type="sldNum" sz="quarter" idx="12"/>
          </p:nvPr>
        </p:nvSpPr>
        <p:spPr>
          <a:xfrm>
            <a:off x="9206216" y="6525397"/>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8B285C1-D8A8-4E98-B28C-1FD972D8EC54}" type="slidenum">
              <a:rPr lang="en-IN" smtClean="0"/>
              <a:pPr/>
              <a:t>48</a:t>
            </a:fld>
            <a:endParaRPr lang="en-IN"/>
          </a:p>
        </p:txBody>
      </p:sp>
    </p:spTree>
    <p:extLst>
      <p:ext uri="{BB962C8B-B14F-4D97-AF65-F5344CB8AC3E}">
        <p14:creationId xmlns:p14="http://schemas.microsoft.com/office/powerpoint/2010/main" val="11493609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B0E3-3E1D-29EA-59B2-331B489EF9D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18D0302-04C2-7D33-193C-C173D60A4095}"/>
              </a:ext>
            </a:extLst>
          </p:cNvPr>
          <p:cNvGraphicFramePr>
            <a:graphicFrameLocks noGrp="1"/>
          </p:cNvGraphicFramePr>
          <p:nvPr/>
        </p:nvGraphicFramePr>
        <p:xfrm>
          <a:off x="100256" y="744875"/>
          <a:ext cx="11950762" cy="5506023"/>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823921">
                  <a:extLst>
                    <a:ext uri="{9D8B030D-6E8A-4147-A177-3AD203B41FA5}">
                      <a16:colId xmlns:a16="http://schemas.microsoft.com/office/drawing/2014/main" val="1705681307"/>
                    </a:ext>
                  </a:extLst>
                </a:gridCol>
                <a:gridCol w="1620000">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6">
                  <a:extLst>
                    <a:ext uri="{9D8B030D-6E8A-4147-A177-3AD203B41FA5}">
                      <a16:colId xmlns:a16="http://schemas.microsoft.com/office/drawing/2014/main" val="773725385"/>
                    </a:ext>
                  </a:extLst>
                </a:gridCol>
              </a:tblGrid>
              <a:tr h="518028">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030789">
                <a:tc>
                  <a:txBody>
                    <a:bodyPr/>
                    <a:lstStyle/>
                    <a:p>
                      <a:pPr algn="ctr" fontAlgn="ctr"/>
                      <a:r>
                        <a:rPr lang="en-US" sz="1100" b="1" i="0" u="none" strike="noStrike">
                          <a:solidFill>
                            <a:srgbClr val="00B050"/>
                          </a:solidFill>
                          <a:effectLst/>
                          <a:latin typeface="Adani Regular" panose="02000503000000020004" pitchFamily="2" charset="0"/>
                        </a:rPr>
                        <a:t>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HT Cable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80 km</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171 km</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40 km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kumimoji="0" lang="sv-SE"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Havells, Paramount, V Marc, DICAB, UCL, Polycab,TCL</a:t>
                      </a: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Paramount for PSS-09 on 31-Dec-25.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Paramount &amp; Diamond on 31-Dec-25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Order issued to Diamond for PSS-08(B) on 31-Dec-26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4784010"/>
                  </a:ext>
                </a:extLst>
              </a:tr>
              <a:tr h="706391">
                <a:tc>
                  <a:txBody>
                    <a:bodyPr/>
                    <a:lstStyle/>
                    <a:p>
                      <a:pPr algn="ctr" fontAlgn="ctr"/>
                      <a:r>
                        <a:rPr lang="en-US" sz="1100" b="1" i="0" u="none" strike="noStrike">
                          <a:solidFill>
                            <a:srgbClr val="00B050"/>
                          </a:solidFill>
                          <a:effectLst/>
                          <a:latin typeface="Adani Regular" panose="02000503000000020004" pitchFamily="2" charset="0"/>
                        </a:rPr>
                        <a:t>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DC &amp; LT Cables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962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1001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382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4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Offers: PARAMOUNT, KEI, DIAMOND, VMARC, FINOLEX, DYNAMIC, GEMSCAB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APAR &amp; DYNAMIC (PSS-09), PARAMOUNT &amp; DYNAMIC (PSS-05(B)), DIAMOND &amp; DYNAMIC (PSS-08(B)) dated 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1030789">
                <a:tc>
                  <a:txBody>
                    <a:bodyPr/>
                    <a:lstStyle/>
                    <a:p>
                      <a:pPr algn="ctr" fontAlgn="ctr"/>
                      <a:r>
                        <a:rPr lang="en-US" sz="1100" b="1" i="0" u="none" strike="noStrike">
                          <a:solidFill>
                            <a:srgbClr val="00B050"/>
                          </a:solidFill>
                          <a:effectLst/>
                          <a:latin typeface="Adani Regular" panose="02000503000000020004" pitchFamily="2" charset="0"/>
                        </a:rPr>
                        <a:t>10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Control Cables</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140.4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145.6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54.6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Offers: </a:t>
                      </a:r>
                      <a:r>
                        <a:rPr lang="sv-SE" sz="1100" b="1" i="0" u="none" strike="noStrike">
                          <a:solidFill>
                            <a:srgbClr val="00B050"/>
                          </a:solidFill>
                          <a:effectLst/>
                          <a:latin typeface="Adani Regular" panose="02000503000000020004" pitchFamily="2" charset="0"/>
                        </a:rPr>
                        <a:t>Delton, Diamond, Havells, Ravin, Special, Suyog, Polycab, Paramount, Gemscab, Dynamic, Chandresh</a:t>
                      </a: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GEMSCAB dated 19-Jan-26.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569088">
                <a:tc>
                  <a:txBody>
                    <a:bodyPr/>
                    <a:lstStyle/>
                    <a:p>
                      <a:pPr algn="ctr" fontAlgn="ctr"/>
                      <a:r>
                        <a:rPr lang="en-US" sz="1100" b="1" i="0" u="none" strike="noStrike">
                          <a:solidFill>
                            <a:srgbClr val="00B050"/>
                          </a:solidFill>
                          <a:effectLst/>
                          <a:latin typeface="Adani Regular" panose="02000503000000020004" pitchFamily="2" charset="0"/>
                        </a:rPr>
                        <a:t>11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SCADA Cables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295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295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150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4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buNone/>
                      </a:pPr>
                      <a:r>
                        <a:rPr lang="en-US" sz="1200" b="1" i="0" u="none" strike="noStrike">
                          <a:solidFill>
                            <a:srgbClr val="00B050"/>
                          </a:solidFill>
                          <a:effectLst/>
                          <a:latin typeface="Adani Regular" panose="02000503000000020004" pitchFamily="2" charset="0"/>
                        </a:rPr>
                        <a:t>Special, Paramount, Gemscab, Suyog, Delton, KEI</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br>
                        <a:rPr lang="en-US" sz="1100" b="1" i="0" u="none" strike="sngStrike">
                          <a:solidFill>
                            <a:srgbClr val="00B050"/>
                          </a:solidFill>
                          <a:effectLst/>
                          <a:latin typeface="Adani Regular" panose="02000503000000020004" pitchFamily="2" charset="0"/>
                        </a:rPr>
                      </a:br>
                      <a:r>
                        <a:rPr lang="en-US" sz="1100" b="1" i="0" u="none" strike="noStrike">
                          <a:solidFill>
                            <a:srgbClr val="00B050"/>
                          </a:solidFill>
                          <a:effectLst/>
                          <a:latin typeface="Adani Regular" panose="02000503000000020004" pitchFamily="2" charset="0"/>
                        </a:rPr>
                        <a:t>02-Jan-26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08-Jan-26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4138" indent="0" algn="l" fontAlgn="ctr">
                        <a:buNone/>
                      </a:pPr>
                      <a:r>
                        <a:rPr lang="en-US" sz="1100" b="1" i="0" u="none" strike="noStrike">
                          <a:solidFill>
                            <a:srgbClr val="00B050"/>
                          </a:solidFill>
                          <a:effectLst/>
                          <a:latin typeface="Adani Regular" panose="02000503000000020004" pitchFamily="2" charset="0"/>
                        </a:rPr>
                        <a:t>Order releases to M/s Delton &amp; M/s Suyog dated 08-Jan-26.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46461236"/>
                  </a:ext>
                </a:extLst>
              </a:tr>
              <a:tr h="569088">
                <a:tc>
                  <a:txBody>
                    <a:bodyPr/>
                    <a:lstStyle/>
                    <a:p>
                      <a:pPr algn="ctr" fontAlgn="ctr"/>
                      <a:r>
                        <a:rPr lang="en-US" sz="1100" b="1" i="0" u="none" strike="noStrike">
                          <a:solidFill>
                            <a:srgbClr val="00B050"/>
                          </a:solidFill>
                          <a:effectLst/>
                          <a:latin typeface="Adani Regular" panose="02000503000000020004" pitchFamily="2" charset="0"/>
                        </a:rPr>
                        <a:t>12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FO Cable</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22.5 km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18 km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Previous TBER is valid</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Repeat order confirmation received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91440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Paramount on 03-Jan-26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1081850">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Precast Supply (Monolithic Beam, Staircase, BOT and NIFPS)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1008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1046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393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14-Dec-25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RFP: </a:t>
                      </a:r>
                      <a:r>
                        <a:rPr lang="en-US" sz="1100" b="1" i="0" u="none" strike="noStrike">
                          <a:solidFill>
                            <a:srgbClr val="00B050"/>
                          </a:solidFill>
                          <a:effectLst/>
                          <a:latin typeface="Adani Regular" panose="02000503000000020004" pitchFamily="2" charset="0"/>
                        </a:rPr>
                        <a:t>Buildcast, Sachi Precast, Sachi Agency, Shreeji, VAB, Fuji</a:t>
                      </a: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16-Jan-26</a:t>
                      </a:r>
                      <a:endParaRPr kumimoji="0" lang="en-US" sz="12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28-Jan-26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Vendors finalized. Orders for Monolithic Beam &amp; BOT released dated 15-Jan-26. All orders for PSS-08(B) released. Orders for NIFPS and Staircase for BCF, PCS &amp; SGR released on 28-Jan.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bl>
          </a:graphicData>
        </a:graphic>
      </p:graphicFrame>
      <p:sp>
        <p:nvSpPr>
          <p:cNvPr id="3" name="Rectangle 2">
            <a:extLst>
              <a:ext uri="{FF2B5EF4-FFF2-40B4-BE49-F238E27FC236}">
                <a16:creationId xmlns:a16="http://schemas.microsoft.com/office/drawing/2014/main" id="{772495A7-A6CF-8B5F-E56A-ADB96C54F425}"/>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Supply ordering Status (</a:t>
            </a:r>
            <a:r>
              <a:rPr lang="en-IN" sz="2400" b="1">
                <a:solidFill>
                  <a:srgbClr val="912A82"/>
                </a:solidFill>
              </a:rPr>
              <a:t>PSS-09, 05(B) &amp; 08(B))</a:t>
            </a:r>
            <a:r>
              <a:rPr lang="en-IN" sz="2400" b="1">
                <a:solidFill>
                  <a:srgbClr val="00B050"/>
                </a:solidFill>
              </a:rPr>
              <a:t> - Completed</a:t>
            </a:r>
            <a:endParaRPr lang="en-US" sz="2400" b="1">
              <a:solidFill>
                <a:srgbClr val="3D3DFF"/>
              </a:solidFill>
            </a:endParaRPr>
          </a:p>
        </p:txBody>
      </p:sp>
    </p:spTree>
    <p:extLst>
      <p:ext uri="{BB962C8B-B14F-4D97-AF65-F5344CB8AC3E}">
        <p14:creationId xmlns:p14="http://schemas.microsoft.com/office/powerpoint/2010/main" val="14495056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0D92-A088-E2AF-0339-81F8E109DB03}"/>
            </a:ext>
          </a:extLst>
        </p:cNvPr>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700CF4DA-5778-936A-E3E5-622489C72EDF}"/>
              </a:ext>
            </a:extLst>
          </p:cNvPr>
          <p:cNvSpPr>
            <a:spLocks noGrp="1"/>
          </p:cNvSpPr>
          <p:nvPr>
            <p:ph type="sldNum" sz="quarter" idx="12"/>
          </p:nvPr>
        </p:nvSpPr>
        <p:spPr>
          <a:xfrm>
            <a:off x="9213294" y="6486977"/>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8B285C1-D8A8-4E98-B28C-1FD972D8EC54}" type="slidenum">
              <a:rPr lang="en-IN" smtClean="0"/>
              <a:pPr/>
              <a:t>50</a:t>
            </a:fld>
            <a:endParaRPr lang="en-IN"/>
          </a:p>
        </p:txBody>
      </p:sp>
      <p:sp>
        <p:nvSpPr>
          <p:cNvPr id="5" name="Rectangle 2">
            <a:extLst>
              <a:ext uri="{FF2B5EF4-FFF2-40B4-BE49-F238E27FC236}">
                <a16:creationId xmlns:a16="http://schemas.microsoft.com/office/drawing/2014/main" id="{FA19B350-5C7F-6C7E-1880-991A528A8A3E}"/>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Supply ordering Status (</a:t>
            </a:r>
            <a:r>
              <a:rPr lang="en-IN" sz="2400" b="1">
                <a:solidFill>
                  <a:srgbClr val="912A82"/>
                </a:solidFill>
              </a:rPr>
              <a:t>PSS-09, 05(B) &amp; 08(B))</a:t>
            </a:r>
            <a:endParaRPr lang="en-US" sz="2400" b="1">
              <a:solidFill>
                <a:srgbClr val="00B050"/>
              </a:solidFill>
            </a:endParaRPr>
          </a:p>
        </p:txBody>
      </p:sp>
      <p:graphicFrame>
        <p:nvGraphicFramePr>
          <p:cNvPr id="6" name="Table 5">
            <a:extLst>
              <a:ext uri="{FF2B5EF4-FFF2-40B4-BE49-F238E27FC236}">
                <a16:creationId xmlns:a16="http://schemas.microsoft.com/office/drawing/2014/main" id="{A741E547-E6BE-93B4-DEC9-A2DE7DEBA6DF}"/>
              </a:ext>
            </a:extLst>
          </p:cNvPr>
          <p:cNvGraphicFramePr>
            <a:graphicFrameLocks noGrp="1"/>
          </p:cNvGraphicFramePr>
          <p:nvPr>
            <p:extLst>
              <p:ext uri="{D42A27DB-BD31-4B8C-83A1-F6EECF244321}">
                <p14:modId xmlns:p14="http://schemas.microsoft.com/office/powerpoint/2010/main" val="153447645"/>
              </p:ext>
            </p:extLst>
          </p:nvPr>
        </p:nvGraphicFramePr>
        <p:xfrm>
          <a:off x="66695" y="641997"/>
          <a:ext cx="12058610" cy="6007957"/>
        </p:xfrm>
        <a:graphic>
          <a:graphicData uri="http://schemas.openxmlformats.org/drawingml/2006/table">
            <a:tbl>
              <a:tblPr/>
              <a:tblGrid>
                <a:gridCol w="398000">
                  <a:extLst>
                    <a:ext uri="{9D8B030D-6E8A-4147-A177-3AD203B41FA5}">
                      <a16:colId xmlns:a16="http://schemas.microsoft.com/office/drawing/2014/main" val="2829026117"/>
                    </a:ext>
                  </a:extLst>
                </a:gridCol>
                <a:gridCol w="1276363">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851534">
                  <a:extLst>
                    <a:ext uri="{9D8B030D-6E8A-4147-A177-3AD203B41FA5}">
                      <a16:colId xmlns:a16="http://schemas.microsoft.com/office/drawing/2014/main" val="3499724676"/>
                    </a:ext>
                  </a:extLst>
                </a:gridCol>
                <a:gridCol w="816390">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657982">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812684">
                <a:tc>
                  <a:txBody>
                    <a:bodyPr/>
                    <a:lstStyle/>
                    <a:p>
                      <a:pPr algn="ctr" fontAlgn="ctr"/>
                      <a:r>
                        <a:rPr lang="en-US" sz="1100" b="0" i="0" u="none" strike="noStrike">
                          <a:solidFill>
                            <a:schemeClr val="tx1"/>
                          </a:solidFill>
                          <a:effectLst/>
                          <a:latin typeface="Adani Regular" panose="02000503000000020004" pitchFamily="2" charset="0"/>
                        </a:rPr>
                        <a:t>14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defTabSz="1219170" rtl="0" eaLnBrk="1" fontAlgn="ctr" latinLnBrk="0" hangingPunct="1"/>
                      <a:r>
                        <a:rPr lang="en-US" sz="1100" b="0" i="0" u="none" strike="noStrike" kern="1200">
                          <a:solidFill>
                            <a:schemeClr val="tx1"/>
                          </a:solidFill>
                          <a:effectLst/>
                          <a:latin typeface="Adani Regular" panose="02000503000000020004" pitchFamily="2" charset="0"/>
                          <a:ea typeface="+mn-ea"/>
                          <a:cs typeface="+mn-cs"/>
                        </a:rPr>
                        <a:t>Harmonic Filter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Adani Regular" panose="02000503000000020004" pitchFamily="2" charset="0"/>
                          <a:ea typeface="+mn-ea"/>
                          <a:cs typeface="+mn-cs"/>
                        </a:rPr>
                        <a:t>8 SET</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Adani Regular" panose="02000503000000020004" pitchFamily="2" charset="0"/>
                          <a:ea typeface="+mn-ea"/>
                          <a:cs typeface="+mn-cs"/>
                        </a:rPr>
                        <a:t>12 SET</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Adani Regular" panose="02000503000000020004" pitchFamily="2" charset="0"/>
                          <a:ea typeface="+mn-ea"/>
                          <a:cs typeface="+mn-cs"/>
                        </a:rPr>
                        <a:t>8 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B050"/>
                          </a:solidFill>
                          <a:effectLst/>
                          <a:latin typeface="Adani Regular" panose="02000503000000020004" pitchFamily="2" charset="0"/>
                        </a:rPr>
                        <a:t>30-Mar-26</a:t>
                      </a:r>
                    </a:p>
                    <a:p>
                      <a:pPr algn="ctr" fontAlgn="ctr"/>
                      <a:r>
                        <a:rPr lang="en-US" sz="1100" b="0" i="0" u="none" strike="noStrike">
                          <a:solidFill>
                            <a:srgbClr val="00B050"/>
                          </a:solidFill>
                          <a:effectLst/>
                          <a:latin typeface="Adani Regular" panose="02000503000000020004" pitchFamily="2" charset="0"/>
                        </a:rPr>
                        <a:t>31-Mar-26</a:t>
                      </a:r>
                    </a:p>
                    <a:p>
                      <a:pPr algn="ctr" fontAlgn="ctr"/>
                      <a:r>
                        <a:rPr lang="en-US" sz="1100" b="0" i="0" u="none" strike="noStrike">
                          <a:solidFill>
                            <a:srgbClr val="00B050"/>
                          </a:solidFill>
                          <a:effectLst/>
                          <a:latin typeface="Adani Regular" panose="02000503000000020004" pitchFamily="2" charset="0"/>
                        </a:rPr>
                        <a:t>14-Apr-26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0" i="0" u="none" strike="noStrike">
                        <a:solidFill>
                          <a:schemeClr val="tx1"/>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0" u="none" strike="sngStrike" kern="1200" cap="none" spc="0" normalizeH="0" baseline="0" noProof="0">
                          <a:ln>
                            <a:noFill/>
                          </a:ln>
                          <a:solidFill>
                            <a:schemeClr val="tx1"/>
                          </a:solidFill>
                          <a:effectLst/>
                          <a:uLnTx/>
                          <a:uFillTx/>
                          <a:latin typeface="Adani Regular" panose="02000503000000020004" pitchFamily="2" charset="0"/>
                          <a:ea typeface="+mn-ea"/>
                          <a:cs typeface="+mn-cs"/>
                        </a:rPr>
                        <a:t>10-Apr-26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0" u="none" strike="sngStrike" kern="1200" cap="none" spc="0" normalizeH="0" baseline="0" noProof="0">
                          <a:ln>
                            <a:noFill/>
                          </a:ln>
                          <a:solidFill>
                            <a:schemeClr val="tx1"/>
                          </a:solidFill>
                          <a:effectLst/>
                          <a:uLnTx/>
                          <a:uFillTx/>
                          <a:latin typeface="Adani Regular" panose="02000503000000020004" pitchFamily="2" charset="0"/>
                          <a:ea typeface="+mn-ea"/>
                          <a:cs typeface="+mn-cs"/>
                        </a:rPr>
                        <a:t>18-Apr-26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0" u="none" strike="sngStrike" kern="1200" cap="none" spc="0" normalizeH="0" baseline="0" noProof="0">
                          <a:ln>
                            <a:noFill/>
                          </a:ln>
                          <a:solidFill>
                            <a:schemeClr val="tx1"/>
                          </a:solidFill>
                          <a:effectLst/>
                          <a:uLnTx/>
                          <a:uFillTx/>
                          <a:latin typeface="Adani Regular" panose="02000503000000020004" pitchFamily="2" charset="0"/>
                          <a:ea typeface="+mn-ea"/>
                          <a:cs typeface="+mn-cs"/>
                        </a:rPr>
                        <a:t>27-Apr-26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0" u="none" strike="sngStrike" kern="1200" cap="none" spc="0" normalizeH="0" baseline="0" noProof="0">
                          <a:ln>
                            <a:noFill/>
                          </a:ln>
                          <a:solidFill>
                            <a:schemeClr val="tx1"/>
                          </a:solidFill>
                          <a:effectLst/>
                          <a:uLnTx/>
                          <a:uFillTx/>
                          <a:latin typeface="Adani Regular" panose="02000503000000020004" pitchFamily="2" charset="0"/>
                          <a:ea typeface="+mn-ea"/>
                          <a:cs typeface="+mn-cs"/>
                        </a:rPr>
                        <a:t>05-May-26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Adani Regular" panose="02000503000000020004" pitchFamily="2" charset="0"/>
                          <a:ea typeface="+mn-ea"/>
                          <a:cs typeface="+mn-cs"/>
                        </a:rPr>
                        <a:t>15-May-26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kern="1200">
                          <a:solidFill>
                            <a:srgbClr val="00B050"/>
                          </a:solidFill>
                          <a:effectLst/>
                          <a:latin typeface="Adani Regular" panose="02000503000000020004" pitchFamily="2" charset="0"/>
                          <a:ea typeface="+mn-ea"/>
                          <a:cs typeface="+mn-cs"/>
                        </a:rPr>
                        <a:t>17-Apr-26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kern="1200">
                          <a:solidFill>
                            <a:srgbClr val="00B050"/>
                          </a:solidFill>
                          <a:effectLst/>
                          <a:latin typeface="Adani Regular" panose="02000503000000020004" pitchFamily="2" charset="0"/>
                          <a:ea typeface="+mn-ea"/>
                          <a:cs typeface="+mn-cs"/>
                        </a:rPr>
                        <a:t>15-Apr-26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kern="1200">
                          <a:solidFill>
                            <a:schemeClr val="tx1"/>
                          </a:solidFill>
                          <a:effectLst/>
                          <a:latin typeface="Adani Regular" panose="02000503000000020004" pitchFamily="2" charset="0"/>
                          <a:ea typeface="+mn-ea"/>
                          <a:cs typeface="+mn-cs"/>
                        </a:rPr>
                        <a:t>22-Apr-26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kern="1200">
                          <a:solidFill>
                            <a:schemeClr val="tx1"/>
                          </a:solidFill>
                          <a:effectLst/>
                          <a:latin typeface="Adani Regular" panose="02000503000000020004" pitchFamily="2" charset="0"/>
                          <a:ea typeface="+mn-ea"/>
                          <a:cs typeface="+mn-cs"/>
                        </a:rPr>
                        <a:t>30-Apr-26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kern="1200">
                          <a:solidFill>
                            <a:schemeClr val="tx1"/>
                          </a:solidFill>
                          <a:effectLst/>
                          <a:latin typeface="Adani Regular" panose="02000503000000020004" pitchFamily="2" charset="0"/>
                          <a:ea typeface="+mn-ea"/>
                          <a:cs typeface="+mn-cs"/>
                        </a:rPr>
                        <a:t>08-May-26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Adani Regular" panose="02000503000000020004" pitchFamily="2" charset="0"/>
                          <a:ea typeface="+mn-ea"/>
                          <a:cs typeface="+mn-cs"/>
                        </a:rPr>
                        <a:t>16-May-26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91440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panose="02000503000000020004" pitchFamily="2" charset="0"/>
                        </a:rPr>
                        <a:t>Order confirmation issued to </a:t>
                      </a:r>
                      <a:r>
                        <a:rPr lang="en-US" sz="1100" b="0" i="0" u="none" strike="noStrike" err="1">
                          <a:solidFill>
                            <a:srgbClr val="00B050"/>
                          </a:solidFill>
                          <a:effectLst/>
                          <a:latin typeface="Adani Regular" panose="02000503000000020004" pitchFamily="2" charset="0"/>
                        </a:rPr>
                        <a:t>Clarient</a:t>
                      </a:r>
                      <a:r>
                        <a:rPr lang="en-US" sz="1100" b="0" i="0" u="none" strike="noStrike">
                          <a:solidFill>
                            <a:srgbClr val="00B050"/>
                          </a:solidFill>
                          <a:effectLst/>
                          <a:latin typeface="Adani Regular" panose="02000503000000020004" pitchFamily="2" charset="0"/>
                        </a:rPr>
                        <a:t> for PSS-09 on 17-Apr &amp; PSS-05(B) on 15-Apr-26.</a:t>
                      </a:r>
                    </a:p>
                    <a:p>
                      <a:pPr marL="85725" marR="0" lvl="0" indent="0" algn="l" defTabSz="91440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panose="02000503000000020004" pitchFamily="2" charset="0"/>
                        </a:rPr>
                        <a:t>Harmonic filter sizes for </a:t>
                      </a:r>
                    </a:p>
                    <a:p>
                      <a:pPr marL="85725" marR="0" lvl="0" indent="0" algn="l" defTabSz="91440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panose="02000503000000020004" pitchFamily="2" charset="0"/>
                        </a:rPr>
                        <a:t>For PSS-08(B) received on 14-Apr.</a:t>
                      </a:r>
                    </a:p>
                    <a:p>
                      <a:pPr marL="85725" marR="0" lvl="0" indent="0" algn="l" defTabSz="91440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panose="02000503000000020004" pitchFamily="2" charset="0"/>
                        </a:rPr>
                        <a:t>Final BOQ details will be concluded with Vendor by 09-May EOD.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4784010"/>
                  </a:ext>
                </a:extLst>
              </a:tr>
              <a:tr h="773436">
                <a:tc>
                  <a:txBody>
                    <a:bodyPr/>
                    <a:lstStyle/>
                    <a:p>
                      <a:pPr algn="ctr" fontAlgn="ctr"/>
                      <a:r>
                        <a:rPr lang="en-US" sz="1100" b="1" i="0" u="none" strike="noStrike">
                          <a:solidFill>
                            <a:srgbClr val="00B050"/>
                          </a:solidFill>
                          <a:effectLst/>
                          <a:latin typeface="Adani Regular" panose="02000503000000020004" pitchFamily="2" charset="0"/>
                        </a:rPr>
                        <a:t>15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a:solidFill>
                            <a:srgbClr val="00B050"/>
                          </a:solidFill>
                          <a:effectLst/>
                          <a:latin typeface="Adani Regular" panose="02000503000000020004" pitchFamily="2" charset="0"/>
                        </a:rPr>
                        <a:t>High Mast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7 NOS</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6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30-Jan-26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strike="noStrike">
                          <a:solidFill>
                            <a:srgbClr val="00B050"/>
                          </a:solidFill>
                          <a:effectLst/>
                          <a:latin typeface="Adani Regular"/>
                          <a:ea typeface="Aptos" panose="020B0004020202020204" pitchFamily="34" charset="0"/>
                          <a:cs typeface="Aptos" panose="020B0004020202020204" pitchFamily="34" charset="0"/>
                        </a:rPr>
                        <a:t>Pratibha, Akshar, Excel Infra, </a:t>
                      </a:r>
                      <a:r>
                        <a:rPr lang="en-US" sz="1100" b="1" strike="noStrike" err="1">
                          <a:solidFill>
                            <a:srgbClr val="00B050"/>
                          </a:solidFill>
                          <a:effectLst/>
                          <a:latin typeface="Adani Regular"/>
                          <a:ea typeface="Aptos" panose="020B0004020202020204" pitchFamily="34" charset="0"/>
                          <a:cs typeface="Aptos" panose="020B0004020202020204" pitchFamily="34" charset="0"/>
                        </a:rPr>
                        <a:t>Sunlake</a:t>
                      </a:r>
                      <a:r>
                        <a:rPr lang="en-US" sz="1100" b="1" strike="noStrike">
                          <a:solidFill>
                            <a:srgbClr val="00B050"/>
                          </a:solidFill>
                          <a:effectLst/>
                          <a:latin typeface="Adani Regular"/>
                          <a:ea typeface="Aptos" panose="020B0004020202020204" pitchFamily="34" charset="0"/>
                          <a:cs typeface="Aptos" panose="020B0004020202020204" pitchFamily="34" charset="0"/>
                        </a:rPr>
                        <a:t>, </a:t>
                      </a:r>
                      <a:r>
                        <a:rPr lang="en-US" sz="1100" b="1" strike="noStrike" err="1">
                          <a:solidFill>
                            <a:srgbClr val="00B050"/>
                          </a:solidFill>
                          <a:effectLst/>
                          <a:latin typeface="Adani Regular"/>
                          <a:ea typeface="Aptos" panose="020B0004020202020204" pitchFamily="34" charset="0"/>
                          <a:cs typeface="Aptos" panose="020B0004020202020204" pitchFamily="34" charset="0"/>
                        </a:rPr>
                        <a:t>Ompech</a:t>
                      </a:r>
                      <a:endParaRPr lang="en-US" sz="1100" b="1" strike="noStrike">
                        <a:solidFill>
                          <a:srgbClr val="00B050"/>
                        </a:solidFill>
                        <a:effectLst/>
                        <a:latin typeface="Adani Regular"/>
                        <a:ea typeface="Aptos" panose="020B0004020202020204" pitchFamily="34" charset="0"/>
                        <a:cs typeface="Aptos" panose="020B0004020202020204" pitchFamily="34"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Order issued to M/s </a:t>
                      </a:r>
                      <a:r>
                        <a:rPr kumimoji="0" lang="en-US" sz="1100" b="1" i="0" u="none" strike="noStrike" kern="1200" cap="none" spc="0" normalizeH="0" baseline="0" noProof="0" err="1">
                          <a:ln>
                            <a:noFill/>
                          </a:ln>
                          <a:solidFill>
                            <a:srgbClr val="00B050"/>
                          </a:solidFill>
                          <a:effectLst/>
                          <a:uLnTx/>
                          <a:uFillTx/>
                          <a:latin typeface="Adani Regular" panose="02000503000000020004" pitchFamily="2" charset="0"/>
                          <a:ea typeface="+mn-ea"/>
                          <a:cs typeface="+mn-cs"/>
                        </a:rPr>
                        <a:t>Sunelec</a:t>
                      </a: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1293828">
                <a:tc>
                  <a:txBody>
                    <a:bodyPr/>
                    <a:lstStyle/>
                    <a:p>
                      <a:pPr algn="ctr" fontAlgn="ctr"/>
                      <a:r>
                        <a:rPr lang="en-US" sz="1100" b="1" i="0" u="none" strike="noStrike">
                          <a:solidFill>
                            <a:srgbClr val="00B050"/>
                          </a:solidFill>
                          <a:effectLst/>
                          <a:latin typeface="Adani Regular" panose="02000503000000020004" pitchFamily="2" charset="0"/>
                        </a:rPr>
                        <a:t>16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Fire Protection, Detection &amp; Alarm System Package incl of (Hooter, Fire extinguisher, Panel. )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05-Mar-26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01-May-26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TBER concluded on 18-Apr-26; </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LOA released to M/s APSNP on 01-May-26.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21455541"/>
                  </a:ext>
                </a:extLst>
              </a:tr>
              <a:tr h="1042981">
                <a:tc>
                  <a:txBody>
                    <a:bodyPr/>
                    <a:lstStyle/>
                    <a:p>
                      <a:pPr algn="ctr" fontAlgn="ctr"/>
                      <a:r>
                        <a:rPr lang="en-US" sz="1100" b="1" i="0" u="none" strike="noStrike">
                          <a:solidFill>
                            <a:srgbClr val="00B050"/>
                          </a:solidFill>
                          <a:effectLst/>
                          <a:latin typeface="Adani Regular" panose="02000503000000020004" pitchFamily="2" charset="0"/>
                        </a:rPr>
                        <a:t>17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92075" indent="0" algn="l" fontAlgn="ctr"/>
                      <a:r>
                        <a:rPr lang="en-US" sz="1100" b="1" i="0" u="none" strike="noStrike" kern="1200">
                          <a:solidFill>
                            <a:srgbClr val="00B050"/>
                          </a:solidFill>
                          <a:effectLst/>
                          <a:latin typeface="Adani Regular" panose="02000503000000020004" pitchFamily="2" charset="0"/>
                          <a:ea typeface="+mn-ea"/>
                          <a:cs typeface="+mn-cs"/>
                        </a:rPr>
                        <a:t>Electrical Modification in existing PSS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07-Feb-26</a:t>
                      </a:r>
                    </a:p>
                    <a:p>
                      <a:pPr algn="ctr" fontAlgn="ctr"/>
                      <a:r>
                        <a:rPr lang="en-US" sz="1100" b="1" i="0" u="none" strike="noStrike">
                          <a:solidFill>
                            <a:srgbClr val="00B050"/>
                          </a:solidFill>
                          <a:effectLst/>
                          <a:latin typeface="Adani Regular" panose="02000503000000020004" pitchFamily="2" charset="0"/>
                        </a:rPr>
                        <a:t>09-Feb-26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01-Apr-26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06-Apr-26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Letter of award (LOA) issued to M/s </a:t>
                      </a:r>
                      <a:r>
                        <a:rPr lang="en-US" sz="1100" b="1" i="0" u="none" strike="noStrike" err="1">
                          <a:solidFill>
                            <a:srgbClr val="00B050"/>
                          </a:solidFill>
                          <a:effectLst/>
                          <a:latin typeface="Adani Regular" panose="02000503000000020004" pitchFamily="2" charset="0"/>
                        </a:rPr>
                        <a:t>Trisquare</a:t>
                      </a:r>
                      <a:r>
                        <a:rPr lang="en-US" sz="1100" b="1" i="0" u="none" strike="noStrike">
                          <a:solidFill>
                            <a:srgbClr val="00B050"/>
                          </a:solidFill>
                          <a:effectLst/>
                          <a:latin typeface="Adani Regular" panose="02000503000000020004" pitchFamily="2" charset="0"/>
                        </a:rPr>
                        <a:t> for PSS-05(B),08(B)  &amp; M/s </a:t>
                      </a:r>
                      <a:r>
                        <a:rPr lang="en-US" sz="1100" b="1" i="0" u="none" strike="noStrike" err="1">
                          <a:solidFill>
                            <a:srgbClr val="00B050"/>
                          </a:solidFill>
                          <a:effectLst/>
                          <a:latin typeface="Adani Regular" panose="02000503000000020004" pitchFamily="2" charset="0"/>
                        </a:rPr>
                        <a:t>Symatic</a:t>
                      </a:r>
                      <a:r>
                        <a:rPr lang="en-US" sz="1100" b="1" i="0" u="none" strike="noStrike">
                          <a:solidFill>
                            <a:srgbClr val="00B050"/>
                          </a:solidFill>
                          <a:effectLst/>
                          <a:latin typeface="Adani Regular" panose="02000503000000020004" pitchFamily="2" charset="0"/>
                        </a:rPr>
                        <a:t> for PSS-09, PSS-05(B) &amp; 08(B)  on 06-Apr-26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1042981">
                <a:tc>
                  <a:txBody>
                    <a:bodyPr/>
                    <a:lstStyle/>
                    <a:p>
                      <a:pPr algn="ctr" fontAlgn="ctr"/>
                      <a:r>
                        <a:rPr lang="en-US" sz="1100" b="1" i="0" u="none" strike="noStrike">
                          <a:solidFill>
                            <a:srgbClr val="00B050"/>
                          </a:solidFill>
                          <a:effectLst/>
                          <a:latin typeface="Adani Regular" panose="02000503000000020004" pitchFamily="2" charset="0"/>
                        </a:rPr>
                        <a:t>18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kern="1200">
                          <a:solidFill>
                            <a:srgbClr val="00B050"/>
                          </a:solidFill>
                          <a:effectLst/>
                          <a:latin typeface="Adani Regular" panose="02000503000000020004" pitchFamily="2" charset="0"/>
                          <a:ea typeface="+mn-ea"/>
                          <a:cs typeface="+mn-cs"/>
                        </a:rPr>
                        <a:t>Structural modification works in existing PSS</a:t>
                      </a:r>
                    </a:p>
                    <a:p>
                      <a:pPr marL="85725" indent="0" algn="l" fontAlgn="ctr"/>
                      <a:r>
                        <a:rPr lang="en-US" sz="1100" b="1" i="0" u="none" strike="noStrike" kern="1200">
                          <a:solidFill>
                            <a:srgbClr val="00B050"/>
                          </a:solidFill>
                          <a:effectLst/>
                          <a:latin typeface="Adani Regular" panose="02000503000000020004" pitchFamily="2" charset="0"/>
                          <a:ea typeface="+mn-ea"/>
                          <a:cs typeface="+mn-cs"/>
                        </a:rPr>
                        <a:t>(Containerized solution)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NOS</a:t>
                      </a:r>
                    </a:p>
                    <a:p>
                      <a:pPr algn="ctr" fontAlgn="ctr"/>
                      <a:r>
                        <a:rPr lang="en-US" sz="1100" b="1" i="0" u="none" strike="noStrike">
                          <a:solidFill>
                            <a:srgbClr val="00B050"/>
                          </a:solidFill>
                          <a:effectLst/>
                          <a:latin typeface="Adani Regular" panose="02000503000000020004" pitchFamily="2" charset="0"/>
                        </a:rPr>
                        <a:t>-</a:t>
                      </a:r>
                    </a:p>
                    <a:p>
                      <a:pPr algn="ctr" font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sngStrike">
                          <a:solidFill>
                            <a:srgbClr val="00B050"/>
                          </a:solidFill>
                          <a:effectLst/>
                          <a:latin typeface="Adani Regular" panose="02000503000000020004" pitchFamily="2" charset="0"/>
                        </a:rPr>
                        <a:t>07-Feb-26</a:t>
                      </a:r>
                    </a:p>
                    <a:p>
                      <a:pPr algn="ctr" fontAlgn="ctr"/>
                      <a:r>
                        <a:rPr lang="en-US" sz="1100" b="1" i="0" u="none" strike="sngStrike">
                          <a:solidFill>
                            <a:srgbClr val="00B050"/>
                          </a:solidFill>
                          <a:effectLst/>
                          <a:latin typeface="Adani Regular" panose="02000503000000020004" pitchFamily="2" charset="0"/>
                        </a:rPr>
                        <a:t>28-Feb-26</a:t>
                      </a:r>
                    </a:p>
                    <a:p>
                      <a:pPr algn="ctr" fontAlgn="ctr"/>
                      <a:r>
                        <a:rPr lang="en-US" sz="1100" b="1" i="0" u="none" strike="sngStrike">
                          <a:solidFill>
                            <a:srgbClr val="00B050"/>
                          </a:solidFill>
                          <a:effectLst/>
                          <a:latin typeface="Adani Regular" panose="02000503000000020004" pitchFamily="2" charset="0"/>
                        </a:rPr>
                        <a:t>10-Mar-26</a:t>
                      </a:r>
                    </a:p>
                    <a:p>
                      <a:pPr algn="ctr" fontAlgn="ctr"/>
                      <a:r>
                        <a:rPr lang="en-US" sz="1100" b="1" i="0" u="none" strike="noStrike">
                          <a:solidFill>
                            <a:srgbClr val="00B050"/>
                          </a:solidFill>
                          <a:effectLst/>
                          <a:latin typeface="Adani Regular" panose="02000503000000020004" pitchFamily="2" charset="0"/>
                        </a:rPr>
                        <a:t>23-Mar-26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14-Feb-26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27-Feb-26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08-Mar-26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31-Mar-26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14-Apr-26</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03-Mar-26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12-Mar-26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04-Apr-26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16-Apr-26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LOA issued to M/s RV Enterprise dated 18-Apr-26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11342138"/>
                  </a:ext>
                </a:extLst>
              </a:tr>
            </a:tbl>
          </a:graphicData>
        </a:graphic>
      </p:graphicFrame>
    </p:spTree>
    <p:extLst>
      <p:ext uri="{BB962C8B-B14F-4D97-AF65-F5344CB8AC3E}">
        <p14:creationId xmlns:p14="http://schemas.microsoft.com/office/powerpoint/2010/main" val="1928984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1824-A724-7361-E7F1-3471DFE459C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B9897F7-7FA8-0291-DE44-B04662B03F47}"/>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Supply ordering Status (</a:t>
            </a:r>
            <a:r>
              <a:rPr lang="en-IN" sz="2400" b="1">
                <a:solidFill>
                  <a:srgbClr val="912A82"/>
                </a:solidFill>
              </a:rPr>
              <a:t>PSS-09, 05(B) &amp; 08(B))</a:t>
            </a:r>
            <a:r>
              <a:rPr lang="en-IN" sz="2400" b="1">
                <a:solidFill>
                  <a:srgbClr val="00B050"/>
                </a:solidFill>
              </a:rPr>
              <a:t> - Completed </a:t>
            </a:r>
            <a:endParaRPr lang="en-US" sz="2400" b="1">
              <a:solidFill>
                <a:srgbClr val="00B050"/>
              </a:solidFill>
            </a:endParaRPr>
          </a:p>
        </p:txBody>
      </p:sp>
      <p:graphicFrame>
        <p:nvGraphicFramePr>
          <p:cNvPr id="5" name="Table 4">
            <a:extLst>
              <a:ext uri="{FF2B5EF4-FFF2-40B4-BE49-F238E27FC236}">
                <a16:creationId xmlns:a16="http://schemas.microsoft.com/office/drawing/2014/main" id="{E595C929-DCA0-B2C4-4FE5-6929495FD388}"/>
              </a:ext>
            </a:extLst>
          </p:cNvPr>
          <p:cNvGraphicFramePr>
            <a:graphicFrameLocks noGrp="1"/>
          </p:cNvGraphicFramePr>
          <p:nvPr/>
        </p:nvGraphicFramePr>
        <p:xfrm>
          <a:off x="66695" y="641996"/>
          <a:ext cx="12058610" cy="3586575"/>
        </p:xfrm>
        <a:graphic>
          <a:graphicData uri="http://schemas.openxmlformats.org/drawingml/2006/table">
            <a:tbl>
              <a:tblPr/>
              <a:tblGrid>
                <a:gridCol w="402992">
                  <a:extLst>
                    <a:ext uri="{9D8B030D-6E8A-4147-A177-3AD203B41FA5}">
                      <a16:colId xmlns:a16="http://schemas.microsoft.com/office/drawing/2014/main" val="2829026117"/>
                    </a:ext>
                  </a:extLst>
                </a:gridCol>
                <a:gridCol w="1271371">
                  <a:extLst>
                    <a:ext uri="{9D8B030D-6E8A-4147-A177-3AD203B41FA5}">
                      <a16:colId xmlns:a16="http://schemas.microsoft.com/office/drawing/2014/main" val="2773142122"/>
                    </a:ext>
                  </a:extLst>
                </a:gridCol>
                <a:gridCol w="702339">
                  <a:extLst>
                    <a:ext uri="{9D8B030D-6E8A-4147-A177-3AD203B41FA5}">
                      <a16:colId xmlns:a16="http://schemas.microsoft.com/office/drawing/2014/main" val="246702370"/>
                    </a:ext>
                  </a:extLst>
                </a:gridCol>
                <a:gridCol w="1064301">
                  <a:extLst>
                    <a:ext uri="{9D8B030D-6E8A-4147-A177-3AD203B41FA5}">
                      <a16:colId xmlns:a16="http://schemas.microsoft.com/office/drawing/2014/main" val="3558478565"/>
                    </a:ext>
                  </a:extLst>
                </a:gridCol>
                <a:gridCol w="809469">
                  <a:extLst>
                    <a:ext uri="{9D8B030D-6E8A-4147-A177-3AD203B41FA5}">
                      <a16:colId xmlns:a16="http://schemas.microsoft.com/office/drawing/2014/main" val="1271983604"/>
                    </a:ext>
                  </a:extLst>
                </a:gridCol>
                <a:gridCol w="956922">
                  <a:extLst>
                    <a:ext uri="{9D8B030D-6E8A-4147-A177-3AD203B41FA5}">
                      <a16:colId xmlns:a16="http://schemas.microsoft.com/office/drawing/2014/main" val="1705681307"/>
                    </a:ext>
                  </a:extLst>
                </a:gridCol>
                <a:gridCol w="1634619">
                  <a:extLst>
                    <a:ext uri="{9D8B030D-6E8A-4147-A177-3AD203B41FA5}">
                      <a16:colId xmlns:a16="http://schemas.microsoft.com/office/drawing/2014/main" val="916472123"/>
                    </a:ext>
                  </a:extLst>
                </a:gridCol>
                <a:gridCol w="781246">
                  <a:extLst>
                    <a:ext uri="{9D8B030D-6E8A-4147-A177-3AD203B41FA5}">
                      <a16:colId xmlns:a16="http://schemas.microsoft.com/office/drawing/2014/main" val="86425436"/>
                    </a:ext>
                  </a:extLst>
                </a:gridCol>
                <a:gridCol w="851534">
                  <a:extLst>
                    <a:ext uri="{9D8B030D-6E8A-4147-A177-3AD203B41FA5}">
                      <a16:colId xmlns:a16="http://schemas.microsoft.com/office/drawing/2014/main" val="3499724676"/>
                    </a:ext>
                  </a:extLst>
                </a:gridCol>
                <a:gridCol w="816390">
                  <a:extLst>
                    <a:ext uri="{9D8B030D-6E8A-4147-A177-3AD203B41FA5}">
                      <a16:colId xmlns:a16="http://schemas.microsoft.com/office/drawing/2014/main" val="708652653"/>
                    </a:ext>
                  </a:extLst>
                </a:gridCol>
                <a:gridCol w="2767427">
                  <a:extLst>
                    <a:ext uri="{9D8B030D-6E8A-4147-A177-3AD203B41FA5}">
                      <a16:colId xmlns:a16="http://schemas.microsoft.com/office/drawing/2014/main" val="773725385"/>
                    </a:ext>
                  </a:extLst>
                </a:gridCol>
              </a:tblGrid>
              <a:tr h="1639199">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1947376">
                <a:tc>
                  <a:txBody>
                    <a:bodyPr/>
                    <a:lstStyle/>
                    <a:p>
                      <a:pPr algn="ctr" fontAlgn="ctr"/>
                      <a:r>
                        <a:rPr lang="en-US" sz="1100" b="0" i="0" u="none" strike="noStrike">
                          <a:solidFill>
                            <a:srgbClr val="00B050"/>
                          </a:solidFill>
                          <a:effectLst/>
                          <a:latin typeface="Adani Regular" panose="02000503000000020004" pitchFamily="2" charset="0"/>
                        </a:rPr>
                        <a:t>19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0" i="0" u="none" strike="noStrike">
                          <a:solidFill>
                            <a:srgbClr val="00B050"/>
                          </a:solidFill>
                          <a:effectLst/>
                          <a:latin typeface="Adani Regular" panose="02000503000000020004" pitchFamily="2" charset="0"/>
                        </a:rPr>
                        <a:t>Security Porta Cabin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B050"/>
                          </a:solidFill>
                          <a:effectLst/>
                          <a:latin typeface="Adani Regular" panose="02000503000000020004" pitchFamily="2" charset="0"/>
                        </a:rPr>
                        <a:t>1 NOS</a:t>
                      </a:r>
                    </a:p>
                    <a:p>
                      <a:pPr algn="ctr" fontAlgn="ctr"/>
                      <a:r>
                        <a:rPr lang="en-US" sz="1100" b="0" i="0" u="none" strike="noStrike">
                          <a:solidFill>
                            <a:srgbClr val="00B050"/>
                          </a:solidFill>
                          <a:effectLst/>
                          <a:latin typeface="Adani Regular" panose="02000503000000020004" pitchFamily="2" charset="0"/>
                        </a:rPr>
                        <a:t>2 NOS</a:t>
                      </a:r>
                    </a:p>
                    <a:p>
                      <a:pPr algn="ctr" fontAlgn="ctr"/>
                      <a:r>
                        <a:rPr lang="en-US" sz="1100" b="0" i="0" u="none" strike="noStrike">
                          <a:solidFill>
                            <a:srgbClr val="00B050"/>
                          </a:solidFill>
                          <a:effectLst/>
                          <a:latin typeface="Adani Regular" panose="02000503000000020004" pitchFamily="2" charset="0"/>
                        </a:rPr>
                        <a:t>1 NOS</a:t>
                      </a:r>
                    </a:p>
                    <a:p>
                      <a:pPr algn="ctr" fontAlgn="ctr"/>
                      <a:endParaRPr lang="en-US" sz="1100" b="0"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B050"/>
                          </a:solidFill>
                          <a:effectLst/>
                          <a:latin typeface="Adani Regular" panose="02000503000000020004" pitchFamily="2" charset="0"/>
                        </a:rPr>
                        <a:t>23-Jan-26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0"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Meta Steel Prefab</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0"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0"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11-Feb-26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0" i="0" u="none" strike="noStrike" kern="1200">
                          <a:solidFill>
                            <a:srgbClr val="00B050"/>
                          </a:solidFill>
                          <a:effectLst/>
                          <a:latin typeface="Adani Regular" panose="02000503000000020004" pitchFamily="2" charset="0"/>
                          <a:ea typeface="+mn-ea"/>
                          <a:cs typeface="+mn-cs"/>
                        </a:rPr>
                        <a:t>24-Feb-26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panose="02000503000000020004" pitchFamily="2" charset="0"/>
                        </a:rPr>
                        <a:t>Commercial NFA approved. Order placed to Meta Steel Prefab on 24-Fb-26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27141618"/>
                  </a:ext>
                </a:extLst>
              </a:tr>
            </a:tbl>
          </a:graphicData>
        </a:graphic>
      </p:graphicFrame>
    </p:spTree>
    <p:extLst>
      <p:ext uri="{BB962C8B-B14F-4D97-AF65-F5344CB8AC3E}">
        <p14:creationId xmlns:p14="http://schemas.microsoft.com/office/powerpoint/2010/main" val="4539429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7DF13-C218-B71F-3FDC-A664EA1702E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9620380-86AD-FA8E-1252-CB4ECBD8E54D}"/>
              </a:ext>
            </a:extLst>
          </p:cNvPr>
          <p:cNvGraphicFramePr>
            <a:graphicFrameLocks noGrp="1"/>
          </p:cNvGraphicFramePr>
          <p:nvPr/>
        </p:nvGraphicFramePr>
        <p:xfrm>
          <a:off x="66695" y="641997"/>
          <a:ext cx="11769402" cy="6009721"/>
        </p:xfrm>
        <a:graphic>
          <a:graphicData uri="http://schemas.openxmlformats.org/drawingml/2006/table">
            <a:tbl>
              <a:tblPr/>
              <a:tblGrid>
                <a:gridCol w="393327">
                  <a:extLst>
                    <a:ext uri="{9D8B030D-6E8A-4147-A177-3AD203B41FA5}">
                      <a16:colId xmlns:a16="http://schemas.microsoft.com/office/drawing/2014/main" val="2829026117"/>
                    </a:ext>
                  </a:extLst>
                </a:gridCol>
                <a:gridCol w="1240879">
                  <a:extLst>
                    <a:ext uri="{9D8B030D-6E8A-4147-A177-3AD203B41FA5}">
                      <a16:colId xmlns:a16="http://schemas.microsoft.com/office/drawing/2014/main" val="2773142122"/>
                    </a:ext>
                  </a:extLst>
                </a:gridCol>
                <a:gridCol w="779981">
                  <a:extLst>
                    <a:ext uri="{9D8B030D-6E8A-4147-A177-3AD203B41FA5}">
                      <a16:colId xmlns:a16="http://schemas.microsoft.com/office/drawing/2014/main" val="246702370"/>
                    </a:ext>
                  </a:extLst>
                </a:gridCol>
                <a:gridCol w="1045482">
                  <a:extLst>
                    <a:ext uri="{9D8B030D-6E8A-4147-A177-3AD203B41FA5}">
                      <a16:colId xmlns:a16="http://schemas.microsoft.com/office/drawing/2014/main" val="3558478565"/>
                    </a:ext>
                  </a:extLst>
                </a:gridCol>
                <a:gridCol w="811417">
                  <a:extLst>
                    <a:ext uri="{9D8B030D-6E8A-4147-A177-3AD203B41FA5}">
                      <a16:colId xmlns:a16="http://schemas.microsoft.com/office/drawing/2014/main" val="1271983604"/>
                    </a:ext>
                  </a:extLst>
                </a:gridCol>
                <a:gridCol w="811417">
                  <a:extLst>
                    <a:ext uri="{9D8B030D-6E8A-4147-A177-3AD203B41FA5}">
                      <a16:colId xmlns:a16="http://schemas.microsoft.com/office/drawing/2014/main" val="1705681307"/>
                    </a:ext>
                  </a:extLst>
                </a:gridCol>
                <a:gridCol w="1595415">
                  <a:extLst>
                    <a:ext uri="{9D8B030D-6E8A-4147-A177-3AD203B41FA5}">
                      <a16:colId xmlns:a16="http://schemas.microsoft.com/office/drawing/2014/main" val="916472123"/>
                    </a:ext>
                  </a:extLst>
                </a:gridCol>
                <a:gridCol w="796810">
                  <a:extLst>
                    <a:ext uri="{9D8B030D-6E8A-4147-A177-3AD203B41FA5}">
                      <a16:colId xmlns:a16="http://schemas.microsoft.com/office/drawing/2014/main" val="86425436"/>
                    </a:ext>
                  </a:extLst>
                </a:gridCol>
                <a:gridCol w="796810">
                  <a:extLst>
                    <a:ext uri="{9D8B030D-6E8A-4147-A177-3AD203B41FA5}">
                      <a16:colId xmlns:a16="http://schemas.microsoft.com/office/drawing/2014/main" val="3499724676"/>
                    </a:ext>
                  </a:extLst>
                </a:gridCol>
                <a:gridCol w="796810">
                  <a:extLst>
                    <a:ext uri="{9D8B030D-6E8A-4147-A177-3AD203B41FA5}">
                      <a16:colId xmlns:a16="http://schemas.microsoft.com/office/drawing/2014/main" val="708652653"/>
                    </a:ext>
                  </a:extLst>
                </a:gridCol>
                <a:gridCol w="2701054">
                  <a:extLst>
                    <a:ext uri="{9D8B030D-6E8A-4147-A177-3AD203B41FA5}">
                      <a16:colId xmlns:a16="http://schemas.microsoft.com/office/drawing/2014/main" val="773725385"/>
                    </a:ext>
                  </a:extLst>
                </a:gridCol>
              </a:tblGrid>
              <a:tr h="463616">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463616">
                <a:tc>
                  <a:txBody>
                    <a:bodyPr/>
                    <a:lstStyle/>
                    <a:p>
                      <a:pPr algn="ctr" fontAlgn="ctr"/>
                      <a:r>
                        <a:rPr lang="en-US" sz="1100" b="1" i="0" u="none" strike="noStrike">
                          <a:solidFill>
                            <a:srgbClr val="00B050"/>
                          </a:solidFill>
                          <a:effectLst/>
                          <a:latin typeface="Adani Regular" panose="02000503000000020004" pitchFamily="2"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Engineering Consultancy Services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25-Dec-25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31-Dec-25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Fictner, Worley, Tractebel  &amp; TCE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17-Nov-25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lvl="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kern="1200">
                          <a:solidFill>
                            <a:srgbClr val="00B050"/>
                          </a:solidFill>
                          <a:effectLst/>
                          <a:latin typeface="Adani Regular" panose="02000503000000020004" pitchFamily="2" charset="0"/>
                          <a:ea typeface="+mn-ea"/>
                          <a:cs typeface="+mn-cs"/>
                        </a:rPr>
                        <a:t>09-Jan-26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Revised order according to itemized breakup released on 09-Jan-26 to Worley.</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31647959"/>
                  </a:ext>
                </a:extLst>
              </a:tr>
              <a:tr h="769552">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ACDC Electrical works</a:t>
                      </a:r>
                      <a:endParaRPr lang="en-US" sz="1100" b="1" i="0" u="none" strike="noStrike" kern="1200">
                        <a:solidFill>
                          <a:srgbClr val="00B050"/>
                        </a:solidFill>
                        <a:effectLst/>
                        <a:latin typeface="Adani Regular" panose="02000503000000020004" pitchFamily="2" charset="0"/>
                        <a:ea typeface="+mn-ea"/>
                        <a:cs typeface="+mn-cs"/>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p>
                      <a:pPr algn="ctr" fontAlgn="ctr"/>
                      <a:r>
                        <a:rPr lang="en-US" sz="1100" b="1" i="0" u="none" strike="noStrike">
                          <a:solidFill>
                            <a:srgbClr val="00B050"/>
                          </a:solidFill>
                          <a:effectLst/>
                          <a:latin typeface="Adani Regular" panose="02000503000000020004" pitchFamily="2" charset="0"/>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27-Nov-25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endParaRPr lang="en-US" sz="1100" b="1" i="0" u="none" strike="noStrike" kern="1200">
                        <a:solidFill>
                          <a:srgbClr val="00B050"/>
                        </a:solidFill>
                        <a:effectLst/>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29-Nov-25</a:t>
                      </a:r>
                    </a:p>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sngStrike" kern="1200" cap="none" spc="0" normalizeH="0" baseline="0" noProof="0">
                          <a:ln>
                            <a:noFill/>
                          </a:ln>
                          <a:solidFill>
                            <a:srgbClr val="00B050"/>
                          </a:solidFill>
                          <a:effectLst/>
                          <a:uLnTx/>
                          <a:uFillTx/>
                          <a:latin typeface="Adani Regular" panose="02000503000000020004" pitchFamily="2" charset="0"/>
                          <a:ea typeface="+mn-ea"/>
                          <a:cs typeface="+mn-cs"/>
                        </a:rPr>
                        <a:t>27-Dec-25</a:t>
                      </a:r>
                    </a:p>
                    <a:p>
                      <a:pPr marL="85725" marR="0" lvl="0" indent="0" algn="l"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01-Jan-26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panose="02000503000000020004" pitchFamily="2" charset="0"/>
                          <a:ea typeface="Aptos" panose="020B0004020202020204" pitchFamily="34" charset="0"/>
                          <a:cs typeface="Aptos" panose="020B0004020202020204" pitchFamily="34" charset="0"/>
                        </a:rPr>
                        <a:t>Akshar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10-Jan-26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M/s Ice Cube for PSS-05(B) dated 17-Jan-26. Order issued for PSS-09 &amp; 08(B) dated 07-Feb-26.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471776"/>
                  </a:ext>
                </a:extLst>
              </a:tr>
              <a:tr h="509313">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Grid Modelling &amp; System Study</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 LOT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06-Nov-25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15-Nov-25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Hitachi</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24-Nov-25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M/s Hitachi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6478900"/>
                  </a:ext>
                </a:extLst>
              </a:tr>
              <a:tr h="463616">
                <a:tc>
                  <a:txBody>
                    <a:bodyPr/>
                    <a:lstStyle/>
                    <a:p>
                      <a:pPr algn="ctr" fontAlgn="ctr"/>
                      <a:r>
                        <a:rPr lang="en-US" sz="1100" b="1" i="0" u="none" strike="noStrike">
                          <a:solidFill>
                            <a:srgbClr val="00B050"/>
                          </a:solidFill>
                          <a:effectLst/>
                          <a:latin typeface="Adani Regular" panose="02000503000000020004" pitchFamily="2" charset="0"/>
                        </a:rPr>
                        <a:t>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Piling works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41,447 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47,321 m</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17,786 m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18-Nov-25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Cemindia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25-Nov-25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placed to Cemindia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0625973"/>
                  </a:ext>
                </a:extLst>
              </a:tr>
              <a:tr h="1381423">
                <a:tc>
                  <a:txBody>
                    <a:bodyPr/>
                    <a:lstStyle/>
                    <a:p>
                      <a:pPr algn="ctr" fontAlgn="ctr"/>
                      <a:r>
                        <a:rPr lang="en-US" sz="1100" b="1" i="0" u="none" strike="noStrike">
                          <a:solidFill>
                            <a:srgbClr val="00B050"/>
                          </a:solidFill>
                          <a:effectLst/>
                          <a:latin typeface="Adani Regular" panose="02000503000000020004" pitchFamily="2" charset="0"/>
                        </a:rPr>
                        <a:t>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Civil Works – BOP (Equip. foundations, HF, Roads-drains-fencing, Security cabin, Exist. PSS modification)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Shreeji, Himalaya, Rajaram&amp;Sons, Rokane, Rathore, Nageshwar Infra, Vinayaka, HSB, DEK &amp; Mavericks, SMP, RAVJI MANJI, NRUPUR, GODARA, DNC, MEERA, M S CHOUHAN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10-Dec-25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02-Jan-26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PSS-09</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31-Dec-25</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PSS-05(B)</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31-Jan-26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PSS-08(B)</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03-Jan-26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MS Chauhan for PSS 09 on 31-Dec-25. Order issued to Rajnagnechi for PSS-05(B) on 31-Dec-25.</a:t>
                      </a:r>
                    </a:p>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Shreeji Construction for PSS-08(B) on 03-Jan-26. Order issued for Roads-Drains to Odhav Enterprise for PSS-09 &amp; PSS-08(B on 03-Jan-26. Order issued for Roads-Drains to Vaibhav Enterprise on 03-Jan-26.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976789"/>
                  </a:ext>
                </a:extLst>
              </a:tr>
              <a:tr h="700299">
                <a:tc>
                  <a:txBody>
                    <a:bodyPr/>
                    <a:lstStyle/>
                    <a:p>
                      <a:pPr algn="ctr" fontAlgn="ctr"/>
                      <a:r>
                        <a:rPr lang="en-US" sz="1100" b="1" i="0" u="none" strike="noStrike">
                          <a:solidFill>
                            <a:srgbClr val="00B050"/>
                          </a:solidFill>
                          <a:effectLst/>
                          <a:latin typeface="Adani Regular" panose="02000503000000020004" pitchFamily="2" charset="0"/>
                        </a:rPr>
                        <a:t>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Structural/PEB works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489 MT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511 MT</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194 MT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26-Nov-25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22-Dec-25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RFP sent to BNAL(regret), DP Consteel, Vats group, Synergy thirlling ton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12-Dec-25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23-Dec-25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M/s Synergy for PSS-09, 05(B) &amp; 08(B) on 06-Feb.</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383287">
                <a:tc>
                  <a:txBody>
                    <a:bodyPr/>
                    <a:lstStyle/>
                    <a:p>
                      <a:pPr algn="ctr" fontAlgn="ctr"/>
                      <a:r>
                        <a:rPr lang="en-US" sz="1100" b="1" i="0" u="none" strike="noStrike">
                          <a:solidFill>
                            <a:srgbClr val="00B050"/>
                          </a:solidFill>
                          <a:effectLst/>
                          <a:latin typeface="Adani Regular" panose="02000503000000020004" pitchFamily="2" charset="0"/>
                        </a:rPr>
                        <a:t>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Consultancy for FSPA &amp; Fire NOC</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100" b="1" i="0" u="none" strike="noStrike">
                        <a:solidFill>
                          <a:srgbClr val="00B050"/>
                        </a:solidFill>
                        <a:effectLst/>
                        <a:latin typeface="Adani Regular" panose="02000503000000020004" pitchFamily="2"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05-Jan-26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for FSPA &amp; Fire NOC consultancy placed on 05-Jan-26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11081204"/>
                  </a:ext>
                </a:extLst>
              </a:tr>
            </a:tbl>
          </a:graphicData>
        </a:graphic>
      </p:graphicFrame>
      <p:sp>
        <p:nvSpPr>
          <p:cNvPr id="3" name="Slide Number Placeholder 1">
            <a:extLst>
              <a:ext uri="{FF2B5EF4-FFF2-40B4-BE49-F238E27FC236}">
                <a16:creationId xmlns:a16="http://schemas.microsoft.com/office/drawing/2014/main" id="{D96B5A68-BA4F-82B4-C040-92CECC92FFDE}"/>
              </a:ext>
            </a:extLst>
          </p:cNvPr>
          <p:cNvSpPr>
            <a:spLocks noGrp="1"/>
          </p:cNvSpPr>
          <p:nvPr>
            <p:ph type="sldNum" sz="quarter" idx="12"/>
          </p:nvPr>
        </p:nvSpPr>
        <p:spPr>
          <a:xfrm>
            <a:off x="9208789" y="6510273"/>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1">
                    <a:tint val="75000"/>
                  </a:schemeClr>
                </a:solidFill>
                <a:latin typeface="Adani Regular"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8B285C1-D8A8-4E98-B28C-1FD972D8EC54}" type="slidenum">
              <a:rPr lang="en-IN" smtClean="0"/>
              <a:pPr/>
              <a:t>52</a:t>
            </a:fld>
            <a:endParaRPr lang="en-IN"/>
          </a:p>
        </p:txBody>
      </p:sp>
      <p:sp>
        <p:nvSpPr>
          <p:cNvPr id="5" name="Rectangle 2">
            <a:extLst>
              <a:ext uri="{FF2B5EF4-FFF2-40B4-BE49-F238E27FC236}">
                <a16:creationId xmlns:a16="http://schemas.microsoft.com/office/drawing/2014/main" id="{088FC6D5-D4B3-492F-BA74-3B1C54B012CE}"/>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Service ordering Status (</a:t>
            </a:r>
            <a:r>
              <a:rPr lang="en-IN" sz="2400" b="1">
                <a:solidFill>
                  <a:srgbClr val="912A82"/>
                </a:solidFill>
              </a:rPr>
              <a:t>PSS-09, 05(B) &amp; 08(B))</a:t>
            </a:r>
            <a:r>
              <a:rPr lang="en-IN" sz="2400" b="1">
                <a:solidFill>
                  <a:srgbClr val="00B050"/>
                </a:solidFill>
              </a:rPr>
              <a:t> - Completed </a:t>
            </a:r>
            <a:endParaRPr lang="en-US" sz="2400" b="1">
              <a:solidFill>
                <a:srgbClr val="3D3DFF"/>
              </a:solidFill>
            </a:endParaRPr>
          </a:p>
        </p:txBody>
      </p:sp>
    </p:spTree>
    <p:extLst>
      <p:ext uri="{BB962C8B-B14F-4D97-AF65-F5344CB8AC3E}">
        <p14:creationId xmlns:p14="http://schemas.microsoft.com/office/powerpoint/2010/main" val="37411914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9EB27-11B4-E0E9-E0C5-D73C9DEC4F2C}"/>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581F4939-E117-CF7E-FF04-DBA9BE4D651C}"/>
              </a:ext>
            </a:extLst>
          </p:cNvPr>
          <p:cNvSpPr txBox="1">
            <a:spLocks noChangeArrowheads="1"/>
          </p:cNvSpPr>
          <p:nvPr/>
        </p:nvSpPr>
        <p:spPr>
          <a:xfrm>
            <a:off x="66695" y="165164"/>
            <a:ext cx="11016187" cy="476833"/>
          </a:xfrm>
          <a:prstGeom prst="rect">
            <a:avLst/>
          </a:prstGeom>
        </p:spPr>
        <p:txBody>
          <a:bodyPr/>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US" sz="2400" b="1">
                <a:solidFill>
                  <a:srgbClr val="912A82"/>
                </a:solidFill>
              </a:rPr>
              <a:t> Service ordering Status (</a:t>
            </a:r>
            <a:r>
              <a:rPr lang="en-IN" sz="2400" b="1">
                <a:solidFill>
                  <a:srgbClr val="912A82"/>
                </a:solidFill>
              </a:rPr>
              <a:t>PSS-09, 05(B) &amp; 08(B))</a:t>
            </a:r>
            <a:r>
              <a:rPr lang="en-IN" sz="2400" b="1">
                <a:solidFill>
                  <a:srgbClr val="00B050"/>
                </a:solidFill>
              </a:rPr>
              <a:t> - Completed </a:t>
            </a:r>
            <a:endParaRPr lang="en-US" sz="2400" b="1">
              <a:solidFill>
                <a:srgbClr val="3D3DFF"/>
              </a:solidFill>
            </a:endParaRPr>
          </a:p>
        </p:txBody>
      </p:sp>
      <p:graphicFrame>
        <p:nvGraphicFramePr>
          <p:cNvPr id="5" name="Table 4">
            <a:extLst>
              <a:ext uri="{FF2B5EF4-FFF2-40B4-BE49-F238E27FC236}">
                <a16:creationId xmlns:a16="http://schemas.microsoft.com/office/drawing/2014/main" id="{2E61AF5A-91C0-3661-3296-E49974064670}"/>
              </a:ext>
            </a:extLst>
          </p:cNvPr>
          <p:cNvGraphicFramePr>
            <a:graphicFrameLocks noGrp="1"/>
          </p:cNvGraphicFramePr>
          <p:nvPr/>
        </p:nvGraphicFramePr>
        <p:xfrm>
          <a:off x="100256" y="744871"/>
          <a:ext cx="11950762" cy="3962663"/>
        </p:xfrm>
        <a:graphic>
          <a:graphicData uri="http://schemas.openxmlformats.org/drawingml/2006/table">
            <a:tbl>
              <a:tblPr/>
              <a:tblGrid>
                <a:gridCol w="399388">
                  <a:extLst>
                    <a:ext uri="{9D8B030D-6E8A-4147-A177-3AD203B41FA5}">
                      <a16:colId xmlns:a16="http://schemas.microsoft.com/office/drawing/2014/main" val="2829026117"/>
                    </a:ext>
                  </a:extLst>
                </a:gridCol>
                <a:gridCol w="1260000">
                  <a:extLst>
                    <a:ext uri="{9D8B030D-6E8A-4147-A177-3AD203B41FA5}">
                      <a16:colId xmlns:a16="http://schemas.microsoft.com/office/drawing/2014/main" val="2773142122"/>
                    </a:ext>
                  </a:extLst>
                </a:gridCol>
                <a:gridCol w="792000">
                  <a:extLst>
                    <a:ext uri="{9D8B030D-6E8A-4147-A177-3AD203B41FA5}">
                      <a16:colId xmlns:a16="http://schemas.microsoft.com/office/drawing/2014/main" val="246702370"/>
                    </a:ext>
                  </a:extLst>
                </a:gridCol>
                <a:gridCol w="1061592">
                  <a:extLst>
                    <a:ext uri="{9D8B030D-6E8A-4147-A177-3AD203B41FA5}">
                      <a16:colId xmlns:a16="http://schemas.microsoft.com/office/drawing/2014/main" val="3558478565"/>
                    </a:ext>
                  </a:extLst>
                </a:gridCol>
                <a:gridCol w="823921">
                  <a:extLst>
                    <a:ext uri="{9D8B030D-6E8A-4147-A177-3AD203B41FA5}">
                      <a16:colId xmlns:a16="http://schemas.microsoft.com/office/drawing/2014/main" val="1271983604"/>
                    </a:ext>
                  </a:extLst>
                </a:gridCol>
                <a:gridCol w="974292">
                  <a:extLst>
                    <a:ext uri="{9D8B030D-6E8A-4147-A177-3AD203B41FA5}">
                      <a16:colId xmlns:a16="http://schemas.microsoft.com/office/drawing/2014/main" val="1705681307"/>
                    </a:ext>
                  </a:extLst>
                </a:gridCol>
                <a:gridCol w="1469629">
                  <a:extLst>
                    <a:ext uri="{9D8B030D-6E8A-4147-A177-3AD203B41FA5}">
                      <a16:colId xmlns:a16="http://schemas.microsoft.com/office/drawing/2014/main" val="916472123"/>
                    </a:ext>
                  </a:extLst>
                </a:gridCol>
                <a:gridCol w="809088">
                  <a:extLst>
                    <a:ext uri="{9D8B030D-6E8A-4147-A177-3AD203B41FA5}">
                      <a16:colId xmlns:a16="http://schemas.microsoft.com/office/drawing/2014/main" val="86425436"/>
                    </a:ext>
                  </a:extLst>
                </a:gridCol>
                <a:gridCol w="809088">
                  <a:extLst>
                    <a:ext uri="{9D8B030D-6E8A-4147-A177-3AD203B41FA5}">
                      <a16:colId xmlns:a16="http://schemas.microsoft.com/office/drawing/2014/main" val="3499724676"/>
                    </a:ext>
                  </a:extLst>
                </a:gridCol>
                <a:gridCol w="809088">
                  <a:extLst>
                    <a:ext uri="{9D8B030D-6E8A-4147-A177-3AD203B41FA5}">
                      <a16:colId xmlns:a16="http://schemas.microsoft.com/office/drawing/2014/main" val="708652653"/>
                    </a:ext>
                  </a:extLst>
                </a:gridCol>
                <a:gridCol w="2742676">
                  <a:extLst>
                    <a:ext uri="{9D8B030D-6E8A-4147-A177-3AD203B41FA5}">
                      <a16:colId xmlns:a16="http://schemas.microsoft.com/office/drawing/2014/main" val="773725385"/>
                    </a:ext>
                  </a:extLst>
                </a:gridCol>
              </a:tblGrid>
              <a:tr h="859915">
                <a:tc>
                  <a:txBody>
                    <a:bodyPr/>
                    <a:lstStyle/>
                    <a:p>
                      <a:pPr algn="ctr" fontAlgn="ctr"/>
                      <a:r>
                        <a:rPr lang="en-US" sz="1100" b="1" i="0" u="none" strike="noStrike">
                          <a:solidFill>
                            <a:srgbClr val="FBFCFE"/>
                          </a:solidFill>
                          <a:effectLst/>
                          <a:latin typeface="Adani Regular" panose="02000503000000020004" pitchFamily="2" charset="0"/>
                        </a:rPr>
                        <a:t>SN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Equipment/ Package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Qty / Scope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fontAlgn="ctr"/>
                      <a:r>
                        <a:rPr lang="en-US" sz="1100" b="1" i="0" u="none" strike="noStrike">
                          <a:solidFill>
                            <a:srgbClr val="FBFCFE"/>
                          </a:solidFill>
                          <a:effectLst/>
                          <a:latin typeface="Adani Regular" panose="02000503000000020004" pitchFamily="2" charset="0"/>
                        </a:rPr>
                        <a:t>Final / Revised Specifications Issue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Verified by Engineering consultant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TBER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Qualified Vendors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Receipt of Offer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Commercial NFA Submission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Release of PO / SO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tc>
                  <a:txBody>
                    <a:bodyPr/>
                    <a:lstStyle/>
                    <a:p>
                      <a:pPr algn="ctr" rtl="0" fontAlgn="ctr"/>
                      <a:r>
                        <a:rPr lang="en-US" sz="1100" b="1" i="0" u="none" strike="noStrike">
                          <a:solidFill>
                            <a:srgbClr val="FBFCFE"/>
                          </a:solidFill>
                          <a:effectLst/>
                          <a:latin typeface="Adani Regular" panose="02000503000000020004" pitchFamily="2" charset="0"/>
                        </a:rPr>
                        <a:t>Update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2A82"/>
                    </a:solidFill>
                  </a:tcPr>
                </a:tc>
                <a:extLst>
                  <a:ext uri="{0D108BD9-81ED-4DB2-BD59-A6C34878D82A}">
                    <a16:rowId xmlns:a16="http://schemas.microsoft.com/office/drawing/2014/main" val="3826008376"/>
                  </a:ext>
                </a:extLst>
              </a:tr>
              <a:tr h="775687">
                <a:tc>
                  <a:txBody>
                    <a:bodyPr/>
                    <a:lstStyle/>
                    <a:p>
                      <a:pPr algn="ctr" fontAlgn="ctr"/>
                      <a:r>
                        <a:rPr lang="en-US" sz="1100" b="1" i="0" u="none" strike="noStrike">
                          <a:solidFill>
                            <a:srgbClr val="00B050"/>
                          </a:solidFill>
                          <a:effectLst/>
                          <a:latin typeface="Adani Regular" panose="02000503000000020004" pitchFamily="2" charset="0"/>
                        </a:rPr>
                        <a:t>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Transportation of Precast items (from Buildcast)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LOT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Adani Logistics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NA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17-Feb-26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a:t>
                      </a:r>
                      <a:r>
                        <a:rPr lang="en-US" sz="1100" b="1" i="0" u="none" strike="noStrike">
                          <a:solidFill>
                            <a:srgbClr val="00B050"/>
                          </a:solidFill>
                          <a:effectLst/>
                          <a:latin typeface="Adani Regular" panose="02000503000000020004" pitchFamily="2" charset="0"/>
                        </a:rPr>
                        <a:t>Adani Logistics</a:t>
                      </a:r>
                      <a:r>
                        <a:rPr lang="en-US" sz="1100" b="1" i="0" u="none" strike="noStrike" kern="1200">
                          <a:solidFill>
                            <a:srgbClr val="00B050"/>
                          </a:solidFill>
                          <a:effectLst/>
                          <a:latin typeface="Adani Regular" panose="02000503000000020004" pitchFamily="2" charset="0"/>
                          <a:ea typeface="+mn-ea"/>
                          <a:cs typeface="+mn-cs"/>
                        </a:rPr>
                        <a:t> dated 17-Feb-26.</a:t>
                      </a:r>
                      <a:endParaRPr lang="en-US" sz="1100" b="1" i="0" u="none" strike="noStrike">
                        <a:solidFill>
                          <a:srgbClr val="00B050"/>
                        </a:solidFill>
                        <a:effectLst/>
                        <a:latin typeface="Adani Regular" panose="02000503000000020004" pitchFamily="2"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62990573"/>
                  </a:ext>
                </a:extLst>
              </a:tr>
              <a:tr h="775687">
                <a:tc>
                  <a:txBody>
                    <a:bodyPr/>
                    <a:lstStyle/>
                    <a:p>
                      <a:pPr algn="ctr" fontAlgn="ctr"/>
                      <a:r>
                        <a:rPr lang="en-US" sz="1100" b="1" i="0" u="none" strike="noStrike">
                          <a:solidFill>
                            <a:srgbClr val="00B050"/>
                          </a:solidFill>
                          <a:effectLst/>
                          <a:latin typeface="Adani Regular" panose="02000503000000020004" pitchFamily="2" charset="0"/>
                        </a:rPr>
                        <a:t>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Hiring for Survey team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r>
                        <a:rPr lang="en-US" sz="1100" b="1" i="0" u="none" strike="noStrike">
                          <a:solidFill>
                            <a:srgbClr val="00B050"/>
                          </a:solidFill>
                          <a:effectLst/>
                          <a:latin typeface="Adani Regular" panose="02000503000000020004" pitchFamily="2" charset="0"/>
                        </a:rPr>
                        <a:t>Vital Infratech</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a:solidFill>
                            <a:srgbClr val="00B050"/>
                          </a:solidFill>
                          <a:effectLst/>
                          <a:latin typeface="Adani Regular" panose="02000503000000020004" pitchFamily="2" charset="0"/>
                        </a:rPr>
                        <a:t>As per old specification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23-Feb-26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05-Mar-26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1219170" rtl="0" eaLnBrk="1" fontAlgn="ctr" latinLnBrk="0" hangingPunct="1">
                        <a:lnSpc>
                          <a:spcPct val="100000"/>
                        </a:lnSpc>
                        <a:spcBef>
                          <a:spcPts val="0"/>
                        </a:spcBef>
                        <a:spcAft>
                          <a:spcPts val="0"/>
                        </a:spcAft>
                        <a:buClrTx/>
                        <a:buSzTx/>
                        <a:buFontTx/>
                        <a:buNone/>
                        <a:tabLst/>
                        <a:defRPr/>
                      </a:pPr>
                      <a:r>
                        <a:rPr lang="en-US" sz="1100" b="1" kern="1200">
                          <a:solidFill>
                            <a:srgbClr val="00B050"/>
                          </a:solidFill>
                          <a:effectLst/>
                          <a:latin typeface="Adani Regular" panose="02000503000000020004" pitchFamily="2" charset="0"/>
                          <a:ea typeface="+mn-ea"/>
                          <a:cs typeface="+mn-cs"/>
                        </a:rPr>
                        <a:t>Order issued to M/s Vital Infratech on 05-Mar.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32301379"/>
                  </a:ext>
                </a:extLst>
              </a:tr>
              <a:tr h="775687">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10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kern="1200">
                          <a:solidFill>
                            <a:srgbClr val="00B050"/>
                          </a:solidFill>
                          <a:effectLst/>
                          <a:latin typeface="Adani Regular" panose="02000503000000020004" pitchFamily="2" charset="0"/>
                          <a:ea typeface="+mn-ea"/>
                          <a:cs typeface="+mn-cs"/>
                        </a:rPr>
                        <a:t>Farana/Crane for Stores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6 NOS</a:t>
                      </a:r>
                    </a:p>
                    <a:p>
                      <a:pPr algn="ctr" fontAlgn="ctr"/>
                      <a:r>
                        <a:rPr lang="en-US" sz="1100" b="1" i="0" u="none" strike="noStrike">
                          <a:solidFill>
                            <a:srgbClr val="00B050"/>
                          </a:solidFill>
                          <a:effectLst/>
                          <a:latin typeface="Adani Regular" panose="02000503000000020004" pitchFamily="2" charset="0"/>
                        </a:rPr>
                        <a:t>6 NOS</a:t>
                      </a:r>
                    </a:p>
                    <a:p>
                      <a:pPr algn="ctr" fontAlgn="ctr"/>
                      <a:r>
                        <a:rPr lang="en-US" sz="1100" b="1" i="0" u="none" strike="noStrike">
                          <a:solidFill>
                            <a:srgbClr val="00B050"/>
                          </a:solidFill>
                          <a:effectLst/>
                          <a:latin typeface="Adani Regular" panose="02000503000000020004" pitchFamily="2" charset="0"/>
                        </a:rPr>
                        <a:t>3 NOS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14-Jan-26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05-Feb-26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26-Feb-26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16-Feb-26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25-Feb-26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sngStrike" kern="1200">
                          <a:solidFill>
                            <a:srgbClr val="00B050"/>
                          </a:solidFill>
                          <a:effectLst/>
                          <a:latin typeface="Adani Regular" panose="02000503000000020004" pitchFamily="2" charset="0"/>
                          <a:ea typeface="+mn-ea"/>
                          <a:cs typeface="+mn-cs"/>
                        </a:rPr>
                        <a:t>05-Mar-26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12-Mar-26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M/s SAFAR Cranes on 12-Mar-26.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7218883"/>
                  </a:ext>
                </a:extLst>
              </a:tr>
              <a:tr h="775687">
                <a:tc>
                  <a:txBody>
                    <a:bodyPr/>
                    <a:lstStyle/>
                    <a:p>
                      <a:pPr algn="ctr" fontAlgn="ctr"/>
                      <a:r>
                        <a:rPr lang="en-US" sz="1100" b="1" i="0" u="none" strike="noStrike">
                          <a:solidFill>
                            <a:srgbClr val="00B050"/>
                          </a:solidFill>
                          <a:effectLst/>
                          <a:latin typeface="Adani Regular" panose="02000503000000020004" pitchFamily="2" charset="0"/>
                        </a:rPr>
                        <a:t>11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Mobile Lighting towers (MLT)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kern="1200">
                          <a:solidFill>
                            <a:srgbClr val="00B050"/>
                          </a:solidFill>
                          <a:effectLst/>
                          <a:latin typeface="Adani Regular" panose="02000503000000020004" pitchFamily="2" charset="0"/>
                          <a:ea typeface="+mn-ea"/>
                          <a:cs typeface="+mn-cs"/>
                        </a:rPr>
                        <a:t>2 NOS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19-Jan-26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219170" rtl="0" eaLnBrk="1" fontAlgn="ctr" latinLnBrk="0" hangingPunct="1"/>
                      <a:r>
                        <a:rPr lang="en-US" sz="1100" b="1" i="0" u="none" strike="noStrike" kern="1200">
                          <a:solidFill>
                            <a:srgbClr val="00B050"/>
                          </a:solidFill>
                          <a:effectLst/>
                          <a:latin typeface="Adani Regular" panose="02000503000000020004" pitchFamily="2" charset="0"/>
                          <a:ea typeface="+mn-ea"/>
                          <a:cs typeface="+mn-cs"/>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29-Jan-26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Accurate Power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Adani Regular" panose="02000503000000020004" pitchFamily="2" charset="0"/>
                          <a:ea typeface="Aptos" panose="020B0004020202020204" pitchFamily="34" charset="0"/>
                          <a:cs typeface="Aptos" panose="020B0004020202020204" pitchFamily="34" charset="0"/>
                        </a:rPr>
                        <a:t>-</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a:buNone/>
                      </a:pPr>
                      <a:r>
                        <a:rPr lang="en-US" sz="1100" b="1" strike="noStrike">
                          <a:solidFill>
                            <a:srgbClr val="00B050"/>
                          </a:solidFill>
                          <a:effectLst/>
                          <a:latin typeface="Adani Regular"/>
                          <a:ea typeface="Aptos" panose="020B0004020202020204" pitchFamily="34" charset="0"/>
                          <a:cs typeface="Aptos" panose="020B0004020202020204" pitchFamily="34" charset="0"/>
                        </a:rPr>
                        <a:t>10-Feb-26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B050"/>
                          </a:solidFill>
                          <a:effectLst/>
                          <a:latin typeface="Adani Regular" panose="02000503000000020004" pitchFamily="2" charset="0"/>
                        </a:rPr>
                        <a:t>16-Feb-26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85725" indent="0" algn="l" fontAlgn="ctr"/>
                      <a:r>
                        <a:rPr lang="en-US" sz="1100" b="1" i="0" u="none" strike="noStrike">
                          <a:solidFill>
                            <a:srgbClr val="00B050"/>
                          </a:solidFill>
                          <a:effectLst/>
                          <a:latin typeface="Adani Regular" panose="02000503000000020004" pitchFamily="2" charset="0"/>
                        </a:rPr>
                        <a:t>Order issued to Accurate Power dated 16-Feb-26.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49902315"/>
                  </a:ext>
                </a:extLst>
              </a:tr>
            </a:tbl>
          </a:graphicData>
        </a:graphic>
      </p:graphicFrame>
    </p:spTree>
    <p:extLst>
      <p:ext uri="{BB962C8B-B14F-4D97-AF65-F5344CB8AC3E}">
        <p14:creationId xmlns:p14="http://schemas.microsoft.com/office/powerpoint/2010/main" val="3595289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CC5B6-3D75-9DEA-2A86-8E639CC55E32}"/>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DE0082EF-7338-A5F8-25FE-308190304F2B}"/>
              </a:ext>
            </a:extLst>
          </p:cNvPr>
          <p:cNvSpPr txBox="1">
            <a:spLocks/>
          </p:cNvSpPr>
          <p:nvPr/>
        </p:nvSpPr>
        <p:spPr>
          <a:xfrm>
            <a:off x="0" y="4048125"/>
            <a:ext cx="12192000" cy="1362075"/>
          </a:xfrm>
          <a:prstGeom prst="rect">
            <a:avLst/>
          </a:prstGeom>
        </p:spPr>
        <p:txBody>
          <a:bodyPr vert="horz" lIns="91440" tIns="45720" rIns="91440" bIns="45720" rtlCol="0" anchor="t">
            <a:normAutofit/>
          </a:bodyPr>
          <a:lstStyle>
            <a:lvl1pPr algn="l" defTabSz="1219170" rtl="0" eaLnBrk="1" latinLnBrk="0" hangingPunct="1">
              <a:spcBef>
                <a:spcPct val="0"/>
              </a:spcBef>
              <a:buNone/>
              <a:defRPr sz="3733" b="0" kern="1200" cap="none" baseline="0">
                <a:solidFill>
                  <a:schemeClr val="bg1"/>
                </a:solidFill>
                <a:latin typeface="Adani Regular" pitchFamily="2" charset="0"/>
                <a:ea typeface="+mj-ea"/>
                <a:cs typeface="+mj-cs"/>
              </a:defRPr>
            </a:lvl1pPr>
          </a:lstStyle>
          <a:p>
            <a:pPr algn="ctr"/>
            <a:r>
              <a:rPr lang="en-IN"/>
              <a:t>Statutory &amp; Other approvals</a:t>
            </a:r>
          </a:p>
          <a:p>
            <a:pPr algn="ctr"/>
            <a:r>
              <a:rPr lang="en-IN" sz="4000">
                <a:latin typeface="Adani Regular"/>
              </a:rPr>
              <a:t>PSS-11, 12 &amp; 10(B)</a:t>
            </a:r>
            <a:endParaRPr lang="en-IN"/>
          </a:p>
        </p:txBody>
      </p:sp>
      <p:sp>
        <p:nvSpPr>
          <p:cNvPr id="3" name="Slide Number Placeholder 1">
            <a:extLst>
              <a:ext uri="{FF2B5EF4-FFF2-40B4-BE49-F238E27FC236}">
                <a16:creationId xmlns:a16="http://schemas.microsoft.com/office/drawing/2014/main" id="{B5929E89-D414-D641-C65B-4680C5376079}"/>
              </a:ext>
            </a:extLst>
          </p:cNvPr>
          <p:cNvSpPr>
            <a:spLocks noGrp="1"/>
          </p:cNvSpPr>
          <p:nvPr>
            <p:ph type="sldNum" sz="quarter" idx="12"/>
          </p:nvPr>
        </p:nvSpPr>
        <p:spPr>
          <a:xfrm>
            <a:off x="11627141" y="6544298"/>
            <a:ext cx="564858" cy="365125"/>
          </a:xfrm>
        </p:spPr>
        <p:txBody>
          <a:bodyPr/>
          <a:lstStyle/>
          <a:p>
            <a:fld id="{98B285C1-D8A8-4E98-B28C-1FD972D8EC54}" type="slidenum">
              <a:rPr lang="en-IN" smtClean="0"/>
              <a:t>54</a:t>
            </a:fld>
            <a:endParaRPr lang="en-IN"/>
          </a:p>
        </p:txBody>
      </p:sp>
    </p:spTree>
    <p:extLst>
      <p:ext uri="{BB962C8B-B14F-4D97-AF65-F5344CB8AC3E}">
        <p14:creationId xmlns:p14="http://schemas.microsoft.com/office/powerpoint/2010/main" val="14525719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16500-7897-EAC9-B337-3D447A3C27C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9866E8B-E681-3AF4-CC19-CA7941F33403}"/>
              </a:ext>
            </a:extLst>
          </p:cNvPr>
          <p:cNvSpPr txBox="1">
            <a:spLocks noChangeArrowheads="1"/>
          </p:cNvSpPr>
          <p:nvPr/>
        </p:nvSpPr>
        <p:spPr>
          <a:xfrm>
            <a:off x="0" y="12745"/>
            <a:ext cx="12192000" cy="476833"/>
          </a:xfrm>
          <a:prstGeom prst="rect">
            <a:avLst/>
          </a:prstGeom>
        </p:spPr>
        <p:txBody>
          <a:bodyPr lIns="121920" tIns="60960" rIns="121920" bIns="6096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a:solidFill>
                  <a:srgbClr val="912A82"/>
                </a:solidFill>
              </a:rPr>
              <a:t> Statutory and Other Approvals (PSS-11, 12 &amp; 10(B))</a:t>
            </a:r>
            <a:endParaRPr lang="en-US" sz="2400" b="1">
              <a:solidFill>
                <a:srgbClr val="3D3DFF"/>
              </a:solidFill>
            </a:endParaRPr>
          </a:p>
        </p:txBody>
      </p:sp>
      <p:sp>
        <p:nvSpPr>
          <p:cNvPr id="2" name="Slide Number Placeholder 1">
            <a:extLst>
              <a:ext uri="{FF2B5EF4-FFF2-40B4-BE49-F238E27FC236}">
                <a16:creationId xmlns:a16="http://schemas.microsoft.com/office/drawing/2014/main" id="{BBAFDC98-B92E-7776-B7B0-F798B75FD2B2}"/>
              </a:ext>
            </a:extLst>
          </p:cNvPr>
          <p:cNvSpPr>
            <a:spLocks noGrp="1"/>
          </p:cNvSpPr>
          <p:nvPr>
            <p:ph type="sldNum" sz="quarter" idx="12"/>
          </p:nvPr>
        </p:nvSpPr>
        <p:spPr>
          <a:xfrm>
            <a:off x="9448800" y="6544298"/>
            <a:ext cx="2743200" cy="365125"/>
          </a:xfrm>
        </p:spPr>
        <p:txBody>
          <a:bodyPr/>
          <a:lstStyle/>
          <a:p>
            <a:fld id="{98B285C1-D8A8-4E98-B28C-1FD972D8EC54}" type="slidenum">
              <a:rPr lang="en-IN" smtClean="0"/>
              <a:t>55</a:t>
            </a:fld>
            <a:endParaRPr lang="en-IN"/>
          </a:p>
        </p:txBody>
      </p:sp>
      <p:graphicFrame>
        <p:nvGraphicFramePr>
          <p:cNvPr id="7" name="Table 6">
            <a:extLst>
              <a:ext uri="{FF2B5EF4-FFF2-40B4-BE49-F238E27FC236}">
                <a16:creationId xmlns:a16="http://schemas.microsoft.com/office/drawing/2014/main" id="{1BE04146-72E7-A670-E4CB-48201C8D1986}"/>
              </a:ext>
            </a:extLst>
          </p:cNvPr>
          <p:cNvGraphicFramePr>
            <a:graphicFrameLocks noGrp="1"/>
          </p:cNvGraphicFramePr>
          <p:nvPr/>
        </p:nvGraphicFramePr>
        <p:xfrm>
          <a:off x="168941" y="544017"/>
          <a:ext cx="11842085" cy="5628183"/>
        </p:xfrm>
        <a:graphic>
          <a:graphicData uri="http://schemas.openxmlformats.org/drawingml/2006/table">
            <a:tbl>
              <a:tblPr firstRow="1" bandRow="1">
                <a:tableStyleId>{5C22544A-7EE6-4342-B048-85BDC9FD1C3A}</a:tableStyleId>
              </a:tblPr>
              <a:tblGrid>
                <a:gridCol w="450137">
                  <a:extLst>
                    <a:ext uri="{9D8B030D-6E8A-4147-A177-3AD203B41FA5}">
                      <a16:colId xmlns:a16="http://schemas.microsoft.com/office/drawing/2014/main" val="3099302020"/>
                    </a:ext>
                  </a:extLst>
                </a:gridCol>
                <a:gridCol w="2181437">
                  <a:extLst>
                    <a:ext uri="{9D8B030D-6E8A-4147-A177-3AD203B41FA5}">
                      <a16:colId xmlns:a16="http://schemas.microsoft.com/office/drawing/2014/main" val="1830319299"/>
                    </a:ext>
                  </a:extLst>
                </a:gridCol>
                <a:gridCol w="1315788">
                  <a:extLst>
                    <a:ext uri="{9D8B030D-6E8A-4147-A177-3AD203B41FA5}">
                      <a16:colId xmlns:a16="http://schemas.microsoft.com/office/drawing/2014/main" val="1049725276"/>
                    </a:ext>
                  </a:extLst>
                </a:gridCol>
                <a:gridCol w="1315788">
                  <a:extLst>
                    <a:ext uri="{9D8B030D-6E8A-4147-A177-3AD203B41FA5}">
                      <a16:colId xmlns:a16="http://schemas.microsoft.com/office/drawing/2014/main" val="3717742423"/>
                    </a:ext>
                  </a:extLst>
                </a:gridCol>
                <a:gridCol w="982792">
                  <a:extLst>
                    <a:ext uri="{9D8B030D-6E8A-4147-A177-3AD203B41FA5}">
                      <a16:colId xmlns:a16="http://schemas.microsoft.com/office/drawing/2014/main" val="175036882"/>
                    </a:ext>
                  </a:extLst>
                </a:gridCol>
                <a:gridCol w="982792">
                  <a:extLst>
                    <a:ext uri="{9D8B030D-6E8A-4147-A177-3AD203B41FA5}">
                      <a16:colId xmlns:a16="http://schemas.microsoft.com/office/drawing/2014/main" val="25227117"/>
                    </a:ext>
                  </a:extLst>
                </a:gridCol>
                <a:gridCol w="982792">
                  <a:extLst>
                    <a:ext uri="{9D8B030D-6E8A-4147-A177-3AD203B41FA5}">
                      <a16:colId xmlns:a16="http://schemas.microsoft.com/office/drawing/2014/main" val="2900503877"/>
                    </a:ext>
                  </a:extLst>
                </a:gridCol>
                <a:gridCol w="982792">
                  <a:extLst>
                    <a:ext uri="{9D8B030D-6E8A-4147-A177-3AD203B41FA5}">
                      <a16:colId xmlns:a16="http://schemas.microsoft.com/office/drawing/2014/main" val="769568464"/>
                    </a:ext>
                  </a:extLst>
                </a:gridCol>
                <a:gridCol w="2647767">
                  <a:extLst>
                    <a:ext uri="{9D8B030D-6E8A-4147-A177-3AD203B41FA5}">
                      <a16:colId xmlns:a16="http://schemas.microsoft.com/office/drawing/2014/main" val="3175708860"/>
                    </a:ext>
                  </a:extLst>
                </a:gridCol>
              </a:tblGrid>
              <a:tr h="652950">
                <a:tc>
                  <a:txBody>
                    <a:bodyPr/>
                    <a:lstStyle/>
                    <a:p>
                      <a:pPr algn="ctr" fontAlgn="ctr">
                        <a:buNone/>
                      </a:pPr>
                      <a:r>
                        <a:rPr lang="en-US" sz="1200" b="1" i="0" u="none" strike="noStrike">
                          <a:solidFill>
                            <a:schemeClr val="bg1"/>
                          </a:solidFill>
                          <a:effectLst/>
                          <a:latin typeface="Adani Regular"/>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Activity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Responsible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Approval Authority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Baseline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Baseline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Actual/ Forecast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a:rPr>
                        <a:t>Actual/ Forecast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bg1"/>
                          </a:solidFill>
                          <a:effectLst/>
                          <a:latin typeface="Adani Regular"/>
                        </a:rPr>
                        <a:t>Remarks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extLst>
                  <a:ext uri="{0D108BD9-81ED-4DB2-BD59-A6C34878D82A}">
                    <a16:rowId xmlns:a16="http://schemas.microsoft.com/office/drawing/2014/main" val="3932833671"/>
                  </a:ext>
                </a:extLst>
              </a:tr>
              <a:tr h="1187789">
                <a:tc>
                  <a:txBody>
                    <a:bodyPr/>
                    <a:lstStyle/>
                    <a:p>
                      <a:pPr algn="ctr" fontAlgn="ctr">
                        <a:buNone/>
                      </a:pPr>
                      <a:r>
                        <a:rPr lang="en-US" sz="1100" b="0" i="0" u="none" strike="noStrike">
                          <a:solidFill>
                            <a:srgbClr val="000000"/>
                          </a:solidFill>
                          <a:effectLst/>
                          <a:latin typeface="Adani Regular"/>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a:rPr>
                        <a:t>CLRA - Contract Labor Regulation &amp; Abolition Act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a:rPr>
                        <a:t>Site IR Team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a:rPr>
                        <a:t>Govt. of Gujrat</a:t>
                      </a:r>
                      <a:br>
                        <a:rPr lang="en-US" sz="1100" b="0" i="0" u="none" strike="noStrike">
                          <a:solidFill>
                            <a:srgbClr val="000000"/>
                          </a:solidFill>
                          <a:effectLst/>
                          <a:latin typeface="Adani Regular"/>
                        </a:rPr>
                      </a:br>
                      <a:r>
                        <a:rPr lang="en-US" sz="1100" b="0" i="0" u="none" strike="noStrike">
                          <a:solidFill>
                            <a:srgbClr val="000000"/>
                          </a:solidFill>
                          <a:effectLst/>
                          <a:latin typeface="Adani Regular"/>
                        </a:rPr>
                        <a:t>(Dept of Labor)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a:rPr>
                        <a:t>30-Nov-25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a:rPr>
                        <a:t>13-Jan-26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09-Dec-25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000" b="0" i="0" u="none" strike="sngStrike">
                          <a:solidFill>
                            <a:srgbClr val="000000"/>
                          </a:solidFill>
                          <a:effectLst/>
                          <a:latin typeface="Adani Regular"/>
                        </a:rPr>
                        <a:t>13-Jan-26</a:t>
                      </a:r>
                      <a:endParaRPr lang="en-US" sz="1100" b="0" i="0" u="none" strike="sngStrike">
                        <a:solidFill>
                          <a:srgbClr val="000000"/>
                        </a:solidFill>
                        <a:effectLst/>
                        <a:latin typeface="Adani Regular"/>
                      </a:endParaRPr>
                    </a:p>
                    <a:p>
                      <a:pPr algn="ctr" fontAlgn="ctr">
                        <a:buNone/>
                      </a:pPr>
                      <a:r>
                        <a:rPr lang="en-US" sz="1000" b="0" i="0" u="none" strike="sngStrike">
                          <a:solidFill>
                            <a:srgbClr val="000000"/>
                          </a:solidFill>
                          <a:effectLst/>
                          <a:latin typeface="Adani Regular"/>
                        </a:rPr>
                        <a:t>05-Feb-26</a:t>
                      </a:r>
                    </a:p>
                    <a:p>
                      <a:pPr algn="ctr" fontAlgn="ctr">
                        <a:buNone/>
                      </a:pPr>
                      <a:r>
                        <a:rPr lang="en-US" sz="1000" b="0" i="0" u="none" strike="sngStrike">
                          <a:solidFill>
                            <a:srgbClr val="000000"/>
                          </a:solidFill>
                          <a:effectLst/>
                          <a:latin typeface="Adani Regular"/>
                        </a:rPr>
                        <a:t>30-Apr-26</a:t>
                      </a:r>
                    </a:p>
                    <a:p>
                      <a:pPr algn="ctr" fontAlgn="ctr">
                        <a:buNone/>
                      </a:pPr>
                      <a:r>
                        <a:rPr lang="en-US" sz="1000" b="0" i="0" u="none" strike="sngStrike">
                          <a:solidFill>
                            <a:srgbClr val="000000"/>
                          </a:solidFill>
                          <a:effectLst/>
                          <a:latin typeface="Adani Regular"/>
                        </a:rPr>
                        <a:t>May-26</a:t>
                      </a:r>
                    </a:p>
                    <a:p>
                      <a:pPr algn="ctr" fontAlgn="ctr">
                        <a:buNone/>
                      </a:pPr>
                      <a:r>
                        <a:rPr lang="en-US" sz="1000" b="0" i="0" u="none" strike="noStrike">
                          <a:solidFill>
                            <a:srgbClr val="000000"/>
                          </a:solidFill>
                          <a:effectLst/>
                          <a:latin typeface="Adani Regular"/>
                        </a:rPr>
                        <a:t>Jun-26</a:t>
                      </a:r>
                      <a:endParaRPr lang="en-US" sz="1100" b="0" i="0" u="none" strike="noStrike">
                        <a:solidFill>
                          <a:srgbClr val="000000"/>
                        </a:solidFill>
                        <a:effectLst/>
                        <a:latin typeface="Adani Regular"/>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100">
                          <a:solidFill>
                            <a:srgbClr val="000000"/>
                          </a:solidFill>
                          <a:effectLst/>
                          <a:latin typeface="Adani Regular"/>
                          <a:ea typeface="Times New Roman" panose="02020603050405020304" pitchFamily="18" charset="0"/>
                          <a:cs typeface="Aptos" panose="020B0004020202020204" pitchFamily="34" charset="0"/>
                        </a:rPr>
                        <a:t>On account of change of labour codes, online applications are on Hold. Intimation letter issued to govt. authority that application will be done once portal is working. </a:t>
                      </a:r>
                    </a:p>
                    <a:p>
                      <a:pPr>
                        <a:buNone/>
                      </a:pPr>
                      <a:r>
                        <a:rPr lang="en-IN" sz="1100">
                          <a:solidFill>
                            <a:srgbClr val="000000"/>
                          </a:solidFill>
                          <a:effectLst/>
                          <a:latin typeface="Adani Regular"/>
                          <a:ea typeface="Times New Roman" panose="02020603050405020304" pitchFamily="18" charset="0"/>
                          <a:cs typeface="Aptos" panose="020B0004020202020204" pitchFamily="34" charset="0"/>
                        </a:rPr>
                        <a:t>Letter acknowledged by govt.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87455117"/>
                  </a:ext>
                </a:extLst>
              </a:tr>
              <a:tr h="1535453">
                <a:tc>
                  <a:txBody>
                    <a:bodyPr/>
                    <a:lstStyle/>
                    <a:p>
                      <a:pPr algn="ctr" fontAlgn="ctr">
                        <a:buNone/>
                      </a:pPr>
                      <a:r>
                        <a:rPr lang="en-US" sz="1100" b="0" i="0" u="none" strike="noStrike">
                          <a:solidFill>
                            <a:srgbClr val="000000"/>
                          </a:solidFill>
                          <a:effectLst/>
                          <a:latin typeface="Adani Regular"/>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a:rPr>
                        <a:t>Fire Safety Plan Approval (FSPA)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a:rPr>
                        <a:t>Project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a:rPr>
                        <a:t>Regional Fire Officer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a:rPr>
                        <a:t>15-Dec-25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a:rPr>
                        <a:t>31-Jan-26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17-Dec-25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000" b="0" i="0" u="none" strike="sngStrike">
                          <a:solidFill>
                            <a:srgbClr val="000000"/>
                          </a:solidFill>
                          <a:effectLst/>
                          <a:latin typeface="Adani Regular"/>
                        </a:rPr>
                        <a:t>31-Jan-26</a:t>
                      </a:r>
                    </a:p>
                    <a:p>
                      <a:pPr algn="ctr" fontAlgn="ctr">
                        <a:buNone/>
                      </a:pPr>
                      <a:r>
                        <a:rPr lang="en-US" sz="1000" b="0" i="0" u="none" strike="sngStrike">
                          <a:solidFill>
                            <a:srgbClr val="000000"/>
                          </a:solidFill>
                          <a:effectLst/>
                          <a:latin typeface="Adani Regular"/>
                        </a:rPr>
                        <a:t>10-Feb-26</a:t>
                      </a:r>
                    </a:p>
                    <a:p>
                      <a:pPr algn="ctr" fontAlgn="ctr">
                        <a:buNone/>
                      </a:pPr>
                      <a:r>
                        <a:rPr lang="en-US" sz="1000" b="0" i="0" u="none" strike="sngStrike">
                          <a:solidFill>
                            <a:srgbClr val="000000"/>
                          </a:solidFill>
                          <a:effectLst/>
                          <a:latin typeface="Adani Regular"/>
                        </a:rPr>
                        <a:t>14-Feb-26</a:t>
                      </a:r>
                    </a:p>
                    <a:p>
                      <a:pPr algn="ctr" fontAlgn="ctr">
                        <a:buNone/>
                      </a:pPr>
                      <a:r>
                        <a:rPr lang="en-US" sz="1000" b="0" i="0" u="none" strike="sngStrike">
                          <a:solidFill>
                            <a:srgbClr val="000000"/>
                          </a:solidFill>
                          <a:effectLst/>
                          <a:latin typeface="Adani Regular"/>
                        </a:rPr>
                        <a:t>18-Feb-26</a:t>
                      </a:r>
                    </a:p>
                    <a:p>
                      <a:pPr algn="ctr" fontAlgn="ctr">
                        <a:buNone/>
                      </a:pPr>
                      <a:r>
                        <a:rPr lang="en-US" sz="1000" b="0" i="0" u="none" strike="sngStrike">
                          <a:solidFill>
                            <a:srgbClr val="000000"/>
                          </a:solidFill>
                          <a:effectLst/>
                          <a:latin typeface="Adani Regular"/>
                        </a:rPr>
                        <a:t>07-Mar-26</a:t>
                      </a:r>
                    </a:p>
                    <a:p>
                      <a:pPr algn="ctr" fontAlgn="ctr">
                        <a:buNone/>
                      </a:pPr>
                      <a:r>
                        <a:rPr lang="en-US" sz="1000" b="0" i="0" u="none" strike="sngStrike">
                          <a:solidFill>
                            <a:srgbClr val="000000"/>
                          </a:solidFill>
                          <a:effectLst/>
                          <a:latin typeface="Adani Regular"/>
                        </a:rPr>
                        <a:t>31-Mar-26</a:t>
                      </a:r>
                    </a:p>
                    <a:p>
                      <a:pPr algn="ctr" fontAlgn="ctr">
                        <a:buNone/>
                      </a:pPr>
                      <a:r>
                        <a:rPr lang="en-US" sz="1100" b="0" i="0" u="none" strike="sngStrike">
                          <a:solidFill>
                            <a:srgbClr val="000000"/>
                          </a:solidFill>
                          <a:effectLst/>
                          <a:latin typeface="Adani Regular"/>
                        </a:rPr>
                        <a:t>27-Apr-26</a:t>
                      </a:r>
                    </a:p>
                    <a:p>
                      <a:pPr algn="ctr" fontAlgn="ctr">
                        <a:buNone/>
                      </a:pPr>
                      <a:r>
                        <a:rPr lang="en-US" sz="1100" b="0" i="0" u="none" strike="sngStrike">
                          <a:solidFill>
                            <a:srgbClr val="000000"/>
                          </a:solidFill>
                          <a:effectLst/>
                          <a:latin typeface="Adani Regular"/>
                        </a:rPr>
                        <a:t>May-26</a:t>
                      </a:r>
                    </a:p>
                    <a:p>
                      <a:pPr algn="ctr" fontAlgn="ctr">
                        <a:buNone/>
                      </a:pPr>
                      <a:r>
                        <a:rPr lang="en-US" sz="1100" b="0" i="0" u="none" strike="noStrike">
                          <a:solidFill>
                            <a:srgbClr val="000000"/>
                          </a:solidFill>
                          <a:effectLst/>
                          <a:latin typeface="Adani Regular"/>
                        </a:rPr>
                        <a:t>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100" b="0" i="0" u="none" strike="noStrike">
                          <a:solidFill>
                            <a:srgbClr val="00B050"/>
                          </a:solidFill>
                          <a:effectLst/>
                          <a:latin typeface="Adani Regular"/>
                        </a:rPr>
                        <a:t>As per CPO’s discussion with RFO, online FSPA application filed on 23-May for PSS-10(B).</a:t>
                      </a:r>
                    </a:p>
                    <a:p>
                      <a:pPr algn="l" fontAlgn="ctr">
                        <a:buNone/>
                      </a:pPr>
                      <a:r>
                        <a:rPr lang="en-US" sz="1100" b="0" i="0" u="none" strike="noStrike">
                          <a:solidFill>
                            <a:schemeClr val="tx1"/>
                          </a:solidFill>
                          <a:effectLst/>
                          <a:latin typeface="Adani Regular"/>
                        </a:rPr>
                        <a:t>RFO will respond on applicability in online application response.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40920818"/>
                  </a:ext>
                </a:extLst>
              </a:tr>
              <a:tr h="1187789">
                <a:tc>
                  <a:txBody>
                    <a:bodyPr/>
                    <a:lstStyle/>
                    <a:p>
                      <a:pPr algn="ctr" fontAlgn="ctr">
                        <a:buNone/>
                      </a:pPr>
                      <a:r>
                        <a:rPr lang="en-US" sz="1100" b="0" i="0" u="none" strike="noStrike">
                          <a:solidFill>
                            <a:srgbClr val="00B050"/>
                          </a:solidFill>
                          <a:effectLst/>
                          <a:latin typeface="Adani Regular"/>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Project Import Registration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TC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Commissioner of Customs, Kandla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26-Nov-25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25-Dec-25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08-Dec-25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rgbClr val="00B050"/>
                          </a:solidFill>
                          <a:effectLst/>
                          <a:latin typeface="Adani Regular"/>
                        </a:rPr>
                        <a:t>25-Dec  31-Jan</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rgbClr val="00B050"/>
                          </a:solidFill>
                          <a:effectLst/>
                          <a:latin typeface="Adani Regular"/>
                        </a:rPr>
                        <a:t>28-Feb  15-Mar</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rgbClr val="00B050"/>
                          </a:solidFill>
                          <a:effectLst/>
                          <a:latin typeface="Adani Regular"/>
                        </a:rPr>
                        <a:t>27-Mar  25-Apr</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900" b="0" i="0" u="none" strike="sngStrike">
                          <a:solidFill>
                            <a:srgbClr val="00B050"/>
                          </a:solidFill>
                          <a:effectLst/>
                          <a:latin typeface="Adani Regular"/>
                        </a:rPr>
                        <a:t>04-May  13-May</a:t>
                      </a:r>
                      <a:endParaRPr lang="en-US" sz="1100" b="0" i="0" u="none" strike="sngStrike">
                        <a:solidFill>
                          <a:srgbClr val="00B050"/>
                        </a:solidFill>
                        <a:effectLst/>
                        <a:latin typeface="Adani Regular"/>
                      </a:endParaRP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rgbClr val="00B050"/>
                          </a:solidFill>
                          <a:effectLst/>
                          <a:latin typeface="Adani Regular"/>
                        </a:rPr>
                        <a:t>18-May</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21-May-26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Approval from Customs, Mundra received on 21-May.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10724837"/>
                  </a:ext>
                </a:extLst>
              </a:tr>
              <a:tr h="1064202">
                <a:tc>
                  <a:txBody>
                    <a:bodyPr/>
                    <a:lstStyle/>
                    <a:p>
                      <a:pPr algn="ctr" fontAlgn="ctr">
                        <a:buNone/>
                      </a:pPr>
                      <a:r>
                        <a:rPr lang="en-US" sz="1100" b="0" i="0" u="none" strike="noStrike">
                          <a:solidFill>
                            <a:srgbClr val="00B050"/>
                          </a:solidFill>
                          <a:effectLst/>
                          <a:latin typeface="Adani Regular"/>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Project Insurance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Group Insurance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B050"/>
                          </a:solidFill>
                          <a:effectLst/>
                          <a:latin typeface="Adani Regular"/>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24-Feb-26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rgbClr val="00B050"/>
                          </a:solidFill>
                          <a:effectLst/>
                          <a:latin typeface="Adani Regular"/>
                        </a:rPr>
                        <a:t>01-May-26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rgbClr val="00B050"/>
                          </a:solidFill>
                          <a:effectLst/>
                          <a:latin typeface="Adani Regular"/>
                        </a:rPr>
                        <a:t>12-May-26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rgbClr val="00B050"/>
                          </a:solidFill>
                          <a:effectLst/>
                          <a:latin typeface="Adani Regular"/>
                        </a:rPr>
                        <a:t>23-May-26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01-Jun-26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Project Insurance policy issued on 01-Jun.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71567222"/>
                  </a:ext>
                </a:extLst>
              </a:tr>
            </a:tbl>
          </a:graphicData>
        </a:graphic>
      </p:graphicFrame>
      <p:sp>
        <p:nvSpPr>
          <p:cNvPr id="5" name="Arrow: Right 4">
            <a:hlinkClick r:id="rId3" action="ppaction://hlinksldjump"/>
            <a:extLst>
              <a:ext uri="{FF2B5EF4-FFF2-40B4-BE49-F238E27FC236}">
                <a16:creationId xmlns:a16="http://schemas.microsoft.com/office/drawing/2014/main" id="{D2A31C28-0850-8773-6EB8-7C151D733888}"/>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2362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8712C-04EC-6F00-68A5-8C7DDD49606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0A35896-984E-554C-7F99-40F99C53D429}"/>
              </a:ext>
            </a:extLst>
          </p:cNvPr>
          <p:cNvSpPr txBox="1">
            <a:spLocks noChangeArrowheads="1"/>
          </p:cNvSpPr>
          <p:nvPr/>
        </p:nvSpPr>
        <p:spPr>
          <a:xfrm>
            <a:off x="0" y="12745"/>
            <a:ext cx="12192000" cy="476833"/>
          </a:xfrm>
          <a:prstGeom prst="rect">
            <a:avLst/>
          </a:prstGeom>
        </p:spPr>
        <p:txBody>
          <a:bodyPr lIns="121920" tIns="60960" rIns="121920" bIns="6096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a:solidFill>
                  <a:srgbClr val="912A82"/>
                </a:solidFill>
              </a:rPr>
              <a:t> Statutory and Other Approvals (PSS-11, 12 &amp; 10(B))</a:t>
            </a:r>
            <a:endParaRPr lang="en-US" sz="2400" b="1">
              <a:solidFill>
                <a:srgbClr val="3D3DFF"/>
              </a:solidFill>
            </a:endParaRPr>
          </a:p>
        </p:txBody>
      </p:sp>
      <p:sp>
        <p:nvSpPr>
          <p:cNvPr id="2" name="Slide Number Placeholder 1">
            <a:extLst>
              <a:ext uri="{FF2B5EF4-FFF2-40B4-BE49-F238E27FC236}">
                <a16:creationId xmlns:a16="http://schemas.microsoft.com/office/drawing/2014/main" id="{0D86EFD4-3A55-1E4F-2EF5-56DD57B20220}"/>
              </a:ext>
            </a:extLst>
          </p:cNvPr>
          <p:cNvSpPr>
            <a:spLocks noGrp="1"/>
          </p:cNvSpPr>
          <p:nvPr>
            <p:ph type="sldNum" sz="quarter" idx="12"/>
          </p:nvPr>
        </p:nvSpPr>
        <p:spPr>
          <a:xfrm>
            <a:off x="9448800" y="6544298"/>
            <a:ext cx="2743200" cy="365125"/>
          </a:xfrm>
        </p:spPr>
        <p:txBody>
          <a:bodyPr/>
          <a:lstStyle/>
          <a:p>
            <a:fld id="{98B285C1-D8A8-4E98-B28C-1FD972D8EC54}" type="slidenum">
              <a:rPr lang="en-IN" smtClean="0"/>
              <a:t>56</a:t>
            </a:fld>
            <a:endParaRPr lang="en-IN"/>
          </a:p>
        </p:txBody>
      </p:sp>
      <p:graphicFrame>
        <p:nvGraphicFramePr>
          <p:cNvPr id="7" name="Table 6">
            <a:extLst>
              <a:ext uri="{FF2B5EF4-FFF2-40B4-BE49-F238E27FC236}">
                <a16:creationId xmlns:a16="http://schemas.microsoft.com/office/drawing/2014/main" id="{EFFF0E6A-61F0-01C7-D271-AABBC7C4CBC5}"/>
              </a:ext>
            </a:extLst>
          </p:cNvPr>
          <p:cNvGraphicFramePr>
            <a:graphicFrameLocks noGrp="1"/>
          </p:cNvGraphicFramePr>
          <p:nvPr>
            <p:extLst>
              <p:ext uri="{D42A27DB-BD31-4B8C-83A1-F6EECF244321}">
                <p14:modId xmlns:p14="http://schemas.microsoft.com/office/powerpoint/2010/main" val="1100580300"/>
              </p:ext>
            </p:extLst>
          </p:nvPr>
        </p:nvGraphicFramePr>
        <p:xfrm>
          <a:off x="168943" y="447955"/>
          <a:ext cx="11861133" cy="6168787"/>
        </p:xfrm>
        <a:graphic>
          <a:graphicData uri="http://schemas.openxmlformats.org/drawingml/2006/table">
            <a:tbl>
              <a:tblPr firstRow="1" bandRow="1">
                <a:tableStyleId>{5C22544A-7EE6-4342-B048-85BDC9FD1C3A}</a:tableStyleId>
              </a:tblPr>
              <a:tblGrid>
                <a:gridCol w="450862">
                  <a:extLst>
                    <a:ext uri="{9D8B030D-6E8A-4147-A177-3AD203B41FA5}">
                      <a16:colId xmlns:a16="http://schemas.microsoft.com/office/drawing/2014/main" val="3099302020"/>
                    </a:ext>
                  </a:extLst>
                </a:gridCol>
                <a:gridCol w="1996507">
                  <a:extLst>
                    <a:ext uri="{9D8B030D-6E8A-4147-A177-3AD203B41FA5}">
                      <a16:colId xmlns:a16="http://schemas.microsoft.com/office/drawing/2014/main" val="1830319299"/>
                    </a:ext>
                  </a:extLst>
                </a:gridCol>
                <a:gridCol w="1506344">
                  <a:extLst>
                    <a:ext uri="{9D8B030D-6E8A-4147-A177-3AD203B41FA5}">
                      <a16:colId xmlns:a16="http://schemas.microsoft.com/office/drawing/2014/main" val="1049725276"/>
                    </a:ext>
                  </a:extLst>
                </a:gridCol>
                <a:gridCol w="1336896">
                  <a:extLst>
                    <a:ext uri="{9D8B030D-6E8A-4147-A177-3AD203B41FA5}">
                      <a16:colId xmlns:a16="http://schemas.microsoft.com/office/drawing/2014/main" val="3717742423"/>
                    </a:ext>
                  </a:extLst>
                </a:gridCol>
                <a:gridCol w="1094930">
                  <a:extLst>
                    <a:ext uri="{9D8B030D-6E8A-4147-A177-3AD203B41FA5}">
                      <a16:colId xmlns:a16="http://schemas.microsoft.com/office/drawing/2014/main" val="175036882"/>
                    </a:ext>
                  </a:extLst>
                </a:gridCol>
                <a:gridCol w="1079930">
                  <a:extLst>
                    <a:ext uri="{9D8B030D-6E8A-4147-A177-3AD203B41FA5}">
                      <a16:colId xmlns:a16="http://schemas.microsoft.com/office/drawing/2014/main" val="2443939899"/>
                    </a:ext>
                  </a:extLst>
                </a:gridCol>
                <a:gridCol w="1079930">
                  <a:extLst>
                    <a:ext uri="{9D8B030D-6E8A-4147-A177-3AD203B41FA5}">
                      <a16:colId xmlns:a16="http://schemas.microsoft.com/office/drawing/2014/main" val="2900503877"/>
                    </a:ext>
                  </a:extLst>
                </a:gridCol>
                <a:gridCol w="1079931">
                  <a:extLst>
                    <a:ext uri="{9D8B030D-6E8A-4147-A177-3AD203B41FA5}">
                      <a16:colId xmlns:a16="http://schemas.microsoft.com/office/drawing/2014/main" val="769568464"/>
                    </a:ext>
                  </a:extLst>
                </a:gridCol>
                <a:gridCol w="2235803">
                  <a:extLst>
                    <a:ext uri="{9D8B030D-6E8A-4147-A177-3AD203B41FA5}">
                      <a16:colId xmlns:a16="http://schemas.microsoft.com/office/drawing/2014/main" val="3175708860"/>
                    </a:ext>
                  </a:extLst>
                </a:gridCol>
              </a:tblGrid>
              <a:tr h="571286">
                <a:tc>
                  <a:txBody>
                    <a:bodyPr/>
                    <a:lstStyle/>
                    <a:p>
                      <a:pPr algn="ctr" fontAlgn="ctr">
                        <a:buNone/>
                      </a:pPr>
                      <a:r>
                        <a:rPr lang="en-US" sz="1200" b="1" i="0" u="none" strike="noStrike">
                          <a:solidFill>
                            <a:schemeClr val="bg1"/>
                          </a:solidFill>
                          <a:effectLst/>
                          <a:latin typeface="Adani Regular" panose="02000503000000020004" pitchFamily="2" charset="0"/>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Activity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Responsible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Approval Authority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bg1"/>
                          </a:solidFill>
                          <a:effectLst/>
                          <a:latin typeface="Adani Regular" panose="02000503000000020004" pitchFamily="2" charset="0"/>
                        </a:rPr>
                        <a:t>Remarks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extLst>
                  <a:ext uri="{0D108BD9-81ED-4DB2-BD59-A6C34878D82A}">
                    <a16:rowId xmlns:a16="http://schemas.microsoft.com/office/drawing/2014/main" val="1597099999"/>
                  </a:ext>
                </a:extLst>
              </a:tr>
              <a:tr h="1759770">
                <a:tc>
                  <a:txBody>
                    <a:bodyPr/>
                    <a:lstStyle/>
                    <a:p>
                      <a:pPr algn="ctr"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Approval of Grid Connectivity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Asset Commissioning + BD HO Team and Delhi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CTU</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20-Nov-25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30-Nov-25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05-Dec-25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900" b="0" i="0" u="none" strike="sngStrike">
                          <a:solidFill>
                            <a:schemeClr val="tx1"/>
                          </a:solidFill>
                          <a:effectLst/>
                          <a:latin typeface="Adani Regular" panose="02000503000000020004" pitchFamily="2" charset="0"/>
                        </a:rPr>
                        <a:t>28-Feb-26</a:t>
                      </a:r>
                    </a:p>
                    <a:p>
                      <a:pPr algn="ctr" fontAlgn="ctr">
                        <a:buNone/>
                      </a:pPr>
                      <a:r>
                        <a:rPr lang="en-US" sz="900" b="0" i="0" u="none" strike="sngStrike">
                          <a:solidFill>
                            <a:schemeClr val="tx1"/>
                          </a:solidFill>
                          <a:effectLst/>
                          <a:latin typeface="Adani Regular" panose="02000503000000020004" pitchFamily="2" charset="0"/>
                        </a:rPr>
                        <a:t>31-Mar-26</a:t>
                      </a:r>
                    </a:p>
                    <a:p>
                      <a:pPr algn="ctr" fontAlgn="ctr">
                        <a:buNone/>
                      </a:pPr>
                      <a:r>
                        <a:rPr lang="en-US" sz="900" b="0" i="0" u="none" strike="sngStrike">
                          <a:solidFill>
                            <a:schemeClr val="tx1"/>
                          </a:solidFill>
                          <a:effectLst/>
                          <a:latin typeface="Adani Regular" panose="02000503000000020004" pitchFamily="2" charset="0"/>
                        </a:rPr>
                        <a:t>30-Apr-26</a:t>
                      </a:r>
                    </a:p>
                    <a:p>
                      <a:pPr algn="ctr" fontAlgn="ctr">
                        <a:buNone/>
                      </a:pPr>
                      <a:r>
                        <a:rPr lang="en-US" sz="900" b="0" i="0" u="none" strike="sngStrike">
                          <a:solidFill>
                            <a:schemeClr val="tx1"/>
                          </a:solidFill>
                          <a:effectLst/>
                          <a:latin typeface="Adani Regular" panose="02000503000000020004" pitchFamily="2" charset="0"/>
                        </a:rPr>
                        <a:t>15-May-26</a:t>
                      </a:r>
                    </a:p>
                    <a:p>
                      <a:pPr algn="ctr" fontAlgn="ctr">
                        <a:buNone/>
                      </a:pPr>
                      <a:r>
                        <a:rPr lang="en-US" sz="900" b="0" i="0" u="none" strike="sngStrike">
                          <a:solidFill>
                            <a:schemeClr val="tx1"/>
                          </a:solidFill>
                          <a:effectLst/>
                          <a:latin typeface="Adani Regular" panose="02000503000000020004" pitchFamily="2" charset="0"/>
                        </a:rPr>
                        <a:t>27-May-26</a:t>
                      </a:r>
                    </a:p>
                    <a:p>
                      <a:pPr algn="ctr" fontAlgn="ctr">
                        <a:buNone/>
                      </a:pPr>
                      <a:r>
                        <a:rPr lang="en-US" sz="900" b="0" i="0" u="none" strike="sngStrike">
                          <a:solidFill>
                            <a:schemeClr val="tx1"/>
                          </a:solidFill>
                          <a:effectLst/>
                          <a:latin typeface="Adani Regular" panose="02000503000000020004" pitchFamily="2" charset="0"/>
                        </a:rPr>
                        <a:t>30-May-26</a:t>
                      </a:r>
                    </a:p>
                    <a:p>
                      <a:pPr algn="ctr" fontAlgn="ctr">
                        <a:buNone/>
                      </a:pPr>
                      <a:r>
                        <a:rPr lang="en-US" sz="900" b="0" i="0" u="none" strike="sngStrike">
                          <a:solidFill>
                            <a:schemeClr val="tx1"/>
                          </a:solidFill>
                          <a:effectLst/>
                          <a:latin typeface="Adani Regular" panose="02000503000000020004" pitchFamily="2" charset="0"/>
                        </a:rPr>
                        <a:t>05-Jun-26</a:t>
                      </a:r>
                    </a:p>
                    <a:p>
                      <a:pPr algn="ctr" fontAlgn="ctr">
                        <a:buNone/>
                      </a:pPr>
                      <a:r>
                        <a:rPr lang="en-US" sz="1050" b="0" i="0" u="none" strike="noStrike">
                          <a:solidFill>
                            <a:schemeClr val="tx1"/>
                          </a:solidFill>
                          <a:effectLst/>
                          <a:latin typeface="Adani Regular" panose="02000503000000020004" pitchFamily="2" charset="0"/>
                        </a:rPr>
                        <a:t>10-Jun-26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B050"/>
                          </a:solidFill>
                          <a:effectLst/>
                          <a:latin typeface="Adani Regular" panose="02000503000000020004" pitchFamily="2" charset="0"/>
                        </a:rPr>
                        <a:t>Application submitted on 05-Dec-25.</a:t>
                      </a:r>
                    </a:p>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panose="02000503000000020004" pitchFamily="2" charset="0"/>
                        </a:rPr>
                        <a:t>WR CMETS meeting completed on 22-May.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60904576"/>
                  </a:ext>
                </a:extLst>
              </a:tr>
              <a:tr h="730139">
                <a:tc>
                  <a:txBody>
                    <a:bodyPr/>
                    <a:lstStyle/>
                    <a:p>
                      <a:pPr algn="ctr" fontAlgn="ctr">
                        <a:buNone/>
                      </a:pPr>
                      <a:r>
                        <a:rPr lang="en-US" sz="1100" b="0" i="0" u="none" strike="noStrike">
                          <a:solidFill>
                            <a:srgbClr val="000000"/>
                          </a:solidFill>
                          <a:effectLst/>
                          <a:latin typeface="Adani Regular" panose="02000503000000020004" pitchFamily="2"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Metering Scheme approval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Engineering + Asset Commissioning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RLDC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23-Feb-26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20-Mar-26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900" b="0" i="0" u="none" strike="sngStrike">
                          <a:solidFill>
                            <a:srgbClr val="000000"/>
                          </a:solidFill>
                          <a:effectLst/>
                          <a:latin typeface="Adani Regular" panose="02000503000000020004" pitchFamily="2" charset="0"/>
                        </a:rPr>
                        <a:t>23-Feb-26</a:t>
                      </a:r>
                    </a:p>
                    <a:p>
                      <a:pPr algn="ctr" fontAlgn="ctr">
                        <a:buNone/>
                      </a:pPr>
                      <a:r>
                        <a:rPr lang="en-US" sz="900" b="0" i="0" u="none" strike="sngStrike">
                          <a:solidFill>
                            <a:srgbClr val="000000"/>
                          </a:solidFill>
                          <a:effectLst/>
                          <a:latin typeface="Adani Regular" panose="02000503000000020004" pitchFamily="2" charset="0"/>
                        </a:rPr>
                        <a:t>31-Mar-26</a:t>
                      </a:r>
                    </a:p>
                    <a:p>
                      <a:pPr algn="ctr" fontAlgn="ctr">
                        <a:buNone/>
                      </a:pPr>
                      <a:r>
                        <a:rPr lang="en-US" sz="900" b="0" i="0" u="none" strike="sngStrike">
                          <a:solidFill>
                            <a:srgbClr val="000000"/>
                          </a:solidFill>
                          <a:effectLst/>
                          <a:latin typeface="Adani Regular" panose="02000503000000020004" pitchFamily="2" charset="0"/>
                        </a:rPr>
                        <a:t>30-Apr-26</a:t>
                      </a:r>
                    </a:p>
                    <a:p>
                      <a:pPr algn="ctr" fontAlgn="ctr">
                        <a:buNone/>
                      </a:pPr>
                      <a:r>
                        <a:rPr lang="en-US" sz="900" b="0" i="0" u="none" strike="sngStrike">
                          <a:solidFill>
                            <a:srgbClr val="000000"/>
                          </a:solidFill>
                          <a:effectLst/>
                          <a:latin typeface="Adani Regular" panose="02000503000000020004" pitchFamily="2" charset="0"/>
                        </a:rPr>
                        <a:t>15-May-26</a:t>
                      </a:r>
                    </a:p>
                    <a:p>
                      <a:pPr algn="ctr" fontAlgn="ctr">
                        <a:buNone/>
                      </a:pPr>
                      <a:r>
                        <a:rPr lang="en-US" sz="900" b="0" i="0" u="none" strike="sngStrike">
                          <a:solidFill>
                            <a:srgbClr val="000000"/>
                          </a:solidFill>
                          <a:effectLst/>
                          <a:latin typeface="Adani Regular" panose="02000503000000020004" pitchFamily="2" charset="0"/>
                        </a:rPr>
                        <a:t>31-May-26</a:t>
                      </a:r>
                      <a:endParaRPr lang="en-US" sz="1100" b="0" i="0" u="none" strike="sngStrike">
                        <a:solidFill>
                          <a:srgbClr val="000000"/>
                        </a:solidFill>
                        <a:effectLst/>
                        <a:latin typeface="Adani Regular" panose="02000503000000020004" pitchFamily="2" charset="0"/>
                      </a:endParaRPr>
                    </a:p>
                    <a:p>
                      <a:pPr algn="ctr" fontAlgn="ctr">
                        <a:buNone/>
                      </a:pPr>
                      <a:r>
                        <a:rPr lang="en-US" sz="1100" b="0" i="0" u="none" strike="noStrike">
                          <a:solidFill>
                            <a:srgbClr val="000000"/>
                          </a:solidFill>
                          <a:effectLst/>
                          <a:latin typeface="Adani Regular" panose="02000503000000020004" pitchFamily="2" charset="0"/>
                        </a:rPr>
                        <a:t>10-Jun-26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900" b="0" i="0" u="none" strike="sngStrike">
                          <a:solidFill>
                            <a:srgbClr val="000000"/>
                          </a:solidFill>
                          <a:effectLst/>
                          <a:latin typeface="Adani Regular" panose="02000503000000020004" pitchFamily="2" charset="0"/>
                        </a:rPr>
                        <a:t>20-Mar-26</a:t>
                      </a:r>
                    </a:p>
                    <a:p>
                      <a:pPr algn="ctr" fontAlgn="ctr">
                        <a:buNone/>
                      </a:pPr>
                      <a:r>
                        <a:rPr lang="en-US" sz="900" b="0" i="0" u="none" strike="sngStrike">
                          <a:solidFill>
                            <a:srgbClr val="000000"/>
                          </a:solidFill>
                          <a:effectLst/>
                          <a:latin typeface="Adani Regular" panose="02000503000000020004" pitchFamily="2" charset="0"/>
                        </a:rPr>
                        <a:t>30-Apr-26</a:t>
                      </a:r>
                    </a:p>
                    <a:p>
                      <a:pPr algn="ctr" fontAlgn="ctr">
                        <a:buNone/>
                      </a:pPr>
                      <a:r>
                        <a:rPr lang="en-US" sz="900" b="0" i="0" u="none" strike="sngStrike">
                          <a:solidFill>
                            <a:srgbClr val="000000"/>
                          </a:solidFill>
                          <a:effectLst/>
                          <a:latin typeface="Adani Regular" panose="02000503000000020004" pitchFamily="2" charset="0"/>
                        </a:rPr>
                        <a:t>30-May-26</a:t>
                      </a:r>
                    </a:p>
                    <a:p>
                      <a:pPr algn="ctr" fontAlgn="ctr">
                        <a:buNone/>
                      </a:pPr>
                      <a:r>
                        <a:rPr lang="en-US" sz="1100" b="0" i="0" u="none" strike="noStrike">
                          <a:solidFill>
                            <a:srgbClr val="000000"/>
                          </a:solidFill>
                          <a:effectLst/>
                          <a:latin typeface="Adani Regular" panose="02000503000000020004" pitchFamily="2" charset="0"/>
                        </a:rPr>
                        <a:t>30-Jun-26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dani Regular" panose="02000503000000020004" pitchFamily="2" charset="0"/>
                        </a:rPr>
                        <a:t>Metering Scheme application can be submitted subsequent to in principle approval from CTU for connectivity.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62496606"/>
                  </a:ext>
                </a:extLst>
              </a:tr>
              <a:tr h="571286">
                <a:tc>
                  <a:txBody>
                    <a:bodyPr/>
                    <a:lstStyle/>
                    <a:p>
                      <a:pPr algn="ctr" fontAlgn="ctr">
                        <a:buNone/>
                      </a:pPr>
                      <a:r>
                        <a:rPr lang="en-US" sz="1100" b="0" i="0" u="none" strike="noStrike">
                          <a:solidFill>
                            <a:srgbClr val="000000"/>
                          </a:solidFill>
                          <a:effectLst/>
                          <a:latin typeface="Adani Regular" panose="02000503000000020004" pitchFamily="2"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Connectivity Agreement</a:t>
                      </a:r>
                    </a:p>
                    <a:p>
                      <a:pPr algn="ctr" rtl="0" fontAlgn="ctr">
                        <a:buNone/>
                      </a:pPr>
                      <a:r>
                        <a:rPr lang="en-US" sz="1100" b="0" i="0" u="none" strike="noStrike">
                          <a:solidFill>
                            <a:srgbClr val="000000"/>
                          </a:solidFill>
                          <a:effectLst/>
                          <a:latin typeface="Adani Regular" panose="02000503000000020004" pitchFamily="2" charset="0"/>
                        </a:rPr>
                        <a:t>(Con VI)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Asset Commissioning, Engineering and Delhi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CTU &amp; WRLDC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18-Feb-26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20-Mar-26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900" b="0" i="0" u="none" strike="sngStrike">
                          <a:solidFill>
                            <a:srgbClr val="000000"/>
                          </a:solidFill>
                          <a:effectLst/>
                          <a:latin typeface="Adani Regular" panose="02000503000000020004" pitchFamily="2" charset="0"/>
                        </a:rPr>
                        <a:t>18-Feb-26</a:t>
                      </a:r>
                    </a:p>
                    <a:p>
                      <a:pPr algn="ctr" fontAlgn="ctr">
                        <a:buNone/>
                      </a:pPr>
                      <a:r>
                        <a:rPr lang="en-US" sz="900" b="0" i="0" u="none" strike="sngStrike">
                          <a:solidFill>
                            <a:srgbClr val="000000"/>
                          </a:solidFill>
                          <a:effectLst/>
                          <a:latin typeface="Adani Regular" panose="02000503000000020004" pitchFamily="2" charset="0"/>
                        </a:rPr>
                        <a:t>15-Mar-26</a:t>
                      </a:r>
                      <a:endParaRPr lang="en-US" sz="600" b="0" i="0" u="none" strike="sngStrike">
                        <a:solidFill>
                          <a:srgbClr val="000000"/>
                        </a:solidFill>
                        <a:effectLst/>
                        <a:latin typeface="Adani Regular" panose="02000503000000020004" pitchFamily="2" charset="0"/>
                      </a:endParaRPr>
                    </a:p>
                    <a:p>
                      <a:pPr algn="ctr" fontAlgn="ctr">
                        <a:buNone/>
                      </a:pPr>
                      <a:r>
                        <a:rPr lang="en-US" sz="900" b="0" i="0" u="none" strike="sngStrike">
                          <a:solidFill>
                            <a:srgbClr val="000000"/>
                          </a:solidFill>
                          <a:effectLst/>
                          <a:latin typeface="Adani Regular"/>
                        </a:rPr>
                        <a:t>30-May-26</a:t>
                      </a:r>
                      <a:endParaRPr lang="en-US" sz="1050" b="0" i="0" u="none" strike="sngStrike">
                        <a:solidFill>
                          <a:srgbClr val="000000"/>
                        </a:solidFill>
                        <a:effectLst/>
                        <a:latin typeface="Adani Regular"/>
                      </a:endParaRPr>
                    </a:p>
                    <a:p>
                      <a:pPr algn="ctr" fontAlgn="ctr">
                        <a:buNone/>
                      </a:pPr>
                      <a:r>
                        <a:rPr lang="en-US" sz="1100" b="0" i="0" u="none" strike="noStrike">
                          <a:solidFill>
                            <a:srgbClr val="000000"/>
                          </a:solidFill>
                          <a:effectLst/>
                          <a:latin typeface="Adani Regular"/>
                        </a:rPr>
                        <a:t>08-Jun-26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900" b="0" i="0" u="none" strike="sngStrike">
                          <a:solidFill>
                            <a:srgbClr val="000000"/>
                          </a:solidFill>
                          <a:effectLst/>
                          <a:latin typeface="Adani Regular" panose="02000503000000020004" pitchFamily="2" charset="0"/>
                        </a:rPr>
                        <a:t>20-Mar-26</a:t>
                      </a:r>
                    </a:p>
                    <a:p>
                      <a:pPr algn="ctr" fontAlgn="ctr">
                        <a:buNone/>
                      </a:pPr>
                      <a:r>
                        <a:rPr lang="en-US" sz="900" b="0" i="0" u="none" strike="sngStrike">
                          <a:solidFill>
                            <a:srgbClr val="000000"/>
                          </a:solidFill>
                          <a:effectLst/>
                          <a:latin typeface="Adani Regular" panose="02000503000000020004" pitchFamily="2" charset="0"/>
                        </a:rPr>
                        <a:t>12-Apr-26</a:t>
                      </a:r>
                    </a:p>
                    <a:p>
                      <a:pPr algn="ctr" fontAlgn="ctr">
                        <a:buNone/>
                      </a:pPr>
                      <a:r>
                        <a:rPr lang="en-US" sz="1100" b="0" i="0" u="none" strike="noStrike">
                          <a:solidFill>
                            <a:srgbClr val="000000"/>
                          </a:solidFill>
                          <a:effectLst/>
                          <a:latin typeface="Adani Regular" panose="02000503000000020004" pitchFamily="2" charset="0"/>
                        </a:rPr>
                        <a:t>18-Jun-26 to</a:t>
                      </a:r>
                    </a:p>
                    <a:p>
                      <a:pPr algn="ctr" fontAlgn="ctr">
                        <a:buNone/>
                      </a:pPr>
                      <a:r>
                        <a:rPr lang="en-US" sz="1100" b="0" i="0" u="none" strike="noStrike">
                          <a:solidFill>
                            <a:srgbClr val="000000"/>
                          </a:solidFill>
                          <a:effectLst/>
                          <a:latin typeface="Adani Regular" panose="02000503000000020004" pitchFamily="2" charset="0"/>
                        </a:rPr>
                        <a:t>10-Jul-26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dani Regular"/>
                        </a:rPr>
                        <a:t>Priority wise: PSS-11 &gt; PSS-12 ~ PSS-10(B)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23611682"/>
                  </a:ext>
                </a:extLst>
              </a:tr>
              <a:tr h="804828">
                <a:tc>
                  <a:txBody>
                    <a:bodyPr/>
                    <a:lstStyle/>
                    <a:p>
                      <a:pPr algn="ctr" fontAlgn="ctr">
                        <a:buNone/>
                      </a:pPr>
                      <a:r>
                        <a:rPr lang="en-US" sz="1100" b="0" i="0" u="none" strike="noStrike">
                          <a:solidFill>
                            <a:srgbClr val="000000"/>
                          </a:solidFill>
                          <a:effectLst/>
                          <a:latin typeface="Adani Regular" panose="02000503000000020004" pitchFamily="2"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PTCC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Asset Commissioning &amp; Projects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CEA, Department of Telecommunications &amp; Indian Railways &amp; Defense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01-Feb-26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24-Mar-26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panose="02000503000000020004" pitchFamily="2" charset="0"/>
                        </a:rPr>
                        <a:t>01-Feb-26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900" b="0" i="0" u="none" strike="sngStrike">
                          <a:solidFill>
                            <a:srgbClr val="000000"/>
                          </a:solidFill>
                          <a:effectLst/>
                          <a:latin typeface="Adani Regular" panose="02000503000000020004" pitchFamily="2" charset="0"/>
                        </a:rPr>
                        <a:t>24-Mar-26</a:t>
                      </a:r>
                    </a:p>
                    <a:p>
                      <a:pPr algn="ctr" fontAlgn="ctr">
                        <a:buNone/>
                      </a:pPr>
                      <a:r>
                        <a:rPr lang="en-US" sz="1100" b="0" i="0" u="none" strike="noStrike">
                          <a:solidFill>
                            <a:srgbClr val="000000"/>
                          </a:solidFill>
                          <a:effectLst/>
                          <a:latin typeface="Adani Regular" panose="02000503000000020004" pitchFamily="2" charset="0"/>
                        </a:rPr>
                        <a:t>15~30 days before CoD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B050"/>
                          </a:solidFill>
                          <a:effectLst/>
                          <a:latin typeface="Adani Regular" panose="02000503000000020004" pitchFamily="2" charset="0"/>
                        </a:rPr>
                        <a:t>Application submitted on 16-Feb.</a:t>
                      </a:r>
                    </a:p>
                    <a:p>
                      <a:pPr algn="l" fontAlgn="ctr">
                        <a:buNone/>
                      </a:pPr>
                      <a:r>
                        <a:rPr lang="en-US" sz="1100" b="0" i="0" u="none" strike="noStrike">
                          <a:solidFill>
                            <a:srgbClr val="00B050"/>
                          </a:solidFill>
                          <a:effectLst/>
                          <a:latin typeface="Adani Regular" panose="02000503000000020004" pitchFamily="2" charset="0"/>
                        </a:rPr>
                        <a:t>NOC for BSNL &amp; Railways received. </a:t>
                      </a:r>
                      <a:r>
                        <a:rPr lang="en-US" sz="1100" b="0" i="0" u="none" strike="noStrike">
                          <a:solidFill>
                            <a:schemeClr val="tx1"/>
                          </a:solidFill>
                          <a:effectLst/>
                          <a:latin typeface="Adani Regular" panose="02000503000000020004" pitchFamily="2" charset="0"/>
                        </a:rPr>
                        <a:t>Awaited from MoD.</a:t>
                      </a:r>
                    </a:p>
                    <a:p>
                      <a:pPr algn="l" fontAlgn="ctr">
                        <a:buNone/>
                      </a:pPr>
                      <a:r>
                        <a:rPr lang="en-US" sz="1100" b="0" i="0" u="none" strike="noStrike">
                          <a:solidFill>
                            <a:schemeClr val="tx1"/>
                          </a:solidFill>
                          <a:effectLst/>
                          <a:latin typeface="Adani Regular" panose="02000503000000020004" pitchFamily="2" charset="0"/>
                        </a:rPr>
                        <a:t>On account of validity of provisional PTCC approval for 60 days, approvals will be aligned with 15~30 days before CoD.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92294093"/>
                  </a:ext>
                </a:extLst>
              </a:tr>
              <a:tr h="586318">
                <a:tc>
                  <a:txBody>
                    <a:bodyPr/>
                    <a:lstStyle/>
                    <a:p>
                      <a:pPr algn="ctr" fontAlgn="ctr">
                        <a:buNone/>
                      </a:pPr>
                      <a:r>
                        <a:rPr lang="en-US" sz="1100" b="0" i="0" u="none" strike="noStrike">
                          <a:solidFill>
                            <a:srgbClr val="000000"/>
                          </a:solidFill>
                          <a:effectLst/>
                          <a:latin typeface="Adani Regular" panose="02000503000000020004" pitchFamily="2" charset="0"/>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Intimation to Labor Inspector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Site IR Team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Govt. of Gujrat</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(Dept of Labor)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dani Regular" panose="02000503000000020004" pitchFamily="2" charset="0"/>
                        </a:rPr>
                        <a:t>Intimation to Labor Inspector needs to be sent 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94728786"/>
                  </a:ext>
                </a:extLst>
              </a:tr>
              <a:tr h="586318">
                <a:tc>
                  <a:txBody>
                    <a:bodyPr/>
                    <a:lstStyle/>
                    <a:p>
                      <a:pPr algn="ctr" fontAlgn="ctr">
                        <a:buNone/>
                      </a:pPr>
                      <a:r>
                        <a:rPr lang="en-US" sz="1100" b="0" i="0" u="none" strike="noStrike">
                          <a:solidFill>
                            <a:srgbClr val="000000"/>
                          </a:solidFill>
                          <a:effectLst/>
                          <a:latin typeface="Adani Regular" panose="02000503000000020004" pitchFamily="2" charset="0"/>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Fire NOC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O&amp;M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Regional Fire Officer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01-Aug-26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21-Aug-26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01-Aug-26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31-Aug-26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30-Sep-26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10-Sep-26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Fire NOC needs to be obtained before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88360229"/>
                  </a:ext>
                </a:extLst>
              </a:tr>
            </a:tbl>
          </a:graphicData>
        </a:graphic>
      </p:graphicFrame>
      <p:sp>
        <p:nvSpPr>
          <p:cNvPr id="5" name="Arrow: Right 4">
            <a:hlinkClick r:id="rId3" action="ppaction://hlinksldjump"/>
            <a:extLst>
              <a:ext uri="{FF2B5EF4-FFF2-40B4-BE49-F238E27FC236}">
                <a16:creationId xmlns:a16="http://schemas.microsoft.com/office/drawing/2014/main" id="{0BC1508D-A05C-126A-49D3-20FA422C39E5}"/>
              </a:ext>
            </a:extLst>
          </p:cNvPr>
          <p:cNvSpPr/>
          <p:nvPr/>
        </p:nvSpPr>
        <p:spPr>
          <a:xfrm>
            <a:off x="11381603" y="6702539"/>
            <a:ext cx="237764" cy="155461"/>
          </a:xfrm>
          <a:prstGeom prst="righ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037DFA-713E-3A56-E58C-50DCAE72193F}"/>
              </a:ext>
            </a:extLst>
          </p:cNvPr>
          <p:cNvSpPr txBox="1"/>
          <p:nvPr/>
        </p:nvSpPr>
        <p:spPr>
          <a:xfrm>
            <a:off x="264115" y="6577711"/>
            <a:ext cx="10405242" cy="276999"/>
          </a:xfrm>
          <a:prstGeom prst="rect">
            <a:avLst/>
          </a:prstGeom>
          <a:noFill/>
        </p:spPr>
        <p:txBody>
          <a:bodyPr wrap="square" rtlCol="0">
            <a:spAutoFit/>
          </a:bodyPr>
          <a:lstStyle/>
          <a:p>
            <a:r>
              <a:rPr lang="en-IN" sz="1200">
                <a:latin typeface="Adani Regular" panose="02000503000000020004" pitchFamily="2" charset="0"/>
              </a:rPr>
              <a:t>* Dates are considered on a very aggressive completion path as PSS-11, 12 &amp; 10(B) is on top priority.</a:t>
            </a:r>
          </a:p>
        </p:txBody>
      </p:sp>
    </p:spTree>
    <p:extLst>
      <p:ext uri="{BB962C8B-B14F-4D97-AF65-F5344CB8AC3E}">
        <p14:creationId xmlns:p14="http://schemas.microsoft.com/office/powerpoint/2010/main" val="35217039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9BA9A-14EE-3281-1222-90B362AF30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FB839A-6C97-4103-1C68-3B520EA50E90}"/>
              </a:ext>
            </a:extLst>
          </p:cNvPr>
          <p:cNvSpPr>
            <a:spLocks noGrp="1"/>
          </p:cNvSpPr>
          <p:nvPr>
            <p:ph type="sldNum" sz="quarter" idx="12"/>
          </p:nvPr>
        </p:nvSpPr>
        <p:spPr/>
        <p:txBody>
          <a:bodyPr/>
          <a:lstStyle/>
          <a:p>
            <a:pPr defTabSz="1219170"/>
            <a:fld id="{9759575B-79F4-462B-BD8B-0038BD3A3767}" type="slidenum">
              <a:rPr lang="en-US">
                <a:solidFill>
                  <a:prstClr val="black">
                    <a:tint val="75000"/>
                  </a:prstClr>
                </a:solidFill>
              </a:rPr>
              <a:pPr defTabSz="1219170"/>
              <a:t>57</a:t>
            </a:fld>
            <a:endParaRPr lang="en-US">
              <a:solidFill>
                <a:prstClr val="black">
                  <a:tint val="75000"/>
                </a:prstClr>
              </a:solidFill>
            </a:endParaRPr>
          </a:p>
        </p:txBody>
      </p:sp>
      <p:sp>
        <p:nvSpPr>
          <p:cNvPr id="6" name="Title 2">
            <a:extLst>
              <a:ext uri="{FF2B5EF4-FFF2-40B4-BE49-F238E27FC236}">
                <a16:creationId xmlns:a16="http://schemas.microsoft.com/office/drawing/2014/main" id="{731CB350-49FD-83BD-8595-C0EBE8541A4A}"/>
              </a:ext>
            </a:extLst>
          </p:cNvPr>
          <p:cNvSpPr txBox="1">
            <a:spLocks/>
          </p:cNvSpPr>
          <p:nvPr/>
        </p:nvSpPr>
        <p:spPr>
          <a:xfrm>
            <a:off x="0" y="4057649"/>
            <a:ext cx="12192000" cy="1343025"/>
          </a:xfrm>
          <a:prstGeom prst="rect">
            <a:avLst/>
          </a:prstGeom>
        </p:spPr>
        <p:txBody>
          <a:bodyPr vert="horz" lIns="91440" tIns="45720" rIns="91440" bIns="45720" rtlCol="0" anchor="t">
            <a:normAutofit/>
          </a:bodyPr>
          <a:lstStyle>
            <a:lvl1pPr algn="l" defTabSz="1219170" rtl="0" eaLnBrk="1" latinLnBrk="0" hangingPunct="1">
              <a:spcBef>
                <a:spcPct val="0"/>
              </a:spcBef>
              <a:buNone/>
              <a:defRPr sz="3733" b="0" kern="1200" cap="none" baseline="0">
                <a:solidFill>
                  <a:schemeClr val="bg1"/>
                </a:solidFill>
                <a:latin typeface="Adani Regular" pitchFamily="2" charset="0"/>
                <a:ea typeface="+mj-ea"/>
                <a:cs typeface="+mj-cs"/>
              </a:defRPr>
            </a:lvl1pPr>
          </a:lstStyle>
          <a:p>
            <a:pPr algn="ctr"/>
            <a:r>
              <a:rPr lang="en-IN"/>
              <a:t>Statutory &amp; Other approvals</a:t>
            </a:r>
          </a:p>
          <a:p>
            <a:pPr algn="ctr"/>
            <a:r>
              <a:rPr lang="en-IN"/>
              <a:t>PSS-09, 05(B) &amp; 08(B)</a:t>
            </a:r>
          </a:p>
        </p:txBody>
      </p:sp>
    </p:spTree>
    <p:extLst>
      <p:ext uri="{BB962C8B-B14F-4D97-AF65-F5344CB8AC3E}">
        <p14:creationId xmlns:p14="http://schemas.microsoft.com/office/powerpoint/2010/main" val="40744373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0078C-0937-D0EC-D5EC-1F759F45EF6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6C0793D-DC2F-E2B8-F456-78F2B13A618F}"/>
              </a:ext>
            </a:extLst>
          </p:cNvPr>
          <p:cNvSpPr txBox="1">
            <a:spLocks noChangeArrowheads="1"/>
          </p:cNvSpPr>
          <p:nvPr/>
        </p:nvSpPr>
        <p:spPr>
          <a:xfrm>
            <a:off x="0" y="12745"/>
            <a:ext cx="12192000" cy="476833"/>
          </a:xfrm>
          <a:prstGeom prst="rect">
            <a:avLst/>
          </a:prstGeom>
        </p:spPr>
        <p:txBody>
          <a:bodyPr lIns="121920" tIns="60960" rIns="121920" bIns="6096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a:solidFill>
                  <a:srgbClr val="912A82"/>
                </a:solidFill>
              </a:rPr>
              <a:t> Statutory and Other Approvals (PSS-09, 05(B) &amp; 08(B))</a:t>
            </a:r>
            <a:endParaRPr lang="en-US" sz="2400" b="1">
              <a:solidFill>
                <a:srgbClr val="3D3DFF"/>
              </a:solidFill>
            </a:endParaRPr>
          </a:p>
        </p:txBody>
      </p:sp>
      <p:graphicFrame>
        <p:nvGraphicFramePr>
          <p:cNvPr id="7" name="Table 6">
            <a:extLst>
              <a:ext uri="{FF2B5EF4-FFF2-40B4-BE49-F238E27FC236}">
                <a16:creationId xmlns:a16="http://schemas.microsoft.com/office/drawing/2014/main" id="{6DA0D5EF-E2E9-3DD9-049B-54D4AD68001A}"/>
              </a:ext>
            </a:extLst>
          </p:cNvPr>
          <p:cNvGraphicFramePr>
            <a:graphicFrameLocks noGrp="1"/>
          </p:cNvGraphicFramePr>
          <p:nvPr>
            <p:extLst>
              <p:ext uri="{D42A27DB-BD31-4B8C-83A1-F6EECF244321}">
                <p14:modId xmlns:p14="http://schemas.microsoft.com/office/powerpoint/2010/main" val="80124813"/>
              </p:ext>
            </p:extLst>
          </p:nvPr>
        </p:nvGraphicFramePr>
        <p:xfrm>
          <a:off x="168941" y="537983"/>
          <a:ext cx="11842085" cy="5941993"/>
        </p:xfrm>
        <a:graphic>
          <a:graphicData uri="http://schemas.openxmlformats.org/drawingml/2006/table">
            <a:tbl>
              <a:tblPr firstRow="1" bandRow="1">
                <a:tableStyleId>{5C22544A-7EE6-4342-B048-85BDC9FD1C3A}</a:tableStyleId>
              </a:tblPr>
              <a:tblGrid>
                <a:gridCol w="450137">
                  <a:extLst>
                    <a:ext uri="{9D8B030D-6E8A-4147-A177-3AD203B41FA5}">
                      <a16:colId xmlns:a16="http://schemas.microsoft.com/office/drawing/2014/main" val="3099302020"/>
                    </a:ext>
                  </a:extLst>
                </a:gridCol>
                <a:gridCol w="2181437">
                  <a:extLst>
                    <a:ext uri="{9D8B030D-6E8A-4147-A177-3AD203B41FA5}">
                      <a16:colId xmlns:a16="http://schemas.microsoft.com/office/drawing/2014/main" val="1830319299"/>
                    </a:ext>
                  </a:extLst>
                </a:gridCol>
                <a:gridCol w="1315788">
                  <a:extLst>
                    <a:ext uri="{9D8B030D-6E8A-4147-A177-3AD203B41FA5}">
                      <a16:colId xmlns:a16="http://schemas.microsoft.com/office/drawing/2014/main" val="1049725276"/>
                    </a:ext>
                  </a:extLst>
                </a:gridCol>
                <a:gridCol w="1315788">
                  <a:extLst>
                    <a:ext uri="{9D8B030D-6E8A-4147-A177-3AD203B41FA5}">
                      <a16:colId xmlns:a16="http://schemas.microsoft.com/office/drawing/2014/main" val="3717742423"/>
                    </a:ext>
                  </a:extLst>
                </a:gridCol>
                <a:gridCol w="982792">
                  <a:extLst>
                    <a:ext uri="{9D8B030D-6E8A-4147-A177-3AD203B41FA5}">
                      <a16:colId xmlns:a16="http://schemas.microsoft.com/office/drawing/2014/main" val="175036882"/>
                    </a:ext>
                  </a:extLst>
                </a:gridCol>
                <a:gridCol w="982792">
                  <a:extLst>
                    <a:ext uri="{9D8B030D-6E8A-4147-A177-3AD203B41FA5}">
                      <a16:colId xmlns:a16="http://schemas.microsoft.com/office/drawing/2014/main" val="4040188735"/>
                    </a:ext>
                  </a:extLst>
                </a:gridCol>
                <a:gridCol w="982792">
                  <a:extLst>
                    <a:ext uri="{9D8B030D-6E8A-4147-A177-3AD203B41FA5}">
                      <a16:colId xmlns:a16="http://schemas.microsoft.com/office/drawing/2014/main" val="2900503877"/>
                    </a:ext>
                  </a:extLst>
                </a:gridCol>
                <a:gridCol w="982792">
                  <a:extLst>
                    <a:ext uri="{9D8B030D-6E8A-4147-A177-3AD203B41FA5}">
                      <a16:colId xmlns:a16="http://schemas.microsoft.com/office/drawing/2014/main" val="769568464"/>
                    </a:ext>
                  </a:extLst>
                </a:gridCol>
                <a:gridCol w="2647767">
                  <a:extLst>
                    <a:ext uri="{9D8B030D-6E8A-4147-A177-3AD203B41FA5}">
                      <a16:colId xmlns:a16="http://schemas.microsoft.com/office/drawing/2014/main" val="3175708860"/>
                    </a:ext>
                  </a:extLst>
                </a:gridCol>
              </a:tblGrid>
              <a:tr h="484453">
                <a:tc>
                  <a:txBody>
                    <a:bodyPr/>
                    <a:lstStyle/>
                    <a:p>
                      <a:pPr algn="ctr" fontAlgn="ctr">
                        <a:buNone/>
                      </a:pPr>
                      <a:r>
                        <a:rPr lang="en-US" sz="1200" b="1" i="0" u="none" strike="noStrike">
                          <a:solidFill>
                            <a:schemeClr val="bg1"/>
                          </a:solidFill>
                          <a:effectLst/>
                          <a:latin typeface="Adani Regular" panose="02000503000000020004" pitchFamily="2" charset="0"/>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Activity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Responsible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Approval Authority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bg1"/>
                          </a:solidFill>
                          <a:effectLst/>
                          <a:latin typeface="Adani Regular" panose="02000503000000020004" pitchFamily="2" charset="0"/>
                        </a:rPr>
                        <a:t>Remarks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extLst>
                  <a:ext uri="{0D108BD9-81ED-4DB2-BD59-A6C34878D82A}">
                    <a16:rowId xmlns:a16="http://schemas.microsoft.com/office/drawing/2014/main" val="3932833671"/>
                  </a:ext>
                </a:extLst>
              </a:tr>
              <a:tr h="801910">
                <a:tc>
                  <a:txBody>
                    <a:bodyPr/>
                    <a:lstStyle/>
                    <a:p>
                      <a:pPr algn="ctr" fontAlgn="ctr">
                        <a:buNone/>
                      </a:pPr>
                      <a:r>
                        <a:rPr lang="en-US" sz="1100" b="0" i="0" u="none" strike="noStrike">
                          <a:solidFill>
                            <a:schemeClr val="tx1"/>
                          </a:solidFill>
                          <a:effectLst/>
                          <a:latin typeface="Adani Regular" panose="02000503000000020004" pitchFamily="2"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CLRA - Contract Labor Regulation &amp; Abolition Act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Site IR Team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Govt. of Gujrat</a:t>
                      </a:r>
                      <a:br>
                        <a:rPr lang="en-US" sz="1100" b="0" i="0" u="none" strike="noStrike">
                          <a:solidFill>
                            <a:schemeClr val="tx1"/>
                          </a:solidFill>
                          <a:effectLst/>
                          <a:latin typeface="Adani Regular" panose="02000503000000020004" pitchFamily="2" charset="0"/>
                        </a:rPr>
                      </a:br>
                      <a:r>
                        <a:rPr lang="en-US" sz="1100" b="0" i="0" u="none" strike="noStrike">
                          <a:solidFill>
                            <a:schemeClr val="tx1"/>
                          </a:solidFill>
                          <a:effectLst/>
                          <a:latin typeface="Adani Regular" panose="02000503000000020004" pitchFamily="2" charset="0"/>
                        </a:rPr>
                        <a:t>(Dept of Labor)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25-Dec-25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07-Feb-26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000" b="0" i="0" u="none" strike="sngStrike">
                          <a:solidFill>
                            <a:schemeClr val="tx1"/>
                          </a:solidFill>
                          <a:effectLst/>
                          <a:latin typeface="Adani Regular" panose="02000503000000020004" pitchFamily="2" charset="0"/>
                        </a:rPr>
                        <a:t>07-Feb-26</a:t>
                      </a:r>
                    </a:p>
                    <a:p>
                      <a:pPr algn="ctr" fontAlgn="ctr">
                        <a:buNone/>
                      </a:pPr>
                      <a:r>
                        <a:rPr lang="en-US" sz="1100" b="0" i="0" u="none" strike="sngStrike">
                          <a:solidFill>
                            <a:schemeClr val="tx1"/>
                          </a:solidFill>
                          <a:effectLst/>
                          <a:latin typeface="Adani Regular" panose="02000503000000020004" pitchFamily="2" charset="0"/>
                        </a:rPr>
                        <a:t>30-Apr-26</a:t>
                      </a:r>
                    </a:p>
                    <a:p>
                      <a:pPr algn="ctr" fontAlgn="ctr">
                        <a:buNone/>
                      </a:pPr>
                      <a:r>
                        <a:rPr lang="en-US" sz="1100" b="0" i="0" u="none" strike="sngStrike">
                          <a:solidFill>
                            <a:schemeClr val="tx1"/>
                          </a:solidFill>
                          <a:effectLst/>
                          <a:latin typeface="Adani Regular" panose="02000503000000020004" pitchFamily="2" charset="0"/>
                        </a:rPr>
                        <a:t>May-26</a:t>
                      </a:r>
                    </a:p>
                    <a:p>
                      <a:pPr algn="ctr" fontAlgn="ctr">
                        <a:buNone/>
                      </a:pPr>
                      <a:r>
                        <a:rPr lang="en-US" sz="1100" b="0" i="0" u="none" strike="noStrike">
                          <a:solidFill>
                            <a:schemeClr val="tx1"/>
                          </a:solidFill>
                          <a:effectLst/>
                          <a:latin typeface="Adani Regular" panose="02000503000000020004" pitchFamily="2" charset="0"/>
                        </a:rPr>
                        <a:t>Jun-26</a:t>
                      </a:r>
                      <a:endParaRPr lang="en-US" sz="1400" b="0" i="0" u="none" strike="noStrike">
                        <a:solidFill>
                          <a:schemeClr val="tx1"/>
                        </a:solidFill>
                        <a:effectLst/>
                        <a:latin typeface="Adani Regular" panose="02000503000000020004" pitchFamily="2"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000">
                          <a:solidFill>
                            <a:srgbClr val="000000"/>
                          </a:solidFill>
                          <a:effectLst/>
                          <a:latin typeface="Adani Regular"/>
                          <a:ea typeface="Times New Roman" panose="02020603050405020304" pitchFamily="18" charset="0"/>
                          <a:cs typeface="Aptos" panose="020B0004020202020204" pitchFamily="34" charset="0"/>
                        </a:rPr>
                        <a:t>On account of change of labour codes, online applications are on Hold. Intimation letter issued to govt. authority that application will be done once portal is working. </a:t>
                      </a:r>
                    </a:p>
                    <a:p>
                      <a:pPr>
                        <a:buNone/>
                      </a:pPr>
                      <a:r>
                        <a:rPr lang="en-IN" sz="1000">
                          <a:solidFill>
                            <a:srgbClr val="000000"/>
                          </a:solidFill>
                          <a:effectLst/>
                          <a:latin typeface="Adani Regular"/>
                          <a:ea typeface="Times New Roman" panose="02020603050405020304" pitchFamily="18" charset="0"/>
                          <a:cs typeface="Aptos" panose="020B0004020202020204" pitchFamily="34" charset="0"/>
                        </a:rPr>
                        <a:t>Letter acknowledged by govt.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87455117"/>
                  </a:ext>
                </a:extLst>
              </a:tr>
              <a:tr h="696670">
                <a:tc>
                  <a:txBody>
                    <a:bodyPr/>
                    <a:lstStyle/>
                    <a:p>
                      <a:pPr algn="ctr"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Implementation Support Agreement (ISA)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BD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Internal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26-Dec-25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24-Jan-26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26-Dec-25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24-Jan-26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sngStrike">
                          <a:solidFill>
                            <a:srgbClr val="000000"/>
                          </a:solidFill>
                          <a:effectLst/>
                          <a:latin typeface="Adani Regular" panose="02000503000000020004" pitchFamily="2" charset="0"/>
                        </a:rPr>
                        <a:t>07-Feb-26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sngStrike">
                          <a:solidFill>
                            <a:srgbClr val="000000"/>
                          </a:solidFill>
                          <a:effectLst/>
                          <a:latin typeface="Adani Regular" panose="02000503000000020004" pitchFamily="2" charset="0"/>
                        </a:rPr>
                        <a:t>12-Feb-26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sngStrike">
                          <a:solidFill>
                            <a:srgbClr val="000000"/>
                          </a:solidFill>
                          <a:effectLst/>
                          <a:latin typeface="Adani Regular" panose="02000503000000020004" pitchFamily="2" charset="0"/>
                        </a:rPr>
                        <a:t>31-Mar-26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sngStrike">
                          <a:solidFill>
                            <a:srgbClr val="000000"/>
                          </a:solidFill>
                          <a:effectLst/>
                          <a:latin typeface="Adani Regular" panose="02000503000000020004" pitchFamily="2" charset="0"/>
                        </a:rPr>
                        <a:t>18-May-26</a:t>
                      </a:r>
                      <a:endParaRPr lang="en-US" sz="1100" b="0" i="0" u="none" strike="sngStrike">
                        <a:solidFill>
                          <a:srgbClr val="000000"/>
                        </a:solidFill>
                        <a:effectLst/>
                        <a:latin typeface="Adani Regular" panose="02000503000000020004" pitchFamily="2"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sngStrike">
                          <a:solidFill>
                            <a:srgbClr val="000000"/>
                          </a:solidFill>
                          <a:effectLst/>
                          <a:latin typeface="Adani Regular" panose="02000503000000020004" pitchFamily="2" charset="0"/>
                        </a:rPr>
                        <a:t>30-May-26</a:t>
                      </a:r>
                      <a:endParaRPr lang="en-US" sz="1100" b="0" i="0" u="none" strike="sngStrike">
                        <a:solidFill>
                          <a:srgbClr val="000000"/>
                        </a:solidFill>
                        <a:effectLst/>
                        <a:latin typeface="Adani Regular" panose="02000503000000020004" pitchFamily="2"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15-Jun-26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lvl="0" indent="0" algn="just" defTabSz="1219170" rtl="0" eaLnBrk="1" latinLnBrk="0" hangingPunct="1">
                        <a:buNone/>
                      </a:pPr>
                      <a:r>
                        <a:rPr lang="en-US" sz="1100" strike="noStrike">
                          <a:solidFill>
                            <a:srgbClr val="000000"/>
                          </a:solidFill>
                          <a:effectLst/>
                          <a:latin typeface="Adani Regular" panose="02000503000000020004" pitchFamily="2" charset="0"/>
                          <a:ea typeface="Aptos" panose="020B0004020202020204" pitchFamily="34" charset="0"/>
                          <a:cs typeface="Aptos" panose="020B0004020202020204" pitchFamily="34" charset="0"/>
                        </a:rPr>
                        <a:t>Way forward methodology for optimization of GST implications agreed in-principal, sign-off in process with Business, BD &amp; Finance. Expected ISA sign-off by 15-Jun subsequent to RPT approval.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10694427"/>
                  </a:ext>
                </a:extLst>
              </a:tr>
              <a:tr h="1759932">
                <a:tc>
                  <a:txBody>
                    <a:bodyPr/>
                    <a:lstStyle/>
                    <a:p>
                      <a:pPr algn="ctr" fontAlgn="ctr">
                        <a:buNone/>
                      </a:pPr>
                      <a:r>
                        <a:rPr lang="en-US" sz="1100" b="0" i="0" u="none" strike="noStrike">
                          <a:solidFill>
                            <a:srgbClr val="000000"/>
                          </a:solidFill>
                          <a:effectLst/>
                          <a:latin typeface="Adani Regular" panose="02000503000000020004" pitchFamily="2"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Fire Safety Plan Approval (FSPA)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Project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Regional Fire Officer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01-Jan-26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15-Feb-26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01-Jan-26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000" b="0" i="0" u="none" strike="sngStrike">
                          <a:solidFill>
                            <a:srgbClr val="000000"/>
                          </a:solidFill>
                          <a:effectLst/>
                          <a:latin typeface="Adani Regular"/>
                        </a:rPr>
                        <a:t>31-Jan-26</a:t>
                      </a:r>
                    </a:p>
                    <a:p>
                      <a:pPr algn="ctr" fontAlgn="ctr">
                        <a:buNone/>
                      </a:pPr>
                      <a:r>
                        <a:rPr lang="en-US" sz="1000" b="0" i="0" u="none" strike="sngStrike">
                          <a:solidFill>
                            <a:srgbClr val="000000"/>
                          </a:solidFill>
                          <a:effectLst/>
                          <a:latin typeface="Adani Regular"/>
                        </a:rPr>
                        <a:t>10-Feb-26</a:t>
                      </a:r>
                    </a:p>
                    <a:p>
                      <a:pPr algn="ctr" fontAlgn="ctr">
                        <a:buNone/>
                      </a:pPr>
                      <a:r>
                        <a:rPr lang="en-US" sz="1000" b="0" i="0" u="none" strike="sngStrike">
                          <a:solidFill>
                            <a:srgbClr val="000000"/>
                          </a:solidFill>
                          <a:effectLst/>
                          <a:latin typeface="Adani Regular"/>
                        </a:rPr>
                        <a:t>14-Feb-26</a:t>
                      </a:r>
                    </a:p>
                    <a:p>
                      <a:pPr algn="ctr" fontAlgn="ctr">
                        <a:buNone/>
                      </a:pPr>
                      <a:r>
                        <a:rPr lang="en-US" sz="1000" b="0" i="0" u="none" strike="sngStrike">
                          <a:solidFill>
                            <a:srgbClr val="000000"/>
                          </a:solidFill>
                          <a:effectLst/>
                          <a:latin typeface="Adani Regular"/>
                        </a:rPr>
                        <a:t>18-Feb-26</a:t>
                      </a:r>
                    </a:p>
                    <a:p>
                      <a:pPr algn="ctr" fontAlgn="ctr">
                        <a:buNone/>
                      </a:pPr>
                      <a:r>
                        <a:rPr lang="en-US" sz="1000" b="0" i="0" u="none" strike="sngStrike">
                          <a:solidFill>
                            <a:srgbClr val="000000"/>
                          </a:solidFill>
                          <a:effectLst/>
                          <a:latin typeface="Adani Regular"/>
                        </a:rPr>
                        <a:t>07-Mar-26</a:t>
                      </a:r>
                    </a:p>
                    <a:p>
                      <a:pPr algn="ctr" fontAlgn="ctr">
                        <a:buNone/>
                      </a:pPr>
                      <a:r>
                        <a:rPr lang="en-US" sz="1000" b="0" i="0" u="none" strike="sngStrike">
                          <a:solidFill>
                            <a:srgbClr val="000000"/>
                          </a:solidFill>
                          <a:effectLst/>
                          <a:latin typeface="Adani Regular"/>
                        </a:rPr>
                        <a:t>31-Mar-26</a:t>
                      </a:r>
                    </a:p>
                    <a:p>
                      <a:pPr algn="ctr" fontAlgn="ctr">
                        <a:buNone/>
                      </a:pPr>
                      <a:r>
                        <a:rPr lang="en-US" sz="1100" b="0" i="0" u="none" strike="sngStrike">
                          <a:solidFill>
                            <a:srgbClr val="000000"/>
                          </a:solidFill>
                          <a:effectLst/>
                          <a:latin typeface="Adani Regular"/>
                        </a:rPr>
                        <a:t>27-Apr-26</a:t>
                      </a:r>
                    </a:p>
                    <a:p>
                      <a:pPr algn="ctr" fontAlgn="ctr">
                        <a:buNone/>
                      </a:pPr>
                      <a:r>
                        <a:rPr lang="en-US" sz="1100" b="0" i="0" u="none" strike="sngStrike">
                          <a:solidFill>
                            <a:srgbClr val="000000"/>
                          </a:solidFill>
                          <a:effectLst/>
                          <a:latin typeface="Adani Regular"/>
                        </a:rPr>
                        <a:t>May-26</a:t>
                      </a:r>
                    </a:p>
                    <a:p>
                      <a:pPr algn="ctr" fontAlgn="ctr">
                        <a:buNone/>
                      </a:pPr>
                      <a:r>
                        <a:rPr lang="en-US" sz="1100" b="0" i="0" u="none" strike="noStrike">
                          <a:solidFill>
                            <a:srgbClr val="000000"/>
                          </a:solidFill>
                          <a:effectLst/>
                          <a:latin typeface="Adani Regular"/>
                        </a:rPr>
                        <a:t>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100" b="0" i="0" u="none" strike="noStrike">
                          <a:solidFill>
                            <a:srgbClr val="00B050"/>
                          </a:solidFill>
                          <a:effectLst/>
                          <a:latin typeface="Adani Regular"/>
                        </a:rPr>
                        <a:t>As per CPO’s discussion with RFO, online FSPA application filed on 23-May for PSS-10(B).</a:t>
                      </a:r>
                    </a:p>
                    <a:p>
                      <a:pPr algn="l" fontAlgn="ctr">
                        <a:buNone/>
                      </a:pPr>
                      <a:r>
                        <a:rPr lang="en-US" sz="1100" b="0" i="0" u="none" strike="noStrike">
                          <a:solidFill>
                            <a:schemeClr val="tx1"/>
                          </a:solidFill>
                          <a:effectLst/>
                          <a:latin typeface="Adani Regular"/>
                        </a:rPr>
                        <a:t>RFO will respond on applicability in online application response.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24186005"/>
                  </a:ext>
                </a:extLst>
              </a:tr>
              <a:tr h="836881">
                <a:tc>
                  <a:txBody>
                    <a:bodyPr/>
                    <a:lstStyle/>
                    <a:p>
                      <a:pPr algn="ctr" fontAlgn="ctr">
                        <a:buNone/>
                      </a:pPr>
                      <a:r>
                        <a:rPr lang="en-US" sz="1100" b="0" i="0" u="none" strike="noStrike">
                          <a:solidFill>
                            <a:schemeClr val="tx1"/>
                          </a:solidFill>
                          <a:effectLst/>
                          <a:latin typeface="Adani Regular" panose="02000503000000020004" pitchFamily="2"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Project Import Registration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TC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Commissioner of Customs, Kandla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24-Jan-26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22-Feb-26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24-Jan-26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000" b="0" i="0" u="none" strike="sngStrike">
                          <a:solidFill>
                            <a:srgbClr val="000000"/>
                          </a:solidFill>
                          <a:effectLst/>
                          <a:latin typeface="Adani Regular" panose="02000503000000020004" pitchFamily="2" charset="0"/>
                        </a:rPr>
                        <a:t>22-Feb  28-Feb</a:t>
                      </a:r>
                    </a:p>
                    <a:p>
                      <a:pPr algn="ctr" fontAlgn="ctr">
                        <a:buNone/>
                      </a:pPr>
                      <a:r>
                        <a:rPr lang="en-US" sz="1000" b="0" i="0" u="none" strike="sngStrike">
                          <a:solidFill>
                            <a:srgbClr val="000000"/>
                          </a:solidFill>
                          <a:effectLst/>
                          <a:latin typeface="Adani Regular" panose="02000503000000020004" pitchFamily="2" charset="0"/>
                        </a:rPr>
                        <a:t>15-Mar  27-Mar</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chemeClr val="tx1"/>
                          </a:solidFill>
                          <a:effectLst/>
                          <a:latin typeface="Adani Regular"/>
                        </a:rPr>
                        <a:t>25-Apr  16-May</a:t>
                      </a:r>
                      <a:endParaRPr lang="en-US" sz="1100" b="0" i="0" u="none" strike="sngStrike">
                        <a:solidFill>
                          <a:schemeClr val="tx1"/>
                        </a:solidFill>
                        <a:effectLst/>
                        <a:latin typeface="Adani Regular"/>
                      </a:endParaRP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000" b="0" i="0" u="none" strike="sngStrike">
                          <a:solidFill>
                            <a:schemeClr val="tx1"/>
                          </a:solidFill>
                          <a:effectLst/>
                          <a:latin typeface="Adani Regular"/>
                        </a:rPr>
                        <a:t>31-May  15-Jun</a:t>
                      </a:r>
                      <a:endParaRPr lang="en-US" sz="1100" b="0" i="0" u="none" strike="sngStrike">
                        <a:solidFill>
                          <a:schemeClr val="tx1"/>
                        </a:solidFill>
                        <a:effectLst/>
                        <a:latin typeface="Adani Regular"/>
                      </a:endParaRP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a:rPr>
                        <a:t>26-Jun-26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B050"/>
                          </a:solidFill>
                          <a:effectLst/>
                          <a:latin typeface="Adani Regular"/>
                        </a:rPr>
                        <a:t>Letter from Govt. of Gujarat received on 30-Mar-26. </a:t>
                      </a:r>
                    </a:p>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a:rPr>
                        <a:t>Application for 09, 05(B) &amp; 08(B) will be submitted by 30-May.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67310287"/>
                  </a:ext>
                </a:extLst>
              </a:tr>
              <a:tr h="444771">
                <a:tc>
                  <a:txBody>
                    <a:bodyPr/>
                    <a:lstStyle/>
                    <a:p>
                      <a:pPr algn="ctr" fontAlgn="ctr">
                        <a:buNone/>
                      </a:pPr>
                      <a:r>
                        <a:rPr lang="en-US" sz="1100" b="0" i="0" u="none" strike="noStrike">
                          <a:solidFill>
                            <a:schemeClr val="tx1"/>
                          </a:solidFill>
                          <a:effectLst/>
                          <a:latin typeface="Adani Regular"/>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a:rPr>
                        <a:t>Project Insurance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a:rPr>
                        <a:t>Group Insurance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a:rPr>
                        <a:t>24-Feb-26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chemeClr val="tx1"/>
                          </a:solidFill>
                          <a:effectLst/>
                          <a:latin typeface="Adani Regular"/>
                        </a:rPr>
                        <a:t>01-May-26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chemeClr val="tx1"/>
                          </a:solidFill>
                          <a:effectLst/>
                          <a:latin typeface="Adani Regular"/>
                        </a:rPr>
                        <a:t>12-May-26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chemeClr val="tx1"/>
                          </a:solidFill>
                          <a:effectLst/>
                          <a:latin typeface="Adani Regular"/>
                        </a:rPr>
                        <a:t>23-May-26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sngStrike">
                          <a:solidFill>
                            <a:schemeClr val="tx1"/>
                          </a:solidFill>
                          <a:effectLst/>
                          <a:latin typeface="Adani Regular"/>
                        </a:rPr>
                        <a:t>06-Jun-26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a:rPr>
                        <a:t>18-Jun-26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a:rPr>
                        <a:t>Project Insurance finalization expected by 06-Jun. (Under final negotiation)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88893011"/>
                  </a:ext>
                </a:extLst>
              </a:tr>
            </a:tbl>
          </a:graphicData>
        </a:graphic>
      </p:graphicFrame>
      <p:sp>
        <p:nvSpPr>
          <p:cNvPr id="2" name="Arrow: Left 1">
            <a:hlinkClick r:id="rId3" action="ppaction://hlinksldjump"/>
            <a:extLst>
              <a:ext uri="{FF2B5EF4-FFF2-40B4-BE49-F238E27FC236}">
                <a16:creationId xmlns:a16="http://schemas.microsoft.com/office/drawing/2014/main" id="{AA4E0E22-0C98-6AB8-848F-6863383C1B64}"/>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51783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88656-B61F-6D92-48FC-992B3790B261}"/>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BAF4F027-3EBE-E731-59F4-A413F50EFDA7}"/>
              </a:ext>
            </a:extLst>
          </p:cNvPr>
          <p:cNvGraphicFramePr>
            <a:graphicFrameLocks noGrp="1"/>
          </p:cNvGraphicFramePr>
          <p:nvPr>
            <p:extLst>
              <p:ext uri="{D42A27DB-BD31-4B8C-83A1-F6EECF244321}">
                <p14:modId xmlns:p14="http://schemas.microsoft.com/office/powerpoint/2010/main" val="1459575739"/>
              </p:ext>
            </p:extLst>
          </p:nvPr>
        </p:nvGraphicFramePr>
        <p:xfrm>
          <a:off x="183320" y="559431"/>
          <a:ext cx="11865805" cy="5679460"/>
        </p:xfrm>
        <a:graphic>
          <a:graphicData uri="http://schemas.openxmlformats.org/drawingml/2006/table">
            <a:tbl>
              <a:tblPr firstRow="1" bandRow="1">
                <a:tableStyleId>{5C22544A-7EE6-4342-B048-85BDC9FD1C3A}</a:tableStyleId>
              </a:tblPr>
              <a:tblGrid>
                <a:gridCol w="451039">
                  <a:extLst>
                    <a:ext uri="{9D8B030D-6E8A-4147-A177-3AD203B41FA5}">
                      <a16:colId xmlns:a16="http://schemas.microsoft.com/office/drawing/2014/main" val="3099302020"/>
                    </a:ext>
                  </a:extLst>
                </a:gridCol>
                <a:gridCol w="1997293">
                  <a:extLst>
                    <a:ext uri="{9D8B030D-6E8A-4147-A177-3AD203B41FA5}">
                      <a16:colId xmlns:a16="http://schemas.microsoft.com/office/drawing/2014/main" val="1830319299"/>
                    </a:ext>
                  </a:extLst>
                </a:gridCol>
                <a:gridCol w="1506937">
                  <a:extLst>
                    <a:ext uri="{9D8B030D-6E8A-4147-A177-3AD203B41FA5}">
                      <a16:colId xmlns:a16="http://schemas.microsoft.com/office/drawing/2014/main" val="1049725276"/>
                    </a:ext>
                  </a:extLst>
                </a:gridCol>
                <a:gridCol w="1318423">
                  <a:extLst>
                    <a:ext uri="{9D8B030D-6E8A-4147-A177-3AD203B41FA5}">
                      <a16:colId xmlns:a16="http://schemas.microsoft.com/office/drawing/2014/main" val="3717742423"/>
                    </a:ext>
                  </a:extLst>
                </a:gridCol>
                <a:gridCol w="1006821">
                  <a:extLst>
                    <a:ext uri="{9D8B030D-6E8A-4147-A177-3AD203B41FA5}">
                      <a16:colId xmlns:a16="http://schemas.microsoft.com/office/drawing/2014/main" val="175036882"/>
                    </a:ext>
                  </a:extLst>
                </a:gridCol>
                <a:gridCol w="1006821">
                  <a:extLst>
                    <a:ext uri="{9D8B030D-6E8A-4147-A177-3AD203B41FA5}">
                      <a16:colId xmlns:a16="http://schemas.microsoft.com/office/drawing/2014/main" val="2696290855"/>
                    </a:ext>
                  </a:extLst>
                </a:gridCol>
                <a:gridCol w="1006821">
                  <a:extLst>
                    <a:ext uri="{9D8B030D-6E8A-4147-A177-3AD203B41FA5}">
                      <a16:colId xmlns:a16="http://schemas.microsoft.com/office/drawing/2014/main" val="2900503877"/>
                    </a:ext>
                  </a:extLst>
                </a:gridCol>
                <a:gridCol w="1006821">
                  <a:extLst>
                    <a:ext uri="{9D8B030D-6E8A-4147-A177-3AD203B41FA5}">
                      <a16:colId xmlns:a16="http://schemas.microsoft.com/office/drawing/2014/main" val="769568464"/>
                    </a:ext>
                  </a:extLst>
                </a:gridCol>
                <a:gridCol w="2564829">
                  <a:extLst>
                    <a:ext uri="{9D8B030D-6E8A-4147-A177-3AD203B41FA5}">
                      <a16:colId xmlns:a16="http://schemas.microsoft.com/office/drawing/2014/main" val="3175708860"/>
                    </a:ext>
                  </a:extLst>
                </a:gridCol>
              </a:tblGrid>
              <a:tr h="677638">
                <a:tc>
                  <a:txBody>
                    <a:bodyPr/>
                    <a:lstStyle/>
                    <a:p>
                      <a:pPr algn="ctr" fontAlgn="ctr">
                        <a:buNone/>
                      </a:pPr>
                      <a:r>
                        <a:rPr lang="en-US" sz="1200" b="1" i="0" u="none" strike="noStrike">
                          <a:solidFill>
                            <a:schemeClr val="bg1"/>
                          </a:solidFill>
                          <a:effectLst/>
                          <a:latin typeface="Adani Regular" panose="02000503000000020004" pitchFamily="2" charset="0"/>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Activity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Responsible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Approval Authority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Baseline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algn="ctr" fontAlgn="ctr">
                        <a:buNone/>
                      </a:pPr>
                      <a:r>
                        <a:rPr lang="en-US" sz="1200" b="1" i="0" u="none" strike="noStrike">
                          <a:solidFill>
                            <a:schemeClr val="bg1"/>
                          </a:solidFill>
                          <a:effectLst/>
                          <a:latin typeface="Adani Regular" panose="02000503000000020004" pitchFamily="2" charset="0"/>
                        </a:rPr>
                        <a:t>Actual/ Forecast Finish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chemeClr val="bg1"/>
                          </a:solidFill>
                          <a:effectLst/>
                          <a:latin typeface="Adani Regular" panose="02000503000000020004" pitchFamily="2" charset="0"/>
                        </a:rPr>
                        <a:t>Remarks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2A82"/>
                    </a:solidFill>
                  </a:tcPr>
                </a:tc>
                <a:extLst>
                  <a:ext uri="{0D108BD9-81ED-4DB2-BD59-A6C34878D82A}">
                    <a16:rowId xmlns:a16="http://schemas.microsoft.com/office/drawing/2014/main" val="1597099999"/>
                  </a:ext>
                </a:extLst>
              </a:tr>
              <a:tr h="1237796">
                <a:tc>
                  <a:txBody>
                    <a:bodyPr/>
                    <a:lstStyle/>
                    <a:p>
                      <a:pPr algn="ctr" fontAlgn="ctr">
                        <a:buNone/>
                      </a:pPr>
                      <a:r>
                        <a:rPr lang="en-US" sz="1100" b="0" i="0" u="none" strike="noStrike">
                          <a:solidFill>
                            <a:srgbClr val="000000"/>
                          </a:solidFill>
                          <a:effectLst/>
                          <a:latin typeface="Adani Regular" panose="02000503000000020004" pitchFamily="2"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Approval of Grid Connectivity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Asset Commissioning + BD HO Team and Delhi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chemeClr val="tx1"/>
                          </a:solidFill>
                          <a:effectLst/>
                          <a:latin typeface="Adani Regular" panose="02000503000000020004" pitchFamily="2" charset="0"/>
                        </a:rPr>
                        <a:t>CTU</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30-Dec-25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chemeClr val="tx1"/>
                          </a:solidFill>
                          <a:effectLst/>
                          <a:latin typeface="Adani Regular" panose="02000503000000020004" pitchFamily="2" charset="0"/>
                        </a:rPr>
                        <a:t>09-Jan-26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05-Dec-25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900" b="0" i="0" u="none" strike="sngStrike">
                          <a:solidFill>
                            <a:schemeClr val="tx1"/>
                          </a:solidFill>
                          <a:effectLst/>
                          <a:latin typeface="Adani Regular" panose="02000503000000020004" pitchFamily="2" charset="0"/>
                        </a:rPr>
                        <a:t>28-Feb-26</a:t>
                      </a:r>
                    </a:p>
                    <a:p>
                      <a:pPr algn="ctr" fontAlgn="ctr">
                        <a:buNone/>
                      </a:pPr>
                      <a:r>
                        <a:rPr lang="en-US" sz="900" b="0" i="0" u="none" strike="sngStrike">
                          <a:solidFill>
                            <a:schemeClr val="tx1"/>
                          </a:solidFill>
                          <a:effectLst/>
                          <a:latin typeface="Adani Regular" panose="02000503000000020004" pitchFamily="2" charset="0"/>
                        </a:rPr>
                        <a:t>31-Mar-26</a:t>
                      </a:r>
                    </a:p>
                    <a:p>
                      <a:pPr algn="ctr" fontAlgn="ctr">
                        <a:buNone/>
                      </a:pPr>
                      <a:r>
                        <a:rPr lang="en-US" sz="900" b="0" i="0" u="none" strike="sngStrike">
                          <a:solidFill>
                            <a:schemeClr val="tx1"/>
                          </a:solidFill>
                          <a:effectLst/>
                          <a:latin typeface="Adani Regular" panose="02000503000000020004" pitchFamily="2" charset="0"/>
                        </a:rPr>
                        <a:t>30-Apr-26</a:t>
                      </a:r>
                    </a:p>
                    <a:p>
                      <a:pPr algn="ctr" fontAlgn="ctr">
                        <a:buNone/>
                      </a:pPr>
                      <a:r>
                        <a:rPr lang="en-US" sz="900" b="0" i="0" u="none" strike="sngStrike">
                          <a:solidFill>
                            <a:schemeClr val="tx1"/>
                          </a:solidFill>
                          <a:effectLst/>
                          <a:latin typeface="Adani Regular" panose="02000503000000020004" pitchFamily="2" charset="0"/>
                        </a:rPr>
                        <a:t>30-May-26</a:t>
                      </a:r>
                      <a:endParaRPr lang="en-US" sz="1100" b="0" i="0" u="none" strike="sngStrike">
                        <a:solidFill>
                          <a:schemeClr val="tx1"/>
                        </a:solidFill>
                        <a:effectLst/>
                        <a:latin typeface="Adani Regular" panose="02000503000000020004" pitchFamily="2" charset="0"/>
                      </a:endParaRPr>
                    </a:p>
                    <a:p>
                      <a:pPr algn="ctr" fontAlgn="ctr">
                        <a:buNone/>
                      </a:pPr>
                      <a:r>
                        <a:rPr lang="en-US" sz="900" b="0" i="0" u="none" strike="sngStrike">
                          <a:solidFill>
                            <a:schemeClr val="tx1"/>
                          </a:solidFill>
                          <a:effectLst/>
                          <a:latin typeface="Adani Regular" panose="02000503000000020004" pitchFamily="2" charset="0"/>
                        </a:rPr>
                        <a:t>05-Jun-26</a:t>
                      </a:r>
                    </a:p>
                    <a:p>
                      <a:pPr algn="ctr" fontAlgn="ctr">
                        <a:buNone/>
                      </a:pPr>
                      <a:r>
                        <a:rPr lang="en-US" sz="1050" b="0" i="0" u="none" strike="noStrike">
                          <a:solidFill>
                            <a:schemeClr val="tx1"/>
                          </a:solidFill>
                          <a:effectLst/>
                          <a:latin typeface="Adani Regular" panose="02000503000000020004" pitchFamily="2" charset="0"/>
                        </a:rPr>
                        <a:t>10-Jun-26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B050"/>
                          </a:solidFill>
                          <a:effectLst/>
                          <a:latin typeface="Adani Regular" panose="02000503000000020004" pitchFamily="2" charset="0"/>
                        </a:rPr>
                        <a:t>Application submitted on 05-Dec-25.</a:t>
                      </a:r>
                    </a:p>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panose="02000503000000020004" pitchFamily="2" charset="0"/>
                        </a:rPr>
                        <a:t>WR CMETS meeting concluded on 22-May.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60904576"/>
                  </a:ext>
                </a:extLst>
              </a:tr>
              <a:tr h="469629">
                <a:tc>
                  <a:txBody>
                    <a:bodyPr/>
                    <a:lstStyle/>
                    <a:p>
                      <a:pPr algn="ctr" fontAlgn="ctr">
                        <a:buNone/>
                      </a:pPr>
                      <a:r>
                        <a:rPr lang="en-US" sz="1100" b="0" i="0" u="none" strike="noStrike">
                          <a:solidFill>
                            <a:srgbClr val="000000"/>
                          </a:solidFill>
                          <a:effectLst/>
                          <a:latin typeface="Adani Regular" panose="02000503000000020004" pitchFamily="2"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Metering Scheme approval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Engineering + Asset Commissioning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RLDC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26-Apr-26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25-May-26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900" b="0" i="0" u="none" strike="sngStrike">
                          <a:solidFill>
                            <a:srgbClr val="000000"/>
                          </a:solidFill>
                          <a:effectLst/>
                          <a:latin typeface="Adani Regular" panose="02000503000000020004" pitchFamily="2" charset="0"/>
                        </a:rPr>
                        <a:t>30-Apr-26</a:t>
                      </a:r>
                    </a:p>
                    <a:p>
                      <a:pPr algn="ctr" fontAlgn="ctr">
                        <a:buNone/>
                      </a:pPr>
                      <a:r>
                        <a:rPr lang="en-US" sz="900" b="0" i="0" u="none" strike="sngStrike">
                          <a:solidFill>
                            <a:srgbClr val="000000"/>
                          </a:solidFill>
                          <a:effectLst/>
                          <a:latin typeface="Adani Regular" panose="02000503000000020004" pitchFamily="2" charset="0"/>
                        </a:rPr>
                        <a:t>30-May-26</a:t>
                      </a:r>
                      <a:endParaRPr lang="en-US" sz="1100" b="0" i="0" u="none" strike="sngStrike">
                        <a:solidFill>
                          <a:srgbClr val="000000"/>
                        </a:solidFill>
                        <a:effectLst/>
                        <a:latin typeface="Adani Regular" panose="02000503000000020004" pitchFamily="2" charset="0"/>
                      </a:endParaRPr>
                    </a:p>
                    <a:p>
                      <a:pPr algn="ctr" fontAlgn="ctr">
                        <a:buNone/>
                      </a:pPr>
                      <a:r>
                        <a:rPr lang="en-US" sz="1100" b="0" i="0" u="none" strike="noStrike">
                          <a:solidFill>
                            <a:srgbClr val="000000"/>
                          </a:solidFill>
                          <a:effectLst/>
                          <a:latin typeface="Adani Regular" panose="02000503000000020004" pitchFamily="2" charset="0"/>
                        </a:rPr>
                        <a:t>10-Jun-26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900" b="0" i="0" u="none" strike="sngStrike">
                          <a:solidFill>
                            <a:srgbClr val="000000"/>
                          </a:solidFill>
                          <a:effectLst/>
                          <a:latin typeface="Adani Regular" panose="02000503000000020004" pitchFamily="2" charset="0"/>
                        </a:rPr>
                        <a:t>25-May-26</a:t>
                      </a:r>
                    </a:p>
                    <a:p>
                      <a:pPr algn="ctr" fontAlgn="ctr">
                        <a:buNone/>
                      </a:pPr>
                      <a:r>
                        <a:rPr lang="en-US" sz="1100" b="0" i="0" u="none" strike="noStrike">
                          <a:solidFill>
                            <a:srgbClr val="000000"/>
                          </a:solidFill>
                          <a:effectLst/>
                          <a:latin typeface="Adani Regular" panose="02000503000000020004" pitchFamily="2" charset="0"/>
                        </a:rPr>
                        <a:t>30-Jun-26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Metering Scheme application can be submitted subsequent to in principle approval from CTU for connectivity.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62496606"/>
                  </a:ext>
                </a:extLst>
              </a:tr>
              <a:tr h="677638">
                <a:tc>
                  <a:txBody>
                    <a:bodyPr/>
                    <a:lstStyle/>
                    <a:p>
                      <a:pPr algn="ctr" fontAlgn="ctr">
                        <a:buNone/>
                      </a:pPr>
                      <a:r>
                        <a:rPr lang="en-US" sz="1100" b="0" i="0" u="none" strike="noStrike">
                          <a:solidFill>
                            <a:srgbClr val="000000"/>
                          </a:solidFill>
                          <a:effectLst/>
                          <a:latin typeface="Adani Regular" panose="02000503000000020004" pitchFamily="2"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Connectivity Agreement</a:t>
                      </a:r>
                    </a:p>
                    <a:p>
                      <a:pPr algn="ctr" rtl="0" fontAlgn="ctr">
                        <a:buNone/>
                      </a:pPr>
                      <a:r>
                        <a:rPr lang="en-US" sz="1100" b="0" i="0" u="none" strike="noStrike">
                          <a:solidFill>
                            <a:srgbClr val="000000"/>
                          </a:solidFill>
                          <a:effectLst/>
                          <a:latin typeface="Adani Regular" panose="02000503000000020004" pitchFamily="2" charset="0"/>
                        </a:rPr>
                        <a:t>(Con VI)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Asset Commissioning, Engineering and Delhi Office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CTU &amp; WRLDC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09-Apr-26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18-May-26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09-Apr  20-Apr</a:t>
                      </a:r>
                      <a:endParaRPr lang="en-US" sz="1100" b="0" i="0" u="none" strike="sngStrike">
                        <a:solidFill>
                          <a:srgbClr val="000000"/>
                        </a:solidFill>
                        <a:effectLst/>
                        <a:latin typeface="Adani Regular" panose="02000503000000020004" pitchFamily="2" charset="0"/>
                      </a:endParaRPr>
                    </a:p>
                    <a:p>
                      <a:pPr algn="ctr" fontAlgn="ctr">
                        <a:buNone/>
                      </a:pPr>
                      <a:r>
                        <a:rPr lang="en-US" sz="1100" b="0" i="0" u="none" strike="noStrike">
                          <a:solidFill>
                            <a:srgbClr val="000000"/>
                          </a:solidFill>
                          <a:effectLst/>
                          <a:latin typeface="Adani Regular"/>
                        </a:rPr>
                        <a:t>08-Jun-26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800" b="0" i="0" u="none" strike="sngStrike">
                          <a:solidFill>
                            <a:srgbClr val="000000"/>
                          </a:solidFill>
                          <a:effectLst/>
                          <a:latin typeface="Adani Regular" panose="02000503000000020004" pitchFamily="2" charset="0"/>
                        </a:rPr>
                        <a:t>18-May-26</a:t>
                      </a:r>
                    </a:p>
                    <a:p>
                      <a:pPr algn="ctr" fontAlgn="ctr">
                        <a:buNone/>
                      </a:pPr>
                      <a:r>
                        <a:rPr lang="en-US" sz="1100" b="0" i="0" u="none" strike="noStrike">
                          <a:solidFill>
                            <a:srgbClr val="000000"/>
                          </a:solidFill>
                          <a:effectLst/>
                          <a:latin typeface="Adani Regular"/>
                        </a:rPr>
                        <a:t>25-Jul-26 to</a:t>
                      </a:r>
                    </a:p>
                    <a:p>
                      <a:pPr algn="ctr" fontAlgn="ctr">
                        <a:buNone/>
                      </a:pPr>
                      <a:r>
                        <a:rPr lang="en-US" sz="1100" b="0" i="0" u="none" strike="noStrike">
                          <a:solidFill>
                            <a:srgbClr val="000000"/>
                          </a:solidFill>
                          <a:effectLst/>
                          <a:latin typeface="Adani Regular" panose="02000503000000020004" pitchFamily="2" charset="0"/>
                        </a:rPr>
                        <a:t>26-Aug-26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dani Regular"/>
                        </a:rPr>
                        <a:t>Priority wise: PSS-08(B) &gt; PSS-09 &gt; PSS-05(B)</a:t>
                      </a:r>
                      <a:endParaRPr lang="en-US" sz="1100" b="0" i="0" u="none" strike="noStrike">
                        <a:solidFill>
                          <a:srgbClr val="000000"/>
                        </a:solidFill>
                        <a:effectLst/>
                        <a:latin typeface="Adani Regular" panose="02000503000000020004" pitchFamily="2"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23611682"/>
                  </a:ext>
                </a:extLst>
              </a:tr>
              <a:tr h="930529">
                <a:tc>
                  <a:txBody>
                    <a:bodyPr/>
                    <a:lstStyle/>
                    <a:p>
                      <a:pPr algn="ctr" fontAlgn="ctr">
                        <a:buNone/>
                      </a:pPr>
                      <a:r>
                        <a:rPr lang="en-US" sz="1100" b="0" i="0" u="none" strike="noStrike">
                          <a:solidFill>
                            <a:srgbClr val="000000"/>
                          </a:solidFill>
                          <a:effectLst/>
                          <a:latin typeface="Adani Regular" panose="02000503000000020004" pitchFamily="2" charset="0"/>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PTCC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Asset Commissioning &amp; Projects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CEA, Department of Telecommunications &amp; Indian Railways &amp; Defense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25-Mar-26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22-May-26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01-Feb-26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900" b="0" i="0" u="none" strike="sngStrike">
                          <a:solidFill>
                            <a:srgbClr val="000000"/>
                          </a:solidFill>
                          <a:effectLst/>
                          <a:latin typeface="Adani Regular" panose="02000503000000020004" pitchFamily="2" charset="0"/>
                        </a:rPr>
                        <a:t>22-May-26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15~30 days before CoD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B050"/>
                          </a:solidFill>
                          <a:effectLst/>
                          <a:latin typeface="Adani Regular" panose="02000503000000020004" pitchFamily="2" charset="0"/>
                        </a:rPr>
                        <a:t>Application submitted on 16-Feb.</a:t>
                      </a:r>
                    </a:p>
                    <a:p>
                      <a:pPr algn="l" fontAlgn="ctr">
                        <a:buNone/>
                      </a:pPr>
                      <a:r>
                        <a:rPr lang="en-US" sz="1100" b="0" i="0" u="none" strike="noStrike">
                          <a:solidFill>
                            <a:srgbClr val="00B050"/>
                          </a:solidFill>
                          <a:effectLst/>
                          <a:latin typeface="Adani Regular" panose="02000503000000020004" pitchFamily="2" charset="0"/>
                        </a:rPr>
                        <a:t>NOC for BSNL &amp; Railways received. </a:t>
                      </a:r>
                      <a:r>
                        <a:rPr lang="en-US" sz="1100" b="0" i="0" u="none" strike="noStrike">
                          <a:solidFill>
                            <a:schemeClr val="tx1"/>
                          </a:solidFill>
                          <a:effectLst/>
                          <a:latin typeface="Adani Regular" panose="02000503000000020004" pitchFamily="2" charset="0"/>
                        </a:rPr>
                        <a:t>Awaited from MoD.</a:t>
                      </a:r>
                    </a:p>
                    <a:p>
                      <a:pPr algn="l" fontAlgn="ctr">
                        <a:buNone/>
                      </a:pPr>
                      <a:r>
                        <a:rPr lang="en-US" sz="1100" b="0" i="0" u="none" strike="noStrike">
                          <a:solidFill>
                            <a:schemeClr val="tx1"/>
                          </a:solidFill>
                          <a:effectLst/>
                          <a:latin typeface="Adani Regular" panose="02000503000000020004" pitchFamily="2" charset="0"/>
                        </a:rPr>
                        <a:t>On account of validity of provisional PTCC approval for 60 days, approvals will be aligned with 15~30 days before CoD.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92294093"/>
                  </a:ext>
                </a:extLst>
              </a:tr>
              <a:tr h="695469">
                <a:tc>
                  <a:txBody>
                    <a:bodyPr/>
                    <a:lstStyle/>
                    <a:p>
                      <a:pPr algn="ctr" fontAlgn="ctr">
                        <a:buNone/>
                      </a:pPr>
                      <a:r>
                        <a:rPr lang="en-US" sz="1100" b="0" i="0" u="none" strike="noStrike">
                          <a:solidFill>
                            <a:srgbClr val="000000"/>
                          </a:solidFill>
                          <a:effectLst/>
                          <a:latin typeface="Adani Regular" panose="02000503000000020004" pitchFamily="2" charset="0"/>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Intimation to Labor Inspector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Site IR Team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Govt. of Gujrat</a:t>
                      </a:r>
                      <a:br>
                        <a:rPr lang="en-US" sz="1100" b="0" i="0" u="none" strike="noStrike">
                          <a:solidFill>
                            <a:srgbClr val="000000"/>
                          </a:solidFill>
                          <a:effectLst/>
                          <a:latin typeface="Adani Regular" panose="02000503000000020004" pitchFamily="2" charset="0"/>
                        </a:rPr>
                      </a:br>
                      <a:r>
                        <a:rPr lang="en-US" sz="1100" b="0" i="0" u="none" strike="noStrike">
                          <a:solidFill>
                            <a:srgbClr val="000000"/>
                          </a:solidFill>
                          <a:effectLst/>
                          <a:latin typeface="Adani Regular" panose="02000503000000020004" pitchFamily="2" charset="0"/>
                        </a:rPr>
                        <a:t>(Dept of Labor)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dani Regular" panose="02000503000000020004" pitchFamily="2" charset="0"/>
                        </a:rPr>
                        <a:t>Intimation to Labor Inspector needs to be send post Commissioning.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98571423"/>
                  </a:ext>
                </a:extLst>
              </a:tr>
              <a:tr h="695469">
                <a:tc>
                  <a:txBody>
                    <a:bodyPr/>
                    <a:lstStyle/>
                    <a:p>
                      <a:pPr algn="ctr" fontAlgn="ctr">
                        <a:buNone/>
                      </a:pPr>
                      <a:r>
                        <a:rPr lang="en-US" sz="1100" b="0" i="0" u="none" strike="noStrike">
                          <a:solidFill>
                            <a:srgbClr val="000000"/>
                          </a:solidFill>
                          <a:effectLst/>
                          <a:latin typeface="Adani Regular" panose="02000503000000020004" pitchFamily="2" charset="0"/>
                        </a:rPr>
                        <a:t>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Fire NOC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O&amp;M team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Regional Fire Officer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01-Nov-26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01-Dec-26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01-Oct-26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31-Dec-26</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31-Jan-27</a:t>
                      </a:r>
                    </a:p>
                    <a:p>
                      <a:pPr marL="0" marR="0" lvl="0" indent="0" algn="ctr"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30-Nov-26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dani Regular" panose="02000503000000020004" pitchFamily="2" charset="0"/>
                        </a:rPr>
                        <a:t>Fire NOC needs to be obtained before Commissioning after installation of FDAS Package.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18578077"/>
                  </a:ext>
                </a:extLst>
              </a:tr>
            </a:tbl>
          </a:graphicData>
        </a:graphic>
      </p:graphicFrame>
      <p:sp>
        <p:nvSpPr>
          <p:cNvPr id="4" name="Rectangle 2">
            <a:extLst>
              <a:ext uri="{FF2B5EF4-FFF2-40B4-BE49-F238E27FC236}">
                <a16:creationId xmlns:a16="http://schemas.microsoft.com/office/drawing/2014/main" id="{FF1F72BF-BC59-FAB0-1EDF-517DEC5F74CA}"/>
              </a:ext>
            </a:extLst>
          </p:cNvPr>
          <p:cNvSpPr txBox="1">
            <a:spLocks noChangeArrowheads="1"/>
          </p:cNvSpPr>
          <p:nvPr/>
        </p:nvSpPr>
        <p:spPr>
          <a:xfrm>
            <a:off x="0" y="12745"/>
            <a:ext cx="12192000" cy="476833"/>
          </a:xfrm>
          <a:prstGeom prst="rect">
            <a:avLst/>
          </a:prstGeom>
        </p:spPr>
        <p:txBody>
          <a:bodyPr lIns="121920" tIns="60960" rIns="121920" bIns="6096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a:solidFill>
                  <a:srgbClr val="912A82"/>
                </a:solidFill>
              </a:rPr>
              <a:t> Statutory and Other Approvals (PSS-09, 05(B) &amp; 08(B))</a:t>
            </a:r>
            <a:endParaRPr lang="en-US" sz="2400" b="1">
              <a:solidFill>
                <a:srgbClr val="3D3DFF"/>
              </a:solidFill>
            </a:endParaRPr>
          </a:p>
        </p:txBody>
      </p:sp>
      <p:sp>
        <p:nvSpPr>
          <p:cNvPr id="3" name="Arrow: Left 2">
            <a:hlinkClick r:id="rId3" action="ppaction://hlinksldjump"/>
            <a:extLst>
              <a:ext uri="{FF2B5EF4-FFF2-40B4-BE49-F238E27FC236}">
                <a16:creationId xmlns:a16="http://schemas.microsoft.com/office/drawing/2014/main" id="{9B9C4E48-BE89-715F-9B9D-CC88564C2DCF}"/>
              </a:ext>
            </a:extLst>
          </p:cNvPr>
          <p:cNvSpPr/>
          <p:nvPr/>
        </p:nvSpPr>
        <p:spPr>
          <a:xfrm>
            <a:off x="10927070" y="6702539"/>
            <a:ext cx="237764" cy="155461"/>
          </a:xfrm>
          <a:prstGeom prst="leftArrow">
            <a:avLst/>
          </a:prstGeom>
          <a:solidFill>
            <a:srgbClr val="F2F2F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72960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people sitting at a table&#10;&#10;Description generated with high confidence">
            <a:extLst>
              <a:ext uri="{FF2B5EF4-FFF2-40B4-BE49-F238E27FC236}">
                <a16:creationId xmlns:a16="http://schemas.microsoft.com/office/drawing/2014/main" id="{CD68E4D1-9FF4-C415-9C36-ACED6C1C98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392"/>
            <a:ext cx="12192718" cy="6857598"/>
          </a:xfrm>
          <a:prstGeom prst="rect">
            <a:avLst/>
          </a:prstGeom>
        </p:spPr>
      </p:pic>
      <p:pic>
        <p:nvPicPr>
          <p:cNvPr id="5" name="Picture 3" descr="D:\Logos 2018\Adani logo\PNG\Adani logo _Original.png">
            <a:extLst>
              <a:ext uri="{FF2B5EF4-FFF2-40B4-BE49-F238E27FC236}">
                <a16:creationId xmlns:a16="http://schemas.microsoft.com/office/drawing/2014/main" id="{0B52E213-219B-BE62-210F-7D3C953ECC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8088" y="48778"/>
            <a:ext cx="2496474" cy="14401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D:\Corp Comm Department Work 2015\Brand Adani 2012\adani_gradient_master.jpg">
            <a:extLst>
              <a:ext uri="{FF2B5EF4-FFF2-40B4-BE49-F238E27FC236}">
                <a16:creationId xmlns:a16="http://schemas.microsoft.com/office/drawing/2014/main" id="{13ACB4F0-A80D-A028-2E06-928C7BD251E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75897" y="1311582"/>
            <a:ext cx="5022060" cy="4571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E0E2271-56F6-9272-7B94-4FDE5F4C6155}"/>
              </a:ext>
            </a:extLst>
          </p:cNvPr>
          <p:cNvSpPr txBox="1"/>
          <p:nvPr/>
        </p:nvSpPr>
        <p:spPr>
          <a:xfrm>
            <a:off x="5325043" y="278119"/>
            <a:ext cx="6822182" cy="1600438"/>
          </a:xfrm>
          <a:prstGeom prst="rect">
            <a:avLst/>
          </a:prstGeom>
          <a:noFill/>
        </p:spPr>
        <p:txBody>
          <a:bodyPr wrap="square" lIns="91440" tIns="45720" rIns="91440" bIns="45720" rtlCol="0" anchor="t">
            <a:spAutoFit/>
          </a:bodyPr>
          <a:lstStyle/>
          <a:p>
            <a:r>
              <a:rPr lang="en-US" sz="3200" b="1">
                <a:latin typeface="Adani Regular"/>
              </a:rPr>
              <a:t>Battery Energy Storage Systems</a:t>
            </a:r>
          </a:p>
          <a:p>
            <a:r>
              <a:rPr lang="en-US" sz="2800" b="1">
                <a:solidFill>
                  <a:srgbClr val="0000FF"/>
                </a:solidFill>
                <a:latin typeface="Adani Regular"/>
              </a:rPr>
              <a:t>Projects : FY 2025 – 26</a:t>
            </a:r>
          </a:p>
          <a:p>
            <a:endParaRPr lang="en-US" sz="1400" b="1">
              <a:latin typeface="Adani Regular"/>
            </a:endParaRPr>
          </a:p>
          <a:p>
            <a:r>
              <a:rPr lang="en-US" sz="2400" b="1">
                <a:latin typeface="Adani Regular"/>
              </a:rPr>
              <a:t>10th Jun 26</a:t>
            </a:r>
            <a:endParaRPr lang="en-US" sz="2400"/>
          </a:p>
        </p:txBody>
      </p:sp>
    </p:spTree>
    <p:extLst>
      <p:ext uri="{BB962C8B-B14F-4D97-AF65-F5344CB8AC3E}">
        <p14:creationId xmlns:p14="http://schemas.microsoft.com/office/powerpoint/2010/main" val="4444064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2F2549D-E6B1-2A5E-CF9D-9E55B7135E74}"/>
              </a:ext>
            </a:extLst>
          </p:cNvPr>
          <p:cNvSpPr txBox="1">
            <a:spLocks/>
          </p:cNvSpPr>
          <p:nvPr/>
        </p:nvSpPr>
        <p:spPr>
          <a:xfrm>
            <a:off x="431637" y="86228"/>
            <a:ext cx="11600267" cy="479849"/>
          </a:xfrm>
          <a:prstGeom prst="rect">
            <a:avLst/>
          </a:prstGeom>
          <a:noFill/>
        </p:spPr>
        <p:txBody>
          <a:bodyPr vert="horz" wrap="square" lIns="91157" tIns="45580" rIns="91157" bIns="45580" rtlCol="0" anchor="b">
            <a:spAutoFit/>
          </a:bodyPr>
          <a:lstStyle>
            <a:lvl1pPr algn="ctr" defTabSz="914400" rtl="0" eaLnBrk="1" latinLnBrk="0" hangingPunct="1">
              <a:lnSpc>
                <a:spcPct val="90000"/>
              </a:lnSpc>
              <a:spcBef>
                <a:spcPct val="0"/>
              </a:spcBef>
              <a:buNone/>
              <a:defRPr sz="6000" kern="1200">
                <a:solidFill>
                  <a:schemeClr val="tx1"/>
                </a:solidFill>
                <a:latin typeface="Adani Regular" panose="02000503000000020004" pitchFamily="2" charset="0"/>
                <a:ea typeface="+mj-ea"/>
                <a:cs typeface="+mj-cs"/>
              </a:defRPr>
            </a:lvl1pPr>
          </a:lstStyle>
          <a:p>
            <a:pPr marL="109192" algn="l" defTabSz="911377"/>
            <a:r>
              <a:rPr lang="en-US" sz="2800" b="1">
                <a:solidFill>
                  <a:srgbClr val="7030A0"/>
                </a:solidFill>
                <a:ea typeface="+mn-ea"/>
                <a:cs typeface="+mn-cs"/>
              </a:rPr>
              <a:t>Scope</a:t>
            </a:r>
          </a:p>
        </p:txBody>
      </p:sp>
      <p:sp>
        <p:nvSpPr>
          <p:cNvPr id="2" name="TextBox 1">
            <a:extLst>
              <a:ext uri="{FF2B5EF4-FFF2-40B4-BE49-F238E27FC236}">
                <a16:creationId xmlns:a16="http://schemas.microsoft.com/office/drawing/2014/main" id="{7379B8A0-93B0-4F3C-1836-361A58C2AE3C}"/>
              </a:ext>
            </a:extLst>
          </p:cNvPr>
          <p:cNvSpPr txBox="1"/>
          <p:nvPr/>
        </p:nvSpPr>
        <p:spPr>
          <a:xfrm flipH="1">
            <a:off x="90690" y="899346"/>
            <a:ext cx="11986934" cy="5080622"/>
          </a:xfrm>
          <a:prstGeom prst="rect">
            <a:avLst/>
          </a:prstGeom>
          <a:noFill/>
        </p:spPr>
        <p:txBody>
          <a:bodyPr wrap="square" lIns="91440" tIns="45720" rIns="91440" bIns="45720" rtlCol="0" anchor="t">
            <a:spAutoFit/>
          </a:bodyPr>
          <a:lstStyle/>
          <a:p>
            <a:pPr marL="800100" lvl="1" indent="-342900">
              <a:spcBef>
                <a:spcPts val="300"/>
              </a:spcBef>
              <a:spcAft>
                <a:spcPts val="300"/>
              </a:spcAft>
              <a:buFont typeface="Wingdings" panose="05000000000000000000" pitchFamily="2" charset="2"/>
              <a:buChar char="q"/>
            </a:pPr>
            <a:r>
              <a:rPr lang="en-US" sz="2400" b="1">
                <a:solidFill>
                  <a:srgbClr val="7030A0"/>
                </a:solidFill>
                <a:latin typeface="Adani Regular" panose="02000503000000020004" pitchFamily="2" charset="0"/>
              </a:rPr>
              <a:t>Executive Summary</a:t>
            </a:r>
            <a:endParaRPr lang="en-US" sz="2400">
              <a:solidFill>
                <a:srgbClr val="7030A0"/>
              </a:solidFill>
              <a:latin typeface="Adani Regular" panose="02000503000000020004" pitchFamily="2" charset="0"/>
            </a:endParaRPr>
          </a:p>
          <a:p>
            <a:pPr lvl="1">
              <a:spcBef>
                <a:spcPts val="300"/>
              </a:spcBef>
              <a:spcAft>
                <a:spcPts val="300"/>
              </a:spcAft>
            </a:pPr>
            <a:r>
              <a:rPr lang="en-US" sz="2400" b="1">
                <a:solidFill>
                  <a:srgbClr val="7030A0"/>
                </a:solidFill>
                <a:latin typeface="Adani Regular" panose="02000503000000020004" pitchFamily="2" charset="0"/>
              </a:rPr>
              <a:t> </a:t>
            </a:r>
          </a:p>
          <a:p>
            <a:pPr marL="800100" lvl="1" indent="-342900">
              <a:spcBef>
                <a:spcPts val="300"/>
              </a:spcBef>
              <a:spcAft>
                <a:spcPts val="300"/>
              </a:spcAft>
              <a:buFont typeface="Wingdings" panose="05000000000000000000" pitchFamily="2" charset="2"/>
              <a:buChar char="q"/>
            </a:pPr>
            <a:r>
              <a:rPr lang="en-US" sz="2400" b="1">
                <a:solidFill>
                  <a:srgbClr val="7030A0"/>
                </a:solidFill>
                <a:latin typeface="Adani Regular" panose="02000503000000020004" pitchFamily="2" charset="0"/>
              </a:rPr>
              <a:t>Khavda BESS</a:t>
            </a:r>
          </a:p>
          <a:p>
            <a:pPr marL="793750" lvl="7">
              <a:lnSpc>
                <a:spcPct val="150000"/>
              </a:lnSpc>
              <a:spcBef>
                <a:spcPts val="300"/>
              </a:spcBef>
              <a:spcAft>
                <a:spcPts val="300"/>
              </a:spcAft>
              <a:buFont typeface="Courier New" panose="02070309020205020404" pitchFamily="49" charset="0"/>
              <a:buChar char="o"/>
            </a:pPr>
            <a:r>
              <a:rPr lang="en-US" sz="2400">
                <a:latin typeface="Adani Regular" panose="02000503000000020004" pitchFamily="2" charset="0"/>
              </a:rPr>
              <a:t> Salient Features and Overall Layout</a:t>
            </a:r>
          </a:p>
          <a:p>
            <a:pPr marL="793750" lvl="7">
              <a:lnSpc>
                <a:spcPct val="150000"/>
              </a:lnSpc>
              <a:spcBef>
                <a:spcPts val="300"/>
              </a:spcBef>
              <a:spcAft>
                <a:spcPts val="300"/>
              </a:spcAft>
              <a:buFont typeface="Courier New" panose="02070309020205020404" pitchFamily="49" charset="0"/>
              <a:buChar char="o"/>
            </a:pPr>
            <a:r>
              <a:rPr lang="en-US" sz="2400">
                <a:latin typeface="Adani Regular" panose="02000503000000020004" pitchFamily="2" charset="0"/>
              </a:rPr>
              <a:t> Progress Update</a:t>
            </a:r>
          </a:p>
          <a:p>
            <a:pPr marL="793750" lvl="7">
              <a:lnSpc>
                <a:spcPct val="150000"/>
              </a:lnSpc>
              <a:spcBef>
                <a:spcPts val="300"/>
              </a:spcBef>
              <a:spcAft>
                <a:spcPts val="300"/>
              </a:spcAft>
              <a:buFont typeface="Courier New" panose="02070309020205020404" pitchFamily="49" charset="0"/>
              <a:buChar char="o"/>
            </a:pPr>
            <a:r>
              <a:rPr lang="en-US" sz="2400">
                <a:latin typeface="Adani Regular" panose="02000503000000020004" pitchFamily="2" charset="0"/>
              </a:rPr>
              <a:t> Major Milestones - Next 3 Months</a:t>
            </a:r>
          </a:p>
          <a:p>
            <a:pPr marL="793750" lvl="8">
              <a:lnSpc>
                <a:spcPct val="150000"/>
              </a:lnSpc>
              <a:spcBef>
                <a:spcPts val="300"/>
              </a:spcBef>
              <a:spcAft>
                <a:spcPts val="300"/>
              </a:spcAft>
              <a:buFont typeface="Courier New" panose="02070309020205020404" pitchFamily="49" charset="0"/>
              <a:buChar char="o"/>
            </a:pPr>
            <a:r>
              <a:rPr lang="en-US" sz="2400">
                <a:latin typeface="Adani Regular" panose="02000503000000020004" pitchFamily="2" charset="0"/>
              </a:rPr>
              <a:t> Major Critical Issues </a:t>
            </a:r>
          </a:p>
          <a:p>
            <a:pPr marL="793750" lvl="8">
              <a:lnSpc>
                <a:spcPct val="150000"/>
              </a:lnSpc>
              <a:spcBef>
                <a:spcPts val="300"/>
              </a:spcBef>
              <a:spcAft>
                <a:spcPts val="300"/>
              </a:spcAft>
              <a:buFont typeface="Courier New" panose="02070309020205020404" pitchFamily="49" charset="0"/>
              <a:buChar char="o"/>
            </a:pPr>
            <a:r>
              <a:rPr lang="en-US" sz="2400">
                <a:latin typeface="Adani Regular" panose="02000503000000020004" pitchFamily="2" charset="0"/>
              </a:rPr>
              <a:t> Financial Summary</a:t>
            </a:r>
          </a:p>
          <a:p>
            <a:pPr marL="793750" lvl="8">
              <a:lnSpc>
                <a:spcPct val="150000"/>
              </a:lnSpc>
              <a:spcBef>
                <a:spcPts val="300"/>
              </a:spcBef>
              <a:spcAft>
                <a:spcPts val="300"/>
              </a:spcAft>
              <a:buFont typeface="Courier New" panose="02070309020205020404" pitchFamily="49" charset="0"/>
              <a:buChar char="o"/>
            </a:pPr>
            <a:r>
              <a:rPr lang="en-US" sz="2400">
                <a:latin typeface="Adani Regular" panose="02000503000000020004" pitchFamily="2" charset="0"/>
              </a:rPr>
              <a:t> Financing Status</a:t>
            </a:r>
          </a:p>
        </p:txBody>
      </p:sp>
      <p:sp>
        <p:nvSpPr>
          <p:cNvPr id="3" name="Slide Number Placeholder 2">
            <a:extLst>
              <a:ext uri="{FF2B5EF4-FFF2-40B4-BE49-F238E27FC236}">
                <a16:creationId xmlns:a16="http://schemas.microsoft.com/office/drawing/2014/main" id="{E87086EF-A072-77BB-704D-B9273FC1A9A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61</a:t>
            </a:fld>
            <a:endParaRPr lang="en-IN"/>
          </a:p>
        </p:txBody>
      </p:sp>
    </p:spTree>
    <p:extLst>
      <p:ext uri="{BB962C8B-B14F-4D97-AF65-F5344CB8AC3E}">
        <p14:creationId xmlns:p14="http://schemas.microsoft.com/office/powerpoint/2010/main" val="2214017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EE41-E7B6-2FF9-8CC7-EA114BD759E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9E936986-CD42-DC38-7BB5-DB13122878B7}"/>
              </a:ext>
            </a:extLst>
          </p:cNvPr>
          <p:cNvSpPr txBox="1">
            <a:spLocks/>
          </p:cNvSpPr>
          <p:nvPr/>
        </p:nvSpPr>
        <p:spPr>
          <a:xfrm>
            <a:off x="400605" y="142680"/>
            <a:ext cx="11600267" cy="424449"/>
          </a:xfrm>
          <a:prstGeom prst="rect">
            <a:avLst/>
          </a:prstGeom>
          <a:noFill/>
        </p:spPr>
        <p:txBody>
          <a:bodyPr vert="horz" wrap="square" lIns="91157" tIns="45580" rIns="91157" bIns="45580" rtlCol="0" anchor="b">
            <a:spAutoFit/>
          </a:bodyPr>
          <a:lstStyle>
            <a:lvl1pPr algn="ctr" defTabSz="914400" rtl="0" eaLnBrk="1" latinLnBrk="0" hangingPunct="1">
              <a:lnSpc>
                <a:spcPct val="90000"/>
              </a:lnSpc>
              <a:spcBef>
                <a:spcPct val="0"/>
              </a:spcBef>
              <a:buNone/>
              <a:defRPr sz="6000" kern="1200">
                <a:solidFill>
                  <a:schemeClr val="tx1"/>
                </a:solidFill>
                <a:latin typeface="Adani Regular" panose="02000503000000020004" pitchFamily="2" charset="0"/>
                <a:ea typeface="+mj-ea"/>
                <a:cs typeface="+mj-cs"/>
              </a:defRPr>
            </a:lvl1pPr>
          </a:lstStyle>
          <a:p>
            <a:pPr marL="109192" marR="0" lvl="0" indent="0" algn="l" defTabSz="911377" rtl="0" eaLnBrk="1" fontAlgn="auto" latinLnBrk="0" hangingPunct="1">
              <a:lnSpc>
                <a:spcPct val="90000"/>
              </a:lnSpc>
              <a:spcBef>
                <a:spcPct val="0"/>
              </a:spcBef>
              <a:spcAft>
                <a:spcPts val="0"/>
              </a:spcAft>
              <a:buClrTx/>
              <a:buSzTx/>
              <a:buFontTx/>
              <a:buNone/>
              <a:tabLst/>
              <a:defRPr/>
            </a:pPr>
            <a:r>
              <a:rPr lang="en-US" sz="2400" b="1">
                <a:solidFill>
                  <a:srgbClr val="7030A0"/>
                </a:solidFill>
                <a:ea typeface="+mn-ea"/>
                <a:cs typeface="+mn-cs"/>
              </a:rPr>
              <a:t>Executive Summary </a:t>
            </a:r>
            <a:endParaRPr kumimoji="0" lang="en-US" sz="2400" b="1" i="0" u="none" strike="noStrike" kern="1200" cap="none" spc="0" normalizeH="0" baseline="0" noProof="0">
              <a:ln>
                <a:noFill/>
              </a:ln>
              <a:solidFill>
                <a:srgbClr val="7030A0"/>
              </a:solidFill>
              <a:effectLst/>
              <a:uLnTx/>
              <a:uFillTx/>
              <a:latin typeface="Adani Regular" panose="02000503000000020004" pitchFamily="2" charset="0"/>
              <a:ea typeface="+mj-ea"/>
              <a:cs typeface="+mj-cs"/>
            </a:endParaRPr>
          </a:p>
        </p:txBody>
      </p:sp>
      <p:graphicFrame>
        <p:nvGraphicFramePr>
          <p:cNvPr id="11" name="Table 10">
            <a:extLst>
              <a:ext uri="{FF2B5EF4-FFF2-40B4-BE49-F238E27FC236}">
                <a16:creationId xmlns:a16="http://schemas.microsoft.com/office/drawing/2014/main" id="{451C295B-E633-A32C-AC98-E8CDA7117E30}"/>
              </a:ext>
            </a:extLst>
          </p:cNvPr>
          <p:cNvGraphicFramePr>
            <a:graphicFrameLocks noGrp="1"/>
          </p:cNvGraphicFramePr>
          <p:nvPr>
            <p:extLst>
              <p:ext uri="{D42A27DB-BD31-4B8C-83A1-F6EECF244321}">
                <p14:modId xmlns:p14="http://schemas.microsoft.com/office/powerpoint/2010/main" val="926565388"/>
              </p:ext>
            </p:extLst>
          </p:nvPr>
        </p:nvGraphicFramePr>
        <p:xfrm>
          <a:off x="71369" y="1828152"/>
          <a:ext cx="12052398" cy="4635311"/>
        </p:xfrm>
        <a:graphic>
          <a:graphicData uri="http://schemas.openxmlformats.org/drawingml/2006/table">
            <a:tbl>
              <a:tblPr firstRow="1" bandRow="1"/>
              <a:tblGrid>
                <a:gridCol w="439023">
                  <a:extLst>
                    <a:ext uri="{9D8B030D-6E8A-4147-A177-3AD203B41FA5}">
                      <a16:colId xmlns:a16="http://schemas.microsoft.com/office/drawing/2014/main" val="2924237442"/>
                    </a:ext>
                  </a:extLst>
                </a:gridCol>
                <a:gridCol w="1035133">
                  <a:extLst>
                    <a:ext uri="{9D8B030D-6E8A-4147-A177-3AD203B41FA5}">
                      <a16:colId xmlns:a16="http://schemas.microsoft.com/office/drawing/2014/main" val="520924265"/>
                    </a:ext>
                  </a:extLst>
                </a:gridCol>
                <a:gridCol w="1308521">
                  <a:extLst>
                    <a:ext uri="{9D8B030D-6E8A-4147-A177-3AD203B41FA5}">
                      <a16:colId xmlns:a16="http://schemas.microsoft.com/office/drawing/2014/main" val="2826271822"/>
                    </a:ext>
                  </a:extLst>
                </a:gridCol>
                <a:gridCol w="1199556">
                  <a:extLst>
                    <a:ext uri="{9D8B030D-6E8A-4147-A177-3AD203B41FA5}">
                      <a16:colId xmlns:a16="http://schemas.microsoft.com/office/drawing/2014/main" val="1979045931"/>
                    </a:ext>
                  </a:extLst>
                </a:gridCol>
                <a:gridCol w="1093026">
                  <a:extLst>
                    <a:ext uri="{9D8B030D-6E8A-4147-A177-3AD203B41FA5}">
                      <a16:colId xmlns:a16="http://schemas.microsoft.com/office/drawing/2014/main" val="2589940344"/>
                    </a:ext>
                  </a:extLst>
                </a:gridCol>
                <a:gridCol w="1059655">
                  <a:extLst>
                    <a:ext uri="{9D8B030D-6E8A-4147-A177-3AD203B41FA5}">
                      <a16:colId xmlns:a16="http://schemas.microsoft.com/office/drawing/2014/main" val="3034237294"/>
                    </a:ext>
                  </a:extLst>
                </a:gridCol>
                <a:gridCol w="1107281">
                  <a:extLst>
                    <a:ext uri="{9D8B030D-6E8A-4147-A177-3AD203B41FA5}">
                      <a16:colId xmlns:a16="http://schemas.microsoft.com/office/drawing/2014/main" val="2376360582"/>
                    </a:ext>
                  </a:extLst>
                </a:gridCol>
                <a:gridCol w="833436">
                  <a:extLst>
                    <a:ext uri="{9D8B030D-6E8A-4147-A177-3AD203B41FA5}">
                      <a16:colId xmlns:a16="http://schemas.microsoft.com/office/drawing/2014/main" val="2879489690"/>
                    </a:ext>
                  </a:extLst>
                </a:gridCol>
                <a:gridCol w="869156">
                  <a:extLst>
                    <a:ext uri="{9D8B030D-6E8A-4147-A177-3AD203B41FA5}">
                      <a16:colId xmlns:a16="http://schemas.microsoft.com/office/drawing/2014/main" val="1141108596"/>
                    </a:ext>
                  </a:extLst>
                </a:gridCol>
                <a:gridCol w="3107611">
                  <a:extLst>
                    <a:ext uri="{9D8B030D-6E8A-4147-A177-3AD203B41FA5}">
                      <a16:colId xmlns:a16="http://schemas.microsoft.com/office/drawing/2014/main" val="599360055"/>
                    </a:ext>
                  </a:extLst>
                </a:gridCol>
              </a:tblGrid>
              <a:tr h="614804">
                <a:tc rowSpan="2">
                  <a:txBody>
                    <a:bodyPr/>
                    <a:lstStyle>
                      <a:lvl1pPr marL="0" algn="l" defTabSz="914400" rtl="0" eaLnBrk="1" latinLnBrk="0" hangingPunct="1">
                        <a:defRPr sz="1800" b="1" kern="1200">
                          <a:solidFill>
                            <a:schemeClr val="lt1"/>
                          </a:solidFill>
                          <a:latin typeface="Adani Regular"/>
                        </a:defRPr>
                      </a:lvl1pPr>
                      <a:lvl2pPr marL="457200" algn="l" defTabSz="914400" rtl="0" eaLnBrk="1" latinLnBrk="0" hangingPunct="1">
                        <a:defRPr sz="1800" b="1" kern="1200">
                          <a:solidFill>
                            <a:schemeClr val="lt1"/>
                          </a:solidFill>
                          <a:latin typeface="Adani Regular"/>
                        </a:defRPr>
                      </a:lvl2pPr>
                      <a:lvl3pPr marL="914400" algn="l" defTabSz="914400" rtl="0" eaLnBrk="1" latinLnBrk="0" hangingPunct="1">
                        <a:defRPr sz="1800" b="1" kern="1200">
                          <a:solidFill>
                            <a:schemeClr val="lt1"/>
                          </a:solidFill>
                          <a:latin typeface="Adani Regular"/>
                        </a:defRPr>
                      </a:lvl3pPr>
                      <a:lvl4pPr marL="1371600" algn="l" defTabSz="914400" rtl="0" eaLnBrk="1" latinLnBrk="0" hangingPunct="1">
                        <a:defRPr sz="1800" b="1" kern="1200">
                          <a:solidFill>
                            <a:schemeClr val="lt1"/>
                          </a:solidFill>
                          <a:latin typeface="Adani Regular"/>
                        </a:defRPr>
                      </a:lvl4pPr>
                      <a:lvl5pPr marL="1828800" algn="l" defTabSz="914400" rtl="0" eaLnBrk="1" latinLnBrk="0" hangingPunct="1">
                        <a:defRPr sz="1800" b="1" kern="1200">
                          <a:solidFill>
                            <a:schemeClr val="lt1"/>
                          </a:solidFill>
                          <a:latin typeface="Adani Regular"/>
                        </a:defRPr>
                      </a:lvl5pPr>
                      <a:lvl6pPr marL="2286000" algn="l" defTabSz="914400" rtl="0" eaLnBrk="1" latinLnBrk="0" hangingPunct="1">
                        <a:defRPr sz="1800" b="1" kern="1200">
                          <a:solidFill>
                            <a:schemeClr val="lt1"/>
                          </a:solidFill>
                          <a:latin typeface="Adani Regular"/>
                        </a:defRPr>
                      </a:lvl6pPr>
                      <a:lvl7pPr marL="2743200" algn="l" defTabSz="914400" rtl="0" eaLnBrk="1" latinLnBrk="0" hangingPunct="1">
                        <a:defRPr sz="1800" b="1" kern="1200">
                          <a:solidFill>
                            <a:schemeClr val="lt1"/>
                          </a:solidFill>
                          <a:latin typeface="Adani Regular"/>
                        </a:defRPr>
                      </a:lvl7pPr>
                      <a:lvl8pPr marL="3200400" algn="l" defTabSz="914400" rtl="0" eaLnBrk="1" latinLnBrk="0" hangingPunct="1">
                        <a:defRPr sz="1800" b="1" kern="1200">
                          <a:solidFill>
                            <a:schemeClr val="lt1"/>
                          </a:solidFill>
                          <a:latin typeface="Adani Regular"/>
                        </a:defRPr>
                      </a:lvl8pPr>
                      <a:lvl9pPr marL="3657600" algn="l" defTabSz="914400" rtl="0" eaLnBrk="1" latinLnBrk="0" hangingPunct="1">
                        <a:defRPr sz="1800" b="1" kern="1200">
                          <a:solidFill>
                            <a:schemeClr val="lt1"/>
                          </a:solidFill>
                          <a:latin typeface="Adani Regular"/>
                        </a:defRPr>
                      </a:lvl9pPr>
                    </a:lstStyle>
                    <a:p>
                      <a:pPr algn="ctr"/>
                      <a:r>
                        <a:rPr lang="en-GB" sz="1200" b="1" err="1">
                          <a:latin typeface="Adani Regular"/>
                        </a:rPr>
                        <a:t>SNo</a:t>
                      </a:r>
                      <a:endParaRPr lang="en-US" sz="1200" b="1">
                        <a:latin typeface="Adani Regular"/>
                      </a:endParaRP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rowSpan="2">
                  <a:txBody>
                    <a:bodyPr/>
                    <a:lstStyle>
                      <a:lvl1pPr marL="0" algn="l" defTabSz="914400" rtl="0" eaLnBrk="1" latinLnBrk="0" hangingPunct="1">
                        <a:defRPr sz="1800" b="1" kern="1200">
                          <a:solidFill>
                            <a:schemeClr val="lt1"/>
                          </a:solidFill>
                          <a:latin typeface="Adani Regular"/>
                        </a:defRPr>
                      </a:lvl1pPr>
                      <a:lvl2pPr marL="457200" algn="l" defTabSz="914400" rtl="0" eaLnBrk="1" latinLnBrk="0" hangingPunct="1">
                        <a:defRPr sz="1800" b="1" kern="1200">
                          <a:solidFill>
                            <a:schemeClr val="lt1"/>
                          </a:solidFill>
                          <a:latin typeface="Adani Regular"/>
                        </a:defRPr>
                      </a:lvl2pPr>
                      <a:lvl3pPr marL="914400" algn="l" defTabSz="914400" rtl="0" eaLnBrk="1" latinLnBrk="0" hangingPunct="1">
                        <a:defRPr sz="1800" b="1" kern="1200">
                          <a:solidFill>
                            <a:schemeClr val="lt1"/>
                          </a:solidFill>
                          <a:latin typeface="Adani Regular"/>
                        </a:defRPr>
                      </a:lvl3pPr>
                      <a:lvl4pPr marL="1371600" algn="l" defTabSz="914400" rtl="0" eaLnBrk="1" latinLnBrk="0" hangingPunct="1">
                        <a:defRPr sz="1800" b="1" kern="1200">
                          <a:solidFill>
                            <a:schemeClr val="lt1"/>
                          </a:solidFill>
                          <a:latin typeface="Adani Regular"/>
                        </a:defRPr>
                      </a:lvl4pPr>
                      <a:lvl5pPr marL="1828800" algn="l" defTabSz="914400" rtl="0" eaLnBrk="1" latinLnBrk="0" hangingPunct="1">
                        <a:defRPr sz="1800" b="1" kern="1200">
                          <a:solidFill>
                            <a:schemeClr val="lt1"/>
                          </a:solidFill>
                          <a:latin typeface="Adani Regular"/>
                        </a:defRPr>
                      </a:lvl5pPr>
                      <a:lvl6pPr marL="2286000" algn="l" defTabSz="914400" rtl="0" eaLnBrk="1" latinLnBrk="0" hangingPunct="1">
                        <a:defRPr sz="1800" b="1" kern="1200">
                          <a:solidFill>
                            <a:schemeClr val="lt1"/>
                          </a:solidFill>
                          <a:latin typeface="Adani Regular"/>
                        </a:defRPr>
                      </a:lvl6pPr>
                      <a:lvl7pPr marL="2743200" algn="l" defTabSz="914400" rtl="0" eaLnBrk="1" latinLnBrk="0" hangingPunct="1">
                        <a:defRPr sz="1800" b="1" kern="1200">
                          <a:solidFill>
                            <a:schemeClr val="lt1"/>
                          </a:solidFill>
                          <a:latin typeface="Adani Regular"/>
                        </a:defRPr>
                      </a:lvl7pPr>
                      <a:lvl8pPr marL="3200400" algn="l" defTabSz="914400" rtl="0" eaLnBrk="1" latinLnBrk="0" hangingPunct="1">
                        <a:defRPr sz="1800" b="1" kern="1200">
                          <a:solidFill>
                            <a:schemeClr val="lt1"/>
                          </a:solidFill>
                          <a:latin typeface="Adani Regular"/>
                        </a:defRPr>
                      </a:lvl8pPr>
                      <a:lvl9pPr marL="3657600" algn="l" defTabSz="914400" rtl="0" eaLnBrk="1" latinLnBrk="0" hangingPunct="1">
                        <a:defRPr sz="1800" b="1" kern="1200">
                          <a:solidFill>
                            <a:schemeClr val="lt1"/>
                          </a:solidFill>
                          <a:latin typeface="Adani Regular"/>
                        </a:defRPr>
                      </a:lvl9pPr>
                    </a:lstStyle>
                    <a:p>
                      <a:pPr algn="ctr"/>
                      <a:r>
                        <a:rPr lang="en-GB" sz="1200" b="1">
                          <a:latin typeface="Adani Regular"/>
                        </a:rPr>
                        <a:t>Location </a:t>
                      </a:r>
                      <a:endParaRPr lang="en-US" sz="1200" b="1">
                        <a:latin typeface="Adani Regular"/>
                      </a:endParaRP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rowSpan="2">
                  <a:txBody>
                    <a:bodyPr/>
                    <a:lstStyle>
                      <a:lvl1pPr marL="0" algn="l" defTabSz="914400" rtl="0" eaLnBrk="1" latinLnBrk="0" hangingPunct="1">
                        <a:defRPr sz="1800" b="1" kern="1200">
                          <a:solidFill>
                            <a:schemeClr val="lt1"/>
                          </a:solidFill>
                          <a:latin typeface="Adani Regular"/>
                        </a:defRPr>
                      </a:lvl1pPr>
                      <a:lvl2pPr marL="457200" algn="l" defTabSz="914400" rtl="0" eaLnBrk="1" latinLnBrk="0" hangingPunct="1">
                        <a:defRPr sz="1800" b="1" kern="1200">
                          <a:solidFill>
                            <a:schemeClr val="lt1"/>
                          </a:solidFill>
                          <a:latin typeface="Adani Regular"/>
                        </a:defRPr>
                      </a:lvl2pPr>
                      <a:lvl3pPr marL="914400" algn="l" defTabSz="914400" rtl="0" eaLnBrk="1" latinLnBrk="0" hangingPunct="1">
                        <a:defRPr sz="1800" b="1" kern="1200">
                          <a:solidFill>
                            <a:schemeClr val="lt1"/>
                          </a:solidFill>
                          <a:latin typeface="Adani Regular"/>
                        </a:defRPr>
                      </a:lvl3pPr>
                      <a:lvl4pPr marL="1371600" algn="l" defTabSz="914400" rtl="0" eaLnBrk="1" latinLnBrk="0" hangingPunct="1">
                        <a:defRPr sz="1800" b="1" kern="1200">
                          <a:solidFill>
                            <a:schemeClr val="lt1"/>
                          </a:solidFill>
                          <a:latin typeface="Adani Regular"/>
                        </a:defRPr>
                      </a:lvl4pPr>
                      <a:lvl5pPr marL="1828800" algn="l" defTabSz="914400" rtl="0" eaLnBrk="1" latinLnBrk="0" hangingPunct="1">
                        <a:defRPr sz="1800" b="1" kern="1200">
                          <a:solidFill>
                            <a:schemeClr val="lt1"/>
                          </a:solidFill>
                          <a:latin typeface="Adani Regular"/>
                        </a:defRPr>
                      </a:lvl5pPr>
                      <a:lvl6pPr marL="2286000" algn="l" defTabSz="914400" rtl="0" eaLnBrk="1" latinLnBrk="0" hangingPunct="1">
                        <a:defRPr sz="1800" b="1" kern="1200">
                          <a:solidFill>
                            <a:schemeClr val="lt1"/>
                          </a:solidFill>
                          <a:latin typeface="Adani Regular"/>
                        </a:defRPr>
                      </a:lvl6pPr>
                      <a:lvl7pPr marL="2743200" algn="l" defTabSz="914400" rtl="0" eaLnBrk="1" latinLnBrk="0" hangingPunct="1">
                        <a:defRPr sz="1800" b="1" kern="1200">
                          <a:solidFill>
                            <a:schemeClr val="lt1"/>
                          </a:solidFill>
                          <a:latin typeface="Adani Regular"/>
                        </a:defRPr>
                      </a:lvl7pPr>
                      <a:lvl8pPr marL="3200400" algn="l" defTabSz="914400" rtl="0" eaLnBrk="1" latinLnBrk="0" hangingPunct="1">
                        <a:defRPr sz="1800" b="1" kern="1200">
                          <a:solidFill>
                            <a:schemeClr val="lt1"/>
                          </a:solidFill>
                          <a:latin typeface="Adani Regular"/>
                        </a:defRPr>
                      </a:lvl8pPr>
                      <a:lvl9pPr marL="3657600" algn="l" defTabSz="914400" rtl="0" eaLnBrk="1" latinLnBrk="0" hangingPunct="1">
                        <a:defRPr sz="1800" b="1" kern="1200">
                          <a:solidFill>
                            <a:schemeClr val="lt1"/>
                          </a:solidFill>
                          <a:latin typeface="Adani Regular"/>
                        </a:defRPr>
                      </a:lvl9pPr>
                    </a:lstStyle>
                    <a:p>
                      <a:pPr algn="ctr"/>
                      <a:r>
                        <a:rPr lang="en-GB" sz="1200" b="1">
                          <a:latin typeface="Adani Regular"/>
                        </a:rPr>
                        <a:t>Project Name</a:t>
                      </a:r>
                    </a:p>
                    <a:p>
                      <a:pPr lvl="0" algn="ctr">
                        <a:buNone/>
                      </a:pPr>
                      <a:r>
                        <a:rPr lang="en-GB" sz="1200" b="1">
                          <a:latin typeface="Adani Regular"/>
                        </a:rPr>
                        <a:t>(BESS Site)</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rowSpan="2">
                  <a:txBody>
                    <a:bodyPr/>
                    <a:lstStyle/>
                    <a:p>
                      <a:pPr algn="ctr"/>
                      <a:r>
                        <a:rPr lang="en-US" sz="1200" b="1">
                          <a:solidFill>
                            <a:schemeClr val="bg1"/>
                          </a:solidFill>
                          <a:latin typeface="Adani Regular"/>
                        </a:rPr>
                        <a:t>Budgeted Initial Plan</a:t>
                      </a:r>
                    </a:p>
                    <a:p>
                      <a:pPr algn="ctr"/>
                      <a:endParaRPr lang="en-US" sz="1200" b="1">
                        <a:solidFill>
                          <a:schemeClr val="bg1"/>
                        </a:solidFill>
                        <a:latin typeface="Adani Regular"/>
                      </a:endParaRPr>
                    </a:p>
                    <a:p>
                      <a:pPr algn="ctr"/>
                      <a:r>
                        <a:rPr lang="en-US" sz="1200" b="1">
                          <a:solidFill>
                            <a:schemeClr val="bg1"/>
                          </a:solidFill>
                          <a:latin typeface="Adani Regular"/>
                        </a:rPr>
                        <a:t>Rs; Cr</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rowSpan="2">
                  <a:txBody>
                    <a:bodyPr/>
                    <a:lstStyle>
                      <a:lvl1pPr marL="0" algn="l" defTabSz="914400" rtl="0" eaLnBrk="1" latinLnBrk="0" hangingPunct="1">
                        <a:defRPr sz="1800" b="1" kern="1200">
                          <a:solidFill>
                            <a:schemeClr val="lt1"/>
                          </a:solidFill>
                          <a:latin typeface="Adani Regular"/>
                        </a:defRPr>
                      </a:lvl1pPr>
                      <a:lvl2pPr marL="457200" algn="l" defTabSz="914400" rtl="0" eaLnBrk="1" latinLnBrk="0" hangingPunct="1">
                        <a:defRPr sz="1800" b="1" kern="1200">
                          <a:solidFill>
                            <a:schemeClr val="lt1"/>
                          </a:solidFill>
                          <a:latin typeface="Adani Regular"/>
                        </a:defRPr>
                      </a:lvl2pPr>
                      <a:lvl3pPr marL="914400" algn="l" defTabSz="914400" rtl="0" eaLnBrk="1" latinLnBrk="0" hangingPunct="1">
                        <a:defRPr sz="1800" b="1" kern="1200">
                          <a:solidFill>
                            <a:schemeClr val="lt1"/>
                          </a:solidFill>
                          <a:latin typeface="Adani Regular"/>
                        </a:defRPr>
                      </a:lvl3pPr>
                      <a:lvl4pPr marL="1371600" algn="l" defTabSz="914400" rtl="0" eaLnBrk="1" latinLnBrk="0" hangingPunct="1">
                        <a:defRPr sz="1800" b="1" kern="1200">
                          <a:solidFill>
                            <a:schemeClr val="lt1"/>
                          </a:solidFill>
                          <a:latin typeface="Adani Regular"/>
                        </a:defRPr>
                      </a:lvl4pPr>
                      <a:lvl5pPr marL="1828800" algn="l" defTabSz="914400" rtl="0" eaLnBrk="1" latinLnBrk="0" hangingPunct="1">
                        <a:defRPr sz="1800" b="1" kern="1200">
                          <a:solidFill>
                            <a:schemeClr val="lt1"/>
                          </a:solidFill>
                          <a:latin typeface="Adani Regular"/>
                        </a:defRPr>
                      </a:lvl5pPr>
                      <a:lvl6pPr marL="2286000" algn="l" defTabSz="914400" rtl="0" eaLnBrk="1" latinLnBrk="0" hangingPunct="1">
                        <a:defRPr sz="1800" b="1" kern="1200">
                          <a:solidFill>
                            <a:schemeClr val="lt1"/>
                          </a:solidFill>
                          <a:latin typeface="Adani Regular"/>
                        </a:defRPr>
                      </a:lvl6pPr>
                      <a:lvl7pPr marL="2743200" algn="l" defTabSz="914400" rtl="0" eaLnBrk="1" latinLnBrk="0" hangingPunct="1">
                        <a:defRPr sz="1800" b="1" kern="1200">
                          <a:solidFill>
                            <a:schemeClr val="lt1"/>
                          </a:solidFill>
                          <a:latin typeface="Adani Regular"/>
                        </a:defRPr>
                      </a:lvl7pPr>
                      <a:lvl8pPr marL="3200400" algn="l" defTabSz="914400" rtl="0" eaLnBrk="1" latinLnBrk="0" hangingPunct="1">
                        <a:defRPr sz="1800" b="1" kern="1200">
                          <a:solidFill>
                            <a:schemeClr val="lt1"/>
                          </a:solidFill>
                          <a:latin typeface="Adani Regular"/>
                        </a:defRPr>
                      </a:lvl8pPr>
                      <a:lvl9pPr marL="3657600" algn="l" defTabSz="914400" rtl="0" eaLnBrk="1" latinLnBrk="0" hangingPunct="1">
                        <a:defRPr sz="1800" b="1" kern="1200">
                          <a:solidFill>
                            <a:schemeClr val="lt1"/>
                          </a:solidFill>
                          <a:latin typeface="Adani Regular"/>
                        </a:defRPr>
                      </a:lvl9pPr>
                    </a:lstStyle>
                    <a:p>
                      <a:pPr algn="ctr"/>
                      <a:r>
                        <a:rPr lang="en-US" sz="1200" b="1">
                          <a:solidFill>
                            <a:schemeClr val="bg1"/>
                          </a:solidFill>
                          <a:latin typeface="Adani Regular"/>
                        </a:rPr>
                        <a:t>Actual till date </a:t>
                      </a:r>
                    </a:p>
                    <a:p>
                      <a:pPr algn="ctr"/>
                      <a:endParaRPr lang="en-US" sz="1200" b="1">
                        <a:solidFill>
                          <a:schemeClr val="bg1"/>
                        </a:solidFill>
                        <a:latin typeface="Adani Regular"/>
                      </a:endParaRPr>
                    </a:p>
                    <a:p>
                      <a:pPr algn="ctr"/>
                      <a:r>
                        <a:rPr lang="en-US" sz="1200" b="1">
                          <a:solidFill>
                            <a:schemeClr val="bg1"/>
                          </a:solidFill>
                          <a:latin typeface="Adani Regular"/>
                        </a:rPr>
                        <a:t>Rs; Cr.</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gridSpan="2">
                  <a:txBody>
                    <a:bodyPr/>
                    <a:lstStyle>
                      <a:lvl1pPr marL="0" algn="l" defTabSz="914400" rtl="0" eaLnBrk="1" latinLnBrk="0" hangingPunct="1">
                        <a:defRPr sz="1800" b="1" kern="1200">
                          <a:solidFill>
                            <a:schemeClr val="lt1"/>
                          </a:solidFill>
                          <a:latin typeface="Adani Regular"/>
                        </a:defRPr>
                      </a:lvl1pPr>
                      <a:lvl2pPr marL="457200" algn="l" defTabSz="914400" rtl="0" eaLnBrk="1" latinLnBrk="0" hangingPunct="1">
                        <a:defRPr sz="1800" b="1" kern="1200">
                          <a:solidFill>
                            <a:schemeClr val="lt1"/>
                          </a:solidFill>
                          <a:latin typeface="Adani Regular"/>
                        </a:defRPr>
                      </a:lvl2pPr>
                      <a:lvl3pPr marL="914400" algn="l" defTabSz="914400" rtl="0" eaLnBrk="1" latinLnBrk="0" hangingPunct="1">
                        <a:defRPr sz="1800" b="1" kern="1200">
                          <a:solidFill>
                            <a:schemeClr val="lt1"/>
                          </a:solidFill>
                          <a:latin typeface="Adani Regular"/>
                        </a:defRPr>
                      </a:lvl3pPr>
                      <a:lvl4pPr marL="1371600" algn="l" defTabSz="914400" rtl="0" eaLnBrk="1" latinLnBrk="0" hangingPunct="1">
                        <a:defRPr sz="1800" b="1" kern="1200">
                          <a:solidFill>
                            <a:schemeClr val="lt1"/>
                          </a:solidFill>
                          <a:latin typeface="Adani Regular"/>
                        </a:defRPr>
                      </a:lvl4pPr>
                      <a:lvl5pPr marL="1828800" algn="l" defTabSz="914400" rtl="0" eaLnBrk="1" latinLnBrk="0" hangingPunct="1">
                        <a:defRPr sz="1800" b="1" kern="1200">
                          <a:solidFill>
                            <a:schemeClr val="lt1"/>
                          </a:solidFill>
                          <a:latin typeface="Adani Regular"/>
                        </a:defRPr>
                      </a:lvl5pPr>
                      <a:lvl6pPr marL="2286000" algn="l" defTabSz="914400" rtl="0" eaLnBrk="1" latinLnBrk="0" hangingPunct="1">
                        <a:defRPr sz="1800" b="1" kern="1200">
                          <a:solidFill>
                            <a:schemeClr val="lt1"/>
                          </a:solidFill>
                          <a:latin typeface="Adani Regular"/>
                        </a:defRPr>
                      </a:lvl6pPr>
                      <a:lvl7pPr marL="2743200" algn="l" defTabSz="914400" rtl="0" eaLnBrk="1" latinLnBrk="0" hangingPunct="1">
                        <a:defRPr sz="1800" b="1" kern="1200">
                          <a:solidFill>
                            <a:schemeClr val="lt1"/>
                          </a:solidFill>
                          <a:latin typeface="Adani Regular"/>
                        </a:defRPr>
                      </a:lvl7pPr>
                      <a:lvl8pPr marL="3200400" algn="l" defTabSz="914400" rtl="0" eaLnBrk="1" latinLnBrk="0" hangingPunct="1">
                        <a:defRPr sz="1800" b="1" kern="1200">
                          <a:solidFill>
                            <a:schemeClr val="lt1"/>
                          </a:solidFill>
                          <a:latin typeface="Adani Regular"/>
                        </a:defRPr>
                      </a:lvl8pPr>
                      <a:lvl9pPr marL="3657600" algn="l" defTabSz="914400" rtl="0" eaLnBrk="1" latinLnBrk="0" hangingPunct="1">
                        <a:defRPr sz="1800" b="1" kern="1200">
                          <a:solidFill>
                            <a:schemeClr val="lt1"/>
                          </a:solidFill>
                          <a:latin typeface="Adani Regular"/>
                        </a:defRPr>
                      </a:lvl9pPr>
                    </a:lstStyle>
                    <a:p>
                      <a:pPr algn="ctr"/>
                      <a:r>
                        <a:rPr lang="en-GB" sz="1200" b="1">
                          <a:latin typeface="Adani Regular"/>
                        </a:rPr>
                        <a:t>COD</a:t>
                      </a:r>
                      <a:endParaRPr lang="en-US" sz="1200" b="1">
                        <a:latin typeface="Adani Regular"/>
                      </a:endParaRP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hMerge="1">
                  <a:txBody>
                    <a:bodyPr/>
                    <a:lstStyle/>
                    <a:p>
                      <a:pPr algn="ctr"/>
                      <a:endParaRPr lang="en-US" sz="800">
                        <a:latin typeface="Adani Regular" panose="02000503000000020004" pitchFamily="2" charset="0"/>
                      </a:endParaRPr>
                    </a:p>
                  </a:txBody>
                  <a:tcPr anchor="ctr">
                    <a:solidFill>
                      <a:srgbClr val="7030A0"/>
                    </a:solidFill>
                  </a:tcPr>
                </a:tc>
                <a:tc gridSpan="2">
                  <a:txBody>
                    <a:bodyPr/>
                    <a:lstStyle>
                      <a:lvl1pPr marL="0" algn="l" defTabSz="914400" rtl="0" eaLnBrk="1" latinLnBrk="0" hangingPunct="1">
                        <a:defRPr sz="1800" b="1" kern="1200">
                          <a:solidFill>
                            <a:schemeClr val="lt1"/>
                          </a:solidFill>
                          <a:latin typeface="Adani Regular"/>
                        </a:defRPr>
                      </a:lvl1pPr>
                      <a:lvl2pPr marL="457200" algn="l" defTabSz="914400" rtl="0" eaLnBrk="1" latinLnBrk="0" hangingPunct="1">
                        <a:defRPr sz="1800" b="1" kern="1200">
                          <a:solidFill>
                            <a:schemeClr val="lt1"/>
                          </a:solidFill>
                          <a:latin typeface="Adani Regular"/>
                        </a:defRPr>
                      </a:lvl2pPr>
                      <a:lvl3pPr marL="914400" algn="l" defTabSz="914400" rtl="0" eaLnBrk="1" latinLnBrk="0" hangingPunct="1">
                        <a:defRPr sz="1800" b="1" kern="1200">
                          <a:solidFill>
                            <a:schemeClr val="lt1"/>
                          </a:solidFill>
                          <a:latin typeface="Adani Regular"/>
                        </a:defRPr>
                      </a:lvl3pPr>
                      <a:lvl4pPr marL="1371600" algn="l" defTabSz="914400" rtl="0" eaLnBrk="1" latinLnBrk="0" hangingPunct="1">
                        <a:defRPr sz="1800" b="1" kern="1200">
                          <a:solidFill>
                            <a:schemeClr val="lt1"/>
                          </a:solidFill>
                          <a:latin typeface="Adani Regular"/>
                        </a:defRPr>
                      </a:lvl4pPr>
                      <a:lvl5pPr marL="1828800" algn="l" defTabSz="914400" rtl="0" eaLnBrk="1" latinLnBrk="0" hangingPunct="1">
                        <a:defRPr sz="1800" b="1" kern="1200">
                          <a:solidFill>
                            <a:schemeClr val="lt1"/>
                          </a:solidFill>
                          <a:latin typeface="Adani Regular"/>
                        </a:defRPr>
                      </a:lvl5pPr>
                      <a:lvl6pPr marL="2286000" algn="l" defTabSz="914400" rtl="0" eaLnBrk="1" latinLnBrk="0" hangingPunct="1">
                        <a:defRPr sz="1800" b="1" kern="1200">
                          <a:solidFill>
                            <a:schemeClr val="lt1"/>
                          </a:solidFill>
                          <a:latin typeface="Adani Regular"/>
                        </a:defRPr>
                      </a:lvl6pPr>
                      <a:lvl7pPr marL="2743200" algn="l" defTabSz="914400" rtl="0" eaLnBrk="1" latinLnBrk="0" hangingPunct="1">
                        <a:defRPr sz="1800" b="1" kern="1200">
                          <a:solidFill>
                            <a:schemeClr val="lt1"/>
                          </a:solidFill>
                          <a:latin typeface="Adani Regular"/>
                        </a:defRPr>
                      </a:lvl7pPr>
                      <a:lvl8pPr marL="3200400" algn="l" defTabSz="914400" rtl="0" eaLnBrk="1" latinLnBrk="0" hangingPunct="1">
                        <a:defRPr sz="1800" b="1" kern="1200">
                          <a:solidFill>
                            <a:schemeClr val="lt1"/>
                          </a:solidFill>
                          <a:latin typeface="Adani Regular"/>
                        </a:defRPr>
                      </a:lvl8pPr>
                      <a:lvl9pPr marL="3657600" algn="l" defTabSz="914400" rtl="0" eaLnBrk="1" latinLnBrk="0" hangingPunct="1">
                        <a:defRPr sz="1800" b="1" kern="1200">
                          <a:solidFill>
                            <a:schemeClr val="lt1"/>
                          </a:solidFill>
                          <a:latin typeface="Adani Regula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dani Regular"/>
                        </a:rPr>
                        <a:t>Overall Progress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dani Regular"/>
                        </a:rPr>
                        <a:t>(As per R1 Schedule)</a:t>
                      </a:r>
                      <a:endParaRPr lang="en-US" sz="1200" b="1">
                        <a:solidFill>
                          <a:schemeClr val="bg1"/>
                        </a:solidFill>
                        <a:latin typeface="Adani Regular"/>
                      </a:endParaRP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1">
                        <a:solidFill>
                          <a:schemeClr val="bg1"/>
                        </a:solidFill>
                        <a:latin typeface="Adani Regular" panose="02000503000000020004"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7030A0"/>
                    </a:solidFill>
                  </a:tcPr>
                </a:tc>
                <a:tc rowSpan="2">
                  <a:txBody>
                    <a:bodyPr/>
                    <a:lstStyle>
                      <a:lvl1pPr marL="0" algn="l" defTabSz="914400" rtl="0" eaLnBrk="1" latinLnBrk="0" hangingPunct="1">
                        <a:defRPr sz="1800" b="1" kern="1200">
                          <a:solidFill>
                            <a:schemeClr val="lt1"/>
                          </a:solidFill>
                          <a:latin typeface="Adani Regular"/>
                        </a:defRPr>
                      </a:lvl1pPr>
                      <a:lvl2pPr marL="457200" algn="l" defTabSz="914400" rtl="0" eaLnBrk="1" latinLnBrk="0" hangingPunct="1">
                        <a:defRPr sz="1800" b="1" kern="1200">
                          <a:solidFill>
                            <a:schemeClr val="lt1"/>
                          </a:solidFill>
                          <a:latin typeface="Adani Regular"/>
                        </a:defRPr>
                      </a:lvl2pPr>
                      <a:lvl3pPr marL="914400" algn="l" defTabSz="914400" rtl="0" eaLnBrk="1" latinLnBrk="0" hangingPunct="1">
                        <a:defRPr sz="1800" b="1" kern="1200">
                          <a:solidFill>
                            <a:schemeClr val="lt1"/>
                          </a:solidFill>
                          <a:latin typeface="Adani Regular"/>
                        </a:defRPr>
                      </a:lvl3pPr>
                      <a:lvl4pPr marL="1371600" algn="l" defTabSz="914400" rtl="0" eaLnBrk="1" latinLnBrk="0" hangingPunct="1">
                        <a:defRPr sz="1800" b="1" kern="1200">
                          <a:solidFill>
                            <a:schemeClr val="lt1"/>
                          </a:solidFill>
                          <a:latin typeface="Adani Regular"/>
                        </a:defRPr>
                      </a:lvl4pPr>
                      <a:lvl5pPr marL="1828800" algn="l" defTabSz="914400" rtl="0" eaLnBrk="1" latinLnBrk="0" hangingPunct="1">
                        <a:defRPr sz="1800" b="1" kern="1200">
                          <a:solidFill>
                            <a:schemeClr val="lt1"/>
                          </a:solidFill>
                          <a:latin typeface="Adani Regular"/>
                        </a:defRPr>
                      </a:lvl5pPr>
                      <a:lvl6pPr marL="2286000" algn="l" defTabSz="914400" rtl="0" eaLnBrk="1" latinLnBrk="0" hangingPunct="1">
                        <a:defRPr sz="1800" b="1" kern="1200">
                          <a:solidFill>
                            <a:schemeClr val="lt1"/>
                          </a:solidFill>
                          <a:latin typeface="Adani Regular"/>
                        </a:defRPr>
                      </a:lvl6pPr>
                      <a:lvl7pPr marL="2743200" algn="l" defTabSz="914400" rtl="0" eaLnBrk="1" latinLnBrk="0" hangingPunct="1">
                        <a:defRPr sz="1800" b="1" kern="1200">
                          <a:solidFill>
                            <a:schemeClr val="lt1"/>
                          </a:solidFill>
                          <a:latin typeface="Adani Regular"/>
                        </a:defRPr>
                      </a:lvl7pPr>
                      <a:lvl8pPr marL="3200400" algn="l" defTabSz="914400" rtl="0" eaLnBrk="1" latinLnBrk="0" hangingPunct="1">
                        <a:defRPr sz="1800" b="1" kern="1200">
                          <a:solidFill>
                            <a:schemeClr val="lt1"/>
                          </a:solidFill>
                          <a:latin typeface="Adani Regular"/>
                        </a:defRPr>
                      </a:lvl8pPr>
                      <a:lvl9pPr marL="3657600" algn="l" defTabSz="914400" rtl="0" eaLnBrk="1" latinLnBrk="0" hangingPunct="1">
                        <a:defRPr sz="1800" b="1" kern="1200">
                          <a:solidFill>
                            <a:schemeClr val="lt1"/>
                          </a:solidFill>
                          <a:latin typeface="Adani Regula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dani Regular"/>
                        </a:rPr>
                        <a:t>Remarks </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extLst>
                  <a:ext uri="{0D108BD9-81ED-4DB2-BD59-A6C34878D82A}">
                    <a16:rowId xmlns:a16="http://schemas.microsoft.com/office/drawing/2014/main" val="3178136535"/>
                  </a:ext>
                </a:extLst>
              </a:tr>
              <a:tr h="38501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dani Regular"/>
                        </a:defRPr>
                      </a:lvl1pPr>
                      <a:lvl2pPr marL="457200" algn="l" defTabSz="914400" rtl="0" eaLnBrk="1" latinLnBrk="0" hangingPunct="1">
                        <a:defRPr sz="1800" kern="1200">
                          <a:solidFill>
                            <a:schemeClr val="dk1"/>
                          </a:solidFill>
                          <a:latin typeface="Adani Regular"/>
                        </a:defRPr>
                      </a:lvl2pPr>
                      <a:lvl3pPr marL="914400" algn="l" defTabSz="914400" rtl="0" eaLnBrk="1" latinLnBrk="0" hangingPunct="1">
                        <a:defRPr sz="1800" kern="1200">
                          <a:solidFill>
                            <a:schemeClr val="dk1"/>
                          </a:solidFill>
                          <a:latin typeface="Adani Regular"/>
                        </a:defRPr>
                      </a:lvl3pPr>
                      <a:lvl4pPr marL="1371600" algn="l" defTabSz="914400" rtl="0" eaLnBrk="1" latinLnBrk="0" hangingPunct="1">
                        <a:defRPr sz="1800" kern="1200">
                          <a:solidFill>
                            <a:schemeClr val="dk1"/>
                          </a:solidFill>
                          <a:latin typeface="Adani Regular"/>
                        </a:defRPr>
                      </a:lvl4pPr>
                      <a:lvl5pPr marL="1828800" algn="l" defTabSz="914400" rtl="0" eaLnBrk="1" latinLnBrk="0" hangingPunct="1">
                        <a:defRPr sz="1800" kern="1200">
                          <a:solidFill>
                            <a:schemeClr val="dk1"/>
                          </a:solidFill>
                          <a:latin typeface="Adani Regular"/>
                        </a:defRPr>
                      </a:lvl5pPr>
                      <a:lvl6pPr marL="2286000" algn="l" defTabSz="914400" rtl="0" eaLnBrk="1" latinLnBrk="0" hangingPunct="1">
                        <a:defRPr sz="1800" kern="1200">
                          <a:solidFill>
                            <a:schemeClr val="dk1"/>
                          </a:solidFill>
                          <a:latin typeface="Adani Regular"/>
                        </a:defRPr>
                      </a:lvl6pPr>
                      <a:lvl7pPr marL="2743200" algn="l" defTabSz="914400" rtl="0" eaLnBrk="1" latinLnBrk="0" hangingPunct="1">
                        <a:defRPr sz="1800" kern="1200">
                          <a:solidFill>
                            <a:schemeClr val="dk1"/>
                          </a:solidFill>
                          <a:latin typeface="Adani Regular"/>
                        </a:defRPr>
                      </a:lvl7pPr>
                      <a:lvl8pPr marL="3200400" algn="l" defTabSz="914400" rtl="0" eaLnBrk="1" latinLnBrk="0" hangingPunct="1">
                        <a:defRPr sz="1800" kern="1200">
                          <a:solidFill>
                            <a:schemeClr val="dk1"/>
                          </a:solidFill>
                          <a:latin typeface="Adani Regular"/>
                        </a:defRPr>
                      </a:lvl8pPr>
                      <a:lvl9pPr marL="3657600" algn="l" defTabSz="914400" rtl="0" eaLnBrk="1" latinLnBrk="0" hangingPunct="1">
                        <a:defRPr sz="1800" kern="1200">
                          <a:solidFill>
                            <a:schemeClr val="dk1"/>
                          </a:solidFill>
                          <a:latin typeface="Adani Regular"/>
                        </a:defRPr>
                      </a:lvl9pPr>
                    </a:lstStyle>
                    <a:p>
                      <a:pPr algn="ctr"/>
                      <a:r>
                        <a:rPr lang="en-GB" sz="1200" b="1">
                          <a:solidFill>
                            <a:schemeClr val="bg1"/>
                          </a:solidFill>
                          <a:latin typeface="Adani Regular"/>
                        </a:rPr>
                        <a:t>Plan</a:t>
                      </a:r>
                      <a:endParaRPr lang="en-US" sz="1200" b="1">
                        <a:solidFill>
                          <a:schemeClr val="bg1"/>
                        </a:solidFill>
                        <a:latin typeface="Adani Regular"/>
                      </a:endParaRP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a:txBody>
                    <a:bodyPr/>
                    <a:lstStyle>
                      <a:lvl1pPr marL="0" algn="l" defTabSz="914400" rtl="0" eaLnBrk="1" latinLnBrk="0" hangingPunct="1">
                        <a:defRPr sz="1800" kern="1200">
                          <a:solidFill>
                            <a:schemeClr val="dk1"/>
                          </a:solidFill>
                          <a:latin typeface="Adani Regular"/>
                        </a:defRPr>
                      </a:lvl1pPr>
                      <a:lvl2pPr marL="457200" algn="l" defTabSz="914400" rtl="0" eaLnBrk="1" latinLnBrk="0" hangingPunct="1">
                        <a:defRPr sz="1800" kern="1200">
                          <a:solidFill>
                            <a:schemeClr val="dk1"/>
                          </a:solidFill>
                          <a:latin typeface="Adani Regular"/>
                        </a:defRPr>
                      </a:lvl2pPr>
                      <a:lvl3pPr marL="914400" algn="l" defTabSz="914400" rtl="0" eaLnBrk="1" latinLnBrk="0" hangingPunct="1">
                        <a:defRPr sz="1800" kern="1200">
                          <a:solidFill>
                            <a:schemeClr val="dk1"/>
                          </a:solidFill>
                          <a:latin typeface="Adani Regular"/>
                        </a:defRPr>
                      </a:lvl3pPr>
                      <a:lvl4pPr marL="1371600" algn="l" defTabSz="914400" rtl="0" eaLnBrk="1" latinLnBrk="0" hangingPunct="1">
                        <a:defRPr sz="1800" kern="1200">
                          <a:solidFill>
                            <a:schemeClr val="dk1"/>
                          </a:solidFill>
                          <a:latin typeface="Adani Regular"/>
                        </a:defRPr>
                      </a:lvl4pPr>
                      <a:lvl5pPr marL="1828800" algn="l" defTabSz="914400" rtl="0" eaLnBrk="1" latinLnBrk="0" hangingPunct="1">
                        <a:defRPr sz="1800" kern="1200">
                          <a:solidFill>
                            <a:schemeClr val="dk1"/>
                          </a:solidFill>
                          <a:latin typeface="Adani Regular"/>
                        </a:defRPr>
                      </a:lvl5pPr>
                      <a:lvl6pPr marL="2286000" algn="l" defTabSz="914400" rtl="0" eaLnBrk="1" latinLnBrk="0" hangingPunct="1">
                        <a:defRPr sz="1800" kern="1200">
                          <a:solidFill>
                            <a:schemeClr val="dk1"/>
                          </a:solidFill>
                          <a:latin typeface="Adani Regular"/>
                        </a:defRPr>
                      </a:lvl6pPr>
                      <a:lvl7pPr marL="2743200" algn="l" defTabSz="914400" rtl="0" eaLnBrk="1" latinLnBrk="0" hangingPunct="1">
                        <a:defRPr sz="1800" kern="1200">
                          <a:solidFill>
                            <a:schemeClr val="dk1"/>
                          </a:solidFill>
                          <a:latin typeface="Adani Regular"/>
                        </a:defRPr>
                      </a:lvl7pPr>
                      <a:lvl8pPr marL="3200400" algn="l" defTabSz="914400" rtl="0" eaLnBrk="1" latinLnBrk="0" hangingPunct="1">
                        <a:defRPr sz="1800" kern="1200">
                          <a:solidFill>
                            <a:schemeClr val="dk1"/>
                          </a:solidFill>
                          <a:latin typeface="Adani Regular"/>
                        </a:defRPr>
                      </a:lvl8pPr>
                      <a:lvl9pPr marL="3657600" algn="l" defTabSz="914400" rtl="0" eaLnBrk="1" latinLnBrk="0" hangingPunct="1">
                        <a:defRPr sz="1800" kern="1200">
                          <a:solidFill>
                            <a:schemeClr val="dk1"/>
                          </a:solidFill>
                          <a:latin typeface="Adani Regular"/>
                        </a:defRPr>
                      </a:lvl9pPr>
                    </a:lstStyle>
                    <a:p>
                      <a:pPr algn="ctr"/>
                      <a:r>
                        <a:rPr lang="en-GB" sz="1200" b="1">
                          <a:solidFill>
                            <a:schemeClr val="bg1"/>
                          </a:solidFill>
                          <a:latin typeface="Adani Regular"/>
                        </a:rPr>
                        <a:t>Expected</a:t>
                      </a:r>
                      <a:endParaRPr lang="en-US" sz="1200" b="1">
                        <a:solidFill>
                          <a:schemeClr val="bg1"/>
                        </a:solidFill>
                        <a:latin typeface="Adani Regular"/>
                      </a:endParaRP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a:txBody>
                    <a:bodyPr/>
                    <a:lstStyle>
                      <a:lvl1pPr marL="0" algn="l" defTabSz="914400" rtl="0" eaLnBrk="1" latinLnBrk="0" hangingPunct="1">
                        <a:defRPr sz="1800" kern="1200">
                          <a:solidFill>
                            <a:schemeClr val="dk1"/>
                          </a:solidFill>
                          <a:latin typeface="Adani Regular"/>
                        </a:defRPr>
                      </a:lvl1pPr>
                      <a:lvl2pPr marL="457200" algn="l" defTabSz="914400" rtl="0" eaLnBrk="1" latinLnBrk="0" hangingPunct="1">
                        <a:defRPr sz="1800" kern="1200">
                          <a:solidFill>
                            <a:schemeClr val="dk1"/>
                          </a:solidFill>
                          <a:latin typeface="Adani Regular"/>
                        </a:defRPr>
                      </a:lvl2pPr>
                      <a:lvl3pPr marL="914400" algn="l" defTabSz="914400" rtl="0" eaLnBrk="1" latinLnBrk="0" hangingPunct="1">
                        <a:defRPr sz="1800" kern="1200">
                          <a:solidFill>
                            <a:schemeClr val="dk1"/>
                          </a:solidFill>
                          <a:latin typeface="Adani Regular"/>
                        </a:defRPr>
                      </a:lvl3pPr>
                      <a:lvl4pPr marL="1371600" algn="l" defTabSz="914400" rtl="0" eaLnBrk="1" latinLnBrk="0" hangingPunct="1">
                        <a:defRPr sz="1800" kern="1200">
                          <a:solidFill>
                            <a:schemeClr val="dk1"/>
                          </a:solidFill>
                          <a:latin typeface="Adani Regular"/>
                        </a:defRPr>
                      </a:lvl4pPr>
                      <a:lvl5pPr marL="1828800" algn="l" defTabSz="914400" rtl="0" eaLnBrk="1" latinLnBrk="0" hangingPunct="1">
                        <a:defRPr sz="1800" kern="1200">
                          <a:solidFill>
                            <a:schemeClr val="dk1"/>
                          </a:solidFill>
                          <a:latin typeface="Adani Regular"/>
                        </a:defRPr>
                      </a:lvl5pPr>
                      <a:lvl6pPr marL="2286000" algn="l" defTabSz="914400" rtl="0" eaLnBrk="1" latinLnBrk="0" hangingPunct="1">
                        <a:defRPr sz="1800" kern="1200">
                          <a:solidFill>
                            <a:schemeClr val="dk1"/>
                          </a:solidFill>
                          <a:latin typeface="Adani Regular"/>
                        </a:defRPr>
                      </a:lvl6pPr>
                      <a:lvl7pPr marL="2743200" algn="l" defTabSz="914400" rtl="0" eaLnBrk="1" latinLnBrk="0" hangingPunct="1">
                        <a:defRPr sz="1800" kern="1200">
                          <a:solidFill>
                            <a:schemeClr val="dk1"/>
                          </a:solidFill>
                          <a:latin typeface="Adani Regular"/>
                        </a:defRPr>
                      </a:lvl7pPr>
                      <a:lvl8pPr marL="3200400" algn="l" defTabSz="914400" rtl="0" eaLnBrk="1" latinLnBrk="0" hangingPunct="1">
                        <a:defRPr sz="1800" kern="1200">
                          <a:solidFill>
                            <a:schemeClr val="dk1"/>
                          </a:solidFill>
                          <a:latin typeface="Adani Regular"/>
                        </a:defRPr>
                      </a:lvl8pPr>
                      <a:lvl9pPr marL="3657600" algn="l" defTabSz="914400" rtl="0" eaLnBrk="1" latinLnBrk="0" hangingPunct="1">
                        <a:defRPr sz="1800" kern="1200">
                          <a:solidFill>
                            <a:schemeClr val="dk1"/>
                          </a:solidFill>
                          <a:latin typeface="Adani Regula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dani Regular"/>
                        </a:rPr>
                        <a:t>Plan</a:t>
                      </a:r>
                      <a:endParaRPr lang="en-US" sz="1200" b="1">
                        <a:solidFill>
                          <a:schemeClr val="bg1"/>
                        </a:solidFill>
                        <a:latin typeface="Adani Regular"/>
                      </a:endParaRP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chemeClr val="bg1"/>
                          </a:solidFill>
                          <a:latin typeface="Adani Regular"/>
                        </a:rPr>
                        <a:t>Actual</a:t>
                      </a:r>
                      <a:endParaRPr lang="en-US" sz="1200" b="1">
                        <a:solidFill>
                          <a:schemeClr val="bg1"/>
                        </a:solidFill>
                        <a:latin typeface="Adani Regular"/>
                      </a:endParaRP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vMerge="1">
                  <a:txBody>
                    <a:bodyPr/>
                    <a:lstStyle/>
                    <a:p>
                      <a:endParaRPr lang="en-US"/>
                    </a:p>
                  </a:txBody>
                  <a:tcPr/>
                </a:tc>
                <a:extLst>
                  <a:ext uri="{0D108BD9-81ED-4DB2-BD59-A6C34878D82A}">
                    <a16:rowId xmlns:a16="http://schemas.microsoft.com/office/drawing/2014/main" val="1477444751"/>
                  </a:ext>
                </a:extLst>
              </a:tr>
              <a:tr h="749064">
                <a:tc>
                  <a:txBody>
                    <a:bodyPr/>
                    <a:lstStyle>
                      <a:lvl1pPr marL="0" algn="l" defTabSz="914400" rtl="0" eaLnBrk="1" latinLnBrk="0" hangingPunct="1">
                        <a:defRPr sz="1800" kern="1200">
                          <a:solidFill>
                            <a:schemeClr val="dk1"/>
                          </a:solidFill>
                          <a:latin typeface="Adani Regular"/>
                        </a:defRPr>
                      </a:lvl1pPr>
                      <a:lvl2pPr marL="457200" algn="l" defTabSz="914400" rtl="0" eaLnBrk="1" latinLnBrk="0" hangingPunct="1">
                        <a:defRPr sz="1800" kern="1200">
                          <a:solidFill>
                            <a:schemeClr val="dk1"/>
                          </a:solidFill>
                          <a:latin typeface="Adani Regular"/>
                        </a:defRPr>
                      </a:lvl2pPr>
                      <a:lvl3pPr marL="914400" algn="l" defTabSz="914400" rtl="0" eaLnBrk="1" latinLnBrk="0" hangingPunct="1">
                        <a:defRPr sz="1800" kern="1200">
                          <a:solidFill>
                            <a:schemeClr val="dk1"/>
                          </a:solidFill>
                          <a:latin typeface="Adani Regular"/>
                        </a:defRPr>
                      </a:lvl3pPr>
                      <a:lvl4pPr marL="1371600" algn="l" defTabSz="914400" rtl="0" eaLnBrk="1" latinLnBrk="0" hangingPunct="1">
                        <a:defRPr sz="1800" kern="1200">
                          <a:solidFill>
                            <a:schemeClr val="dk1"/>
                          </a:solidFill>
                          <a:latin typeface="Adani Regular"/>
                        </a:defRPr>
                      </a:lvl4pPr>
                      <a:lvl5pPr marL="1828800" algn="l" defTabSz="914400" rtl="0" eaLnBrk="1" latinLnBrk="0" hangingPunct="1">
                        <a:defRPr sz="1800" kern="1200">
                          <a:solidFill>
                            <a:schemeClr val="dk1"/>
                          </a:solidFill>
                          <a:latin typeface="Adani Regular"/>
                        </a:defRPr>
                      </a:lvl5pPr>
                      <a:lvl6pPr marL="2286000" algn="l" defTabSz="914400" rtl="0" eaLnBrk="1" latinLnBrk="0" hangingPunct="1">
                        <a:defRPr sz="1800" kern="1200">
                          <a:solidFill>
                            <a:schemeClr val="dk1"/>
                          </a:solidFill>
                          <a:latin typeface="Adani Regular"/>
                        </a:defRPr>
                      </a:lvl6pPr>
                      <a:lvl7pPr marL="2743200" algn="l" defTabSz="914400" rtl="0" eaLnBrk="1" latinLnBrk="0" hangingPunct="1">
                        <a:defRPr sz="1800" kern="1200">
                          <a:solidFill>
                            <a:schemeClr val="dk1"/>
                          </a:solidFill>
                          <a:latin typeface="Adani Regular"/>
                        </a:defRPr>
                      </a:lvl7pPr>
                      <a:lvl8pPr marL="3200400" algn="l" defTabSz="914400" rtl="0" eaLnBrk="1" latinLnBrk="0" hangingPunct="1">
                        <a:defRPr sz="1800" kern="1200">
                          <a:solidFill>
                            <a:schemeClr val="dk1"/>
                          </a:solidFill>
                          <a:latin typeface="Adani Regular"/>
                        </a:defRPr>
                      </a:lvl8pPr>
                      <a:lvl9pPr marL="3657600" algn="l" defTabSz="914400" rtl="0" eaLnBrk="1" latinLnBrk="0" hangingPunct="1">
                        <a:defRPr sz="1800" kern="1200">
                          <a:solidFill>
                            <a:schemeClr val="dk1"/>
                          </a:solidFill>
                          <a:latin typeface="Adani Regular"/>
                        </a:defRPr>
                      </a:lvl9pPr>
                    </a:lstStyle>
                    <a:p>
                      <a:pPr algn="ctr"/>
                      <a:r>
                        <a:rPr lang="en-US" sz="1200">
                          <a:latin typeface="Adani Regular"/>
                        </a:rPr>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dani Regular"/>
                        </a:defRPr>
                      </a:lvl1pPr>
                      <a:lvl2pPr marL="457200" algn="l" defTabSz="914400" rtl="0" eaLnBrk="1" latinLnBrk="0" hangingPunct="1">
                        <a:defRPr sz="1800" kern="1200">
                          <a:solidFill>
                            <a:schemeClr val="dk1"/>
                          </a:solidFill>
                          <a:latin typeface="Adani Regular"/>
                        </a:defRPr>
                      </a:lvl2pPr>
                      <a:lvl3pPr marL="914400" algn="l" defTabSz="914400" rtl="0" eaLnBrk="1" latinLnBrk="0" hangingPunct="1">
                        <a:defRPr sz="1800" kern="1200">
                          <a:solidFill>
                            <a:schemeClr val="dk1"/>
                          </a:solidFill>
                          <a:latin typeface="Adani Regular"/>
                        </a:defRPr>
                      </a:lvl3pPr>
                      <a:lvl4pPr marL="1371600" algn="l" defTabSz="914400" rtl="0" eaLnBrk="1" latinLnBrk="0" hangingPunct="1">
                        <a:defRPr sz="1800" kern="1200">
                          <a:solidFill>
                            <a:schemeClr val="dk1"/>
                          </a:solidFill>
                          <a:latin typeface="Adani Regular"/>
                        </a:defRPr>
                      </a:lvl4pPr>
                      <a:lvl5pPr marL="1828800" algn="l" defTabSz="914400" rtl="0" eaLnBrk="1" latinLnBrk="0" hangingPunct="1">
                        <a:defRPr sz="1800" kern="1200">
                          <a:solidFill>
                            <a:schemeClr val="dk1"/>
                          </a:solidFill>
                          <a:latin typeface="Adani Regular"/>
                        </a:defRPr>
                      </a:lvl5pPr>
                      <a:lvl6pPr marL="2286000" algn="l" defTabSz="914400" rtl="0" eaLnBrk="1" latinLnBrk="0" hangingPunct="1">
                        <a:defRPr sz="1800" kern="1200">
                          <a:solidFill>
                            <a:schemeClr val="dk1"/>
                          </a:solidFill>
                          <a:latin typeface="Adani Regular"/>
                        </a:defRPr>
                      </a:lvl6pPr>
                      <a:lvl7pPr marL="2743200" algn="l" defTabSz="914400" rtl="0" eaLnBrk="1" latinLnBrk="0" hangingPunct="1">
                        <a:defRPr sz="1800" kern="1200">
                          <a:solidFill>
                            <a:schemeClr val="dk1"/>
                          </a:solidFill>
                          <a:latin typeface="Adani Regular"/>
                        </a:defRPr>
                      </a:lvl7pPr>
                      <a:lvl8pPr marL="3200400" algn="l" defTabSz="914400" rtl="0" eaLnBrk="1" latinLnBrk="0" hangingPunct="1">
                        <a:defRPr sz="1800" kern="1200">
                          <a:solidFill>
                            <a:schemeClr val="dk1"/>
                          </a:solidFill>
                          <a:latin typeface="Adani Regular"/>
                        </a:defRPr>
                      </a:lvl8pPr>
                      <a:lvl9pPr marL="3657600" algn="l" defTabSz="914400" rtl="0" eaLnBrk="1" latinLnBrk="0" hangingPunct="1">
                        <a:defRPr sz="1800" kern="1200">
                          <a:solidFill>
                            <a:schemeClr val="dk1"/>
                          </a:solidFill>
                          <a:latin typeface="Adani Regular"/>
                        </a:defRPr>
                      </a:lvl9pPr>
                    </a:lstStyle>
                    <a:p>
                      <a:pPr algn="ctr" fontAlgn="ctr"/>
                      <a:r>
                        <a:rPr lang="en-US" sz="1200" b="0" i="0" u="none" strike="noStrike">
                          <a:solidFill>
                            <a:srgbClr val="000000"/>
                          </a:solidFill>
                          <a:effectLst/>
                          <a:latin typeface="Adani Regular"/>
                        </a:rPr>
                        <a:t>GJ/ Khavda</a:t>
                      </a:r>
                      <a:endParaRPr lang="en-US" sz="1200" b="0" i="0" u="none" strike="noStrike" err="1">
                        <a:solidFill>
                          <a:srgbClr val="000000"/>
                        </a:solidFill>
                        <a:effectLst/>
                        <a:latin typeface="Adani Regular"/>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dani Regular"/>
                        </a:defRPr>
                      </a:lvl1pPr>
                      <a:lvl2pPr marL="457200" algn="l" defTabSz="914400" rtl="0" eaLnBrk="1" latinLnBrk="0" hangingPunct="1">
                        <a:defRPr sz="1800" kern="1200">
                          <a:solidFill>
                            <a:schemeClr val="dk1"/>
                          </a:solidFill>
                          <a:latin typeface="Adani Regular"/>
                        </a:defRPr>
                      </a:lvl2pPr>
                      <a:lvl3pPr marL="914400" algn="l" defTabSz="914400" rtl="0" eaLnBrk="1" latinLnBrk="0" hangingPunct="1">
                        <a:defRPr sz="1800" kern="1200">
                          <a:solidFill>
                            <a:schemeClr val="dk1"/>
                          </a:solidFill>
                          <a:latin typeface="Adani Regular"/>
                        </a:defRPr>
                      </a:lvl3pPr>
                      <a:lvl4pPr marL="1371600" algn="l" defTabSz="914400" rtl="0" eaLnBrk="1" latinLnBrk="0" hangingPunct="1">
                        <a:defRPr sz="1800" kern="1200">
                          <a:solidFill>
                            <a:schemeClr val="dk1"/>
                          </a:solidFill>
                          <a:latin typeface="Adani Regular"/>
                        </a:defRPr>
                      </a:lvl4pPr>
                      <a:lvl5pPr marL="1828800" algn="l" defTabSz="914400" rtl="0" eaLnBrk="1" latinLnBrk="0" hangingPunct="1">
                        <a:defRPr sz="1800" kern="1200">
                          <a:solidFill>
                            <a:schemeClr val="dk1"/>
                          </a:solidFill>
                          <a:latin typeface="Adani Regular"/>
                        </a:defRPr>
                      </a:lvl5pPr>
                      <a:lvl6pPr marL="2286000" algn="l" defTabSz="914400" rtl="0" eaLnBrk="1" latinLnBrk="0" hangingPunct="1">
                        <a:defRPr sz="1800" kern="1200">
                          <a:solidFill>
                            <a:schemeClr val="dk1"/>
                          </a:solidFill>
                          <a:latin typeface="Adani Regular"/>
                        </a:defRPr>
                      </a:lvl6pPr>
                      <a:lvl7pPr marL="2743200" algn="l" defTabSz="914400" rtl="0" eaLnBrk="1" latinLnBrk="0" hangingPunct="1">
                        <a:defRPr sz="1800" kern="1200">
                          <a:solidFill>
                            <a:schemeClr val="dk1"/>
                          </a:solidFill>
                          <a:latin typeface="Adani Regular"/>
                        </a:defRPr>
                      </a:lvl7pPr>
                      <a:lvl8pPr marL="3200400" algn="l" defTabSz="914400" rtl="0" eaLnBrk="1" latinLnBrk="0" hangingPunct="1">
                        <a:defRPr sz="1800" kern="1200">
                          <a:solidFill>
                            <a:schemeClr val="dk1"/>
                          </a:solidFill>
                          <a:latin typeface="Adani Regular"/>
                        </a:defRPr>
                      </a:lvl8pPr>
                      <a:lvl9pPr marL="3657600" algn="l" defTabSz="914400" rtl="0" eaLnBrk="1" latinLnBrk="0" hangingPunct="1">
                        <a:defRPr sz="1800" kern="1200">
                          <a:solidFill>
                            <a:schemeClr val="dk1"/>
                          </a:solidFill>
                          <a:latin typeface="Adani Regular"/>
                        </a:defRPr>
                      </a:lvl9pPr>
                    </a:lstStyle>
                    <a:p>
                      <a:pPr algn="ctr" fontAlgn="ctr"/>
                      <a:r>
                        <a:rPr lang="en-US" sz="1200" b="0" i="0" u="none" strike="noStrike">
                          <a:solidFill>
                            <a:srgbClr val="000000"/>
                          </a:solidFill>
                          <a:effectLst/>
                          <a:latin typeface="Adani Regular"/>
                        </a:rPr>
                        <a:t>PSS 10</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dani Regular"/>
                        </a:rPr>
                        <a:t>1926.7</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1200" b="0" i="0" u="none" strike="noStrike">
                          <a:solidFill>
                            <a:srgbClr val="000000"/>
                          </a:solidFill>
                          <a:effectLst/>
                          <a:latin typeface="Adani Regular" panose="02000503000000020004" pitchFamily="2" charset="0"/>
                        </a:rPr>
                        <a:t>1646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latin typeface="Adani Regular"/>
                        </a:rPr>
                        <a:t>28 Feb 26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strike="sngStrike">
                          <a:latin typeface="Adani Regular"/>
                        </a:rPr>
                        <a:t>28 Feb 26</a:t>
                      </a:r>
                    </a:p>
                    <a:p>
                      <a:pPr algn="ctr"/>
                      <a:r>
                        <a:rPr lang="en-US" sz="1200" strike="sngStrike">
                          <a:latin typeface="Adani Regular"/>
                        </a:rPr>
                        <a:t>28-Mar-26</a:t>
                      </a:r>
                    </a:p>
                    <a:p>
                      <a:pPr algn="ctr"/>
                      <a:r>
                        <a:rPr lang="en-US" sz="1200" strike="sngStrike" baseline="0">
                          <a:latin typeface="Adani Regular"/>
                        </a:rPr>
                        <a:t>10 Apr 26</a:t>
                      </a:r>
                    </a:p>
                    <a:p>
                      <a:pPr algn="ctr"/>
                      <a:r>
                        <a:rPr lang="en-US" sz="1200" strike="sngStrike" baseline="0">
                          <a:latin typeface="Adani Regular"/>
                        </a:rPr>
                        <a:t>5 May 26</a:t>
                      </a:r>
                    </a:p>
                    <a:p>
                      <a:pPr marL="115570" marR="0" lvl="0" indent="0" algn="ctr">
                        <a:lnSpc>
                          <a:spcPct val="100000"/>
                        </a:lnSpc>
                        <a:spcBef>
                          <a:spcPts val="0"/>
                        </a:spcBef>
                        <a:spcAft>
                          <a:spcPts val="0"/>
                        </a:spcAft>
                        <a:buNone/>
                      </a:pPr>
                      <a:r>
                        <a:rPr kumimoji="0" lang="en-US" sz="1100" b="0" i="0" u="none" strike="noStrike" kern="1200" cap="none" spc="0" normalizeH="0" baseline="0" noProof="0">
                          <a:ln>
                            <a:noFill/>
                          </a:ln>
                          <a:solidFill>
                            <a:srgbClr val="00B050"/>
                          </a:solidFill>
                          <a:effectLst/>
                          <a:uLnTx/>
                          <a:uFillTx/>
                          <a:latin typeface="Adani Regular" panose="02000503000000020004" pitchFamily="2" charset="0"/>
                          <a:ea typeface="+mn-ea"/>
                          <a:cs typeface="+mn-cs"/>
                        </a:rPr>
                        <a:t>13-May-26</a:t>
                      </a:r>
                    </a:p>
                    <a:p>
                      <a:pPr marL="115570" marR="0" lvl="0" indent="0" algn="ctr">
                        <a:lnSpc>
                          <a:spcPct val="100000"/>
                        </a:lnSpc>
                        <a:spcBef>
                          <a:spcPts val="0"/>
                        </a:spcBef>
                        <a:spcAft>
                          <a:spcPts val="0"/>
                        </a:spcAft>
                        <a:buNone/>
                      </a:pPr>
                      <a:r>
                        <a:rPr kumimoji="0" lang="en-US" sz="11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200" b="0" i="0" u="none" strike="noStrike">
                          <a:solidFill>
                            <a:srgbClr val="000000"/>
                          </a:solidFill>
                          <a:effectLst/>
                          <a:latin typeface="Adani Regular"/>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200" b="0" i="0" u="none" strike="noStrike">
                          <a:solidFill>
                            <a:srgbClr val="000000"/>
                          </a:solidFill>
                          <a:effectLst/>
                          <a:latin typeface="Adani Regular"/>
                        </a:rPr>
                        <a:t>94.41%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just" fontAlgn="t">
                        <a:lnSpc>
                          <a:spcPts val="1500"/>
                        </a:lnSpc>
                        <a:buNone/>
                      </a:pPr>
                      <a:r>
                        <a:rPr lang="en-US" sz="1200" b="0" i="0">
                          <a:effectLst/>
                          <a:latin typeface="Adani Regular" panose="02000503000000020004" pitchFamily="2" charset="0"/>
                        </a:rPr>
                        <a:t>Initial deviation in ‘Plan’ and ‘Actual’ was attributable to prolonged delays in civil works caused by persistent and heavy rainfall (approximately 1,600 mm) experienced up to early November 2025. </a:t>
                      </a:r>
                    </a:p>
                    <a:p>
                      <a:pPr algn="just" fontAlgn="t">
                        <a:lnSpc>
                          <a:spcPts val="1500"/>
                        </a:lnSpc>
                        <a:buNone/>
                      </a:pPr>
                      <a:endParaRPr lang="en-US" sz="1200" b="0" i="0">
                        <a:effectLst/>
                        <a:latin typeface="Adani Regular" panose="02000503000000020004" pitchFamily="2" charset="0"/>
                      </a:endParaRPr>
                    </a:p>
                    <a:p>
                      <a:pPr algn="just" fontAlgn="t">
                        <a:lnSpc>
                          <a:spcPts val="1500"/>
                        </a:lnSpc>
                        <a:buNone/>
                      </a:pPr>
                      <a:r>
                        <a:rPr lang="en-US" sz="1200" b="0" i="0">
                          <a:effectLst/>
                          <a:latin typeface="Adani Regular" panose="02000503000000020004" pitchFamily="2" charset="0"/>
                        </a:rPr>
                        <a:t>Presently, all containers have been commissioned, with 37 Greatpower containers pending for PSS 10. The existing gap is primarily attributable to downstream activities, including contract closure, gate fixing, and contribution board installation.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9713581"/>
                  </a:ext>
                </a:extLst>
              </a:tr>
              <a:tr h="924950">
                <a:tc>
                  <a:txBody>
                    <a:bodyPr/>
                    <a:lstStyle/>
                    <a:p>
                      <a:pPr algn="ctr"/>
                      <a:r>
                        <a:rPr lang="en-US" sz="1200">
                          <a:latin typeface="Adani Regular"/>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100000"/>
                        </a:lnSpc>
                        <a:spcBef>
                          <a:spcPts val="0"/>
                        </a:spcBef>
                        <a:spcAft>
                          <a:spcPts val="0"/>
                        </a:spcAft>
                        <a:buClrTx/>
                        <a:buSzTx/>
                        <a:buFontTx/>
                        <a:buNone/>
                      </a:pPr>
                      <a:r>
                        <a:rPr lang="en-US" sz="1200" b="0" i="0" u="none" strike="noStrike">
                          <a:solidFill>
                            <a:srgbClr val="000000"/>
                          </a:solidFill>
                          <a:effectLst/>
                          <a:latin typeface="Adani Regular"/>
                        </a:rPr>
                        <a:t>GJ/ Khavda</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200" b="0" i="0" u="none" strike="noStrike">
                          <a:solidFill>
                            <a:srgbClr val="000000"/>
                          </a:solidFill>
                          <a:effectLst/>
                          <a:latin typeface="Adani Regular"/>
                        </a:rPr>
                        <a:t>PSS 05</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200" b="0" i="0" u="none" strike="noStrike" kern="1200">
                          <a:solidFill>
                            <a:srgbClr val="000000"/>
                          </a:solidFill>
                          <a:effectLst/>
                          <a:latin typeface="Adani Regular"/>
                          <a:ea typeface="+mn-ea"/>
                          <a:cs typeface="+mn-cs"/>
                        </a:rPr>
                        <a:t>1830.6</a:t>
                      </a:r>
                      <a:endParaRPr lang="en-US" sz="1200" b="1" i="0" u="none" strike="noStrike">
                        <a:solidFill>
                          <a:srgbClr val="000000"/>
                        </a:solidFill>
                        <a:effectLst/>
                        <a:latin typeface="Adani Regular"/>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1200" b="0" i="0" u="none" strike="noStrike">
                          <a:solidFill>
                            <a:srgbClr val="000000"/>
                          </a:solidFill>
                          <a:effectLst/>
                          <a:latin typeface="Adani Regular" panose="02000503000000020004" pitchFamily="2" charset="0"/>
                        </a:rPr>
                        <a:t>1616.4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strike="noStrike">
                          <a:latin typeface="Adani Regular"/>
                        </a:rPr>
                        <a:t>21 Mar 26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strike="sngStrike">
                          <a:latin typeface="Adani Regular"/>
                        </a:rPr>
                        <a:t>31 Mar 26</a:t>
                      </a:r>
                    </a:p>
                    <a:p>
                      <a:pPr algn="ctr"/>
                      <a:r>
                        <a:rPr lang="en-US" sz="1200" strike="sngStrike">
                          <a:latin typeface="Adani Regular"/>
                        </a:rPr>
                        <a:t>27-Mar-26</a:t>
                      </a:r>
                    </a:p>
                    <a:p>
                      <a:pPr algn="ctr"/>
                      <a:r>
                        <a:rPr lang="en-US" sz="1200" strike="sngStrike">
                          <a:latin typeface="Adani Regular"/>
                        </a:rPr>
                        <a:t>27 Apr 26</a:t>
                      </a:r>
                    </a:p>
                    <a:p>
                      <a:pPr algn="ctr"/>
                      <a:r>
                        <a:rPr lang="en-US" sz="1200" strike="noStrike">
                          <a:solidFill>
                            <a:srgbClr val="00B050"/>
                          </a:solidFill>
                          <a:latin typeface="Adani Regular"/>
                        </a:rPr>
                        <a:t>8 May 26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dani Regular"/>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200" b="0" i="0" u="none" strike="noStrike">
                          <a:solidFill>
                            <a:srgbClr val="000000"/>
                          </a:solidFill>
                          <a:effectLst/>
                          <a:latin typeface="Adani Regular"/>
                        </a:rPr>
                        <a:t>96.93%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243442"/>
                  </a:ext>
                </a:extLst>
              </a:tr>
              <a:tr h="1007959">
                <a:tc>
                  <a:txBody>
                    <a:bodyPr/>
                    <a:lstStyle/>
                    <a:p>
                      <a:pPr algn="ctr"/>
                      <a:r>
                        <a:rPr lang="en-US" sz="1200">
                          <a:latin typeface="Adani Regular"/>
                        </a:rPr>
                        <a:t>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eaLnBrk="1" fontAlgn="ctr" latinLnBrk="0" hangingPunct="1">
                        <a:lnSpc>
                          <a:spcPct val="100000"/>
                        </a:lnSpc>
                        <a:spcBef>
                          <a:spcPts val="0"/>
                        </a:spcBef>
                        <a:spcAft>
                          <a:spcPts val="0"/>
                        </a:spcAft>
                        <a:buClrTx/>
                        <a:buSzTx/>
                        <a:buFontTx/>
                        <a:buNone/>
                      </a:pPr>
                      <a:r>
                        <a:rPr lang="en-US" sz="1200" b="0" i="0" u="none" strike="noStrike">
                          <a:solidFill>
                            <a:srgbClr val="000000"/>
                          </a:solidFill>
                          <a:effectLst/>
                          <a:latin typeface="Adani Regular"/>
                        </a:rPr>
                        <a:t>GJ/ Khavda</a:t>
                      </a:r>
                      <a:endParaRPr lang="en-US" sz="1200" b="0" i="0" u="none" strike="noStrike" err="1">
                        <a:solidFill>
                          <a:srgbClr val="000000"/>
                        </a:solidFill>
                        <a:effectLst/>
                        <a:latin typeface="Adani Regular"/>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eaLnBrk="1" fontAlgn="ctr" latinLnBrk="0" hangingPunct="1">
                        <a:lnSpc>
                          <a:spcPct val="100000"/>
                        </a:lnSpc>
                        <a:spcBef>
                          <a:spcPts val="0"/>
                        </a:spcBef>
                        <a:spcAft>
                          <a:spcPts val="0"/>
                        </a:spcAft>
                        <a:buClrTx/>
                        <a:buSzTx/>
                        <a:buFontTx/>
                        <a:buNone/>
                      </a:pPr>
                      <a:r>
                        <a:rPr lang="en-US" sz="1200" b="0" i="0" u="none" strike="noStrike">
                          <a:solidFill>
                            <a:srgbClr val="000000"/>
                          </a:solidFill>
                          <a:effectLst/>
                          <a:latin typeface="Adani Regular"/>
                        </a:rPr>
                        <a:t>PSS 08</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dani Regular"/>
                        </a:rPr>
                        <a:t>992.8</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1200" b="0" i="0" u="none" strike="noStrike">
                          <a:solidFill>
                            <a:srgbClr val="000000"/>
                          </a:solidFill>
                          <a:effectLst/>
                          <a:latin typeface="Adani Regular" panose="02000503000000020004" pitchFamily="2" charset="0"/>
                        </a:rPr>
                        <a:t>802.3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strike="noStrike">
                          <a:latin typeface="Adani Regular"/>
                        </a:rPr>
                        <a:t>21 Mar 26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strike="sngStrike">
                          <a:latin typeface="Adani Regular"/>
                        </a:rPr>
                        <a:t>31 Mar 26</a:t>
                      </a:r>
                    </a:p>
                    <a:p>
                      <a:pPr algn="ctr"/>
                      <a:r>
                        <a:rPr lang="en-US" sz="1200" strike="sngStrike" baseline="0">
                          <a:latin typeface="Adani Regular"/>
                        </a:rPr>
                        <a:t>28-Mar-26</a:t>
                      </a:r>
                    </a:p>
                    <a:p>
                      <a:pPr algn="ctr"/>
                      <a:r>
                        <a:rPr lang="en-US" sz="1200" strike="sngStrike" baseline="0">
                          <a:latin typeface="Adani Regular"/>
                        </a:rPr>
                        <a:t>15 Apr26</a:t>
                      </a:r>
                    </a:p>
                    <a:p>
                      <a:pPr algn="ctr"/>
                      <a:r>
                        <a:rPr lang="en-US" sz="1200" strike="noStrike" baseline="0">
                          <a:solidFill>
                            <a:srgbClr val="00B050"/>
                          </a:solidFill>
                          <a:latin typeface="Adani Regular"/>
                        </a:rPr>
                        <a:t>13 May 26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dani Regular"/>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200" b="0" i="0" u="none" strike="noStrike">
                          <a:solidFill>
                            <a:srgbClr val="000000"/>
                          </a:solidFill>
                          <a:effectLst/>
                          <a:latin typeface="Adani Regular"/>
                        </a:rPr>
                        <a:t>97.30%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093697"/>
                  </a:ext>
                </a:extLst>
              </a:tr>
              <a:tr h="513864">
                <a:tc gridSpan="3">
                  <a:txBody>
                    <a:bodyPr/>
                    <a:lstStyle/>
                    <a:p>
                      <a:pPr algn="ctr" fontAlgn="ctr"/>
                      <a:r>
                        <a:rPr lang="en-US" sz="1200" b="1" i="0" u="none" strike="noStrike">
                          <a:solidFill>
                            <a:srgbClr val="000000"/>
                          </a:solidFill>
                          <a:effectLst/>
                          <a:latin typeface="Adani Regular"/>
                        </a:rPr>
                        <a:t>Total (Cr.)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endParaRPr lang="en-US" sz="1100" b="1" i="0" u="none" strike="noStrike">
                        <a:solidFill>
                          <a:srgbClr val="000000"/>
                        </a:solidFill>
                        <a:effectLst/>
                        <a:latin typeface="Adani Regular" panose="02000503000000020004" pitchFamily="2" charset="0"/>
                      </a:endParaRPr>
                    </a:p>
                  </a:txBody>
                  <a:tcPr marL="12700" marR="12700" marT="1270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12700" marR="12700" marT="1270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a:solidFill>
                            <a:srgbClr val="000000"/>
                          </a:solidFill>
                          <a:effectLst/>
                          <a:latin typeface="Adani Regular"/>
                        </a:rPr>
                        <a:t>4750.1</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US" sz="1200" b="1" i="0" u="none" strike="noStrike">
                          <a:solidFill>
                            <a:srgbClr val="000000"/>
                          </a:solidFill>
                          <a:effectLst/>
                          <a:latin typeface="Adani Regular" panose="02000503000000020004" pitchFamily="2" charset="0"/>
                        </a:rPr>
                        <a:t>4064.7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1" i="0" u="none" strike="noStrike" noProof="0">
                        <a:solidFill>
                          <a:srgbClr val="000000"/>
                        </a:solidFill>
                        <a:effectLst/>
                        <a:latin typeface="Adani Regular"/>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Adani Regular" panose="02000503000000020004" pitchFamily="2" charset="0"/>
                      </a:endParaRPr>
                    </a:p>
                  </a:txBody>
                  <a:tcPr marL="121920" marR="121920" marT="60960" marB="6096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a:latin typeface="Adani Regular" panose="02000503000000020004" pitchFamily="2" charset="0"/>
                      </a:endParaRPr>
                    </a:p>
                  </a:txBody>
                  <a:tcPr marL="121920" marR="121920" marT="60960" marB="6096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a:latin typeface="Adani Regular" panose="02000503000000020004" pitchFamily="2" charset="0"/>
                      </a:endParaRPr>
                    </a:p>
                  </a:txBody>
                  <a:tcPr marL="121920" marR="121920" marT="60960" marB="6096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100" b="1">
                        <a:latin typeface="Adani Regular" panose="02000503000000020004" pitchFamily="2" charset="0"/>
                      </a:endParaRPr>
                    </a:p>
                  </a:txBody>
                  <a:tcPr marL="121920" marR="121920" marT="60960" marB="6096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6599594"/>
                  </a:ext>
                </a:extLst>
              </a:tr>
            </a:tbl>
          </a:graphicData>
        </a:graphic>
      </p:graphicFrame>
      <p:sp>
        <p:nvSpPr>
          <p:cNvPr id="4" name="TextBox 3">
            <a:extLst>
              <a:ext uri="{FF2B5EF4-FFF2-40B4-BE49-F238E27FC236}">
                <a16:creationId xmlns:a16="http://schemas.microsoft.com/office/drawing/2014/main" id="{9D1966E1-76E8-1714-428E-412664AF9598}"/>
              </a:ext>
            </a:extLst>
          </p:cNvPr>
          <p:cNvSpPr txBox="1"/>
          <p:nvPr/>
        </p:nvSpPr>
        <p:spPr>
          <a:xfrm>
            <a:off x="240031" y="458666"/>
            <a:ext cx="11715751" cy="1455270"/>
          </a:xfrm>
          <a:prstGeom prst="rect">
            <a:avLst/>
          </a:prstGeom>
          <a:noFill/>
        </p:spPr>
        <p:txBody>
          <a:bodyPr wrap="square" lIns="9144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fontAlgn="b">
              <a:lnSpc>
                <a:spcPct val="150000"/>
              </a:lnSpc>
              <a:spcAft>
                <a:spcPts val="100"/>
              </a:spcAft>
            </a:pPr>
            <a:r>
              <a:rPr lang="en-US" sz="2000" b="1">
                <a:solidFill>
                  <a:srgbClr val="000000"/>
                </a:solidFill>
                <a:latin typeface="Adani Regular"/>
              </a:rPr>
              <a:t>Project Capacity</a:t>
            </a:r>
            <a:r>
              <a:rPr lang="en-US" sz="2000">
                <a:solidFill>
                  <a:srgbClr val="000000"/>
                </a:solidFill>
                <a:latin typeface="Adani Regular"/>
              </a:rPr>
              <a:t>     	:  </a:t>
            </a:r>
            <a:r>
              <a:rPr lang="en-IN" sz="2000">
                <a:latin typeface="Adani Regular"/>
                <a:ea typeface="+mj-lt"/>
                <a:cs typeface="+mj-lt"/>
              </a:rPr>
              <a:t>1126 MW / 3531</a:t>
            </a:r>
            <a:r>
              <a:rPr lang="en-US" sz="2000">
                <a:solidFill>
                  <a:srgbClr val="000000"/>
                </a:solidFill>
                <a:latin typeface="Adani Regular"/>
              </a:rPr>
              <a:t>MWh (Dispatchable Power : 3098 MWh) </a:t>
            </a:r>
          </a:p>
          <a:p>
            <a:pPr fontAlgn="b">
              <a:lnSpc>
                <a:spcPct val="150000"/>
              </a:lnSpc>
              <a:spcAft>
                <a:spcPts val="100"/>
              </a:spcAft>
            </a:pPr>
            <a:r>
              <a:rPr lang="en-US" sz="2000" b="1">
                <a:solidFill>
                  <a:srgbClr val="000000"/>
                </a:solidFill>
                <a:latin typeface="Adani Regular"/>
              </a:rPr>
              <a:t>Engineering Consultant  </a:t>
            </a:r>
            <a:r>
              <a:rPr lang="en-US" sz="2000">
                <a:solidFill>
                  <a:srgbClr val="000000"/>
                </a:solidFill>
                <a:latin typeface="Adani Regular"/>
              </a:rPr>
              <a:t>  	:  Fichtner </a:t>
            </a:r>
          </a:p>
          <a:p>
            <a:pPr>
              <a:lnSpc>
                <a:spcPct val="150000"/>
              </a:lnSpc>
              <a:spcAft>
                <a:spcPts val="100"/>
              </a:spcAft>
            </a:pPr>
            <a:r>
              <a:rPr lang="en-US" sz="2000" b="1">
                <a:solidFill>
                  <a:srgbClr val="000000"/>
                </a:solidFill>
                <a:latin typeface="Adani Regular"/>
              </a:rPr>
              <a:t>Capex NFA (Rs 4750.1 Cr)	</a:t>
            </a:r>
            <a:r>
              <a:rPr lang="en-US" sz="2000">
                <a:solidFill>
                  <a:srgbClr val="000000"/>
                </a:solidFill>
                <a:latin typeface="Adani Regular"/>
              </a:rPr>
              <a:t>:  Approved on 29 May 25 </a:t>
            </a:r>
          </a:p>
        </p:txBody>
      </p:sp>
      <p:sp>
        <p:nvSpPr>
          <p:cNvPr id="2" name="Slide Number Placeholder 2">
            <a:extLst>
              <a:ext uri="{FF2B5EF4-FFF2-40B4-BE49-F238E27FC236}">
                <a16:creationId xmlns:a16="http://schemas.microsoft.com/office/drawing/2014/main" id="{C03BEAD2-8931-C31E-8A25-8FFEAE087CC0}"/>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62</a:t>
            </a:fld>
            <a:endParaRPr lang="en-IN"/>
          </a:p>
        </p:txBody>
      </p:sp>
      <p:sp>
        <p:nvSpPr>
          <p:cNvPr id="6" name="TextBox 5">
            <a:extLst>
              <a:ext uri="{FF2B5EF4-FFF2-40B4-BE49-F238E27FC236}">
                <a16:creationId xmlns:a16="http://schemas.microsoft.com/office/drawing/2014/main" id="{202F3FDA-B847-0461-CD48-A28B485BF35A}"/>
              </a:ext>
            </a:extLst>
          </p:cNvPr>
          <p:cNvSpPr txBox="1"/>
          <p:nvPr/>
        </p:nvSpPr>
        <p:spPr>
          <a:xfrm>
            <a:off x="397198" y="6492011"/>
            <a:ext cx="2560606" cy="276999"/>
          </a:xfrm>
          <a:prstGeom prst="rect">
            <a:avLst/>
          </a:prstGeom>
          <a:noFill/>
        </p:spPr>
        <p:txBody>
          <a:bodyPr wrap="square" rtlCol="0">
            <a:spAutoFit/>
          </a:bodyPr>
          <a:lstStyle/>
          <a:p>
            <a:r>
              <a:rPr lang="en-US" sz="1200">
                <a:latin typeface="Adani Regular" panose="02000503000000020004" pitchFamily="2" charset="0"/>
              </a:rPr>
              <a:t>*37 GP Containers Pending</a:t>
            </a:r>
          </a:p>
        </p:txBody>
      </p:sp>
    </p:spTree>
    <p:extLst>
      <p:ext uri="{BB962C8B-B14F-4D97-AF65-F5344CB8AC3E}">
        <p14:creationId xmlns:p14="http://schemas.microsoft.com/office/powerpoint/2010/main" val="33654176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37688-FC03-A1E4-2B9F-6EFC819C6C89}"/>
              </a:ext>
            </a:extLst>
          </p:cNvPr>
          <p:cNvSpPr>
            <a:spLocks noGrp="1"/>
          </p:cNvSpPr>
          <p:nvPr>
            <p:ph type="ctrTitle"/>
          </p:nvPr>
        </p:nvSpPr>
        <p:spPr>
          <a:xfrm>
            <a:off x="397198" y="160393"/>
            <a:ext cx="11577483" cy="424449"/>
          </a:xfrm>
          <a:noFill/>
        </p:spPr>
        <p:txBody>
          <a:bodyPr vert="horz" wrap="square" lIns="91157" tIns="45580" rIns="91157" bIns="45580" rtlCol="0" anchor="b">
            <a:spAutoFit/>
          </a:bodyPr>
          <a:lstStyle/>
          <a:p>
            <a:pPr marL="109192" algn="l" defTabSz="911377"/>
            <a:r>
              <a:rPr lang="en-US" sz="2400" b="1">
                <a:solidFill>
                  <a:srgbClr val="7030A0"/>
                </a:solidFill>
                <a:latin typeface="Adani Regular" panose="02000503000000020004" pitchFamily="2" charset="0"/>
                <a:ea typeface="+mn-ea"/>
                <a:cs typeface="+mn-cs"/>
              </a:rPr>
              <a:t>Salient Project Features</a:t>
            </a:r>
          </a:p>
        </p:txBody>
      </p:sp>
      <p:graphicFrame>
        <p:nvGraphicFramePr>
          <p:cNvPr id="3" name="Table 2">
            <a:extLst>
              <a:ext uri="{FF2B5EF4-FFF2-40B4-BE49-F238E27FC236}">
                <a16:creationId xmlns:a16="http://schemas.microsoft.com/office/drawing/2014/main" id="{6FA884ED-0F40-5D75-5567-44B4C362CB18}"/>
              </a:ext>
            </a:extLst>
          </p:cNvPr>
          <p:cNvGraphicFramePr>
            <a:graphicFrameLocks noGrp="1"/>
          </p:cNvGraphicFramePr>
          <p:nvPr/>
        </p:nvGraphicFramePr>
        <p:xfrm>
          <a:off x="148590" y="624972"/>
          <a:ext cx="11936888" cy="5422903"/>
        </p:xfrm>
        <a:graphic>
          <a:graphicData uri="http://schemas.openxmlformats.org/drawingml/2006/table">
            <a:tbl>
              <a:tblPr bandRow="1"/>
              <a:tblGrid>
                <a:gridCol w="2387378">
                  <a:extLst>
                    <a:ext uri="{9D8B030D-6E8A-4147-A177-3AD203B41FA5}">
                      <a16:colId xmlns:a16="http://schemas.microsoft.com/office/drawing/2014/main" val="20000"/>
                    </a:ext>
                  </a:extLst>
                </a:gridCol>
                <a:gridCol w="2387378">
                  <a:extLst>
                    <a:ext uri="{9D8B030D-6E8A-4147-A177-3AD203B41FA5}">
                      <a16:colId xmlns:a16="http://schemas.microsoft.com/office/drawing/2014/main" val="20001"/>
                    </a:ext>
                  </a:extLst>
                </a:gridCol>
                <a:gridCol w="2448630">
                  <a:extLst>
                    <a:ext uri="{9D8B030D-6E8A-4147-A177-3AD203B41FA5}">
                      <a16:colId xmlns:a16="http://schemas.microsoft.com/office/drawing/2014/main" val="4103460549"/>
                    </a:ext>
                  </a:extLst>
                </a:gridCol>
                <a:gridCol w="2465418">
                  <a:extLst>
                    <a:ext uri="{9D8B030D-6E8A-4147-A177-3AD203B41FA5}">
                      <a16:colId xmlns:a16="http://schemas.microsoft.com/office/drawing/2014/main" val="2006987000"/>
                    </a:ext>
                  </a:extLst>
                </a:gridCol>
                <a:gridCol w="2248084">
                  <a:extLst>
                    <a:ext uri="{9D8B030D-6E8A-4147-A177-3AD203B41FA5}">
                      <a16:colId xmlns:a16="http://schemas.microsoft.com/office/drawing/2014/main" val="2335633020"/>
                    </a:ext>
                  </a:extLst>
                </a:gridCol>
              </a:tblGrid>
              <a:tr h="584507">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ctr" rtl="0" fontAlgn="ctr">
                        <a:buFontTx/>
                        <a:buNone/>
                      </a:pPr>
                      <a:r>
                        <a:rPr lang="en-US" sz="1800" b="1" kern="1200">
                          <a:solidFill>
                            <a:schemeClr val="tx1"/>
                          </a:solidFill>
                          <a:effectLst/>
                          <a:latin typeface="Adani Regular" panose="02000503000000020004" pitchFamily="2" charset="0"/>
                          <a:ea typeface="+mn-ea"/>
                          <a:cs typeface="+mn-cs"/>
                        </a:rPr>
                        <a:t>Project</a:t>
                      </a:r>
                    </a:p>
                  </a:txBody>
                  <a:tcPr marL="72000" marR="36000" marT="9525" marB="0" anchor="ctr">
                    <a:lnL w="12700" cap="flat" cmpd="sng" algn="ctr">
                      <a:solidFill>
                        <a:schemeClr val="tx1"/>
                      </a:solidFill>
                      <a:prstDash val="solid"/>
                      <a:round/>
                      <a:headEnd type="none" w="med" len="med"/>
                      <a:tailEnd type="none" w="med" len="med"/>
                    </a:lnL>
                    <a:lnR w="12700" cmpd="sng">
                      <a:solidFill>
                        <a:srgbClr val="8064A2"/>
                      </a:solidFill>
                    </a:lnR>
                    <a:lnT w="12700" cap="flat" cmpd="sng" algn="ctr">
                      <a:solidFill>
                        <a:schemeClr val="tx1"/>
                      </a:solidFill>
                      <a:prstDash val="solid"/>
                      <a:round/>
                      <a:headEnd type="none" w="med" len="med"/>
                      <a:tailEnd type="none" w="med" len="med"/>
                    </a:lnT>
                    <a:lnB w="12700" cmpd="sng">
                      <a:solidFill>
                        <a:srgbClr val="8064A2"/>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15570" lvl="0" indent="0" algn="ctr" fontAlgn="ctr"/>
                      <a:r>
                        <a:rPr lang="en-US" sz="1800" b="1" u="none" strike="noStrike">
                          <a:solidFill>
                            <a:schemeClr val="tx1"/>
                          </a:solidFill>
                          <a:effectLst/>
                          <a:latin typeface="Adani Regular" panose="02000503000000020004" pitchFamily="2" charset="0"/>
                        </a:rPr>
                        <a:t>Khavda BESS (Overall)</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rgbClr val="8064A2"/>
                      </a:solidFill>
                    </a:lnB>
                    <a:lnTlToBr w="12700" cmpd="sng">
                      <a:noFill/>
                      <a:prstDash val="solid"/>
                    </a:lnTlToBr>
                    <a:lnBlToTr w="12700" cmpd="sng">
                      <a:noFill/>
                      <a:prstDash val="solid"/>
                    </a:lnBlToTr>
                    <a:solidFill>
                      <a:schemeClr val="accent5">
                        <a:lumMod val="20000"/>
                        <a:lumOff val="80000"/>
                      </a:schemeClr>
                    </a:solidFill>
                  </a:tcPr>
                </a:tc>
                <a:tc>
                  <a:txBody>
                    <a:bodyPr/>
                    <a:lstStyle/>
                    <a:p>
                      <a:pPr marL="115570" lvl="0" indent="0" algn="ctr" fontAlgn="ctr"/>
                      <a:r>
                        <a:rPr lang="en-US" sz="1800" b="1" u="none" strike="noStrike">
                          <a:solidFill>
                            <a:schemeClr val="tx1"/>
                          </a:solidFill>
                          <a:effectLst/>
                          <a:latin typeface="Adani Regular" panose="02000503000000020004" pitchFamily="2" charset="0"/>
                        </a:rPr>
                        <a:t>PSS 10</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lvl="0" indent="0" algn="ctr" fontAlgn="ctr"/>
                      <a:r>
                        <a:rPr lang="en-US" sz="1800" b="1" u="none" strike="noStrike">
                          <a:solidFill>
                            <a:schemeClr val="tx1"/>
                          </a:solidFill>
                          <a:effectLst/>
                          <a:latin typeface="Adani Regular" panose="02000503000000020004" pitchFamily="2" charset="0"/>
                        </a:rPr>
                        <a:t>PSS 05</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lvl="0" indent="0" algn="ctr" fontAlgn="ctr"/>
                      <a:r>
                        <a:rPr lang="en-US" sz="1800" b="1" u="none" strike="noStrike">
                          <a:solidFill>
                            <a:schemeClr val="tx1"/>
                          </a:solidFill>
                          <a:effectLst/>
                          <a:latin typeface="Adani Regular" panose="02000503000000020004" pitchFamily="2" charset="0"/>
                        </a:rPr>
                        <a:t>PSS 08</a:t>
                      </a:r>
                    </a:p>
                  </a:txBody>
                  <a:tcPr marL="72000" marR="36000" marT="9525" marB="0" anchor="ctr">
                    <a:lnL w="12700" cmpd="sng">
                      <a:solidFill>
                        <a:srgbClr val="8064A2"/>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7830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l" rtl="0" fontAlgn="ctr">
                        <a:buFontTx/>
                        <a:buNone/>
                      </a:pPr>
                      <a:r>
                        <a:rPr lang="en-US" sz="1500" b="0" i="0" u="none" strike="noStrike">
                          <a:solidFill>
                            <a:schemeClr val="tx1"/>
                          </a:solidFill>
                          <a:effectLst/>
                          <a:latin typeface="Adani Regular" panose="02000503000000020004" pitchFamily="2" charset="0"/>
                        </a:rPr>
                        <a:t>Project Scope/ Capacity </a:t>
                      </a:r>
                    </a:p>
                  </a:txBody>
                  <a:tcPr marL="72000" marR="36000" marT="9525" marB="0" anchor="ctr">
                    <a:lnL w="12700" cap="flat" cmpd="sng" algn="ctr">
                      <a:solidFill>
                        <a:schemeClr val="tx1"/>
                      </a:solidFill>
                      <a:prstDash val="solid"/>
                      <a:round/>
                      <a:headEnd type="none" w="med" len="med"/>
                      <a:tailEnd type="none" w="med" len="med"/>
                    </a:lnL>
                    <a:lnR w="12700" cmpd="sng">
                      <a:solidFill>
                        <a:srgbClr val="8064A2"/>
                      </a:solidFill>
                    </a:lnR>
                    <a:lnT w="12700" cmpd="sng">
                      <a:solidFill>
                        <a:srgbClr val="8064A2"/>
                      </a:solidFill>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15570" lvl="0" indent="0" algn="ctr" fontAlgn="ctr"/>
                      <a:r>
                        <a:rPr lang="en-IN" sz="1500">
                          <a:latin typeface="Adani Regular" panose="02000503000000020004" pitchFamily="2" charset="0"/>
                          <a:ea typeface="+mj-lt"/>
                          <a:cs typeface="+mj-lt"/>
                        </a:rPr>
                        <a:t>1126 MW / 3531 </a:t>
                      </a:r>
                      <a:r>
                        <a:rPr lang="en-US" sz="1500">
                          <a:solidFill>
                            <a:srgbClr val="000000"/>
                          </a:solidFill>
                          <a:latin typeface="Adani Regular" panose="02000503000000020004" pitchFamily="2" charset="0"/>
                        </a:rPr>
                        <a:t>MWh</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mpd="sng">
                      <a:solidFill>
                        <a:srgbClr val="8064A2"/>
                      </a:solidFill>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500" kern="1200">
                          <a:solidFill>
                            <a:schemeClr val="dk1"/>
                          </a:solidFill>
                          <a:latin typeface="Adani Regular" panose="02000503000000020004" pitchFamily="2" charset="0"/>
                          <a:ea typeface="+mj-lt"/>
                          <a:cs typeface="+mj-lt"/>
                        </a:rPr>
                        <a:t>422.4 MW / 1444.3 MWh</a:t>
                      </a:r>
                    </a:p>
                  </a:txBody>
                  <a:tcPr marL="68580" marR="68580" marT="34290" marB="3429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500" kern="1200">
                          <a:solidFill>
                            <a:schemeClr val="dk1"/>
                          </a:solidFill>
                          <a:latin typeface="Adani Regular" panose="02000503000000020004" pitchFamily="2" charset="0"/>
                          <a:ea typeface="+mj-lt"/>
                          <a:cs typeface="+mj-lt"/>
                        </a:rPr>
                        <a:t>422.4 MW / 1444.3 MWh</a:t>
                      </a:r>
                    </a:p>
                  </a:txBody>
                  <a:tcPr marL="68580" marR="68580" marT="34290" marB="3429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lvl="0" indent="0" algn="ctr" fontAlgn="ctr"/>
                      <a:r>
                        <a:rPr lang="en-US" sz="1500" kern="1200">
                          <a:solidFill>
                            <a:schemeClr val="dk1"/>
                          </a:solidFill>
                          <a:latin typeface="Adani Regular" panose="02000503000000020004" pitchFamily="2" charset="0"/>
                          <a:ea typeface="+mj-lt"/>
                          <a:cs typeface="+mj-lt"/>
                        </a:rPr>
                        <a:t>281.6 MW / 641.9 MWh</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1690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just" rtl="0" fontAlgn="ctr">
                        <a:buFontTx/>
                        <a:buNone/>
                      </a:pPr>
                      <a:r>
                        <a:rPr lang="en-US" sz="1500" b="0" i="0" u="none" strike="noStrike">
                          <a:solidFill>
                            <a:schemeClr val="tx1"/>
                          </a:solidFill>
                          <a:effectLst/>
                          <a:latin typeface="Adani Regular" panose="02000503000000020004" pitchFamily="2" charset="0"/>
                        </a:rPr>
                        <a:t>Owner/ Developer</a:t>
                      </a:r>
                    </a:p>
                  </a:txBody>
                  <a:tcPr marL="72000" marR="36000" marT="9525" marB="0" anchor="ctr">
                    <a:lnL w="12700" cap="flat" cmpd="sng" algn="ctr">
                      <a:solidFill>
                        <a:schemeClr val="tx1"/>
                      </a:solidFill>
                      <a:prstDash val="solid"/>
                      <a:round/>
                      <a:headEnd type="none" w="med" len="med"/>
                      <a:tailEnd type="none" w="med" len="med"/>
                    </a:lnL>
                    <a:lnR w="12700" cmpd="sng">
                      <a:solidFill>
                        <a:srgbClr val="8064A2"/>
                      </a:solidFill>
                    </a:lnR>
                    <a:lnT w="12700" cmpd="sng">
                      <a:solidFill>
                        <a:srgbClr val="8064A2"/>
                      </a:solidFill>
                    </a:lnT>
                    <a:lnB w="12700" cmpd="sng">
                      <a:solidFill>
                        <a:srgbClr val="8064A2"/>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15570" lvl="0" indent="0" algn="ctr" fontAlgn="ctr"/>
                      <a:r>
                        <a:rPr lang="en-US" sz="1500">
                          <a:solidFill>
                            <a:srgbClr val="000000"/>
                          </a:solidFill>
                          <a:latin typeface="Adani Regular" panose="02000503000000020004" pitchFamily="2" charset="0"/>
                        </a:rPr>
                        <a:t>ARE43L / ARE37L / ARE36L</a:t>
                      </a:r>
                      <a:endParaRPr lang="en-US" sz="1500" b="0" i="0" u="none" strike="noStrike">
                        <a:solidFill>
                          <a:schemeClr val="tx1"/>
                        </a:solidFill>
                        <a:effectLst/>
                        <a:latin typeface="Adani Regular" panose="02000503000000020004" pitchFamily="2" charset="0"/>
                      </a:endParaRP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mpd="sng">
                      <a:solidFill>
                        <a:srgbClr val="8064A2"/>
                      </a:solidFill>
                    </a:lnT>
                    <a:lnB w="12700" cmpd="sng">
                      <a:solidFill>
                        <a:srgbClr val="8064A2"/>
                      </a:solidFill>
                    </a:lnB>
                    <a:lnTlToBr w="12700" cmpd="sng">
                      <a:noFill/>
                      <a:prstDash val="solid"/>
                    </a:lnTlToBr>
                    <a:lnBlToTr w="12700" cmpd="sng">
                      <a:noFill/>
                      <a:prstDash val="solid"/>
                    </a:lnBlToTr>
                    <a:solidFill>
                      <a:schemeClr val="accent5">
                        <a:lumMod val="20000"/>
                        <a:lumOff val="80000"/>
                      </a:schemeClr>
                    </a:solidFill>
                  </a:tcPr>
                </a:tc>
                <a:tc>
                  <a:txBody>
                    <a:bodyPr/>
                    <a:lstStyle/>
                    <a:p>
                      <a:pPr marL="115570" lvl="0" indent="0" algn="ctr" fontAlgn="ctr"/>
                      <a:r>
                        <a:rPr lang="en-US" sz="1500">
                          <a:solidFill>
                            <a:srgbClr val="000000"/>
                          </a:solidFill>
                          <a:latin typeface="Adani Regular" panose="02000503000000020004" pitchFamily="2" charset="0"/>
                        </a:rPr>
                        <a:t>ARE43L</a:t>
                      </a:r>
                      <a:endParaRPr lang="en-US" sz="1500" kern="1200">
                        <a:solidFill>
                          <a:schemeClr val="dk1"/>
                        </a:solidFill>
                        <a:latin typeface="Adani Regular" panose="02000503000000020004" pitchFamily="2" charset="0"/>
                        <a:ea typeface="+mj-lt"/>
                        <a:cs typeface="+mj-lt"/>
                      </a:endParaRP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lvl="0" indent="0" algn="ctr" fontAlgn="ctr"/>
                      <a:r>
                        <a:rPr lang="en-US" sz="1500">
                          <a:solidFill>
                            <a:srgbClr val="000000"/>
                          </a:solidFill>
                          <a:latin typeface="Adani Regular" panose="02000503000000020004" pitchFamily="2" charset="0"/>
                        </a:rPr>
                        <a:t>ARE37L</a:t>
                      </a:r>
                      <a:endParaRPr lang="en-US" sz="1500" kern="1200">
                        <a:solidFill>
                          <a:schemeClr val="dk1"/>
                        </a:solidFill>
                        <a:latin typeface="Adani Regular" panose="02000503000000020004" pitchFamily="2" charset="0"/>
                        <a:ea typeface="+mj-lt"/>
                        <a:cs typeface="+mj-lt"/>
                      </a:endParaRP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lvl="0" indent="0" algn="ctr" fontAlgn="ctr"/>
                      <a:r>
                        <a:rPr lang="en-US" sz="1500">
                          <a:solidFill>
                            <a:srgbClr val="000000"/>
                          </a:solidFill>
                          <a:latin typeface="Adani Regular" panose="02000503000000020004" pitchFamily="2" charset="0"/>
                        </a:rPr>
                        <a:t>ARE36L</a:t>
                      </a:r>
                      <a:endParaRPr lang="en-US" sz="1500" kern="1200">
                        <a:solidFill>
                          <a:schemeClr val="dk1"/>
                        </a:solidFill>
                        <a:latin typeface="Adani Regular" panose="02000503000000020004" pitchFamily="2" charset="0"/>
                        <a:ea typeface="+mj-lt"/>
                        <a:cs typeface="+mj-lt"/>
                      </a:endParaRPr>
                    </a:p>
                  </a:txBody>
                  <a:tcPr marL="72000" marR="36000" marT="9525" marB="0" anchor="ctr">
                    <a:lnL w="12700" cmpd="sng">
                      <a:solidFill>
                        <a:srgbClr val="8064A2"/>
                      </a:solidFill>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4499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just" rtl="0" fontAlgn="ctr">
                        <a:buFontTx/>
                        <a:buNone/>
                      </a:pPr>
                      <a:r>
                        <a:rPr lang="en-US" sz="1500" b="0" i="0" u="none" strike="noStrike">
                          <a:solidFill>
                            <a:schemeClr val="tx1"/>
                          </a:solidFill>
                          <a:effectLst/>
                          <a:latin typeface="Adani Regular" panose="02000503000000020004" pitchFamily="2" charset="0"/>
                        </a:rPr>
                        <a:t>Location</a:t>
                      </a:r>
                    </a:p>
                  </a:txBody>
                  <a:tcPr marL="72000" marR="36000" marT="9525" marB="0" anchor="ctr">
                    <a:lnL w="12700" cap="flat" cmpd="sng" algn="ctr">
                      <a:solidFill>
                        <a:schemeClr val="tx1"/>
                      </a:solidFill>
                      <a:prstDash val="solid"/>
                      <a:round/>
                      <a:headEnd type="none" w="med" len="med"/>
                      <a:tailEnd type="none" w="med" len="med"/>
                    </a:lnL>
                    <a:lnR w="12700" cmpd="sng">
                      <a:solidFill>
                        <a:srgbClr val="8064A2"/>
                      </a:solidFill>
                    </a:lnR>
                    <a:lnT w="12700" cmpd="sng">
                      <a:solidFill>
                        <a:srgbClr val="8064A2"/>
                      </a:solidFill>
                    </a:lnT>
                    <a:lnB w="12700" cmpd="sng">
                      <a:solidFill>
                        <a:srgbClr val="8064A2"/>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15570" indent="0" algn="ctr" fontAlgn="ctr"/>
                      <a:r>
                        <a:rPr lang="en-US" sz="1500" b="0" i="0" u="none" strike="noStrike">
                          <a:solidFill>
                            <a:schemeClr val="tx1"/>
                          </a:solidFill>
                          <a:effectLst/>
                          <a:latin typeface="Adani Regular" panose="02000503000000020004" pitchFamily="2" charset="0"/>
                        </a:rPr>
                        <a:t>Khavda, Bhuj, Kutch</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mpd="sng">
                      <a:solidFill>
                        <a:srgbClr val="8064A2"/>
                      </a:solidFill>
                    </a:lnT>
                    <a:lnB w="12700" cmpd="sng">
                      <a:solidFill>
                        <a:srgbClr val="8064A2"/>
                      </a:solidFill>
                    </a:lnB>
                    <a:lnTlToBr w="12700" cmpd="sng">
                      <a:noFill/>
                      <a:prstDash val="solid"/>
                    </a:lnTlToBr>
                    <a:lnBlToTr w="12700" cmpd="sng">
                      <a:noFill/>
                      <a:prstDash val="solid"/>
                    </a:lnBlToTr>
                    <a:solidFill>
                      <a:schemeClr val="accent5">
                        <a:lumMod val="20000"/>
                        <a:lumOff val="80000"/>
                      </a:schemeClr>
                    </a:solidFill>
                  </a:tcPr>
                </a:tc>
                <a:tc>
                  <a:txBody>
                    <a:body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kern="1200">
                          <a:solidFill>
                            <a:schemeClr val="dk1"/>
                          </a:solidFill>
                          <a:latin typeface="Adani Regular" panose="02000503000000020004" pitchFamily="2" charset="0"/>
                          <a:ea typeface="+mj-lt"/>
                          <a:cs typeface="+mj-lt"/>
                        </a:rPr>
                        <a:t>S5</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kern="1200">
                          <a:solidFill>
                            <a:schemeClr val="dk1"/>
                          </a:solidFill>
                          <a:latin typeface="Adani Regular" panose="02000503000000020004" pitchFamily="2" charset="0"/>
                          <a:ea typeface="+mj-lt"/>
                          <a:cs typeface="+mj-lt"/>
                        </a:rPr>
                        <a:t>A14</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kern="1200">
                          <a:solidFill>
                            <a:schemeClr val="dk1"/>
                          </a:solidFill>
                          <a:latin typeface="Adani Regular" panose="02000503000000020004" pitchFamily="2" charset="0"/>
                          <a:ea typeface="+mj-lt"/>
                          <a:cs typeface="+mj-lt"/>
                        </a:rPr>
                        <a:t>A18</a:t>
                      </a:r>
                    </a:p>
                  </a:txBody>
                  <a:tcPr marL="72000" marR="36000" marT="9525" marB="0" anchor="ctr">
                    <a:lnL w="12700" cmpd="sng">
                      <a:solidFill>
                        <a:srgbClr val="8064A2"/>
                      </a:solidFill>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3943223"/>
                  </a:ext>
                </a:extLst>
              </a:tr>
              <a:tr h="44499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just" rtl="0" fontAlgn="ctr">
                        <a:buFontTx/>
                        <a:buNone/>
                      </a:pPr>
                      <a:r>
                        <a:rPr lang="en-US" sz="1500" b="0" u="none" strike="noStrike" kern="1200">
                          <a:solidFill>
                            <a:schemeClr val="tx1"/>
                          </a:solidFill>
                          <a:effectLst/>
                          <a:latin typeface="Adani Regular" panose="02000503000000020004" pitchFamily="2" charset="0"/>
                          <a:ea typeface="+mn-ea"/>
                          <a:cs typeface="+mn-cs"/>
                        </a:rPr>
                        <a:t>EPC, If applicable</a:t>
                      </a:r>
                    </a:p>
                  </a:txBody>
                  <a:tcPr marL="72000" marR="36000" marT="9525" marB="0" anchor="ctr">
                    <a:lnL w="12700" cap="flat" cmpd="sng" algn="ctr">
                      <a:solidFill>
                        <a:schemeClr val="tx1"/>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15570" lvl="0" indent="0" algn="ctr" defTabSz="914400" rtl="0" eaLnBrk="1" fontAlgn="ctr" latinLnBrk="0" hangingPunct="1"/>
                      <a:r>
                        <a:rPr lang="en-US" sz="1500" b="0" u="none" strike="noStrike" kern="1200">
                          <a:solidFill>
                            <a:schemeClr val="tx1"/>
                          </a:solidFill>
                          <a:effectLst/>
                          <a:latin typeface="Adani Regular" panose="02000503000000020004" pitchFamily="2" charset="0"/>
                          <a:ea typeface="+mn-ea"/>
                          <a:cs typeface="+mn-cs"/>
                        </a:rPr>
                        <a:t>-</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kern="1200">
                          <a:solidFill>
                            <a:schemeClr val="dk1"/>
                          </a:solidFill>
                          <a:latin typeface="Adani Regular" panose="02000503000000020004" pitchFamily="2" charset="0"/>
                          <a:ea typeface="+mj-lt"/>
                          <a:cs typeface="+mj-lt"/>
                        </a:rPr>
                        <a:t>-</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kern="1200">
                          <a:solidFill>
                            <a:schemeClr val="dk1"/>
                          </a:solidFill>
                          <a:latin typeface="Adani Regular" panose="02000503000000020004" pitchFamily="2" charset="0"/>
                          <a:ea typeface="+mj-lt"/>
                          <a:cs typeface="+mj-lt"/>
                        </a:rPr>
                        <a:t>-</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kern="1200">
                          <a:solidFill>
                            <a:schemeClr val="dk1"/>
                          </a:solidFill>
                          <a:latin typeface="Adani Regular" panose="02000503000000020004" pitchFamily="2" charset="0"/>
                          <a:ea typeface="+mj-lt"/>
                          <a:cs typeface="+mj-lt"/>
                        </a:rPr>
                        <a:t>-</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4499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just" rtl="0" fontAlgn="ctr">
                        <a:buFontTx/>
                        <a:buNone/>
                      </a:pPr>
                      <a:r>
                        <a:rPr lang="en-US" sz="1500" b="0" u="none" strike="noStrike" kern="1200">
                          <a:solidFill>
                            <a:schemeClr val="tx1"/>
                          </a:solidFill>
                          <a:effectLst/>
                          <a:latin typeface="Adani Regular" panose="02000503000000020004" pitchFamily="2" charset="0"/>
                          <a:ea typeface="+mn-ea"/>
                          <a:cs typeface="+mn-cs"/>
                        </a:rPr>
                        <a:t>Land Area (Acre)</a:t>
                      </a:r>
                    </a:p>
                  </a:txBody>
                  <a:tcPr marL="72000" marR="36000" marT="9525" marB="0" anchor="ctr">
                    <a:lnL w="12700" cap="flat" cmpd="sng" algn="ctr">
                      <a:solidFill>
                        <a:schemeClr val="tx1"/>
                      </a:solidFill>
                      <a:prstDash val="solid"/>
                      <a:round/>
                      <a:headEnd type="none" w="med" len="med"/>
                      <a:tailEnd type="none" w="med" len="med"/>
                    </a:lnL>
                    <a:lnR w="12700" cmpd="sng">
                      <a:solidFill>
                        <a:srgbClr val="8064A2"/>
                      </a:solidFill>
                    </a:lnR>
                    <a:lnT w="12700" cmpd="sng">
                      <a:solidFill>
                        <a:srgbClr val="8064A2"/>
                      </a:solidFill>
                    </a:lnT>
                    <a:lnB w="12700" cmpd="sng">
                      <a:solidFill>
                        <a:srgbClr val="8064A2"/>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b="0" u="none" strike="noStrike" kern="1200">
                          <a:solidFill>
                            <a:schemeClr val="tx1"/>
                          </a:solidFill>
                          <a:effectLst/>
                          <a:latin typeface="Adani Regular" panose="02000503000000020004" pitchFamily="2" charset="0"/>
                          <a:ea typeface="+mn-ea"/>
                          <a:cs typeface="+mn-cs"/>
                        </a:rPr>
                        <a:t>64.2</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mpd="sng">
                      <a:solidFill>
                        <a:srgbClr val="8064A2"/>
                      </a:solidFill>
                    </a:lnT>
                    <a:lnB w="12700" cmpd="sng">
                      <a:solidFill>
                        <a:srgbClr val="8064A2"/>
                      </a:solidFill>
                    </a:lnB>
                    <a:lnTlToBr w="12700" cmpd="sng">
                      <a:noFill/>
                      <a:prstDash val="solid"/>
                    </a:lnTlToBr>
                    <a:lnBlToTr w="12700" cmpd="sng">
                      <a:noFill/>
                      <a:prstDash val="solid"/>
                    </a:lnBlToTr>
                    <a:solidFill>
                      <a:schemeClr val="accent5">
                        <a:lumMod val="20000"/>
                        <a:lumOff val="80000"/>
                      </a:schemeClr>
                    </a:solidFill>
                  </a:tcPr>
                </a:tc>
                <a:tc>
                  <a:txBody>
                    <a:body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kern="1200">
                          <a:solidFill>
                            <a:schemeClr val="dk1"/>
                          </a:solidFill>
                          <a:latin typeface="Adani Regular" panose="02000503000000020004" pitchFamily="2" charset="0"/>
                          <a:ea typeface="+mj-lt"/>
                          <a:cs typeface="+mj-lt"/>
                        </a:rPr>
                        <a:t>25.1</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kern="1200">
                          <a:solidFill>
                            <a:schemeClr val="dk1"/>
                          </a:solidFill>
                          <a:latin typeface="Adani Regular" panose="02000503000000020004" pitchFamily="2" charset="0"/>
                          <a:ea typeface="+mj-lt"/>
                          <a:cs typeface="+mj-lt"/>
                        </a:rPr>
                        <a:t>22.8</a:t>
                      </a:r>
                    </a:p>
                  </a:txBody>
                  <a:tcPr marL="72000" marR="36000" marT="9525" marB="0" anchor="ctr">
                    <a:lnL w="12700" cmpd="sng">
                      <a:solidFill>
                        <a:srgbClr val="8064A2"/>
                      </a:solid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defTabSz="914400" rtl="0" eaLnBrk="1" fontAlgn="ctr" latinLnBrk="0" hangingPunct="1">
                        <a:lnSpc>
                          <a:spcPct val="100000"/>
                        </a:lnSpc>
                        <a:spcBef>
                          <a:spcPts val="0"/>
                        </a:spcBef>
                        <a:spcAft>
                          <a:spcPts val="0"/>
                        </a:spcAft>
                        <a:buClrTx/>
                        <a:buSzTx/>
                        <a:buFontTx/>
                        <a:buNone/>
                        <a:tabLst/>
                        <a:defRPr/>
                      </a:pPr>
                      <a:r>
                        <a:rPr lang="en-US" sz="1500" kern="1200">
                          <a:solidFill>
                            <a:schemeClr val="dk1"/>
                          </a:solidFill>
                          <a:latin typeface="Adani Regular" panose="02000503000000020004" pitchFamily="2" charset="0"/>
                          <a:ea typeface="+mj-lt"/>
                          <a:cs typeface="+mj-lt"/>
                        </a:rPr>
                        <a:t>16.3</a:t>
                      </a:r>
                    </a:p>
                  </a:txBody>
                  <a:tcPr marL="72000" marR="36000" marT="9525" marB="0" anchor="ctr">
                    <a:lnL w="12700" cmpd="sng">
                      <a:solidFill>
                        <a:srgbClr val="8064A2"/>
                      </a:solidFill>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3320645"/>
                  </a:ext>
                </a:extLst>
              </a:tr>
              <a:tr h="444994">
                <a:tc>
                  <a:txBody>
                    <a:bodyPr/>
                    <a:lstStyle/>
                    <a:p>
                      <a:pPr marL="0" indent="0" algn="just" rtl="0" fontAlgn="ctr">
                        <a:buFontTx/>
                        <a:buNone/>
                      </a:pPr>
                      <a:r>
                        <a:rPr lang="en-US" sz="1500" b="0" i="0" u="none" strike="noStrike">
                          <a:solidFill>
                            <a:srgbClr val="000000"/>
                          </a:solidFill>
                          <a:effectLst/>
                          <a:latin typeface="Adani Regular" panose="02000503000000020004" pitchFamily="2" charset="0"/>
                        </a:rPr>
                        <a:t>Project Start Date</a:t>
                      </a:r>
                    </a:p>
                  </a:txBody>
                  <a:tcPr marL="72000" marR="36000" marT="9525" marB="0" anchor="ctr">
                    <a:lnL w="12700" cap="flat" cmpd="sng" algn="ctr">
                      <a:solidFill>
                        <a:schemeClr val="tx1"/>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mpd="sng">
                      <a:solidFill>
                        <a:srgbClr val="8064A2"/>
                      </a:solidFill>
                    </a:lnB>
                    <a:lnTlToBr w="12700" cmpd="sng">
                      <a:noFill/>
                      <a:prstDash val="solid"/>
                    </a:lnTlToBr>
                    <a:lnBlToTr w="12700" cmpd="sng">
                      <a:noFill/>
                      <a:prstDash val="solid"/>
                    </a:lnBlToTr>
                    <a:solidFill>
                      <a:schemeClr val="accent6">
                        <a:lumMod val="20000"/>
                        <a:lumOff val="80000"/>
                      </a:schemeClr>
                    </a:solidFill>
                  </a:tcPr>
                </a:tc>
                <a:tc>
                  <a:txBody>
                    <a:bodyPr/>
                    <a:lstStyle/>
                    <a:p>
                      <a:pPr marL="8890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500" b="0" kern="1200">
                          <a:solidFill>
                            <a:schemeClr val="tx1"/>
                          </a:solidFill>
                          <a:latin typeface="Adani Regular" panose="02000503000000020004" pitchFamily="2" charset="0"/>
                          <a:ea typeface="+mn-ea"/>
                          <a:cs typeface="Calibri"/>
                        </a:rPr>
                        <a:t>May-2025</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mpd="sng">
                      <a:solidFill>
                        <a:srgbClr val="8064A2"/>
                      </a:solidFill>
                    </a:lnB>
                    <a:lnTlToBr w="12700" cmpd="sng">
                      <a:noFill/>
                      <a:prstDash val="solid"/>
                    </a:lnTlToBr>
                    <a:lnBlToTr w="12700" cmpd="sng">
                      <a:noFill/>
                      <a:prstDash val="solid"/>
                    </a:lnBlToTr>
                    <a:solidFill>
                      <a:schemeClr val="accent5">
                        <a:lumMod val="20000"/>
                        <a:lumOff val="80000"/>
                      </a:schemeClr>
                    </a:solidFill>
                  </a:tcPr>
                </a:tc>
                <a:tc>
                  <a:txBody>
                    <a:bodyPr/>
                    <a:lstStyle/>
                    <a:p>
                      <a:pPr marL="8890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500" b="0" kern="1200">
                          <a:solidFill>
                            <a:schemeClr val="tx1"/>
                          </a:solidFill>
                          <a:latin typeface="Adani Regular" panose="02000503000000020004" pitchFamily="2" charset="0"/>
                          <a:ea typeface="+mn-ea"/>
                          <a:cs typeface="Calibri"/>
                        </a:rPr>
                        <a:t>May-2025</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8890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500" b="0" kern="1200">
                          <a:solidFill>
                            <a:schemeClr val="tx1"/>
                          </a:solidFill>
                          <a:latin typeface="Adani Regular" panose="02000503000000020004" pitchFamily="2" charset="0"/>
                          <a:ea typeface="+mn-ea"/>
                          <a:cs typeface="Calibri"/>
                        </a:rPr>
                        <a:t>May-2025</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8890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500" b="0" kern="1200">
                          <a:solidFill>
                            <a:schemeClr val="tx1"/>
                          </a:solidFill>
                          <a:latin typeface="Adani Regular" panose="02000503000000020004" pitchFamily="2" charset="0"/>
                          <a:ea typeface="+mn-ea"/>
                          <a:cs typeface="Calibri"/>
                        </a:rPr>
                        <a:t>May-2025</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51690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lgn="just" rtl="0" fontAlgn="ctr">
                        <a:buFontTx/>
                        <a:buNone/>
                      </a:pPr>
                      <a:r>
                        <a:rPr lang="en-US" sz="1500" b="0" i="0" u="none" strike="noStrike">
                          <a:solidFill>
                            <a:srgbClr val="000000"/>
                          </a:solidFill>
                          <a:effectLst/>
                          <a:latin typeface="Adani Regular" panose="02000503000000020004" pitchFamily="2" charset="0"/>
                        </a:rPr>
                        <a:t>SCOD</a:t>
                      </a:r>
                    </a:p>
                  </a:txBody>
                  <a:tcPr marL="72000" marR="36000" marT="9525" marB="0" anchor="ctr">
                    <a:lnL w="12700" cap="flat" cmpd="sng" algn="ctr">
                      <a:solidFill>
                        <a:schemeClr val="tx1"/>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mpd="sng">
                      <a:solidFill>
                        <a:srgbClr val="8064A2"/>
                      </a:solidFill>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15570" marR="0" lvl="0" indent="0" algn="ctr" rtl="0" eaLnBrk="1" fontAlgn="ctr" latinLnBrk="0" hangingPunct="1">
                        <a:lnSpc>
                          <a:spcPct val="100000"/>
                        </a:lnSpc>
                        <a:spcBef>
                          <a:spcPts val="0"/>
                        </a:spcBef>
                        <a:spcAft>
                          <a:spcPts val="0"/>
                        </a:spcAft>
                        <a:buClrTx/>
                        <a:buSzTx/>
                        <a:buFont typeface="Arial" panose="020B0604020202020204" pitchFamily="34" charset="0"/>
                        <a:buNone/>
                      </a:pPr>
                      <a:r>
                        <a:rPr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31 Mar 26</a:t>
                      </a:r>
                      <a:endParaRPr kumimoji="0"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endParaRP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mpd="sng">
                      <a:solidFill>
                        <a:srgbClr val="8064A2"/>
                      </a:solidFill>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15570" marR="0" lvl="0" indent="0" algn="ctr">
                        <a:lnSpc>
                          <a:spcPct val="100000"/>
                        </a:lnSpc>
                        <a:spcBef>
                          <a:spcPts val="0"/>
                        </a:spcBef>
                        <a:spcAft>
                          <a:spcPts val="0"/>
                        </a:spcAft>
                        <a:buNone/>
                      </a:pPr>
                      <a:r>
                        <a:rPr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28 Feb 26</a:t>
                      </a:r>
                      <a:endParaRPr kumimoji="0"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endParaRP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a:lnSpc>
                          <a:spcPct val="100000"/>
                        </a:lnSpc>
                        <a:spcBef>
                          <a:spcPts val="0"/>
                        </a:spcBef>
                        <a:spcAft>
                          <a:spcPts val="0"/>
                        </a:spcAft>
                        <a:buNone/>
                      </a:pPr>
                      <a:r>
                        <a:rPr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31 Mar 26</a:t>
                      </a:r>
                    </a:p>
                    <a:p>
                      <a:pPr marL="115570" marR="0" lvl="0" indent="0" algn="ctr">
                        <a:lnSpc>
                          <a:spcPct val="100000"/>
                        </a:lnSpc>
                        <a:spcBef>
                          <a:spcPts val="0"/>
                        </a:spcBef>
                        <a:spcAft>
                          <a:spcPts val="0"/>
                        </a:spcAft>
                        <a:buNone/>
                      </a:pPr>
                      <a:r>
                        <a:rPr kumimoji="0"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15-Mar-26</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a:lnSpc>
                          <a:spcPct val="100000"/>
                        </a:lnSpc>
                        <a:spcBef>
                          <a:spcPts val="0"/>
                        </a:spcBef>
                        <a:spcAft>
                          <a:spcPts val="0"/>
                        </a:spcAft>
                        <a:buNone/>
                      </a:pPr>
                      <a:r>
                        <a:rPr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31 Mar 26</a:t>
                      </a:r>
                    </a:p>
                    <a:p>
                      <a:pPr marL="11557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15-Mar-26</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35821387"/>
                  </a:ext>
                </a:extLst>
              </a:tr>
              <a:tr h="1446307">
                <a:tc>
                  <a:txBody>
                    <a:bodyPr/>
                    <a:lstStyle/>
                    <a:p>
                      <a:pPr marL="0" indent="0" algn="just" rtl="0" fontAlgn="ctr">
                        <a:buFontTx/>
                        <a:buNone/>
                      </a:pPr>
                      <a:r>
                        <a:rPr lang="en-US" sz="1500" b="0" i="0" u="none" strike="noStrike">
                          <a:solidFill>
                            <a:srgbClr val="000000"/>
                          </a:solidFill>
                          <a:effectLst/>
                          <a:latin typeface="Adani Regular" panose="02000503000000020004" pitchFamily="2" charset="0"/>
                        </a:rPr>
                        <a:t>Expected COD</a:t>
                      </a:r>
                    </a:p>
                  </a:txBody>
                  <a:tcPr marL="72000" marR="36000" marT="9525" marB="0" anchor="ctr">
                    <a:lnL w="12700" cap="flat" cmpd="sng" algn="ctr">
                      <a:solidFill>
                        <a:schemeClr val="tx1"/>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15570" marR="0" lvl="0" indent="0" algn="ctr" rtl="0">
                        <a:lnSpc>
                          <a:spcPct val="100000"/>
                        </a:lnSpc>
                        <a:spcBef>
                          <a:spcPts val="0"/>
                        </a:spcBef>
                        <a:spcAft>
                          <a:spcPts val="0"/>
                        </a:spcAft>
                        <a:buClrTx/>
                        <a:buSzTx/>
                        <a:buFont typeface="Arial" panose="020B0604020202020204" pitchFamily="34" charset="0"/>
                        <a:buNone/>
                      </a:pPr>
                      <a:r>
                        <a:rPr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31 Mar 26</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15570" marR="0" lvl="0" indent="0" algn="ctr">
                        <a:lnSpc>
                          <a:spcPct val="100000"/>
                        </a:lnSpc>
                        <a:spcBef>
                          <a:spcPts val="0"/>
                        </a:spcBef>
                        <a:spcAft>
                          <a:spcPts val="0"/>
                        </a:spcAft>
                        <a:buNone/>
                      </a:pPr>
                      <a:r>
                        <a:rPr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28 Feb 26</a:t>
                      </a:r>
                    </a:p>
                    <a:p>
                      <a:pPr marL="115570" marR="0" lvl="0" indent="0" algn="ctr">
                        <a:lnSpc>
                          <a:spcPct val="100000"/>
                        </a:lnSpc>
                        <a:spcBef>
                          <a:spcPts val="0"/>
                        </a:spcBef>
                        <a:spcAft>
                          <a:spcPts val="0"/>
                        </a:spcAft>
                        <a:buNone/>
                      </a:pPr>
                      <a:r>
                        <a:rPr kumimoji="0"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28 Mar 26</a:t>
                      </a:r>
                    </a:p>
                    <a:p>
                      <a:pPr marL="115570" marR="0" lvl="0" indent="0" algn="ctr">
                        <a:lnSpc>
                          <a:spcPct val="100000"/>
                        </a:lnSpc>
                        <a:spcBef>
                          <a:spcPts val="0"/>
                        </a:spcBef>
                        <a:spcAft>
                          <a:spcPts val="0"/>
                        </a:spcAft>
                        <a:buNone/>
                      </a:pPr>
                      <a:r>
                        <a:rPr kumimoji="0"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20-Apr-26</a:t>
                      </a:r>
                    </a:p>
                    <a:p>
                      <a:pPr marL="115570" marR="0" lvl="0" indent="0" algn="ctr">
                        <a:lnSpc>
                          <a:spcPct val="100000"/>
                        </a:lnSpc>
                        <a:spcBef>
                          <a:spcPts val="0"/>
                        </a:spcBef>
                        <a:spcAft>
                          <a:spcPts val="0"/>
                        </a:spcAft>
                        <a:buNone/>
                      </a:pPr>
                      <a:r>
                        <a:rPr kumimoji="0"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5-May-26</a:t>
                      </a:r>
                    </a:p>
                    <a:p>
                      <a:pPr marL="115570" marR="0" lvl="0" indent="0" algn="ctr">
                        <a:lnSpc>
                          <a:spcPct val="100000"/>
                        </a:lnSpc>
                        <a:spcBef>
                          <a:spcPts val="0"/>
                        </a:spcBef>
                        <a:spcAft>
                          <a:spcPts val="0"/>
                        </a:spcAft>
                        <a:buNone/>
                      </a:pPr>
                      <a:r>
                        <a:rPr kumimoji="0"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31-May-26</a:t>
                      </a:r>
                    </a:p>
                    <a:p>
                      <a:pPr marL="115570" marR="0" lvl="0" indent="0" algn="ctr">
                        <a:lnSpc>
                          <a:spcPct val="100000"/>
                        </a:lnSpc>
                        <a:spcBef>
                          <a:spcPts val="0"/>
                        </a:spcBef>
                        <a:spcAft>
                          <a:spcPts val="0"/>
                        </a:spcAft>
                        <a:buNone/>
                      </a:pPr>
                      <a:r>
                        <a:rPr kumimoji="0"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a:lnSpc>
                          <a:spcPct val="100000"/>
                        </a:lnSpc>
                        <a:spcBef>
                          <a:spcPts val="0"/>
                        </a:spcBef>
                        <a:spcAft>
                          <a:spcPts val="0"/>
                        </a:spcAft>
                        <a:buNone/>
                      </a:pPr>
                      <a:r>
                        <a:rPr kumimoji="0"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31 Mar 26</a:t>
                      </a:r>
                    </a:p>
                    <a:p>
                      <a:pPr marL="115570" marR="0" lvl="0" indent="0" algn="ctr" defTabSz="914400" rtl="0" eaLnBrk="1" fontAlgn="auto" latinLnBrk="0" hangingPunct="1">
                        <a:lnSpc>
                          <a:spcPct val="100000"/>
                        </a:lnSpc>
                        <a:spcBef>
                          <a:spcPts val="0"/>
                        </a:spcBef>
                        <a:spcAft>
                          <a:spcPts val="0"/>
                        </a:spcAft>
                        <a:buClrTx/>
                        <a:buSzTx/>
                        <a:buFontTx/>
                        <a:buNone/>
                        <a:tabLst/>
                        <a:defRPr/>
                      </a:pPr>
                      <a:r>
                        <a:rPr lang="en-IN" sz="1500" strike="sngStrike">
                          <a:solidFill>
                            <a:schemeClr val="tx1"/>
                          </a:solidFill>
                          <a:effectLst/>
                          <a:latin typeface="Adani Regular" panose="02000503000000020004" pitchFamily="2" charset="0"/>
                          <a:ea typeface="Aptos" panose="020B0004020202020204" pitchFamily="34" charset="0"/>
                          <a:cs typeface="Aptos" panose="020B0004020202020204" pitchFamily="34" charset="0"/>
                        </a:rPr>
                        <a:t>27-Mar-26</a:t>
                      </a:r>
                    </a:p>
                    <a:p>
                      <a:pPr marL="115570" marR="0" lvl="0" indent="0" algn="ctr" defTabSz="914400" rtl="0" eaLnBrk="1" fontAlgn="auto" latinLnBrk="0" hangingPunct="1">
                        <a:lnSpc>
                          <a:spcPct val="100000"/>
                        </a:lnSpc>
                        <a:spcBef>
                          <a:spcPts val="0"/>
                        </a:spcBef>
                        <a:spcAft>
                          <a:spcPts val="0"/>
                        </a:spcAft>
                        <a:buClrTx/>
                        <a:buSzTx/>
                        <a:buFontTx/>
                        <a:buNone/>
                        <a:tabLst/>
                        <a:defRPr/>
                      </a:pPr>
                      <a:r>
                        <a:rPr kumimoji="0" lang="en-IN" sz="1500" b="0" i="0" u="none" strike="sngStrike" kern="1200" cap="none" spc="0" normalizeH="0" baseline="0" noProof="0">
                          <a:ln>
                            <a:noFill/>
                          </a:ln>
                          <a:solidFill>
                            <a:schemeClr val="tx1"/>
                          </a:solidFill>
                          <a:effectLst/>
                          <a:uLnTx/>
                          <a:uFillTx/>
                          <a:latin typeface="Adani Regular" panose="02000503000000020004" pitchFamily="2" charset="0"/>
                          <a:ea typeface="+mn-ea"/>
                          <a:cs typeface="+mn-cs"/>
                        </a:rPr>
                        <a:t>27-Apr-26</a:t>
                      </a:r>
                    </a:p>
                    <a:p>
                      <a:pPr marL="115570" marR="0" lvl="0" indent="0" algn="ctr" defTabSz="914400" rtl="0" eaLnBrk="1" fontAlgn="auto" latinLnBrk="0" hangingPunct="1">
                        <a:lnSpc>
                          <a:spcPct val="100000"/>
                        </a:lnSpc>
                        <a:spcBef>
                          <a:spcPts val="0"/>
                        </a:spcBef>
                        <a:spcAft>
                          <a:spcPts val="0"/>
                        </a:spcAft>
                        <a:buClrTx/>
                        <a:buSzTx/>
                        <a:buFontTx/>
                        <a:buNone/>
                        <a:tabLst/>
                        <a:defRPr/>
                      </a:pPr>
                      <a:r>
                        <a:rPr kumimoji="0" lang="en-IN" sz="1500" b="0" i="0" u="none" strike="noStrike" kern="1200" cap="none" spc="0" normalizeH="0" baseline="0" noProof="0">
                          <a:ln>
                            <a:noFill/>
                          </a:ln>
                          <a:solidFill>
                            <a:schemeClr val="tx1"/>
                          </a:solidFill>
                          <a:effectLst/>
                          <a:uLnTx/>
                          <a:uFillTx/>
                          <a:latin typeface="Adani Regular" panose="02000503000000020004" pitchFamily="2" charset="0"/>
                          <a:ea typeface="+mn-ea"/>
                          <a:cs typeface="+mn-cs"/>
                        </a:rPr>
                        <a:t>11-May-26</a:t>
                      </a:r>
                      <a:endParaRPr kumimoji="0"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endParaRP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5570" marR="0" lvl="0" indent="0" algn="ctr">
                        <a:lnSpc>
                          <a:spcPct val="100000"/>
                        </a:lnSpc>
                        <a:spcBef>
                          <a:spcPts val="0"/>
                        </a:spcBef>
                        <a:spcAft>
                          <a:spcPts val="0"/>
                        </a:spcAft>
                        <a:buNone/>
                      </a:pPr>
                      <a:r>
                        <a:rPr kumimoji="0"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31 Mar 26</a:t>
                      </a:r>
                    </a:p>
                    <a:p>
                      <a:pPr marL="11557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10-Apr-26</a:t>
                      </a:r>
                    </a:p>
                    <a:p>
                      <a:pPr marL="11557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sngStrike" kern="1200" cap="none" spc="0" normalizeH="0" baseline="0" noProof="0">
                          <a:ln>
                            <a:noFill/>
                          </a:ln>
                          <a:solidFill>
                            <a:prstClr val="black"/>
                          </a:solidFill>
                          <a:effectLst/>
                          <a:uLnTx/>
                          <a:uFillTx/>
                          <a:latin typeface="Adani Regular" panose="02000503000000020004" pitchFamily="2" charset="0"/>
                          <a:ea typeface="+mn-ea"/>
                          <a:cs typeface="+mn-cs"/>
                        </a:rPr>
                        <a:t>27-Apr-26</a:t>
                      </a:r>
                    </a:p>
                    <a:p>
                      <a:pPr marL="11557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Adani Regular" panose="02000503000000020004" pitchFamily="2" charset="0"/>
                          <a:ea typeface="+mn-ea"/>
                          <a:cs typeface="+mn-cs"/>
                        </a:rPr>
                        <a:t>15-May-26</a:t>
                      </a:r>
                    </a:p>
                  </a:txBody>
                  <a:tcPr marL="72000" marR="36000" marT="9525" marB="0" anchor="ctr">
                    <a:lnL w="12700" cap="flat" cmpd="sng" algn="ctr">
                      <a:solidFill>
                        <a:srgbClr val="8064A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7875718"/>
                  </a:ext>
                </a:extLst>
              </a:tr>
            </a:tbl>
          </a:graphicData>
        </a:graphic>
      </p:graphicFrame>
      <p:sp>
        <p:nvSpPr>
          <p:cNvPr id="4" name="Slide Number Placeholder 2">
            <a:extLst>
              <a:ext uri="{FF2B5EF4-FFF2-40B4-BE49-F238E27FC236}">
                <a16:creationId xmlns:a16="http://schemas.microsoft.com/office/drawing/2014/main" id="{E1DAE7F3-BB61-0B4A-5DFF-6A3B141C9CAB}"/>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63</a:t>
            </a:fld>
            <a:endParaRPr lang="en-IN"/>
          </a:p>
        </p:txBody>
      </p:sp>
      <p:sp>
        <p:nvSpPr>
          <p:cNvPr id="6" name="TextBox 5">
            <a:extLst>
              <a:ext uri="{FF2B5EF4-FFF2-40B4-BE49-F238E27FC236}">
                <a16:creationId xmlns:a16="http://schemas.microsoft.com/office/drawing/2014/main" id="{E94FD14C-16F5-75B6-268F-F4AB68A3C191}"/>
              </a:ext>
            </a:extLst>
          </p:cNvPr>
          <p:cNvSpPr txBox="1"/>
          <p:nvPr/>
        </p:nvSpPr>
        <p:spPr>
          <a:xfrm>
            <a:off x="397198" y="6624743"/>
            <a:ext cx="2560606" cy="276999"/>
          </a:xfrm>
          <a:prstGeom prst="rect">
            <a:avLst/>
          </a:prstGeom>
          <a:noFill/>
        </p:spPr>
        <p:txBody>
          <a:bodyPr wrap="square" rtlCol="0">
            <a:spAutoFit/>
          </a:bodyPr>
          <a:lstStyle/>
          <a:p>
            <a:r>
              <a:rPr lang="en-US" sz="1200">
                <a:latin typeface="Adani Regular" panose="02000503000000020004" pitchFamily="2" charset="0"/>
              </a:rPr>
              <a:t>*37 GP Containers delayed</a:t>
            </a:r>
          </a:p>
        </p:txBody>
      </p:sp>
    </p:spTree>
    <p:extLst>
      <p:ext uri="{BB962C8B-B14F-4D97-AF65-F5344CB8AC3E}">
        <p14:creationId xmlns:p14="http://schemas.microsoft.com/office/powerpoint/2010/main" val="642087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D4DCF18-CA4C-E8C9-9C6A-29ECEAC9BDF2}"/>
              </a:ext>
            </a:extLst>
          </p:cNvPr>
          <p:cNvGraphicFramePr>
            <a:graphicFrameLocks noGrp="1"/>
          </p:cNvGraphicFramePr>
          <p:nvPr/>
        </p:nvGraphicFramePr>
        <p:xfrm>
          <a:off x="6451001" y="1438610"/>
          <a:ext cx="5427654" cy="3657600"/>
        </p:xfrm>
        <a:graphic>
          <a:graphicData uri="http://schemas.openxmlformats.org/drawingml/2006/table">
            <a:tbl>
              <a:tblPr>
                <a:tableStyleId>{616DA210-FB5B-4158-B5E0-FEB733F419BA}</a:tableStyleId>
              </a:tblPr>
              <a:tblGrid>
                <a:gridCol w="885039">
                  <a:extLst>
                    <a:ext uri="{9D8B030D-6E8A-4147-A177-3AD203B41FA5}">
                      <a16:colId xmlns:a16="http://schemas.microsoft.com/office/drawing/2014/main" val="3026525629"/>
                    </a:ext>
                  </a:extLst>
                </a:gridCol>
                <a:gridCol w="972800">
                  <a:extLst>
                    <a:ext uri="{9D8B030D-6E8A-4147-A177-3AD203B41FA5}">
                      <a16:colId xmlns:a16="http://schemas.microsoft.com/office/drawing/2014/main" val="1186473059"/>
                    </a:ext>
                  </a:extLst>
                </a:gridCol>
                <a:gridCol w="1156210">
                  <a:extLst>
                    <a:ext uri="{9D8B030D-6E8A-4147-A177-3AD203B41FA5}">
                      <a16:colId xmlns:a16="http://schemas.microsoft.com/office/drawing/2014/main" val="2919313359"/>
                    </a:ext>
                  </a:extLst>
                </a:gridCol>
                <a:gridCol w="1251723">
                  <a:extLst>
                    <a:ext uri="{9D8B030D-6E8A-4147-A177-3AD203B41FA5}">
                      <a16:colId xmlns:a16="http://schemas.microsoft.com/office/drawing/2014/main" val="2520292631"/>
                    </a:ext>
                  </a:extLst>
                </a:gridCol>
                <a:gridCol w="1161882">
                  <a:extLst>
                    <a:ext uri="{9D8B030D-6E8A-4147-A177-3AD203B41FA5}">
                      <a16:colId xmlns:a16="http://schemas.microsoft.com/office/drawing/2014/main" val="430486811"/>
                    </a:ext>
                  </a:extLst>
                </a:gridCol>
              </a:tblGrid>
              <a:tr h="731520">
                <a:tc>
                  <a:txBody>
                    <a:bodyPr/>
                    <a:lstStyle/>
                    <a:p>
                      <a:pPr algn="ctr"/>
                      <a:r>
                        <a:rPr lang="en-US" sz="1400" b="0">
                          <a:solidFill>
                            <a:schemeClr val="bg1"/>
                          </a:solidFill>
                          <a:latin typeface="Adani Regular" panose="02000503000000020004"/>
                        </a:rPr>
                        <a:t>BESS Site </a:t>
                      </a:r>
                    </a:p>
                  </a:txBody>
                  <a:tcPr anchor="ctr">
                    <a:solidFill>
                      <a:srgbClr val="912A82"/>
                    </a:solidFill>
                  </a:tcPr>
                </a:tc>
                <a:tc>
                  <a:txBody>
                    <a:bodyPr/>
                    <a:lstStyle/>
                    <a:p>
                      <a:pPr algn="ctr"/>
                      <a:r>
                        <a:rPr lang="en-US" sz="1400" b="0">
                          <a:solidFill>
                            <a:schemeClr val="bg1"/>
                          </a:solidFill>
                          <a:latin typeface="Adani Regular" panose="02000503000000020004"/>
                        </a:rPr>
                        <a:t>Capacity</a:t>
                      </a:r>
                    </a:p>
                    <a:p>
                      <a:pPr algn="ctr"/>
                      <a:r>
                        <a:rPr lang="en-US" sz="1400" b="0">
                          <a:solidFill>
                            <a:schemeClr val="bg1"/>
                          </a:solidFill>
                          <a:latin typeface="Adani Regular" panose="02000503000000020004"/>
                        </a:rPr>
                        <a:t>(MW)</a:t>
                      </a:r>
                    </a:p>
                  </a:txBody>
                  <a:tcPr anchor="ctr">
                    <a:solidFill>
                      <a:srgbClr val="912A82"/>
                    </a:solidFill>
                  </a:tcPr>
                </a:tc>
                <a:tc>
                  <a:txBody>
                    <a:bodyPr/>
                    <a:lstStyle/>
                    <a:p>
                      <a:pPr algn="ctr"/>
                      <a:r>
                        <a:rPr lang="en-US" sz="1400" b="0">
                          <a:solidFill>
                            <a:schemeClr val="bg1"/>
                          </a:solidFill>
                          <a:latin typeface="Adani Regular" panose="02000503000000020004"/>
                        </a:rPr>
                        <a:t>Capacity</a:t>
                      </a:r>
                    </a:p>
                    <a:p>
                      <a:pPr algn="ctr"/>
                      <a:r>
                        <a:rPr lang="en-US" sz="1400" b="0">
                          <a:solidFill>
                            <a:schemeClr val="bg1"/>
                          </a:solidFill>
                          <a:latin typeface="Adani Regular" panose="02000503000000020004"/>
                        </a:rPr>
                        <a:t>(MWh)</a:t>
                      </a:r>
                    </a:p>
                  </a:txBody>
                  <a:tcPr anchor="ctr">
                    <a:solidFill>
                      <a:srgbClr val="912A82"/>
                    </a:solidFill>
                  </a:tcPr>
                </a:tc>
                <a:tc>
                  <a:txBody>
                    <a:bodyPr/>
                    <a:lstStyle/>
                    <a:p>
                      <a:pPr algn="ctr"/>
                      <a:r>
                        <a:rPr lang="en-US" sz="1400" b="0">
                          <a:solidFill>
                            <a:schemeClr val="bg1"/>
                          </a:solidFill>
                          <a:latin typeface="Adani Regular" panose="02000503000000020004"/>
                        </a:rPr>
                        <a:t>No of Containers</a:t>
                      </a:r>
                    </a:p>
                  </a:txBody>
                  <a:tcPr anchor="ctr">
                    <a:solidFill>
                      <a:srgbClr val="912A82"/>
                    </a:solidFill>
                  </a:tcPr>
                </a:tc>
                <a:tc>
                  <a:txBody>
                    <a:bodyPr/>
                    <a:lstStyle/>
                    <a:p>
                      <a:pPr algn="ctr"/>
                      <a:r>
                        <a:rPr lang="en-US" sz="1400" b="0">
                          <a:solidFill>
                            <a:schemeClr val="bg1"/>
                          </a:solidFill>
                          <a:latin typeface="Adani Regular" panose="02000503000000020004"/>
                        </a:rPr>
                        <a:t>Land Area (Acre)</a:t>
                      </a:r>
                    </a:p>
                  </a:txBody>
                  <a:tcPr anchor="ctr">
                    <a:solidFill>
                      <a:srgbClr val="912A82"/>
                    </a:solidFill>
                  </a:tcPr>
                </a:tc>
                <a:extLst>
                  <a:ext uri="{0D108BD9-81ED-4DB2-BD59-A6C34878D82A}">
                    <a16:rowId xmlns:a16="http://schemas.microsoft.com/office/drawing/2014/main" val="2132561279"/>
                  </a:ext>
                </a:extLst>
              </a:tr>
              <a:tr h="731520">
                <a:tc>
                  <a:txBody>
                    <a:bodyPr/>
                    <a:lstStyle/>
                    <a:p>
                      <a:pPr algn="ctr"/>
                      <a:r>
                        <a:rPr lang="en-US" sz="1400" b="0">
                          <a:latin typeface="Adani Regular"/>
                        </a:rPr>
                        <a:t>PSS-5</a:t>
                      </a:r>
                    </a:p>
                  </a:txBody>
                  <a:tcPr anchor="ctr"/>
                </a:tc>
                <a:tc>
                  <a:txBody>
                    <a:bodyPr/>
                    <a:lstStyle/>
                    <a:p>
                      <a:pPr algn="ctr"/>
                      <a:r>
                        <a:rPr lang="en-US" sz="1400" b="0">
                          <a:latin typeface="Adani Regular"/>
                        </a:rPr>
                        <a:t>422.40</a:t>
                      </a:r>
                    </a:p>
                  </a:txBody>
                  <a:tcPr anchor="ctr"/>
                </a:tc>
                <a:tc>
                  <a:txBody>
                    <a:bodyPr/>
                    <a:lstStyle/>
                    <a:p>
                      <a:pPr algn="ctr"/>
                      <a:r>
                        <a:rPr lang="en-US" sz="1400" b="0">
                          <a:latin typeface="Adani Regular"/>
                        </a:rPr>
                        <a:t>1444.32</a:t>
                      </a:r>
                    </a:p>
                  </a:txBody>
                  <a:tcPr anchor="ctr"/>
                </a:tc>
                <a:tc>
                  <a:txBody>
                    <a:bodyPr/>
                    <a:lstStyle/>
                    <a:p>
                      <a:pPr algn="ctr"/>
                      <a:r>
                        <a:rPr lang="en-US" sz="1400" b="0">
                          <a:latin typeface="Adani Regular"/>
                        </a:rPr>
                        <a:t>288</a:t>
                      </a:r>
                    </a:p>
                  </a:txBody>
                  <a:tcPr anchor="ctr"/>
                </a:tc>
                <a:tc>
                  <a:txBody>
                    <a:bodyPr/>
                    <a:lstStyle/>
                    <a:p>
                      <a:pPr algn="ctr"/>
                      <a:r>
                        <a:rPr lang="en-US" sz="1400" b="0">
                          <a:latin typeface="Adani Regular"/>
                        </a:rPr>
                        <a:t>22.76</a:t>
                      </a:r>
                    </a:p>
                  </a:txBody>
                  <a:tcPr anchor="ctr"/>
                </a:tc>
                <a:extLst>
                  <a:ext uri="{0D108BD9-81ED-4DB2-BD59-A6C34878D82A}">
                    <a16:rowId xmlns:a16="http://schemas.microsoft.com/office/drawing/2014/main" val="1104547698"/>
                  </a:ext>
                </a:extLst>
              </a:tr>
              <a:tr h="731520">
                <a:tc>
                  <a:txBody>
                    <a:bodyPr/>
                    <a:lstStyle/>
                    <a:p>
                      <a:pPr algn="ctr"/>
                      <a:r>
                        <a:rPr lang="en-US" sz="1400" b="0">
                          <a:latin typeface="Adani Regular"/>
                        </a:rPr>
                        <a:t>PSS-8</a:t>
                      </a:r>
                    </a:p>
                  </a:txBody>
                  <a:tcPr anchor="ctr"/>
                </a:tc>
                <a:tc>
                  <a:txBody>
                    <a:bodyPr/>
                    <a:lstStyle/>
                    <a:p>
                      <a:pPr algn="ctr"/>
                      <a:r>
                        <a:rPr lang="en-US" sz="1400" b="0">
                          <a:latin typeface="Adani Regular"/>
                        </a:rPr>
                        <a:t>281.6</a:t>
                      </a:r>
                    </a:p>
                  </a:txBody>
                  <a:tcPr anchor="ctr"/>
                </a:tc>
                <a:tc>
                  <a:txBody>
                    <a:bodyPr/>
                    <a:lstStyle/>
                    <a:p>
                      <a:pPr algn="ctr"/>
                      <a:r>
                        <a:rPr lang="en-US" sz="1400" b="0">
                          <a:latin typeface="Adani Regular"/>
                        </a:rPr>
                        <a:t>641.92</a:t>
                      </a:r>
                    </a:p>
                  </a:txBody>
                  <a:tcPr anchor="ctr"/>
                </a:tc>
                <a:tc>
                  <a:txBody>
                    <a:bodyPr/>
                    <a:lstStyle/>
                    <a:p>
                      <a:pPr algn="ctr"/>
                      <a:r>
                        <a:rPr lang="en-US" sz="1400" b="0">
                          <a:latin typeface="Adani Regular"/>
                        </a:rPr>
                        <a:t>128</a:t>
                      </a:r>
                    </a:p>
                  </a:txBody>
                  <a:tcPr anchor="ctr"/>
                </a:tc>
                <a:tc>
                  <a:txBody>
                    <a:bodyPr/>
                    <a:lstStyle/>
                    <a:p>
                      <a:pPr algn="ctr"/>
                      <a:r>
                        <a:rPr lang="en-US" sz="1400" b="0">
                          <a:latin typeface="Adani Regular"/>
                        </a:rPr>
                        <a:t>16.26</a:t>
                      </a:r>
                    </a:p>
                  </a:txBody>
                  <a:tcPr anchor="ctr"/>
                </a:tc>
                <a:extLst>
                  <a:ext uri="{0D108BD9-81ED-4DB2-BD59-A6C34878D82A}">
                    <a16:rowId xmlns:a16="http://schemas.microsoft.com/office/drawing/2014/main" val="3203788623"/>
                  </a:ext>
                </a:extLst>
              </a:tr>
              <a:tr h="731520">
                <a:tc>
                  <a:txBody>
                    <a:bodyPr/>
                    <a:lstStyle/>
                    <a:p>
                      <a:pPr algn="ctr"/>
                      <a:r>
                        <a:rPr lang="en-US" sz="1400" b="0">
                          <a:latin typeface="Adani Regular"/>
                        </a:rPr>
                        <a:t>PSS-10</a:t>
                      </a:r>
                    </a:p>
                  </a:txBody>
                  <a:tcPr anchor="ctr"/>
                </a:tc>
                <a:tc>
                  <a:txBody>
                    <a:bodyPr/>
                    <a:lstStyle/>
                    <a:p>
                      <a:pPr algn="ctr"/>
                      <a:r>
                        <a:rPr lang="en-US" sz="1400" b="0">
                          <a:latin typeface="Adani Regular"/>
                        </a:rPr>
                        <a:t>422.40</a:t>
                      </a:r>
                    </a:p>
                  </a:txBody>
                  <a:tcPr anchor="ctr"/>
                </a:tc>
                <a:tc>
                  <a:txBody>
                    <a:bodyPr/>
                    <a:lstStyle/>
                    <a:p>
                      <a:pPr algn="ctr"/>
                      <a:r>
                        <a:rPr lang="en-US" sz="1400" b="0">
                          <a:latin typeface="Adani Regular"/>
                        </a:rPr>
                        <a:t>1444.32</a:t>
                      </a:r>
                    </a:p>
                  </a:txBody>
                  <a:tcPr anchor="ctr"/>
                </a:tc>
                <a:tc>
                  <a:txBody>
                    <a:bodyPr/>
                    <a:lstStyle/>
                    <a:p>
                      <a:pPr algn="ctr"/>
                      <a:r>
                        <a:rPr lang="en-US" sz="1400" b="0">
                          <a:latin typeface="Adani Regular"/>
                        </a:rPr>
                        <a:t>288</a:t>
                      </a:r>
                    </a:p>
                  </a:txBody>
                  <a:tcPr anchor="ctr"/>
                </a:tc>
                <a:tc>
                  <a:txBody>
                    <a:bodyPr/>
                    <a:lstStyle/>
                    <a:p>
                      <a:pPr algn="ctr"/>
                      <a:r>
                        <a:rPr lang="en-US" sz="1400" b="0">
                          <a:latin typeface="Adani Regular"/>
                        </a:rPr>
                        <a:t>25.14</a:t>
                      </a:r>
                    </a:p>
                  </a:txBody>
                  <a:tcPr anchor="ctr"/>
                </a:tc>
                <a:extLst>
                  <a:ext uri="{0D108BD9-81ED-4DB2-BD59-A6C34878D82A}">
                    <a16:rowId xmlns:a16="http://schemas.microsoft.com/office/drawing/2014/main" val="516124275"/>
                  </a:ext>
                </a:extLst>
              </a:tr>
              <a:tr h="731520">
                <a:tc>
                  <a:txBody>
                    <a:bodyPr/>
                    <a:lstStyle/>
                    <a:p>
                      <a:pPr algn="ctr"/>
                      <a:r>
                        <a:rPr lang="en-US" sz="1400" b="1">
                          <a:latin typeface="Adani Regular"/>
                        </a:rPr>
                        <a:t>Total</a:t>
                      </a:r>
                    </a:p>
                  </a:txBody>
                  <a:tcPr anchor="ctr"/>
                </a:tc>
                <a:tc>
                  <a:txBody>
                    <a:bodyPr/>
                    <a:lstStyle/>
                    <a:p>
                      <a:pPr algn="ctr"/>
                      <a:r>
                        <a:rPr lang="en-US" sz="1400" b="0">
                          <a:latin typeface="Adani Regular"/>
                        </a:rPr>
                        <a:t>1126.4</a:t>
                      </a:r>
                    </a:p>
                  </a:txBody>
                  <a:tcPr anchor="ctr"/>
                </a:tc>
                <a:tc>
                  <a:txBody>
                    <a:bodyPr/>
                    <a:lstStyle/>
                    <a:p>
                      <a:pPr algn="ctr"/>
                      <a:r>
                        <a:rPr lang="en-IN" sz="1400">
                          <a:latin typeface="Adani Regular"/>
                          <a:ea typeface="+mj-lt"/>
                          <a:cs typeface="+mj-lt"/>
                        </a:rPr>
                        <a:t>3530.56</a:t>
                      </a:r>
                      <a:endParaRPr lang="en-US" sz="1400" b="0">
                        <a:latin typeface="Adani Regular"/>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a:solidFill>
                            <a:schemeClr val="tx1"/>
                          </a:solidFill>
                          <a:latin typeface="Adani Regular"/>
                        </a:rPr>
                        <a:t>704</a:t>
                      </a:r>
                    </a:p>
                  </a:txBody>
                  <a:tcPr anchor="ctr"/>
                </a:tc>
                <a:tc>
                  <a:txBody>
                    <a:bodyPr/>
                    <a:lstStyle/>
                    <a:p>
                      <a:pPr algn="ctr"/>
                      <a:r>
                        <a:rPr lang="en-US" sz="1400" b="0">
                          <a:latin typeface="Adani Regular"/>
                        </a:rPr>
                        <a:t>64.16</a:t>
                      </a:r>
                    </a:p>
                  </a:txBody>
                  <a:tcPr anchor="ctr"/>
                </a:tc>
                <a:extLst>
                  <a:ext uri="{0D108BD9-81ED-4DB2-BD59-A6C34878D82A}">
                    <a16:rowId xmlns:a16="http://schemas.microsoft.com/office/drawing/2014/main" val="3727015423"/>
                  </a:ext>
                </a:extLst>
              </a:tr>
            </a:tbl>
          </a:graphicData>
        </a:graphic>
      </p:graphicFrame>
      <p:grpSp>
        <p:nvGrpSpPr>
          <p:cNvPr id="6" name="Group 5">
            <a:extLst>
              <a:ext uri="{FF2B5EF4-FFF2-40B4-BE49-F238E27FC236}">
                <a16:creationId xmlns:a16="http://schemas.microsoft.com/office/drawing/2014/main" id="{A68EE53A-1F29-E10E-B619-0FDEA4FA4E48}"/>
              </a:ext>
            </a:extLst>
          </p:cNvPr>
          <p:cNvGrpSpPr/>
          <p:nvPr/>
        </p:nvGrpSpPr>
        <p:grpSpPr>
          <a:xfrm>
            <a:off x="190317" y="147090"/>
            <a:ext cx="11109713" cy="5605041"/>
            <a:chOff x="175795" y="130429"/>
            <a:chExt cx="11109713" cy="5605041"/>
          </a:xfrm>
        </p:grpSpPr>
        <p:pic>
          <p:nvPicPr>
            <p:cNvPr id="5" name="Picture 4" descr="A map of a desert&#10;&#10;AI-generated content may be incorrect.">
              <a:extLst>
                <a:ext uri="{FF2B5EF4-FFF2-40B4-BE49-F238E27FC236}">
                  <a16:creationId xmlns:a16="http://schemas.microsoft.com/office/drawing/2014/main" id="{AEB63EFF-79B3-83FC-32AE-38BAD27073BD}"/>
                </a:ext>
              </a:extLst>
            </p:cNvPr>
            <p:cNvPicPr>
              <a:picLocks noChangeAspect="1"/>
            </p:cNvPicPr>
            <p:nvPr/>
          </p:nvPicPr>
          <p:blipFill>
            <a:blip r:embed="rId2"/>
            <a:stretch>
              <a:fillRect/>
            </a:stretch>
          </p:blipFill>
          <p:spPr>
            <a:xfrm>
              <a:off x="175795" y="721477"/>
              <a:ext cx="6185569" cy="5013993"/>
            </a:xfrm>
            <a:prstGeom prst="rect">
              <a:avLst/>
            </a:prstGeom>
            <a:ln>
              <a:solidFill>
                <a:srgbClr val="4472C4"/>
              </a:solidFill>
            </a:ln>
          </p:spPr>
        </p:pic>
        <p:sp>
          <p:nvSpPr>
            <p:cNvPr id="2" name="Rectangle 2">
              <a:extLst>
                <a:ext uri="{FF2B5EF4-FFF2-40B4-BE49-F238E27FC236}">
                  <a16:creationId xmlns:a16="http://schemas.microsoft.com/office/drawing/2014/main" id="{56205AEB-A574-B98E-1AED-DAD922FBA2E2}"/>
                </a:ext>
              </a:extLst>
            </p:cNvPr>
            <p:cNvSpPr txBox="1">
              <a:spLocks noChangeArrowheads="1"/>
            </p:cNvSpPr>
            <p:nvPr/>
          </p:nvSpPr>
          <p:spPr>
            <a:xfrm>
              <a:off x="478021" y="130429"/>
              <a:ext cx="10807487" cy="476833"/>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r>
                <a:rPr lang="en-IN" sz="2400" b="1">
                  <a:solidFill>
                    <a:srgbClr val="7030A0"/>
                  </a:solidFill>
                </a:rPr>
                <a:t>Overall Layout at Khavda</a:t>
              </a:r>
              <a:endParaRPr lang="en-US" sz="1600" b="1">
                <a:solidFill>
                  <a:srgbClr val="7030A0"/>
                </a:solidFill>
              </a:endParaRPr>
            </a:p>
          </p:txBody>
        </p:sp>
        <p:sp>
          <p:nvSpPr>
            <p:cNvPr id="15" name="Rectangle 14">
              <a:extLst>
                <a:ext uri="{FF2B5EF4-FFF2-40B4-BE49-F238E27FC236}">
                  <a16:creationId xmlns:a16="http://schemas.microsoft.com/office/drawing/2014/main" id="{202211D5-BB11-9B42-6FD6-D6BDEB5C08BF}"/>
                </a:ext>
              </a:extLst>
            </p:cNvPr>
            <p:cNvSpPr/>
            <p:nvPr/>
          </p:nvSpPr>
          <p:spPr>
            <a:xfrm>
              <a:off x="4886565" y="3323166"/>
              <a:ext cx="346250" cy="2596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TextBox 15">
              <a:extLst>
                <a:ext uri="{FF2B5EF4-FFF2-40B4-BE49-F238E27FC236}">
                  <a16:creationId xmlns:a16="http://schemas.microsoft.com/office/drawing/2014/main" id="{6C88B0AF-E561-B11B-B030-24B556FB059C}"/>
                </a:ext>
              </a:extLst>
            </p:cNvPr>
            <p:cNvSpPr txBox="1"/>
            <p:nvPr/>
          </p:nvSpPr>
          <p:spPr>
            <a:xfrm>
              <a:off x="5236034" y="3299425"/>
              <a:ext cx="878873" cy="300082"/>
            </a:xfrm>
            <a:prstGeom prst="rect">
              <a:avLst/>
            </a:prstGeom>
            <a:solidFill>
              <a:schemeClr val="bg1"/>
            </a:solidFill>
            <a:ln w="19050">
              <a:solidFill>
                <a:schemeClr val="tx1"/>
              </a:solidFill>
            </a:ln>
          </p:spPr>
          <p:txBody>
            <a:bodyPr wrap="square" rtlCol="0">
              <a:spAutoFit/>
            </a:bodyPr>
            <a:lstStyle/>
            <a:p>
              <a:r>
                <a:rPr lang="en-US" sz="1350">
                  <a:latin typeface="Adani Regular" panose="02000503000000020004" pitchFamily="2" charset="0"/>
                </a:rPr>
                <a:t>PSS 10</a:t>
              </a:r>
            </a:p>
          </p:txBody>
        </p:sp>
        <p:sp>
          <p:nvSpPr>
            <p:cNvPr id="17" name="Rectangle 16">
              <a:extLst>
                <a:ext uri="{FF2B5EF4-FFF2-40B4-BE49-F238E27FC236}">
                  <a16:creationId xmlns:a16="http://schemas.microsoft.com/office/drawing/2014/main" id="{2910B59B-45D0-2CAB-9AC3-4CB0F54C2256}"/>
                </a:ext>
              </a:extLst>
            </p:cNvPr>
            <p:cNvSpPr/>
            <p:nvPr/>
          </p:nvSpPr>
          <p:spPr>
            <a:xfrm>
              <a:off x="2988183" y="4056027"/>
              <a:ext cx="346250" cy="2596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TextBox 17">
              <a:extLst>
                <a:ext uri="{FF2B5EF4-FFF2-40B4-BE49-F238E27FC236}">
                  <a16:creationId xmlns:a16="http://schemas.microsoft.com/office/drawing/2014/main" id="{FBC95DC9-18E1-4A23-96DA-7ACED4B708D3}"/>
                </a:ext>
              </a:extLst>
            </p:cNvPr>
            <p:cNvSpPr txBox="1"/>
            <p:nvPr/>
          </p:nvSpPr>
          <p:spPr>
            <a:xfrm>
              <a:off x="3325163" y="4035788"/>
              <a:ext cx="752074" cy="300082"/>
            </a:xfrm>
            <a:prstGeom prst="rect">
              <a:avLst/>
            </a:prstGeom>
            <a:solidFill>
              <a:schemeClr val="bg1"/>
            </a:solidFill>
            <a:ln w="19050">
              <a:solidFill>
                <a:schemeClr val="tx1"/>
              </a:solidFill>
            </a:ln>
          </p:spPr>
          <p:txBody>
            <a:bodyPr wrap="square" rtlCol="0">
              <a:spAutoFit/>
            </a:bodyPr>
            <a:lstStyle/>
            <a:p>
              <a:r>
                <a:rPr lang="en-US" sz="1350">
                  <a:latin typeface="Adani Regular" panose="02000503000000020004" pitchFamily="2" charset="0"/>
                </a:rPr>
                <a:t>PSS 5</a:t>
              </a:r>
            </a:p>
          </p:txBody>
        </p:sp>
        <p:sp>
          <p:nvSpPr>
            <p:cNvPr id="19" name="Rectangle 18">
              <a:extLst>
                <a:ext uri="{FF2B5EF4-FFF2-40B4-BE49-F238E27FC236}">
                  <a16:creationId xmlns:a16="http://schemas.microsoft.com/office/drawing/2014/main" id="{3D1D8995-6984-13A1-6B6D-480532E70A51}"/>
                </a:ext>
              </a:extLst>
            </p:cNvPr>
            <p:cNvSpPr/>
            <p:nvPr/>
          </p:nvSpPr>
          <p:spPr>
            <a:xfrm>
              <a:off x="3702854" y="1355137"/>
              <a:ext cx="346250" cy="2596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69C34F33-8363-7426-37DC-9C662D7A91F0}"/>
                </a:ext>
              </a:extLst>
            </p:cNvPr>
            <p:cNvSpPr txBox="1"/>
            <p:nvPr/>
          </p:nvSpPr>
          <p:spPr>
            <a:xfrm>
              <a:off x="4062472" y="1316382"/>
              <a:ext cx="805405" cy="300082"/>
            </a:xfrm>
            <a:prstGeom prst="rect">
              <a:avLst/>
            </a:prstGeom>
            <a:solidFill>
              <a:schemeClr val="bg1"/>
            </a:solidFill>
            <a:ln w="19050">
              <a:solidFill>
                <a:schemeClr val="tx1"/>
              </a:solidFill>
            </a:ln>
          </p:spPr>
          <p:txBody>
            <a:bodyPr wrap="square" rtlCol="0">
              <a:spAutoFit/>
            </a:bodyPr>
            <a:lstStyle/>
            <a:p>
              <a:r>
                <a:rPr lang="en-US" sz="1350">
                  <a:latin typeface="Adani Regular" panose="02000503000000020004" pitchFamily="2" charset="0"/>
                </a:rPr>
                <a:t>PSS 8</a:t>
              </a:r>
            </a:p>
          </p:txBody>
        </p:sp>
        <p:cxnSp>
          <p:nvCxnSpPr>
            <p:cNvPr id="21" name="Straight Connector 20">
              <a:extLst>
                <a:ext uri="{FF2B5EF4-FFF2-40B4-BE49-F238E27FC236}">
                  <a16:creationId xmlns:a16="http://schemas.microsoft.com/office/drawing/2014/main" id="{C73408BA-357C-D01A-1952-5A2B510B46F4}"/>
                </a:ext>
              </a:extLst>
            </p:cNvPr>
            <p:cNvCxnSpPr>
              <a:cxnSpLocks/>
            </p:cNvCxnSpPr>
            <p:nvPr/>
          </p:nvCxnSpPr>
          <p:spPr>
            <a:xfrm flipV="1">
              <a:off x="4581883" y="5061480"/>
              <a:ext cx="571500" cy="63500"/>
            </a:xfrm>
            <a:prstGeom prst="line">
              <a:avLst/>
            </a:prstGeom>
            <a:ln/>
          </p:spPr>
          <p:style>
            <a:lnRef idx="3">
              <a:schemeClr val="dk1"/>
            </a:lnRef>
            <a:fillRef idx="0">
              <a:schemeClr val="dk1"/>
            </a:fillRef>
            <a:effectRef idx="2">
              <a:schemeClr val="dk1"/>
            </a:effectRef>
            <a:fontRef idx="minor">
              <a:schemeClr val="tx1"/>
            </a:fontRef>
          </p:style>
        </p:cxnSp>
        <p:cxnSp>
          <p:nvCxnSpPr>
            <p:cNvPr id="22" name="Connector: Elbow 21">
              <a:extLst>
                <a:ext uri="{FF2B5EF4-FFF2-40B4-BE49-F238E27FC236}">
                  <a16:creationId xmlns:a16="http://schemas.microsoft.com/office/drawing/2014/main" id="{0A5F0C22-9784-DA50-2B3B-3BAAD1D9E39F}"/>
                </a:ext>
              </a:extLst>
            </p:cNvPr>
            <p:cNvCxnSpPr>
              <a:cxnSpLocks/>
            </p:cNvCxnSpPr>
            <p:nvPr/>
          </p:nvCxnSpPr>
          <p:spPr>
            <a:xfrm rot="5400000">
              <a:off x="4681668" y="4340362"/>
              <a:ext cx="775405" cy="75706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55D6C8F-33CB-D712-3EB8-F0086D6F9B26}"/>
                </a:ext>
              </a:extLst>
            </p:cNvPr>
            <p:cNvSpPr txBox="1"/>
            <p:nvPr/>
          </p:nvSpPr>
          <p:spPr>
            <a:xfrm>
              <a:off x="5065811" y="4214421"/>
              <a:ext cx="698175" cy="261610"/>
            </a:xfrm>
            <a:prstGeom prst="rect">
              <a:avLst/>
            </a:prstGeom>
            <a:solidFill>
              <a:schemeClr val="bg1"/>
            </a:solidFill>
            <a:ln w="19050">
              <a:solidFill>
                <a:schemeClr val="tx1"/>
              </a:solidFill>
            </a:ln>
          </p:spPr>
          <p:txBody>
            <a:bodyPr wrap="square" rtlCol="0">
              <a:spAutoFit/>
            </a:bodyPr>
            <a:lstStyle/>
            <a:p>
              <a:r>
                <a:rPr lang="en-US" sz="1100">
                  <a:latin typeface="Adani Regular" panose="02000503000000020004" pitchFamily="2" charset="0"/>
                </a:rPr>
                <a:t>Airstrip</a:t>
              </a:r>
            </a:p>
          </p:txBody>
        </p:sp>
      </p:grpSp>
      <p:sp>
        <p:nvSpPr>
          <p:cNvPr id="3" name="Slide Number Placeholder 2">
            <a:extLst>
              <a:ext uri="{FF2B5EF4-FFF2-40B4-BE49-F238E27FC236}">
                <a16:creationId xmlns:a16="http://schemas.microsoft.com/office/drawing/2014/main" id="{610978C2-ECE6-1FDE-1BD0-3632AE2E4625}"/>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64</a:t>
            </a:fld>
            <a:endParaRPr lang="en-IN"/>
          </a:p>
        </p:txBody>
      </p:sp>
    </p:spTree>
    <p:extLst>
      <p:ext uri="{BB962C8B-B14F-4D97-AF65-F5344CB8AC3E}">
        <p14:creationId xmlns:p14="http://schemas.microsoft.com/office/powerpoint/2010/main" val="3918647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B56AE-6512-2D8A-B4AC-E5A2CAF6AC2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5599808-BB7E-3EE6-C60F-2343E9B3EE41}"/>
              </a:ext>
            </a:extLst>
          </p:cNvPr>
          <p:cNvSpPr txBox="1">
            <a:spLocks noChangeArrowheads="1"/>
          </p:cNvSpPr>
          <p:nvPr/>
        </p:nvSpPr>
        <p:spPr>
          <a:xfrm>
            <a:off x="508001" y="48955"/>
            <a:ext cx="10807487" cy="476833"/>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US" sz="2400" b="1">
                <a:solidFill>
                  <a:srgbClr val="912A82"/>
                </a:solidFill>
                <a:latin typeface="Adani Regular" panose="02000503000000020004" pitchFamily="2" charset="0"/>
              </a:rPr>
              <a:t>Commissioning Plan</a:t>
            </a:r>
          </a:p>
        </p:txBody>
      </p:sp>
      <p:graphicFrame>
        <p:nvGraphicFramePr>
          <p:cNvPr id="7" name="Table 6">
            <a:extLst>
              <a:ext uri="{FF2B5EF4-FFF2-40B4-BE49-F238E27FC236}">
                <a16:creationId xmlns:a16="http://schemas.microsoft.com/office/drawing/2014/main" id="{481A3FF0-462C-CD4B-DF92-6317720EF4D3}"/>
              </a:ext>
            </a:extLst>
          </p:cNvPr>
          <p:cNvGraphicFramePr>
            <a:graphicFrameLocks noGrp="1"/>
          </p:cNvGraphicFramePr>
          <p:nvPr/>
        </p:nvGraphicFramePr>
        <p:xfrm>
          <a:off x="86908" y="458870"/>
          <a:ext cx="11940983" cy="5754462"/>
        </p:xfrm>
        <a:graphic>
          <a:graphicData uri="http://schemas.openxmlformats.org/drawingml/2006/table">
            <a:tbl>
              <a:tblPr firstRow="1" bandRow="1">
                <a:tableStyleId>{ED083AE6-46FA-4A59-8FB0-9F97EB10719F}</a:tableStyleId>
              </a:tblPr>
              <a:tblGrid>
                <a:gridCol w="2736000">
                  <a:extLst>
                    <a:ext uri="{9D8B030D-6E8A-4147-A177-3AD203B41FA5}">
                      <a16:colId xmlns:a16="http://schemas.microsoft.com/office/drawing/2014/main" val="2308170133"/>
                    </a:ext>
                  </a:extLst>
                </a:gridCol>
                <a:gridCol w="1146547">
                  <a:extLst>
                    <a:ext uri="{9D8B030D-6E8A-4147-A177-3AD203B41FA5}">
                      <a16:colId xmlns:a16="http://schemas.microsoft.com/office/drawing/2014/main" val="1741574097"/>
                    </a:ext>
                  </a:extLst>
                </a:gridCol>
                <a:gridCol w="1146547">
                  <a:extLst>
                    <a:ext uri="{9D8B030D-6E8A-4147-A177-3AD203B41FA5}">
                      <a16:colId xmlns:a16="http://schemas.microsoft.com/office/drawing/2014/main" val="3270306962"/>
                    </a:ext>
                  </a:extLst>
                </a:gridCol>
                <a:gridCol w="1010245">
                  <a:extLst>
                    <a:ext uri="{9D8B030D-6E8A-4147-A177-3AD203B41FA5}">
                      <a16:colId xmlns:a16="http://schemas.microsoft.com/office/drawing/2014/main" val="1391658323"/>
                    </a:ext>
                  </a:extLst>
                </a:gridCol>
                <a:gridCol w="1208010">
                  <a:extLst>
                    <a:ext uri="{9D8B030D-6E8A-4147-A177-3AD203B41FA5}">
                      <a16:colId xmlns:a16="http://schemas.microsoft.com/office/drawing/2014/main" val="835942369"/>
                    </a:ext>
                  </a:extLst>
                </a:gridCol>
                <a:gridCol w="998461">
                  <a:extLst>
                    <a:ext uri="{9D8B030D-6E8A-4147-A177-3AD203B41FA5}">
                      <a16:colId xmlns:a16="http://schemas.microsoft.com/office/drawing/2014/main" val="1065168636"/>
                    </a:ext>
                  </a:extLst>
                </a:gridCol>
                <a:gridCol w="1202119">
                  <a:extLst>
                    <a:ext uri="{9D8B030D-6E8A-4147-A177-3AD203B41FA5}">
                      <a16:colId xmlns:a16="http://schemas.microsoft.com/office/drawing/2014/main" val="1180667150"/>
                    </a:ext>
                  </a:extLst>
                </a:gridCol>
                <a:gridCol w="1246527">
                  <a:extLst>
                    <a:ext uri="{9D8B030D-6E8A-4147-A177-3AD203B41FA5}">
                      <a16:colId xmlns:a16="http://schemas.microsoft.com/office/drawing/2014/main" val="145590302"/>
                    </a:ext>
                  </a:extLst>
                </a:gridCol>
                <a:gridCol w="1246527">
                  <a:extLst>
                    <a:ext uri="{9D8B030D-6E8A-4147-A177-3AD203B41FA5}">
                      <a16:colId xmlns:a16="http://schemas.microsoft.com/office/drawing/2014/main" val="1146983887"/>
                    </a:ext>
                  </a:extLst>
                </a:gridCol>
              </a:tblGrid>
              <a:tr h="23421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tx1"/>
                          </a:solidFill>
                          <a:latin typeface="Adani Light"/>
                          <a:ea typeface="+mn-ea"/>
                          <a:cs typeface="+mn-cs"/>
                        </a:rPr>
                        <a:t>Commercial Operation Date (COD)</a:t>
                      </a:r>
                    </a:p>
                  </a:txBody>
                  <a:tcPr anchor="ctr">
                    <a:solidFill>
                      <a:srgbClr val="E6E0EC"/>
                    </a:solidFill>
                  </a:tcPr>
                </a:tc>
                <a:tc gridSpan="2">
                  <a:txBody>
                    <a:bodyPr/>
                    <a:lstStyle/>
                    <a:p>
                      <a:pPr marL="0" algn="ctr" defTabSz="914400" rtl="0" eaLnBrk="1" latinLnBrk="0" hangingPunct="1"/>
                      <a:r>
                        <a:rPr lang="en-US" sz="1000" b="1" kern="1200">
                          <a:solidFill>
                            <a:schemeClr val="tx1"/>
                          </a:solidFill>
                          <a:latin typeface="Adani Light"/>
                          <a:ea typeface="+mn-ea"/>
                          <a:cs typeface="+mn-cs"/>
                        </a:rPr>
                        <a:t>PSS-10 in MWh</a:t>
                      </a:r>
                    </a:p>
                  </a:txBody>
                  <a:tcPr anchor="ctr">
                    <a:solidFill>
                      <a:srgbClr val="E6E0EC"/>
                    </a:solidFill>
                  </a:tcPr>
                </a:tc>
                <a:tc hMerge="1">
                  <a:txBody>
                    <a:bodyPr/>
                    <a:lstStyle/>
                    <a:p>
                      <a:endParaRPr lang="en-US"/>
                    </a:p>
                  </a:txBody>
                  <a:tcPr/>
                </a:tc>
                <a:tc gridSpan="2">
                  <a:txBody>
                    <a:bodyPr/>
                    <a:lstStyle/>
                    <a:p>
                      <a:pPr marL="0" algn="ctr" defTabSz="914400" rtl="0" eaLnBrk="1" latinLnBrk="0" hangingPunct="1"/>
                      <a:r>
                        <a:rPr lang="en-US" sz="1000" b="1" kern="1200">
                          <a:solidFill>
                            <a:schemeClr val="tx1"/>
                          </a:solidFill>
                          <a:latin typeface="Adani Light"/>
                          <a:ea typeface="+mn-ea"/>
                          <a:cs typeface="+mn-cs"/>
                        </a:rPr>
                        <a:t>PSS-05 in MWh</a:t>
                      </a:r>
                    </a:p>
                  </a:txBody>
                  <a:tcPr anchor="ctr">
                    <a:solidFill>
                      <a:srgbClr val="E6E0EC"/>
                    </a:solidFill>
                  </a:tcPr>
                </a:tc>
                <a:tc hMerge="1">
                  <a:txBody>
                    <a:bodyPr/>
                    <a:lstStyle/>
                    <a:p>
                      <a:endParaRPr lang="en-US"/>
                    </a:p>
                  </a:txBody>
                  <a:tcPr/>
                </a:tc>
                <a:tc gridSpan="2">
                  <a:txBody>
                    <a:bodyPr/>
                    <a:lstStyle/>
                    <a:p>
                      <a:pPr marL="0" algn="ctr" defTabSz="914400" rtl="0" eaLnBrk="1" latinLnBrk="0" hangingPunct="1"/>
                      <a:r>
                        <a:rPr lang="en-US" sz="1000" b="1" kern="1200">
                          <a:solidFill>
                            <a:schemeClr val="tx1"/>
                          </a:solidFill>
                          <a:latin typeface="Adani Light"/>
                          <a:ea typeface="+mn-ea"/>
                          <a:cs typeface="+mn-cs"/>
                        </a:rPr>
                        <a:t>PSS-08 in MWh</a:t>
                      </a:r>
                    </a:p>
                  </a:txBody>
                  <a:tcPr anchor="ctr">
                    <a:solidFill>
                      <a:srgbClr val="E6E0EC"/>
                    </a:solidFill>
                  </a:tcPr>
                </a:tc>
                <a:tc hMerge="1">
                  <a:txBody>
                    <a:bodyPr/>
                    <a:lstStyle/>
                    <a:p>
                      <a:endParaRPr lang="en-US"/>
                    </a:p>
                  </a:txBody>
                  <a:tcPr/>
                </a:tc>
                <a:tc gridSpan="2">
                  <a:txBody>
                    <a:bodyPr/>
                    <a:lstStyle/>
                    <a:p>
                      <a:pPr marL="0" algn="ctr" defTabSz="914400" rtl="0" eaLnBrk="1" latinLnBrk="0" hangingPunct="1"/>
                      <a:r>
                        <a:rPr lang="en-US" sz="1000" b="1" kern="1200">
                          <a:solidFill>
                            <a:schemeClr val="tx1"/>
                          </a:solidFill>
                          <a:latin typeface="Adani Light"/>
                          <a:ea typeface="+mn-ea"/>
                          <a:cs typeface="+mn-cs"/>
                        </a:rPr>
                        <a:t>Total Capacity(MWh)</a:t>
                      </a:r>
                    </a:p>
                  </a:txBody>
                  <a:tcPr anchor="ctr">
                    <a:lnT w="12700" cap="flat" cmpd="sng" algn="ctr">
                      <a:solidFill>
                        <a:schemeClr val="tx1"/>
                      </a:solidFill>
                      <a:prstDash val="solid"/>
                      <a:round/>
                      <a:headEnd type="none" w="med" len="med"/>
                      <a:tailEnd type="none" w="med" len="med"/>
                    </a:lnT>
                    <a:solidFill>
                      <a:srgbClr val="E6E0EC"/>
                    </a:solidFill>
                  </a:tcPr>
                </a:tc>
                <a:tc hMerge="1">
                  <a:txBody>
                    <a:bodyPr/>
                    <a:lstStyle/>
                    <a:p>
                      <a:endParaRPr lang="en-US"/>
                    </a:p>
                  </a:txBody>
                  <a:tcPr/>
                </a:tc>
                <a:extLst>
                  <a:ext uri="{0D108BD9-81ED-4DB2-BD59-A6C34878D82A}">
                    <a16:rowId xmlns:a16="http://schemas.microsoft.com/office/drawing/2014/main" val="2015208602"/>
                  </a:ext>
                </a:extLst>
              </a:tr>
              <a:tr h="234218">
                <a:tc vMerge="1">
                  <a:txBody>
                    <a:bodyPr/>
                    <a:lstStyle/>
                    <a:p>
                      <a:pPr marL="0" algn="ctr" defTabSz="914400" rtl="0" eaLnBrk="1" latinLnBrk="0" hangingPunct="1"/>
                      <a:endParaRPr lang="en-US" sz="1600" b="0" kern="1200">
                        <a:solidFill>
                          <a:schemeClr val="tx1"/>
                        </a:solidFill>
                        <a:latin typeface="Adani Light"/>
                        <a:ea typeface="+mn-ea"/>
                        <a:cs typeface="+mn-cs"/>
                      </a:endParaRPr>
                    </a:p>
                  </a:txBody>
                  <a:tcPr/>
                </a:tc>
                <a:tc>
                  <a:txBody>
                    <a:bodyPr/>
                    <a:lstStyle/>
                    <a:p>
                      <a:pPr marL="0" algn="ctr" defTabSz="914400" rtl="0" eaLnBrk="1" latinLnBrk="0" hangingPunct="1"/>
                      <a:r>
                        <a:rPr lang="en-US" sz="1000" b="0" kern="1200">
                          <a:solidFill>
                            <a:schemeClr val="tx1"/>
                          </a:solidFill>
                          <a:latin typeface="Adani Light"/>
                          <a:ea typeface="+mn-ea"/>
                          <a:cs typeface="+mn-cs"/>
                        </a:rPr>
                        <a:t>MWh</a:t>
                      </a:r>
                    </a:p>
                  </a:txBody>
                  <a:tcPr anchor="ctr"/>
                </a:tc>
                <a:tc>
                  <a:txBody>
                    <a:bodyPr/>
                    <a:lstStyle/>
                    <a:p>
                      <a:pPr marL="0" algn="ctr" defTabSz="914400" rtl="0" eaLnBrk="1" latinLnBrk="0" hangingPunct="1"/>
                      <a:r>
                        <a:rPr lang="en-US" sz="1000" b="0" kern="1200">
                          <a:solidFill>
                            <a:schemeClr val="tx1"/>
                          </a:solidFill>
                          <a:latin typeface="Adani Light"/>
                          <a:ea typeface="+mn-ea"/>
                          <a:cs typeface="+mn-cs"/>
                        </a:rPr>
                        <a:t>Containers</a:t>
                      </a:r>
                    </a:p>
                  </a:txBody>
                  <a:tcPr anchor="ctr"/>
                </a:tc>
                <a:tc>
                  <a:txBody>
                    <a:bodyPr/>
                    <a:lstStyle/>
                    <a:p>
                      <a:pPr marL="0" algn="ctr" defTabSz="914400" rtl="0" eaLnBrk="1" latinLnBrk="0" hangingPunct="1"/>
                      <a:r>
                        <a:rPr lang="en-US" sz="1000" b="0" kern="1200">
                          <a:solidFill>
                            <a:schemeClr val="tx1"/>
                          </a:solidFill>
                          <a:latin typeface="Adani Light"/>
                          <a:ea typeface="+mn-ea"/>
                          <a:cs typeface="+mn-cs"/>
                        </a:rPr>
                        <a:t>MWh</a:t>
                      </a:r>
                    </a:p>
                  </a:txBody>
                  <a:tcPr anchor="ctr"/>
                </a:tc>
                <a:tc>
                  <a:txBody>
                    <a:bodyPr/>
                    <a:lstStyle/>
                    <a:p>
                      <a:pPr marL="0" algn="ctr" defTabSz="914400" rtl="0" eaLnBrk="1" latinLnBrk="0" hangingPunct="1"/>
                      <a:r>
                        <a:rPr lang="en-US" sz="1000" b="0" kern="1200">
                          <a:solidFill>
                            <a:schemeClr val="tx1"/>
                          </a:solidFill>
                          <a:latin typeface="Adani Light"/>
                          <a:ea typeface="+mn-ea"/>
                          <a:cs typeface="+mn-cs"/>
                        </a:rPr>
                        <a:t>Containers</a:t>
                      </a:r>
                    </a:p>
                  </a:txBody>
                  <a:tcPr anchor="ctr"/>
                </a:tc>
                <a:tc>
                  <a:txBody>
                    <a:bodyPr/>
                    <a:lstStyle/>
                    <a:p>
                      <a:pPr marL="0" algn="ctr" defTabSz="914400" rtl="0" eaLnBrk="1" latinLnBrk="0" hangingPunct="1"/>
                      <a:r>
                        <a:rPr lang="en-US" sz="1000" b="0" kern="1200">
                          <a:solidFill>
                            <a:schemeClr val="tx1"/>
                          </a:solidFill>
                          <a:latin typeface="Adani Light"/>
                          <a:ea typeface="+mn-ea"/>
                          <a:cs typeface="+mn-cs"/>
                        </a:rPr>
                        <a:t>MWh</a:t>
                      </a:r>
                    </a:p>
                  </a:txBody>
                  <a:tcPr anchor="ctr"/>
                </a:tc>
                <a:tc>
                  <a:txBody>
                    <a:bodyPr/>
                    <a:lstStyle/>
                    <a:p>
                      <a:pPr marL="0" algn="ctr" defTabSz="914400" rtl="0" eaLnBrk="1" latinLnBrk="0" hangingPunct="1"/>
                      <a:r>
                        <a:rPr lang="en-US" sz="1000" b="0" kern="1200">
                          <a:solidFill>
                            <a:schemeClr val="tx1"/>
                          </a:solidFill>
                          <a:latin typeface="Adani Light"/>
                          <a:ea typeface="+mn-ea"/>
                          <a:cs typeface="+mn-cs"/>
                        </a:rPr>
                        <a:t>Containers</a:t>
                      </a:r>
                    </a:p>
                  </a:txBody>
                  <a:tcPr anchor="ctr"/>
                </a:tc>
                <a:tc>
                  <a:txBody>
                    <a:bodyPr/>
                    <a:lstStyle/>
                    <a:p>
                      <a:pPr marL="0" algn="ctr" defTabSz="914400" rtl="0" eaLnBrk="1" latinLnBrk="0" hangingPunct="1"/>
                      <a:r>
                        <a:rPr lang="en-US" sz="1000" b="0" kern="1200">
                          <a:solidFill>
                            <a:schemeClr val="tx1"/>
                          </a:solidFill>
                          <a:latin typeface="Adani Light"/>
                          <a:ea typeface="+mn-ea"/>
                          <a:cs typeface="+mn-cs"/>
                        </a:rPr>
                        <a:t>MWh</a:t>
                      </a:r>
                    </a:p>
                  </a:txBody>
                  <a:tcPr anchor="ctr"/>
                </a:tc>
                <a:tc>
                  <a:txBody>
                    <a:bodyPr/>
                    <a:lstStyle/>
                    <a:p>
                      <a:pPr marL="0" algn="ctr" defTabSz="914400" rtl="0" eaLnBrk="1" latinLnBrk="0" hangingPunct="1"/>
                      <a:r>
                        <a:rPr lang="en-US" sz="1000" b="0" kern="1200">
                          <a:solidFill>
                            <a:schemeClr val="tx1"/>
                          </a:solidFill>
                          <a:latin typeface="Adani Light"/>
                          <a:ea typeface="+mn-ea"/>
                          <a:cs typeface="+mn-cs"/>
                        </a:rPr>
                        <a:t>Containers</a:t>
                      </a:r>
                    </a:p>
                  </a:txBody>
                  <a:tcPr anchor="ctr"/>
                </a:tc>
                <a:extLst>
                  <a:ext uri="{0D108BD9-81ED-4DB2-BD59-A6C34878D82A}">
                    <a16:rowId xmlns:a16="http://schemas.microsoft.com/office/drawing/2014/main" val="616986796"/>
                  </a:ext>
                </a:extLst>
              </a:tr>
              <a:tr h="317930">
                <a:tc>
                  <a:txBody>
                    <a:bodyPr/>
                    <a:lstStyle/>
                    <a:p>
                      <a:pPr marL="0" lvl="0" algn="ctr" rtl="0">
                        <a:buNone/>
                      </a:pPr>
                      <a:r>
                        <a:rPr lang="en-US" sz="1000" b="1" strike="noStrike" kern="1200">
                          <a:solidFill>
                            <a:srgbClr val="00B050"/>
                          </a:solidFill>
                          <a:latin typeface="Adani Light"/>
                          <a:ea typeface="+mn-ea"/>
                          <a:cs typeface="+mn-cs"/>
                        </a:rPr>
                        <a:t>09-Mar-26</a:t>
                      </a:r>
                      <a:endParaRPr lang="en-US" sz="1000" b="1" strike="noStrike">
                        <a:solidFill>
                          <a:srgbClr val="00B050"/>
                        </a:solidFill>
                        <a:ea typeface="+mn-ea"/>
                        <a:cs typeface="+mn-cs"/>
                      </a:endParaRP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240.72</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48</a:t>
                      </a:r>
                    </a:p>
                  </a:txBody>
                  <a:tcPr anchor="ctr"/>
                </a:tc>
                <a:tc>
                  <a:txBody>
                    <a:bodyPr/>
                    <a:lstStyle/>
                    <a:p>
                      <a:pPr marL="0" algn="ctr" defTabSz="914400" rtl="0" eaLnBrk="1" latinLnBrk="0" hangingPunct="1"/>
                      <a:endParaRPr lang="en-US" sz="1000" b="1" kern="1200">
                        <a:solidFill>
                          <a:srgbClr val="00B050"/>
                        </a:solidFill>
                        <a:latin typeface="Adani Light" panose="02000503000000020004" pitchFamily="2" charset="0"/>
                        <a:ea typeface="+mn-ea"/>
                        <a:cs typeface="+mn-cs"/>
                      </a:endParaRPr>
                    </a:p>
                  </a:txBody>
                  <a:tcPr anchor="ctr"/>
                </a:tc>
                <a:tc>
                  <a:txBody>
                    <a:bodyPr/>
                    <a:lstStyle/>
                    <a:p>
                      <a:pPr marL="0" algn="ctr" defTabSz="914400" rtl="0" eaLnBrk="1" latinLnBrk="0" hangingPunct="1"/>
                      <a:endParaRPr lang="en-US" sz="1000" b="1" kern="1200">
                        <a:solidFill>
                          <a:srgbClr val="00B050"/>
                        </a:solidFill>
                        <a:latin typeface="Adani Light" panose="02000503000000020004" pitchFamily="2" charset="0"/>
                        <a:ea typeface="+mn-ea"/>
                        <a:cs typeface="+mn-cs"/>
                      </a:endParaRPr>
                    </a:p>
                  </a:txBody>
                  <a:tcPr anchor="ctr"/>
                </a:tc>
                <a:tc>
                  <a:txBody>
                    <a:bodyPr/>
                    <a:lstStyle/>
                    <a:p>
                      <a:pPr marL="0" algn="ctr" defTabSz="914400" rtl="0" eaLnBrk="1" latinLnBrk="0" hangingPunct="1"/>
                      <a:endParaRPr lang="en-US" sz="1000" b="1" kern="1200">
                        <a:solidFill>
                          <a:srgbClr val="00B050"/>
                        </a:solidFill>
                        <a:latin typeface="Adani Light" panose="02000503000000020004" pitchFamily="2" charset="0"/>
                        <a:ea typeface="+mn-ea"/>
                        <a:cs typeface="+mn-cs"/>
                      </a:endParaRPr>
                    </a:p>
                  </a:txBody>
                  <a:tcPr anchor="ctr"/>
                </a:tc>
                <a:tc>
                  <a:txBody>
                    <a:bodyPr/>
                    <a:lstStyle/>
                    <a:p>
                      <a:pPr marL="0" algn="ctr" defTabSz="914400" rtl="0" eaLnBrk="1" latinLnBrk="0" hangingPunct="1"/>
                      <a:endParaRPr lang="en-US" sz="1000" b="1" kern="1200">
                        <a:solidFill>
                          <a:srgbClr val="00B050"/>
                        </a:solidFill>
                        <a:latin typeface="Adani Light" panose="02000503000000020004" pitchFamily="2" charset="0"/>
                        <a:ea typeface="+mn-ea"/>
                        <a:cs typeface="+mn-cs"/>
                      </a:endParaRP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240.72</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48</a:t>
                      </a:r>
                    </a:p>
                  </a:txBody>
                  <a:tcPr anchor="ctr"/>
                </a:tc>
                <a:extLst>
                  <a:ext uri="{0D108BD9-81ED-4DB2-BD59-A6C34878D82A}">
                    <a16:rowId xmlns:a16="http://schemas.microsoft.com/office/drawing/2014/main" val="183124328"/>
                  </a:ext>
                </a:extLst>
              </a:tr>
              <a:tr h="399712">
                <a:tc>
                  <a:txBody>
                    <a:bodyPr/>
                    <a:lstStyle/>
                    <a:p>
                      <a:pPr marL="0" lvl="0" algn="ctr" rtl="0">
                        <a:buNone/>
                      </a:pPr>
                      <a:r>
                        <a:rPr lang="en-US" sz="1000" b="1" strike="noStrike" kern="1200">
                          <a:solidFill>
                            <a:srgbClr val="00B050"/>
                          </a:solidFill>
                          <a:latin typeface="Adani Light"/>
                          <a:ea typeface="+mn-ea"/>
                          <a:cs typeface="+mn-cs"/>
                        </a:rPr>
                        <a:t>18-Mar-26</a:t>
                      </a:r>
                      <a:endParaRPr lang="en-US" sz="1000" b="1" strike="noStrike">
                        <a:solidFill>
                          <a:srgbClr val="00B050"/>
                        </a:solidFill>
                        <a:ea typeface="+mn-ea"/>
                        <a:cs typeface="+mn-cs"/>
                      </a:endParaRP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240.72</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48</a:t>
                      </a:r>
                    </a:p>
                  </a:txBody>
                  <a:tcPr anchor="ct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tc>
                <a:tc>
                  <a:txBody>
                    <a:bodyPr/>
                    <a:lstStyle/>
                    <a:p>
                      <a:pPr marL="0" algn="ctr" defTabSz="914400" rtl="0" eaLnBrk="1" latinLnBrk="0" hangingPunct="1"/>
                      <a:endParaRPr lang="en-US" sz="1000" b="1" kern="1200">
                        <a:solidFill>
                          <a:srgbClr val="00B050"/>
                        </a:solidFill>
                        <a:latin typeface="Adani Light" panose="02000503000000020004" pitchFamily="2" charset="0"/>
                        <a:ea typeface="+mn-ea"/>
                        <a:cs typeface="+mn-cs"/>
                      </a:endParaRPr>
                    </a:p>
                  </a:txBody>
                  <a:tcPr anchor="ctr"/>
                </a:tc>
                <a:tc>
                  <a:txBody>
                    <a:bodyPr/>
                    <a:lstStyle/>
                    <a:p>
                      <a:pPr marL="0" algn="ctr" defTabSz="914400" rtl="0" eaLnBrk="1" latinLnBrk="0" hangingPunct="1"/>
                      <a:endParaRPr lang="en-US" sz="1000" b="1" kern="1200">
                        <a:solidFill>
                          <a:srgbClr val="00B050"/>
                        </a:solidFill>
                        <a:latin typeface="Adani Light" panose="02000503000000020004" pitchFamily="2" charset="0"/>
                        <a:ea typeface="+mn-ea"/>
                        <a:cs typeface="+mn-cs"/>
                      </a:endParaRP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240.72</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48</a:t>
                      </a:r>
                    </a:p>
                  </a:txBody>
                  <a:tcPr anchor="ctr"/>
                </a:tc>
                <a:extLst>
                  <a:ext uri="{0D108BD9-81ED-4DB2-BD59-A6C34878D82A}">
                    <a16:rowId xmlns:a16="http://schemas.microsoft.com/office/drawing/2014/main" val="2384240972"/>
                  </a:ext>
                </a:extLst>
              </a:tr>
              <a:tr h="234218">
                <a:tc>
                  <a:txBody>
                    <a:bodyPr/>
                    <a:lstStyle/>
                    <a:p>
                      <a:pPr marL="0" algn="ctr" defTabSz="914400" rtl="0" eaLnBrk="1" latinLnBrk="0" hangingPunct="1"/>
                      <a:r>
                        <a:rPr lang="en-US" sz="1000" b="1" kern="1200">
                          <a:solidFill>
                            <a:srgbClr val="00B050"/>
                          </a:solidFill>
                          <a:latin typeface="Adani Light"/>
                          <a:ea typeface="+mn-ea"/>
                          <a:cs typeface="+mn-cs"/>
                        </a:rPr>
                        <a:t>26-Mar-26</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180.54</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36</a:t>
                      </a:r>
                    </a:p>
                  </a:txBody>
                  <a:tcPr anchor="ct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tc>
                <a:tc>
                  <a:txBody>
                    <a:bodyPr/>
                    <a:lstStyle/>
                    <a:p>
                      <a:pPr marL="0" algn="ctr" defTabSz="914400" rtl="0" eaLnBrk="1" latinLnBrk="0" hangingPunct="1"/>
                      <a:endParaRPr lang="en-US" sz="1000" b="1" kern="1200">
                        <a:solidFill>
                          <a:srgbClr val="00B050"/>
                        </a:solidFill>
                        <a:latin typeface="Adani Light" panose="02000503000000020004" pitchFamily="2" charset="0"/>
                        <a:ea typeface="+mn-ea"/>
                        <a:cs typeface="+mn-cs"/>
                      </a:endParaRPr>
                    </a:p>
                  </a:txBody>
                  <a:tcPr anchor="ctr"/>
                </a:tc>
                <a:tc>
                  <a:txBody>
                    <a:bodyPr/>
                    <a:lstStyle/>
                    <a:p>
                      <a:pPr marL="0" algn="ctr" defTabSz="914400" rtl="0" eaLnBrk="1" latinLnBrk="0" hangingPunct="1"/>
                      <a:endParaRPr lang="en-US" sz="1000" b="1" kern="1200">
                        <a:solidFill>
                          <a:srgbClr val="00B050"/>
                        </a:solidFill>
                        <a:latin typeface="Adani Light" panose="02000503000000020004" pitchFamily="2" charset="0"/>
                        <a:ea typeface="+mn-ea"/>
                        <a:cs typeface="+mn-cs"/>
                      </a:endParaRP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180.54</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36</a:t>
                      </a:r>
                    </a:p>
                  </a:txBody>
                  <a:tcPr anchor="ctr"/>
                </a:tc>
                <a:extLst>
                  <a:ext uri="{0D108BD9-81ED-4DB2-BD59-A6C34878D82A}">
                    <a16:rowId xmlns:a16="http://schemas.microsoft.com/office/drawing/2014/main" val="2609696782"/>
                  </a:ext>
                </a:extLst>
              </a:tr>
              <a:tr h="234218">
                <a:tc>
                  <a:txBody>
                    <a:bodyPr/>
                    <a:lstStyle/>
                    <a:p>
                      <a:pPr marL="0" algn="ctr" defTabSz="914400" rtl="0" eaLnBrk="1" latinLnBrk="0" hangingPunct="1"/>
                      <a:r>
                        <a:rPr lang="en-US" sz="1000" b="1" strike="noStrike" kern="1200">
                          <a:solidFill>
                            <a:srgbClr val="00B050"/>
                          </a:solidFill>
                          <a:latin typeface="Adani Light"/>
                          <a:ea typeface="+mn-ea"/>
                          <a:cs typeface="+mn-cs"/>
                        </a:rPr>
                        <a:t>30-Mar-26</a:t>
                      </a:r>
                    </a:p>
                  </a:txBody>
                  <a:tcPr anchor="ctr"/>
                </a:tc>
                <a:tc>
                  <a:txBody>
                    <a:bodyPr/>
                    <a:lstStyle/>
                    <a:p>
                      <a:pPr marL="0" algn="ctr" defTabSz="914400" rtl="0" eaLnBrk="1" latinLnBrk="0" hangingPunct="1"/>
                      <a:r>
                        <a:rPr lang="en-US" sz="1000" b="1" strike="noStrike" kern="1200">
                          <a:solidFill>
                            <a:srgbClr val="00B050"/>
                          </a:solidFill>
                          <a:latin typeface="Adani Light"/>
                          <a:ea typeface="+mn-ea"/>
                          <a:cs typeface="+mn-cs"/>
                        </a:rPr>
                        <a:t>361.08</a:t>
                      </a:r>
                    </a:p>
                  </a:txBody>
                  <a:tcPr anchor="ctr"/>
                </a:tc>
                <a:tc>
                  <a:txBody>
                    <a:bodyPr/>
                    <a:lstStyle/>
                    <a:p>
                      <a:pPr marL="0" algn="ctr" defTabSz="914400" rtl="0" eaLnBrk="1" latinLnBrk="0" hangingPunct="1"/>
                      <a:r>
                        <a:rPr lang="en-US" sz="1000" b="1" strike="noStrike" kern="1200">
                          <a:solidFill>
                            <a:srgbClr val="00B050"/>
                          </a:solidFill>
                          <a:latin typeface="Adani Light"/>
                          <a:ea typeface="+mn-ea"/>
                          <a:cs typeface="+mn-cs"/>
                        </a:rPr>
                        <a:t>72</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481.44</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96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842.52</a:t>
                      </a:r>
                    </a:p>
                  </a:txBody>
                  <a:tcPr anchor="ctr"/>
                </a:tc>
                <a:tc>
                  <a:txBody>
                    <a:bodyPr/>
                    <a:lstStyle/>
                    <a:p>
                      <a:pPr marL="0" algn="ctr" defTabSz="914400" rtl="0" eaLnBrk="1" latinLnBrk="0" hangingPunct="1"/>
                      <a:r>
                        <a:rPr lang="en-US" sz="1000" b="1" kern="1200">
                          <a:solidFill>
                            <a:srgbClr val="00B050"/>
                          </a:solidFill>
                          <a:latin typeface="Adani Light"/>
                          <a:ea typeface="+mn-ea"/>
                          <a:cs typeface="+mn-cs"/>
                        </a:rPr>
                        <a:t>168</a:t>
                      </a:r>
                    </a:p>
                  </a:txBody>
                  <a:tcPr anchor="ctr"/>
                </a:tc>
                <a:extLst>
                  <a:ext uri="{0D108BD9-81ED-4DB2-BD59-A6C34878D82A}">
                    <a16:rowId xmlns:a16="http://schemas.microsoft.com/office/drawing/2014/main" val="2532700257"/>
                  </a:ext>
                </a:extLst>
              </a:tr>
              <a:tr h="234218">
                <a:tc>
                  <a:txBody>
                    <a:bodyPr/>
                    <a:lstStyle/>
                    <a:p>
                      <a:pPr marL="0" algn="ctr" defTabSz="914400" rtl="0" eaLnBrk="1" latinLnBrk="0" hangingPunct="1"/>
                      <a:r>
                        <a:rPr lang="en-US" sz="1000" b="1" kern="1200">
                          <a:solidFill>
                            <a:srgbClr val="00B050"/>
                          </a:solidFill>
                          <a:latin typeface="Adani Light"/>
                          <a:ea typeface="+mn-ea"/>
                          <a:cs typeface="+mn-cs"/>
                        </a:rPr>
                        <a:t>31-Mar-26</a:t>
                      </a:r>
                    </a:p>
                  </a:txBody>
                  <a:tcPr anchor="ctr">
                    <a:solidFill>
                      <a:srgbClr val="FFFFFF"/>
                    </a:solidFill>
                  </a:tcPr>
                </a:tc>
                <a:tc>
                  <a:txBody>
                    <a:bodyPr/>
                    <a:lstStyle/>
                    <a:p>
                      <a:pPr marL="0" algn="ctr" defTabSz="914400" rtl="0" eaLnBrk="1" latinLnBrk="0" hangingPunct="1"/>
                      <a:r>
                        <a:rPr lang="en-US" sz="1000" b="1" kern="1200">
                          <a:solidFill>
                            <a:srgbClr val="00B050"/>
                          </a:solidFill>
                          <a:latin typeface="Adani Light"/>
                          <a:ea typeface="+mn-ea"/>
                          <a:cs typeface="+mn-cs"/>
                        </a:rPr>
                        <a:t>60.18</a:t>
                      </a:r>
                    </a:p>
                  </a:txBody>
                  <a:tcPr anchor="ctr">
                    <a:solidFill>
                      <a:srgbClr val="FFFFFF"/>
                    </a:solidFill>
                  </a:tcPr>
                </a:tc>
                <a:tc>
                  <a:txBody>
                    <a:bodyPr/>
                    <a:lstStyle/>
                    <a:p>
                      <a:pPr marL="0" algn="ctr" defTabSz="914400" rtl="0" eaLnBrk="1" latinLnBrk="0" hangingPunct="1"/>
                      <a:r>
                        <a:rPr lang="en-US" sz="1000" b="1" kern="1200">
                          <a:solidFill>
                            <a:srgbClr val="00B050"/>
                          </a:solidFill>
                          <a:latin typeface="Adani Light"/>
                          <a:ea typeface="+mn-ea"/>
                          <a:cs typeface="+mn-cs"/>
                        </a:rPr>
                        <a:t>12</a:t>
                      </a:r>
                    </a:p>
                  </a:txBody>
                  <a:tcPr anchor="ctr">
                    <a:solidFill>
                      <a:srgbClr val="FFFFFF"/>
                    </a:solid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solidFill>
                      <a:srgbClr val="FFFFFF"/>
                    </a:solid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FFFFFF"/>
                    </a:solidFill>
                  </a:tcPr>
                </a:tc>
                <a:tc>
                  <a:txBody>
                    <a:bodyPr/>
                    <a:lstStyle/>
                    <a:p>
                      <a:pPr marL="0" algn="ctr" defTabSz="914400" rtl="0" eaLnBrk="1" latinLnBrk="0" hangingPunct="1"/>
                      <a:r>
                        <a:rPr lang="en-US" sz="1000" b="1" kern="1200">
                          <a:solidFill>
                            <a:srgbClr val="00B050"/>
                          </a:solidFill>
                          <a:latin typeface="Adani Light"/>
                          <a:ea typeface="+mn-ea"/>
                          <a:cs typeface="+mn-cs"/>
                        </a:rPr>
                        <a:t>60.18</a:t>
                      </a:r>
                    </a:p>
                  </a:txBody>
                  <a:tcPr anchor="ctr">
                    <a:solidFill>
                      <a:srgbClr val="FFFFFF"/>
                    </a:solidFill>
                  </a:tcPr>
                </a:tc>
                <a:tc>
                  <a:txBody>
                    <a:bodyPr/>
                    <a:lstStyle/>
                    <a:p>
                      <a:pPr marL="0" algn="ctr" defTabSz="914400" rtl="0" eaLnBrk="1" latinLnBrk="0" hangingPunct="1"/>
                      <a:r>
                        <a:rPr lang="en-US" sz="1000" b="1" kern="1200">
                          <a:solidFill>
                            <a:srgbClr val="00B050"/>
                          </a:solidFill>
                          <a:latin typeface="Adani Light"/>
                          <a:ea typeface="+mn-ea"/>
                          <a:cs typeface="+mn-cs"/>
                        </a:rPr>
                        <a:t>12</a:t>
                      </a:r>
                    </a:p>
                  </a:txBody>
                  <a:tcPr anchor="ctr">
                    <a:solidFill>
                      <a:srgbClr val="FFFFFF"/>
                    </a:solidFill>
                  </a:tcPr>
                </a:tc>
                <a:extLst>
                  <a:ext uri="{0D108BD9-81ED-4DB2-BD59-A6C34878D82A}">
                    <a16:rowId xmlns:a16="http://schemas.microsoft.com/office/drawing/2014/main" val="747779503"/>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09-Apr-26</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60.18</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12</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240.72</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48</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panose="02000503000000020004" pitchFamily="2" charset="0"/>
                          <a:ea typeface="+mn-ea"/>
                          <a:cs typeface="+mn-cs"/>
                        </a:rPr>
                        <a:t>300.90</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panose="02000503000000020004" pitchFamily="2" charset="0"/>
                          <a:ea typeface="+mn-ea"/>
                          <a:cs typeface="+mn-cs"/>
                        </a:rPr>
                        <a:t>60</a:t>
                      </a:r>
                    </a:p>
                  </a:txBody>
                  <a:tcPr anchor="ctr">
                    <a:solidFill>
                      <a:srgbClr val="E6E0EC"/>
                    </a:solidFill>
                  </a:tcPr>
                </a:tc>
                <a:extLst>
                  <a:ext uri="{0D108BD9-81ED-4DB2-BD59-A6C34878D82A}">
                    <a16:rowId xmlns:a16="http://schemas.microsoft.com/office/drawing/2014/main" val="3244720432"/>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15-Apr-26</a:t>
                      </a:r>
                    </a:p>
                  </a:txBody>
                  <a:tcPr anchor="ctr">
                    <a:noFill/>
                  </a:tcPr>
                </a:tc>
                <a:tc>
                  <a:txBody>
                    <a:bodyPr/>
                    <a:lstStyle/>
                    <a:p>
                      <a:pPr marL="0" algn="ctr" defTabSz="914400" rtl="0" eaLnBrk="1" latinLnBrk="0" hangingPunct="1"/>
                      <a:r>
                        <a:rPr lang="en-US" sz="1000" b="1" kern="1200">
                          <a:solidFill>
                            <a:srgbClr val="00B050"/>
                          </a:solidFill>
                          <a:latin typeface="Adani Light"/>
                          <a:ea typeface="+mn-ea"/>
                          <a:cs typeface="+mn-cs"/>
                        </a:rPr>
                        <a:t>60.18</a:t>
                      </a:r>
                    </a:p>
                  </a:txBody>
                  <a:tcPr anchor="ctr">
                    <a:noFill/>
                  </a:tcPr>
                </a:tc>
                <a:tc>
                  <a:txBody>
                    <a:bodyPr/>
                    <a:lstStyle/>
                    <a:p>
                      <a:pPr marL="0" algn="ctr" defTabSz="914400" rtl="0" eaLnBrk="1" latinLnBrk="0" hangingPunct="1"/>
                      <a:r>
                        <a:rPr lang="en-US" sz="1000" b="1" kern="1200">
                          <a:solidFill>
                            <a:srgbClr val="00B050"/>
                          </a:solidFill>
                          <a:latin typeface="Adani Light"/>
                          <a:ea typeface="+mn-ea"/>
                          <a:cs typeface="+mn-cs"/>
                        </a:rPr>
                        <a:t>12</a:t>
                      </a:r>
                    </a:p>
                  </a:txBody>
                  <a:tcPr anchor="ctr">
                    <a:noFill/>
                  </a:tcPr>
                </a:tc>
                <a:tc>
                  <a:txBody>
                    <a:bodyPr/>
                    <a:lstStyle/>
                    <a:p>
                      <a:pPr marL="0" algn="ctr" defTabSz="914400" rtl="0" eaLnBrk="1" latinLnBrk="0" hangingPunct="1"/>
                      <a:r>
                        <a:rPr lang="en-US" sz="1000" b="1" kern="1200">
                          <a:solidFill>
                            <a:srgbClr val="00B050"/>
                          </a:solidFill>
                          <a:latin typeface="Adani Light"/>
                          <a:ea typeface="+mn-ea"/>
                          <a:cs typeface="+mn-cs"/>
                        </a:rPr>
                        <a:t>180.54</a:t>
                      </a:r>
                    </a:p>
                  </a:txBody>
                  <a:tcPr anchor="ctr">
                    <a:noFill/>
                  </a:tcPr>
                </a:tc>
                <a:tc>
                  <a:txBody>
                    <a:bodyPr/>
                    <a:lstStyle/>
                    <a:p>
                      <a:pPr marL="0" algn="ctr" defTabSz="914400" rtl="0" eaLnBrk="1" latinLnBrk="0" hangingPunct="1"/>
                      <a:r>
                        <a:rPr lang="en-US" sz="1000" b="1" kern="1200">
                          <a:solidFill>
                            <a:srgbClr val="00B050"/>
                          </a:solidFill>
                          <a:latin typeface="Adani Light"/>
                          <a:ea typeface="+mn-ea"/>
                          <a:cs typeface="+mn-cs"/>
                        </a:rPr>
                        <a:t>36</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noFill/>
                  </a:tcPr>
                </a:tc>
                <a:tc>
                  <a:txBody>
                    <a:bodyPr/>
                    <a:lstStyle/>
                    <a:p>
                      <a:pPr marL="0" algn="ctr" defTabSz="914400" rtl="0" eaLnBrk="1" latinLnBrk="0" hangingPunct="1"/>
                      <a:r>
                        <a:rPr lang="en-US" sz="1000" b="1" kern="1200">
                          <a:solidFill>
                            <a:srgbClr val="00B050"/>
                          </a:solidFill>
                          <a:latin typeface="Adani Light"/>
                          <a:ea typeface="+mn-ea"/>
                          <a:cs typeface="+mn-cs"/>
                        </a:rPr>
                        <a:t>240.72</a:t>
                      </a:r>
                    </a:p>
                  </a:txBody>
                  <a:tcPr anchor="ctr">
                    <a:noFill/>
                  </a:tcPr>
                </a:tc>
                <a:tc>
                  <a:txBody>
                    <a:bodyPr/>
                    <a:lstStyle/>
                    <a:p>
                      <a:pPr marL="0" algn="ctr" defTabSz="914400" rtl="0" eaLnBrk="1" latinLnBrk="0" hangingPunct="1"/>
                      <a:r>
                        <a:rPr lang="en-US" sz="1000" b="1" kern="1200">
                          <a:solidFill>
                            <a:srgbClr val="00B050"/>
                          </a:solidFill>
                          <a:latin typeface="Adani Light"/>
                          <a:ea typeface="+mn-ea"/>
                          <a:cs typeface="+mn-cs"/>
                        </a:rPr>
                        <a:t>48</a:t>
                      </a:r>
                    </a:p>
                  </a:txBody>
                  <a:tcPr anchor="ctr">
                    <a:noFill/>
                  </a:tcPr>
                </a:tc>
                <a:extLst>
                  <a:ext uri="{0D108BD9-81ED-4DB2-BD59-A6C34878D82A}">
                    <a16:rowId xmlns:a16="http://schemas.microsoft.com/office/drawing/2014/main" val="2450551580"/>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Adani Light"/>
                          <a:ea typeface="+mn-ea"/>
                          <a:cs typeface="+mn-cs"/>
                        </a:rPr>
                        <a:t>17-Apr-26</a:t>
                      </a:r>
                      <a:endParaRPr lang="en-US" sz="1000" b="1" i="0" u="none" strike="noStrike" kern="1200" noProof="0">
                        <a:solidFill>
                          <a:srgbClr val="00B050"/>
                        </a:solidFill>
                        <a:latin typeface="Adani Light"/>
                        <a:ea typeface="+mn-ea"/>
                        <a:cs typeface="+mn-cs"/>
                      </a:endParaRPr>
                    </a:p>
                  </a:txBody>
                  <a:tcPr anchor="ctr">
                    <a:solidFill>
                      <a:srgbClr val="E6E0EC"/>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lang="en-US" sz="1000" b="1" i="0" u="none" strike="noStrike" kern="1200">
                        <a:solidFill>
                          <a:srgbClr val="00B050"/>
                        </a:solidFill>
                        <a:latin typeface="Adani Light"/>
                        <a:ea typeface="+mn-ea"/>
                        <a:cs typeface="+mn-cs"/>
                      </a:endParaRPr>
                    </a:p>
                  </a:txBody>
                  <a:tcPr anchor="ctr">
                    <a:solidFill>
                      <a:srgbClr val="E6E0EC"/>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lang="en-US" sz="1000" b="1" i="0" u="none" strike="noStrike" kern="1200">
                        <a:solidFill>
                          <a:srgbClr val="00B050"/>
                        </a:solidFill>
                        <a:latin typeface="Adani Light"/>
                        <a:ea typeface="+mn-ea"/>
                        <a:cs typeface="+mn-cs"/>
                      </a:endParaRPr>
                    </a:p>
                  </a:txBody>
                  <a:tcPr anchor="ctr">
                    <a:solidFill>
                      <a:srgbClr val="E6E0EC"/>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Adani Light"/>
                          <a:ea typeface="+mn-ea"/>
                          <a:cs typeface="+mn-cs"/>
                        </a:rPr>
                        <a:t>60.18</a:t>
                      </a:r>
                    </a:p>
                  </a:txBody>
                  <a:tcPr anchor="ctr">
                    <a:solidFill>
                      <a:srgbClr val="E6E0EC"/>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Adani Light"/>
                          <a:ea typeface="+mn-ea"/>
                          <a:cs typeface="+mn-cs"/>
                        </a:rPr>
                        <a:t>12</a:t>
                      </a:r>
                    </a:p>
                  </a:txBody>
                  <a:tcPr anchor="ctr">
                    <a:solidFill>
                      <a:srgbClr val="E6E0EC"/>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lang="en-US" sz="1000" b="1" i="0" u="none" strike="noStrike" kern="1200" noProof="0">
                        <a:solidFill>
                          <a:srgbClr val="00B050"/>
                        </a:solidFill>
                        <a:latin typeface="Adani Light"/>
                        <a:ea typeface="+mn-ea"/>
                        <a:cs typeface="+mn-cs"/>
                      </a:endParaRPr>
                    </a:p>
                  </a:txBody>
                  <a:tcPr anchor="ctr">
                    <a:solidFill>
                      <a:srgbClr val="E6E0EC"/>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lang="en-US" sz="1000" b="1" i="0" u="none" strike="noStrike" kern="1200" noProof="0">
                        <a:solidFill>
                          <a:srgbClr val="00B050"/>
                        </a:solidFill>
                        <a:latin typeface="Adani Light"/>
                        <a:ea typeface="+mn-ea"/>
                        <a:cs typeface="+mn-cs"/>
                      </a:endParaRPr>
                    </a:p>
                  </a:txBody>
                  <a:tcPr anchor="ctr">
                    <a:solidFill>
                      <a:srgbClr val="E6E0EC"/>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Adani Light"/>
                          <a:ea typeface="+mn-ea"/>
                          <a:cs typeface="+mn-cs"/>
                        </a:rPr>
                        <a:t>60.18</a:t>
                      </a:r>
                    </a:p>
                  </a:txBody>
                  <a:tcPr anchor="ctr">
                    <a:solidFill>
                      <a:srgbClr val="E6E0EC"/>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Adani Light"/>
                          <a:ea typeface="+mn-ea"/>
                          <a:cs typeface="+mn-cs"/>
                        </a:rPr>
                        <a:t>12</a:t>
                      </a:r>
                    </a:p>
                  </a:txBody>
                  <a:tcPr anchor="ctr">
                    <a:solidFill>
                      <a:srgbClr val="E6E0EC"/>
                    </a:solidFill>
                  </a:tcPr>
                </a:tc>
                <a:extLst>
                  <a:ext uri="{0D108BD9-81ED-4DB2-BD59-A6C34878D82A}">
                    <a16:rowId xmlns:a16="http://schemas.microsoft.com/office/drawing/2014/main" val="578258215"/>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24-Apr-26</a:t>
                      </a: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280.84</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56</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280.84</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56</a:t>
                      </a:r>
                    </a:p>
                  </a:txBody>
                  <a:tcPr anchor="ctr">
                    <a:noFill/>
                  </a:tcPr>
                </a:tc>
                <a:extLst>
                  <a:ext uri="{0D108BD9-81ED-4DB2-BD59-A6C34878D82A}">
                    <a16:rowId xmlns:a16="http://schemas.microsoft.com/office/drawing/2014/main" val="713177840"/>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25-Apr-26</a:t>
                      </a:r>
                    </a:p>
                  </a:txBody>
                  <a:tcPr anchor="ctr">
                    <a:solidFill>
                      <a:srgbClr val="E6E0EC"/>
                    </a:solid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solidFill>
                      <a:srgbClr val="E6E0EC"/>
                    </a:solid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180.54</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36</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180.54</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36</a:t>
                      </a:r>
                    </a:p>
                  </a:txBody>
                  <a:tcPr anchor="ctr">
                    <a:solidFill>
                      <a:srgbClr val="E6E0EC"/>
                    </a:solidFill>
                  </a:tcPr>
                </a:tc>
                <a:extLst>
                  <a:ext uri="{0D108BD9-81ED-4DB2-BD59-A6C34878D82A}">
                    <a16:rowId xmlns:a16="http://schemas.microsoft.com/office/drawing/2014/main" val="806823726"/>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28-Apr-26</a:t>
                      </a: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40.12</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8</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40.12</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8</a:t>
                      </a:r>
                    </a:p>
                  </a:txBody>
                  <a:tcPr anchor="ctr">
                    <a:noFill/>
                  </a:tcPr>
                </a:tc>
                <a:extLst>
                  <a:ext uri="{0D108BD9-81ED-4DB2-BD59-A6C34878D82A}">
                    <a16:rowId xmlns:a16="http://schemas.microsoft.com/office/drawing/2014/main" val="4031209637"/>
                  </a:ext>
                </a:extLst>
              </a:tr>
              <a:tr h="234218">
                <a:tc>
                  <a:txBody>
                    <a:bodyPr/>
                    <a:lstStyle/>
                    <a:p>
                      <a:pPr marL="0" lvl="0" algn="ctr" defTabSz="1219170" rtl="0" eaLnBrk="1" latinLnBrk="0" hangingPunct="1">
                        <a:lnSpc>
                          <a:spcPct val="100000"/>
                        </a:lnSpc>
                        <a:spcBef>
                          <a:spcPts val="0"/>
                        </a:spcBef>
                        <a:spcAft>
                          <a:spcPts val="0"/>
                        </a:spcAft>
                        <a:buNone/>
                      </a:pPr>
                      <a:r>
                        <a:rPr lang="en-US" sz="1000" b="1" strike="noStrike" kern="1200" noProof="0">
                          <a:solidFill>
                            <a:srgbClr val="00B050"/>
                          </a:solidFill>
                          <a:latin typeface="Adani Light"/>
                          <a:ea typeface="+mn-ea"/>
                          <a:cs typeface="+mn-cs"/>
                        </a:rPr>
                        <a:t>30-Apr-26</a:t>
                      </a:r>
                    </a:p>
                  </a:txBody>
                  <a:tcPr anchor="ctr">
                    <a:solidFill>
                      <a:srgbClr val="E6E0EC"/>
                    </a:solidFill>
                  </a:tcPr>
                </a:tc>
                <a:tc>
                  <a:txBody>
                    <a:bodyPr/>
                    <a:lstStyle/>
                    <a:p>
                      <a:pPr marL="0" lvl="0" algn="ctr" defTabSz="1219170" rtl="0" eaLnBrk="1" fontAlgn="b" latinLnBrk="0" hangingPunct="1">
                        <a:lnSpc>
                          <a:spcPct val="100000"/>
                        </a:lnSpc>
                        <a:spcBef>
                          <a:spcPts val="0"/>
                        </a:spcBef>
                        <a:spcAft>
                          <a:spcPts val="0"/>
                        </a:spcAft>
                        <a:buNone/>
                      </a:pPr>
                      <a:endParaRPr lang="en-US" sz="1000" b="1" strike="sngStrike" kern="1200">
                        <a:solidFill>
                          <a:srgbClr val="00B050"/>
                        </a:solidFill>
                        <a:latin typeface="Adani Light"/>
                        <a:ea typeface="+mn-ea"/>
                        <a:cs typeface="+mn-cs"/>
                      </a:endParaRPr>
                    </a:p>
                  </a:txBody>
                  <a:tcPr marL="9525" marR="9525" marT="9525" marB="0" anchor="ctr">
                    <a:solidFill>
                      <a:srgbClr val="E6E0EC"/>
                    </a:solidFill>
                  </a:tcPr>
                </a:tc>
                <a:tc>
                  <a:txBody>
                    <a:bodyPr/>
                    <a:lstStyle/>
                    <a:p>
                      <a:pPr marL="0" lvl="0" algn="ctr" defTabSz="1219170" rtl="0" eaLnBrk="1" fontAlgn="b" latinLnBrk="0" hangingPunct="1">
                        <a:lnSpc>
                          <a:spcPct val="100000"/>
                        </a:lnSpc>
                        <a:spcBef>
                          <a:spcPts val="0"/>
                        </a:spcBef>
                        <a:spcAft>
                          <a:spcPts val="0"/>
                        </a:spcAft>
                        <a:buNone/>
                      </a:pPr>
                      <a:endParaRPr lang="en-US" sz="1000" b="1" strike="sngStrike" kern="1200">
                        <a:solidFill>
                          <a:srgbClr val="00B050"/>
                        </a:solidFill>
                        <a:latin typeface="Adani Light"/>
                        <a:ea typeface="+mn-ea"/>
                        <a:cs typeface="+mn-cs"/>
                      </a:endParaRPr>
                    </a:p>
                  </a:txBody>
                  <a:tcPr marL="9525" marR="9525" marT="9525" marB="0"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180.54</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36</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180.54</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36</a:t>
                      </a:r>
                    </a:p>
                  </a:txBody>
                  <a:tcPr anchor="ctr">
                    <a:solidFill>
                      <a:srgbClr val="E6E0EC"/>
                    </a:solidFill>
                  </a:tcPr>
                </a:tc>
                <a:extLst>
                  <a:ext uri="{0D108BD9-81ED-4DB2-BD59-A6C34878D82A}">
                    <a16:rowId xmlns:a16="http://schemas.microsoft.com/office/drawing/2014/main" val="2834016177"/>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05-May-26</a:t>
                      </a: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r>
                        <a:rPr lang="en-US" sz="1000" b="1" kern="1200">
                          <a:solidFill>
                            <a:srgbClr val="00B050"/>
                          </a:solidFill>
                          <a:latin typeface="Adani Light"/>
                          <a:ea typeface="+mn-ea"/>
                          <a:cs typeface="+mn-cs"/>
                        </a:rPr>
                        <a:t>60.18</a:t>
                      </a:r>
                    </a:p>
                  </a:txBody>
                  <a:tcPr anchor="ctr">
                    <a:noFill/>
                  </a:tcPr>
                </a:tc>
                <a:tc>
                  <a:txBody>
                    <a:bodyPr/>
                    <a:lstStyle/>
                    <a:p>
                      <a:pPr marL="0" algn="ctr" defTabSz="914400" rtl="0" eaLnBrk="1" latinLnBrk="0" hangingPunct="1"/>
                      <a:r>
                        <a:rPr lang="en-US" sz="1000" b="1" kern="1200">
                          <a:solidFill>
                            <a:srgbClr val="00B050"/>
                          </a:solidFill>
                          <a:latin typeface="Adani Light"/>
                          <a:ea typeface="+mn-ea"/>
                          <a:cs typeface="+mn-cs"/>
                        </a:rPr>
                        <a:t>12</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160.48</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32</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220.66</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44</a:t>
                      </a:r>
                    </a:p>
                  </a:txBody>
                  <a:tcPr anchor="ctr">
                    <a:noFill/>
                  </a:tcPr>
                </a:tc>
                <a:extLst>
                  <a:ext uri="{0D108BD9-81ED-4DB2-BD59-A6C34878D82A}">
                    <a16:rowId xmlns:a16="http://schemas.microsoft.com/office/drawing/2014/main" val="2885798452"/>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08-May-26</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55.17</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11</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60.18</a:t>
                      </a:r>
                    </a:p>
                  </a:txBody>
                  <a:tcPr anchor="ctr">
                    <a:solidFill>
                      <a:srgbClr val="E6E0EC"/>
                    </a:solidFill>
                  </a:tcPr>
                </a:tc>
                <a:tc>
                  <a:txBody>
                    <a:bodyPr/>
                    <a:lstStyle/>
                    <a:p>
                      <a:pPr marL="0" algn="ctr" defTabSz="914400" rtl="0" eaLnBrk="1" latinLnBrk="0" hangingPunct="1"/>
                      <a:r>
                        <a:rPr lang="en-US" sz="1000" b="1" kern="1200">
                          <a:solidFill>
                            <a:srgbClr val="00B050"/>
                          </a:solidFill>
                          <a:latin typeface="Adani Light"/>
                          <a:ea typeface="+mn-ea"/>
                          <a:cs typeface="+mn-cs"/>
                        </a:rPr>
                        <a:t>12</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B050"/>
                        </a:solidFill>
                        <a:effectLst/>
                        <a:uLnTx/>
                        <a:uFillTx/>
                        <a:latin typeface="Adani Light"/>
                        <a:ea typeface="+mn-ea"/>
                        <a:cs typeface="+mn-cs"/>
                      </a:endParaRP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115.35</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23</a:t>
                      </a:r>
                    </a:p>
                  </a:txBody>
                  <a:tcPr anchor="ctr">
                    <a:solidFill>
                      <a:srgbClr val="E6E0EC"/>
                    </a:solidFill>
                  </a:tcPr>
                </a:tc>
                <a:extLst>
                  <a:ext uri="{0D108BD9-81ED-4DB2-BD59-A6C34878D82A}">
                    <a16:rowId xmlns:a16="http://schemas.microsoft.com/office/drawing/2014/main" val="1163194418"/>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13-May-26</a:t>
                      </a: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120.36</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24</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120.36</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24</a:t>
                      </a:r>
                    </a:p>
                  </a:txBody>
                  <a:tcPr anchor="ctr">
                    <a:noFill/>
                  </a:tcPr>
                </a:tc>
                <a:extLst>
                  <a:ext uri="{0D108BD9-81ED-4DB2-BD59-A6C34878D82A}">
                    <a16:rowId xmlns:a16="http://schemas.microsoft.com/office/drawing/2014/main" val="3314138766"/>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13-May-26</a:t>
                      </a:r>
                    </a:p>
                  </a:txBody>
                  <a:tcPr anchor="ctr">
                    <a:solidFill>
                      <a:srgbClr val="E6E0EC"/>
                    </a:solid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solidFill>
                      <a:srgbClr val="E6E0EC"/>
                    </a:solid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solidFill>
                      <a:srgbClr val="E6E0EC"/>
                    </a:solid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solidFill>
                      <a:srgbClr val="E6E0EC"/>
                    </a:solid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120.36</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24</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120.36</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24</a:t>
                      </a:r>
                    </a:p>
                  </a:txBody>
                  <a:tcPr anchor="ctr">
                    <a:solidFill>
                      <a:srgbClr val="E6E0EC"/>
                    </a:solidFill>
                  </a:tcPr>
                </a:tc>
                <a:extLst>
                  <a:ext uri="{0D108BD9-81ED-4DB2-BD59-A6C34878D82A}">
                    <a16:rowId xmlns:a16="http://schemas.microsoft.com/office/drawing/2014/main" val="3901633434"/>
                  </a:ext>
                </a:extLst>
              </a:tr>
              <a:tr h="23421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00B050"/>
                          </a:solidFill>
                          <a:latin typeface="Adani Light"/>
                        </a:rPr>
                        <a:t>13-May-26</a:t>
                      </a: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algn="ctr" defTabSz="914400" rtl="0" eaLnBrk="1" latinLnBrk="0" hangingPunct="1"/>
                      <a:endParaRPr lang="en-US" sz="1000" b="1" kern="1200">
                        <a:solidFill>
                          <a:srgbClr val="00B050"/>
                        </a:solidFill>
                        <a:latin typeface="Adani Ligh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40.12</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8</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40.12</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dani Light"/>
                          <a:ea typeface="+mn-ea"/>
                          <a:cs typeface="+mn-cs"/>
                        </a:rPr>
                        <a:t>8</a:t>
                      </a:r>
                    </a:p>
                  </a:txBody>
                  <a:tcPr anchor="ctr">
                    <a:noFill/>
                  </a:tcPr>
                </a:tc>
                <a:extLst>
                  <a:ext uri="{0D108BD9-81ED-4DB2-BD59-A6C34878D82A}">
                    <a16:rowId xmlns:a16="http://schemas.microsoft.com/office/drawing/2014/main" val="1550307611"/>
                  </a:ext>
                </a:extLst>
              </a:tr>
              <a:tr h="241537">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b="1" i="0" u="none" strike="noStrike" noProof="0">
                          <a:solidFill>
                            <a:srgbClr val="00B050"/>
                          </a:solidFill>
                          <a:latin typeface="Adani Light"/>
                        </a:rPr>
                        <a:t>Cumulative COD</a:t>
                      </a:r>
                    </a:p>
                  </a:txBody>
                  <a:tcPr anchor="ctr">
                    <a:solidFill>
                      <a:srgbClr val="E6E0EC"/>
                    </a:solidFill>
                  </a:tcPr>
                </a:tc>
                <a:tc>
                  <a:txBody>
                    <a:bodyPr/>
                    <a:lstStyle/>
                    <a:p>
                      <a:pPr marL="0" algn="ctr" defTabSz="914400" rtl="0" eaLnBrk="1" latinLnBrk="0" hangingPunct="1"/>
                      <a:r>
                        <a:rPr lang="en-US" sz="1050" b="1" kern="1200">
                          <a:solidFill>
                            <a:srgbClr val="00B050"/>
                          </a:solidFill>
                          <a:latin typeface="Adani Light"/>
                          <a:ea typeface="+mn-ea"/>
                          <a:cs typeface="+mn-cs"/>
                        </a:rPr>
                        <a:t>1258.77</a:t>
                      </a:r>
                    </a:p>
                  </a:txBody>
                  <a:tcPr anchor="ctr">
                    <a:solidFill>
                      <a:srgbClr val="E6E0EC"/>
                    </a:solidFill>
                  </a:tcPr>
                </a:tc>
                <a:tc>
                  <a:txBody>
                    <a:bodyPr/>
                    <a:lstStyle/>
                    <a:p>
                      <a:pPr marL="0" algn="ctr" defTabSz="914400" rtl="0" eaLnBrk="1" latinLnBrk="0" hangingPunct="1"/>
                      <a:r>
                        <a:rPr lang="en-US" sz="1050" b="1" kern="1200">
                          <a:solidFill>
                            <a:srgbClr val="00B050"/>
                          </a:solidFill>
                          <a:latin typeface="Adani Light"/>
                          <a:ea typeface="+mn-ea"/>
                          <a:cs typeface="+mn-cs"/>
                        </a:rPr>
                        <a:t>251</a:t>
                      </a:r>
                    </a:p>
                  </a:txBody>
                  <a:tcPr anchor="ctr">
                    <a:solidFill>
                      <a:srgbClr val="E6E0EC"/>
                    </a:solidFill>
                  </a:tcPr>
                </a:tc>
                <a:tc>
                  <a:txBody>
                    <a:bodyPr/>
                    <a:lstStyle/>
                    <a:p>
                      <a:pPr marL="0" algn="ctr" defTabSz="914400" rtl="0" eaLnBrk="1" latinLnBrk="0" hangingPunct="1"/>
                      <a:r>
                        <a:rPr lang="en-US" sz="1050" b="1" kern="1200">
                          <a:solidFill>
                            <a:srgbClr val="00B050"/>
                          </a:solidFill>
                          <a:latin typeface="Adani Light"/>
                          <a:ea typeface="+mn-ea"/>
                          <a:cs typeface="+mn-cs"/>
                        </a:rPr>
                        <a:t>1444.32</a:t>
                      </a:r>
                    </a:p>
                  </a:txBody>
                  <a:tcPr anchor="ctr">
                    <a:solidFill>
                      <a:srgbClr val="E6E0EC"/>
                    </a:solidFill>
                  </a:tcPr>
                </a:tc>
                <a:tc>
                  <a:txBody>
                    <a:bodyPr/>
                    <a:lstStyle/>
                    <a:p>
                      <a:pPr marL="0" algn="ctr" defTabSz="914400" rtl="0" eaLnBrk="1" latinLnBrk="0" hangingPunct="1"/>
                      <a:r>
                        <a:rPr lang="en-US" sz="1050" b="1" kern="1200">
                          <a:solidFill>
                            <a:srgbClr val="00B050"/>
                          </a:solidFill>
                          <a:latin typeface="Adani Light"/>
                          <a:ea typeface="+mn-ea"/>
                          <a:cs typeface="+mn-cs"/>
                        </a:rPr>
                        <a:t>288</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Light"/>
                          <a:ea typeface="+mn-ea"/>
                          <a:cs typeface="+mn-cs"/>
                        </a:rPr>
                        <a:t>641.92</a:t>
                      </a:r>
                    </a:p>
                  </a:txBody>
                  <a:tcPr anchor="ctr">
                    <a:solidFill>
                      <a:srgbClr val="E6E0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B050"/>
                          </a:solidFill>
                          <a:effectLst/>
                          <a:uLnTx/>
                          <a:uFillTx/>
                          <a:latin typeface="Adani Light"/>
                          <a:ea typeface="+mn-ea"/>
                          <a:cs typeface="+mn-cs"/>
                        </a:rPr>
                        <a:t>128</a:t>
                      </a:r>
                    </a:p>
                  </a:txBody>
                  <a:tcPr anchor="ctr">
                    <a:solidFill>
                      <a:srgbClr val="E6E0EC"/>
                    </a:solidFill>
                  </a:tcPr>
                </a:tc>
                <a:tc>
                  <a:txBody>
                    <a:bodyPr/>
                    <a:lstStyle/>
                    <a:p>
                      <a:pPr marL="0" algn="ctr" defTabSz="914400" rtl="0" eaLnBrk="1" latinLnBrk="0" hangingPunct="1"/>
                      <a:r>
                        <a:rPr lang="en-US" sz="1050" b="1" kern="1200">
                          <a:solidFill>
                            <a:srgbClr val="00B050"/>
                          </a:solidFill>
                          <a:latin typeface="Adani Light"/>
                          <a:ea typeface="+mn-ea"/>
                          <a:cs typeface="+mn-cs"/>
                        </a:rPr>
                        <a:t>3345.01</a:t>
                      </a:r>
                    </a:p>
                  </a:txBody>
                  <a:tcPr anchor="ctr">
                    <a:solidFill>
                      <a:srgbClr val="E6E0EC"/>
                    </a:solidFill>
                  </a:tcPr>
                </a:tc>
                <a:tc>
                  <a:txBody>
                    <a:bodyPr/>
                    <a:lstStyle/>
                    <a:p>
                      <a:pPr marL="0" algn="ctr" defTabSz="914400" rtl="0" eaLnBrk="1" latinLnBrk="0" hangingPunct="1"/>
                      <a:r>
                        <a:rPr lang="en-US" sz="1050" b="1" kern="1200">
                          <a:solidFill>
                            <a:srgbClr val="00B050"/>
                          </a:solidFill>
                          <a:latin typeface="Adani Light"/>
                          <a:ea typeface="+mn-ea"/>
                          <a:cs typeface="+mn-cs"/>
                        </a:rPr>
                        <a:t>667</a:t>
                      </a:r>
                    </a:p>
                  </a:txBody>
                  <a:tcPr anchor="ctr">
                    <a:solidFill>
                      <a:srgbClr val="E6E0EC"/>
                    </a:solidFill>
                  </a:tcPr>
                </a:tc>
                <a:extLst>
                  <a:ext uri="{0D108BD9-81ED-4DB2-BD59-A6C34878D82A}">
                    <a16:rowId xmlns:a16="http://schemas.microsoft.com/office/drawing/2014/main" val="3861768701"/>
                  </a:ext>
                </a:extLst>
              </a:tr>
              <a:tr h="380604">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0" strike="sngStrike" kern="1200">
                          <a:solidFill>
                            <a:schemeClr val="tx1"/>
                          </a:solidFill>
                          <a:latin typeface="Adani Light"/>
                          <a:ea typeface="+mn-ea"/>
                          <a:cs typeface="+mn-cs"/>
                        </a:rPr>
                        <a:t>28-Feb  28-Mar  </a:t>
                      </a:r>
                      <a:r>
                        <a:rPr lang="en-US" sz="1000" b="0" i="0" u="none" strike="sngStrike" noProof="0">
                          <a:solidFill>
                            <a:srgbClr val="000000"/>
                          </a:solidFill>
                          <a:latin typeface="Adani Light"/>
                        </a:rPr>
                        <a:t>May-26</a:t>
                      </a:r>
                      <a:r>
                        <a:rPr lang="en-US" sz="1000" b="0" i="0" u="none" strike="noStrike" noProof="0">
                          <a:solidFill>
                            <a:srgbClr val="000000"/>
                          </a:solidFill>
                          <a:latin typeface="Adani Light"/>
                        </a:rPr>
                        <a:t> </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000000"/>
                          </a:solidFill>
                          <a:latin typeface="Adani Light"/>
                        </a:rPr>
                        <a:t>Jun-26 (*)</a:t>
                      </a:r>
                    </a:p>
                  </a:txBody>
                  <a:tcPr anchor="ctr">
                    <a:noFill/>
                  </a:tcPr>
                </a:tc>
                <a:tc>
                  <a:txBody>
                    <a:bodyPr/>
                    <a:lstStyle/>
                    <a:p>
                      <a:pPr marL="0" algn="ctr" defTabSz="914400" rtl="0" eaLnBrk="1" latinLnBrk="0" hangingPunct="1"/>
                      <a:r>
                        <a:rPr lang="en-US" sz="1000" b="0" kern="1200">
                          <a:solidFill>
                            <a:schemeClr val="tx1"/>
                          </a:solidFill>
                          <a:latin typeface="Adani Light"/>
                          <a:ea typeface="+mn-ea"/>
                          <a:cs typeface="+mn-cs"/>
                        </a:rPr>
                        <a:t>185.55</a:t>
                      </a:r>
                    </a:p>
                  </a:txBody>
                  <a:tcPr anchor="ctr">
                    <a:noFill/>
                  </a:tcPr>
                </a:tc>
                <a:tc>
                  <a:txBody>
                    <a:bodyPr/>
                    <a:lstStyle/>
                    <a:p>
                      <a:pPr marL="0" algn="ctr" defTabSz="914400" rtl="0" eaLnBrk="1" latinLnBrk="0" hangingPunct="1"/>
                      <a:r>
                        <a:rPr lang="en-US" sz="1000" b="0" kern="1200">
                          <a:solidFill>
                            <a:schemeClr val="tx1"/>
                          </a:solidFill>
                          <a:latin typeface="Adani Light"/>
                          <a:ea typeface="+mn-ea"/>
                          <a:cs typeface="+mn-cs"/>
                        </a:rPr>
                        <a:t>37</a:t>
                      </a:r>
                    </a:p>
                  </a:txBody>
                  <a:tcPr anchor="ctr">
                    <a:noFill/>
                  </a:tcPr>
                </a:tc>
                <a:tc>
                  <a:txBody>
                    <a:bodyPr/>
                    <a:lstStyle/>
                    <a:p>
                      <a:pPr marL="0" algn="ctr" defTabSz="914400" rtl="0" eaLnBrk="1" latinLnBrk="0" hangingPunct="1"/>
                      <a:endParaRPr lang="en-US" sz="1000" b="0" kern="1200">
                        <a:solidFill>
                          <a:schemeClr val="tx1"/>
                        </a:solidFill>
                        <a:latin typeface="Adani Light"/>
                        <a:ea typeface="+mn-ea"/>
                        <a:cs typeface="+mn-cs"/>
                      </a:endParaRPr>
                    </a:p>
                  </a:txBody>
                  <a:tcPr anchor="ctr">
                    <a:noFill/>
                  </a:tcPr>
                </a:tc>
                <a:tc>
                  <a:txBody>
                    <a:bodyPr/>
                    <a:lstStyle/>
                    <a:p>
                      <a:pPr marL="0" algn="ctr" defTabSz="914400" rtl="0" eaLnBrk="1" latinLnBrk="0" hangingPunct="1"/>
                      <a:endParaRPr lang="en-US" sz="1000" b="0" kern="1200">
                        <a:solidFill>
                          <a:schemeClr val="tx1"/>
                        </a:solidFill>
                        <a:latin typeface="Adani Ligh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dani Ligh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dani Light"/>
                        <a:ea typeface="+mn-ea"/>
                        <a:cs typeface="+mn-cs"/>
                      </a:endParaRPr>
                    </a:p>
                  </a:txBody>
                  <a:tcPr anchor="ctr">
                    <a:noFill/>
                  </a:tcPr>
                </a:tc>
                <a:tc>
                  <a:txBody>
                    <a:bodyPr/>
                    <a:lstStyle/>
                    <a:p>
                      <a:pPr marL="0" algn="ctr" defTabSz="914400" rtl="0" eaLnBrk="1" latinLnBrk="0" hangingPunct="1"/>
                      <a:r>
                        <a:rPr lang="en-US" sz="1000" b="1" kern="1200">
                          <a:solidFill>
                            <a:schemeClr val="tx1"/>
                          </a:solidFill>
                          <a:latin typeface="Adani Light"/>
                          <a:ea typeface="+mn-ea"/>
                          <a:cs typeface="+mn-cs"/>
                        </a:rPr>
                        <a:t>185.55</a:t>
                      </a:r>
                    </a:p>
                  </a:txBody>
                  <a:tcPr anchor="ctr">
                    <a:noFill/>
                  </a:tcPr>
                </a:tc>
                <a:tc>
                  <a:txBody>
                    <a:bodyPr/>
                    <a:lstStyle/>
                    <a:p>
                      <a:pPr marL="0" algn="ctr" defTabSz="914400" rtl="0" eaLnBrk="1" latinLnBrk="0" hangingPunct="1"/>
                      <a:r>
                        <a:rPr lang="en-US" sz="1000" b="1" kern="1200">
                          <a:solidFill>
                            <a:schemeClr val="tx1"/>
                          </a:solidFill>
                          <a:latin typeface="Adani Light"/>
                          <a:ea typeface="+mn-ea"/>
                          <a:cs typeface="+mn-cs"/>
                        </a:rPr>
                        <a:t>37</a:t>
                      </a:r>
                    </a:p>
                  </a:txBody>
                  <a:tcPr anchor="ctr">
                    <a:noFill/>
                  </a:tcPr>
                </a:tc>
                <a:extLst>
                  <a:ext uri="{0D108BD9-81ED-4DB2-BD59-A6C34878D82A}">
                    <a16:rowId xmlns:a16="http://schemas.microsoft.com/office/drawing/2014/main" val="1457718900"/>
                  </a:ext>
                </a:extLst>
              </a:tr>
              <a:tr h="234218">
                <a:tc>
                  <a:txBody>
                    <a:bodyPr/>
                    <a:lstStyle/>
                    <a:p>
                      <a:pPr marL="0" algn="ctr" defTabSz="914400" rtl="0" eaLnBrk="1" latinLnBrk="0" hangingPunct="1"/>
                      <a:r>
                        <a:rPr lang="en-US" sz="1000" b="1" kern="1200">
                          <a:solidFill>
                            <a:schemeClr val="tx1"/>
                          </a:solidFill>
                          <a:latin typeface="Adani Light" panose="02000503000000020004" pitchFamily="2" charset="0"/>
                          <a:ea typeface="+mn-ea"/>
                          <a:cs typeface="+mn-cs"/>
                        </a:rPr>
                        <a:t>Total</a:t>
                      </a:r>
                    </a:p>
                  </a:txBody>
                  <a:tcPr anchor="ctr">
                    <a:solidFill>
                      <a:srgbClr val="E6E0EC"/>
                    </a:solidFill>
                  </a:tcPr>
                </a:tc>
                <a:tc>
                  <a:txBody>
                    <a:bodyPr/>
                    <a:lstStyle/>
                    <a:p>
                      <a:pPr marL="0" algn="ctr" defTabSz="914400" rtl="0" eaLnBrk="1" fontAlgn="b" latinLnBrk="0" hangingPunct="1"/>
                      <a:r>
                        <a:rPr lang="en-US" sz="1000" b="1" kern="1200">
                          <a:solidFill>
                            <a:schemeClr val="tx1"/>
                          </a:solidFill>
                          <a:latin typeface="Adani Light"/>
                          <a:ea typeface="+mn-ea"/>
                          <a:cs typeface="+mn-cs"/>
                        </a:rPr>
                        <a:t>1444.32</a:t>
                      </a:r>
                    </a:p>
                  </a:txBody>
                  <a:tcPr marL="9525" marR="9525" marT="9525" marB="0" anchor="ctr">
                    <a:solidFill>
                      <a:srgbClr val="E6E0EC"/>
                    </a:solidFill>
                  </a:tcPr>
                </a:tc>
                <a:tc>
                  <a:txBody>
                    <a:bodyPr/>
                    <a:lstStyle/>
                    <a:p>
                      <a:pPr marL="0" algn="ctr" defTabSz="914400" rtl="0" eaLnBrk="1" fontAlgn="b" latinLnBrk="0" hangingPunct="1"/>
                      <a:r>
                        <a:rPr lang="en-US" sz="1000" b="1" kern="1200">
                          <a:solidFill>
                            <a:schemeClr val="tx1"/>
                          </a:solidFill>
                          <a:latin typeface="Adani Light"/>
                          <a:ea typeface="+mn-ea"/>
                          <a:cs typeface="+mn-cs"/>
                        </a:rPr>
                        <a:t>288</a:t>
                      </a:r>
                    </a:p>
                  </a:txBody>
                  <a:tcPr marL="9525" marR="9525" marT="9525" marB="0" anchor="ctr">
                    <a:solidFill>
                      <a:srgbClr val="E6E0EC"/>
                    </a:solidFill>
                  </a:tcPr>
                </a:tc>
                <a:tc>
                  <a:txBody>
                    <a:bodyPr/>
                    <a:lstStyle/>
                    <a:p>
                      <a:pPr marL="0" algn="ctr" defTabSz="914400" rtl="0" eaLnBrk="1" fontAlgn="b" latinLnBrk="0" hangingPunct="1"/>
                      <a:r>
                        <a:rPr lang="en-US" sz="1000" b="1" kern="1200">
                          <a:solidFill>
                            <a:schemeClr val="tx1"/>
                          </a:solidFill>
                          <a:latin typeface="Adani Light"/>
                          <a:ea typeface="+mn-ea"/>
                          <a:cs typeface="+mn-cs"/>
                        </a:rPr>
                        <a:t>1444.32</a:t>
                      </a:r>
                    </a:p>
                  </a:txBody>
                  <a:tcPr marL="9525" marR="9525" marT="9525" marB="0" anchor="ctr">
                    <a:solidFill>
                      <a:srgbClr val="E6E0EC"/>
                    </a:solidFill>
                  </a:tcPr>
                </a:tc>
                <a:tc>
                  <a:txBody>
                    <a:bodyPr/>
                    <a:lstStyle/>
                    <a:p>
                      <a:pPr marL="0" algn="ctr" defTabSz="914400" rtl="0" eaLnBrk="1" latinLnBrk="0" hangingPunct="1"/>
                      <a:r>
                        <a:rPr lang="en-US" sz="1000" b="1" kern="1200">
                          <a:solidFill>
                            <a:schemeClr val="tx1"/>
                          </a:solidFill>
                          <a:latin typeface="Adani Light"/>
                          <a:ea typeface="+mn-ea"/>
                          <a:cs typeface="+mn-cs"/>
                        </a:rPr>
                        <a:t>288</a:t>
                      </a:r>
                    </a:p>
                  </a:txBody>
                  <a:tcPr marL="9525" marR="9525" marT="9525" marB="0" anchor="ctr">
                    <a:solidFill>
                      <a:srgbClr val="E6E0EC"/>
                    </a:solidFill>
                  </a:tcPr>
                </a:tc>
                <a:tc>
                  <a:txBody>
                    <a:bodyPr/>
                    <a:lstStyle/>
                    <a:p>
                      <a:pPr marL="0" algn="ctr" defTabSz="914400" rtl="0" eaLnBrk="1" fontAlgn="b" latinLnBrk="0" hangingPunct="1"/>
                      <a:r>
                        <a:rPr lang="en-US" sz="1000" b="1" kern="1200">
                          <a:solidFill>
                            <a:schemeClr val="tx1"/>
                          </a:solidFill>
                          <a:latin typeface="Adani Light"/>
                          <a:ea typeface="+mn-ea"/>
                          <a:cs typeface="+mn-cs"/>
                        </a:rPr>
                        <a:t>641.92</a:t>
                      </a:r>
                    </a:p>
                  </a:txBody>
                  <a:tcPr marL="9525" marR="9525" marT="9525" marB="0" anchor="ctr">
                    <a:solidFill>
                      <a:srgbClr val="E6E0EC"/>
                    </a:solidFill>
                  </a:tcPr>
                </a:tc>
                <a:tc>
                  <a:txBody>
                    <a:bodyPr/>
                    <a:lstStyle/>
                    <a:p>
                      <a:pPr algn="ctr"/>
                      <a:r>
                        <a:rPr lang="en-US" sz="1000" b="1" kern="1200">
                          <a:solidFill>
                            <a:schemeClr val="tx1"/>
                          </a:solidFill>
                          <a:latin typeface="Adani Light"/>
                          <a:ea typeface="+mn-ea"/>
                          <a:cs typeface="+mn-cs"/>
                        </a:rPr>
                        <a:t>128</a:t>
                      </a:r>
                    </a:p>
                  </a:txBody>
                  <a:tcPr marL="9525" marR="9525" marT="9525" marB="0" anchor="ctr">
                    <a:solidFill>
                      <a:srgbClr val="E6E0EC"/>
                    </a:solidFill>
                  </a:tcPr>
                </a:tc>
                <a:tc>
                  <a:txBody>
                    <a:bodyPr/>
                    <a:lstStyle/>
                    <a:p>
                      <a:pPr marL="0" algn="ctr" defTabSz="914400" rtl="0" eaLnBrk="1" fontAlgn="b" latinLnBrk="0" hangingPunct="1"/>
                      <a:r>
                        <a:rPr lang="en-US" sz="1000" b="1" kern="1200">
                          <a:solidFill>
                            <a:schemeClr val="tx1"/>
                          </a:solidFill>
                          <a:latin typeface="Adani Light"/>
                          <a:ea typeface="+mn-ea"/>
                          <a:cs typeface="+mn-cs"/>
                        </a:rPr>
                        <a:t>3530.56</a:t>
                      </a:r>
                    </a:p>
                  </a:txBody>
                  <a:tcPr marL="9525" marR="9525" marT="9525" marB="0" anchor="ctr">
                    <a:solidFill>
                      <a:srgbClr val="E6E0EC"/>
                    </a:solidFill>
                  </a:tcPr>
                </a:tc>
                <a:tc>
                  <a:txBody>
                    <a:bodyPr/>
                    <a:lstStyle/>
                    <a:p>
                      <a:pPr marL="0" algn="ctr" defTabSz="914400" rtl="0" eaLnBrk="1" fontAlgn="b" latinLnBrk="0" hangingPunct="1"/>
                      <a:r>
                        <a:rPr lang="en-US" sz="1000" b="1" kern="1200">
                          <a:solidFill>
                            <a:schemeClr val="tx1"/>
                          </a:solidFill>
                          <a:latin typeface="Adani Light"/>
                          <a:ea typeface="+mn-ea"/>
                          <a:cs typeface="+mn-cs"/>
                        </a:rPr>
                        <a:t>704</a:t>
                      </a:r>
                    </a:p>
                  </a:txBody>
                  <a:tcPr marL="9525" marR="9525" marT="9525" marB="0" anchor="ctr">
                    <a:solidFill>
                      <a:srgbClr val="E6E0EC"/>
                    </a:solidFill>
                  </a:tcPr>
                </a:tc>
                <a:extLst>
                  <a:ext uri="{0D108BD9-81ED-4DB2-BD59-A6C34878D82A}">
                    <a16:rowId xmlns:a16="http://schemas.microsoft.com/office/drawing/2014/main" val="284098143"/>
                  </a:ext>
                </a:extLst>
              </a:tr>
            </a:tbl>
          </a:graphicData>
        </a:graphic>
      </p:graphicFrame>
      <p:sp>
        <p:nvSpPr>
          <p:cNvPr id="2" name="TextBox 1">
            <a:extLst>
              <a:ext uri="{FF2B5EF4-FFF2-40B4-BE49-F238E27FC236}">
                <a16:creationId xmlns:a16="http://schemas.microsoft.com/office/drawing/2014/main" id="{789376D6-94AC-739D-043F-1ACD529E9777}"/>
              </a:ext>
            </a:extLst>
          </p:cNvPr>
          <p:cNvSpPr txBox="1"/>
          <p:nvPr/>
        </p:nvSpPr>
        <p:spPr>
          <a:xfrm>
            <a:off x="339944" y="6537829"/>
            <a:ext cx="4324350" cy="246221"/>
          </a:xfrm>
          <a:prstGeom prst="rect">
            <a:avLst/>
          </a:prstGeom>
          <a:noFill/>
        </p:spPr>
        <p:txBody>
          <a:bodyPr wrap="square" rtlCol="0">
            <a:spAutoFit/>
          </a:bodyPr>
          <a:lstStyle/>
          <a:p>
            <a:r>
              <a:rPr lang="en-IN" sz="1000">
                <a:latin typeface="Adani Regular" panose="02000503000000020004" pitchFamily="2" charset="0"/>
              </a:rPr>
              <a:t>* 37 GP containers delayed</a:t>
            </a:r>
          </a:p>
        </p:txBody>
      </p:sp>
    </p:spTree>
    <p:extLst>
      <p:ext uri="{BB962C8B-B14F-4D97-AF65-F5344CB8AC3E}">
        <p14:creationId xmlns:p14="http://schemas.microsoft.com/office/powerpoint/2010/main" val="32467109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F7F6E-3631-22BA-BA53-81E7085AF6F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7E30F36-D8DE-38F6-D71E-B94E75FC9CEB}"/>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gradFill>
                  <a:gsLst>
                    <a:gs pos="9735">
                      <a:schemeClr val="tx2"/>
                    </a:gs>
                    <a:gs pos="63000">
                      <a:srgbClr val="8E278F"/>
                    </a:gs>
                    <a:gs pos="38000">
                      <a:srgbClr val="57499E"/>
                    </a:gs>
                  </a:gsLst>
                  <a:lin ang="0" scaled="0"/>
                </a:gradFill>
              </a:rPr>
              <a:t>Physical Progress : PSS 10A S-Curve </a:t>
            </a:r>
            <a:r>
              <a:rPr lang="en-US" i="1">
                <a:gradFill>
                  <a:gsLst>
                    <a:gs pos="9735">
                      <a:schemeClr val="tx2"/>
                    </a:gs>
                    <a:gs pos="63000">
                      <a:srgbClr val="8E278F"/>
                    </a:gs>
                    <a:gs pos="38000">
                      <a:srgbClr val="57499E"/>
                    </a:gs>
                  </a:gsLst>
                  <a:lin ang="0" scaled="0"/>
                </a:gradFill>
              </a:rPr>
              <a:t>[updated till 31 May 26]</a:t>
            </a:r>
          </a:p>
        </p:txBody>
      </p:sp>
      <p:graphicFrame>
        <p:nvGraphicFramePr>
          <p:cNvPr id="12" name="object 4">
            <a:extLst>
              <a:ext uri="{FF2B5EF4-FFF2-40B4-BE49-F238E27FC236}">
                <a16:creationId xmlns:a16="http://schemas.microsoft.com/office/drawing/2014/main" id="{45DE5DBD-5ACF-BA31-7D71-303F799C5DAC}"/>
              </a:ext>
            </a:extLst>
          </p:cNvPr>
          <p:cNvGraphicFramePr>
            <a:graphicFrameLocks noGrp="1"/>
          </p:cNvGraphicFramePr>
          <p:nvPr>
            <p:extLst>
              <p:ext uri="{D42A27DB-BD31-4B8C-83A1-F6EECF244321}">
                <p14:modId xmlns:p14="http://schemas.microsoft.com/office/powerpoint/2010/main" val="1880266065"/>
              </p:ext>
            </p:extLst>
          </p:nvPr>
        </p:nvGraphicFramePr>
        <p:xfrm>
          <a:off x="294640" y="3863679"/>
          <a:ext cx="11643359" cy="2934128"/>
        </p:xfrm>
        <a:graphic>
          <a:graphicData uri="http://schemas.openxmlformats.org/drawingml/2006/table">
            <a:tbl>
              <a:tblPr firstRow="1" bandRow="1">
                <a:tableStyleId>{2D5ABB26-0587-4C30-8999-92F81FD0307C}</a:tableStyleId>
              </a:tblPr>
              <a:tblGrid>
                <a:gridCol w="1877060">
                  <a:extLst>
                    <a:ext uri="{9D8B030D-6E8A-4147-A177-3AD203B41FA5}">
                      <a16:colId xmlns:a16="http://schemas.microsoft.com/office/drawing/2014/main" val="20000"/>
                    </a:ext>
                  </a:extLst>
                </a:gridCol>
                <a:gridCol w="600075">
                  <a:extLst>
                    <a:ext uri="{9D8B030D-6E8A-4147-A177-3AD203B41FA5}">
                      <a16:colId xmlns:a16="http://schemas.microsoft.com/office/drawing/2014/main" val="20001"/>
                    </a:ext>
                  </a:extLst>
                </a:gridCol>
                <a:gridCol w="768814">
                  <a:extLst>
                    <a:ext uri="{9D8B030D-6E8A-4147-A177-3AD203B41FA5}">
                      <a16:colId xmlns:a16="http://schemas.microsoft.com/office/drawing/2014/main" val="1846315748"/>
                    </a:ext>
                  </a:extLst>
                </a:gridCol>
                <a:gridCol w="707126">
                  <a:extLst>
                    <a:ext uri="{9D8B030D-6E8A-4147-A177-3AD203B41FA5}">
                      <a16:colId xmlns:a16="http://schemas.microsoft.com/office/drawing/2014/main" val="1665052075"/>
                    </a:ext>
                  </a:extLst>
                </a:gridCol>
                <a:gridCol w="707126">
                  <a:extLst>
                    <a:ext uri="{9D8B030D-6E8A-4147-A177-3AD203B41FA5}">
                      <a16:colId xmlns:a16="http://schemas.microsoft.com/office/drawing/2014/main" val="1453986706"/>
                    </a:ext>
                  </a:extLst>
                </a:gridCol>
                <a:gridCol w="6983158">
                  <a:extLst>
                    <a:ext uri="{9D8B030D-6E8A-4147-A177-3AD203B41FA5}">
                      <a16:colId xmlns:a16="http://schemas.microsoft.com/office/drawing/2014/main" val="20006"/>
                    </a:ext>
                  </a:extLst>
                </a:gridCol>
              </a:tblGrid>
              <a:tr h="270087">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900" b="1" spc="-25">
                          <a:solidFill>
                            <a:srgbClr val="FFFFFF"/>
                          </a:solidFill>
                          <a:latin typeface="Adani Regular"/>
                          <a:cs typeface="Adani Regular"/>
                        </a:rPr>
                        <a:t>FTM</a:t>
                      </a:r>
                      <a:endParaRPr lang="en-US" sz="9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algn="ctr">
                        <a:lnSpc>
                          <a:spcPct val="100000"/>
                        </a:lnSpc>
                        <a:spcBef>
                          <a:spcPts val="450"/>
                        </a:spcBef>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75842">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70087">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1.94%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0.06%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b="0" i="0" u="none" strike="noStrike" noProof="0">
                          <a:solidFill>
                            <a:schemeClr val="tx1"/>
                          </a:solidFill>
                          <a:effectLst/>
                          <a:latin typeface="Adani Regular" panose="02000503000000020004" pitchFamily="2" charset="0"/>
                        </a:rPr>
                        <a:t>Balance approvals (Fire NOC, </a:t>
                      </a:r>
                      <a:r>
                        <a:rPr lang="en-US" sz="1100" b="0" i="0" u="none" strike="noStrike" kern="1200">
                          <a:solidFill>
                            <a:schemeClr val="tx1"/>
                          </a:solidFill>
                          <a:effectLst/>
                          <a:latin typeface="Adani Regular" panose="02000503000000020004" pitchFamily="2" charset="0"/>
                          <a:ea typeface="+mn-ea"/>
                          <a:cs typeface="+mn-cs"/>
                        </a:rPr>
                        <a:t>Intimation to Labor Inspector) </a:t>
                      </a:r>
                      <a:r>
                        <a:rPr lang="en-US" sz="1100" b="0" i="0" u="none" strike="noStrike" noProof="0">
                          <a:solidFill>
                            <a:schemeClr val="tx1"/>
                          </a:solidFill>
                          <a:effectLst/>
                          <a:latin typeface="Adani Regular" panose="02000503000000020004" pitchFamily="2" charset="0"/>
                        </a:rPr>
                        <a:t>after Commissioning.</a:t>
                      </a:r>
                      <a:endParaRPr lang="en-US" sz="1100">
                        <a:solidFill>
                          <a:schemeClr val="tx1"/>
                        </a:solidFill>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70087">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5946">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37.34%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0.66%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100" kern="1200" noProof="0">
                          <a:solidFill>
                            <a:schemeClr val="tx1"/>
                          </a:solidFill>
                          <a:effectLst/>
                          <a:latin typeface="Adani Regular" panose="02000503000000020004" pitchFamily="2" charset="0"/>
                        </a:rPr>
                        <a:t>All ordering completed. Shortfall is due to deliveries of Battery Containers extended to Jun-26.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980444">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50.13%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4.87%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The difference between ‘Plan’ and ‘Actual’ in view of the following:-</a:t>
                      </a:r>
                    </a:p>
                    <a:p>
                      <a:pPr marL="228600" marR="0" lvl="0" indent="-228600" algn="just" defTabSz="914400" eaLnBrk="1" fontAlgn="auto" latinLnBrk="0" hangingPunct="1">
                        <a:lnSpc>
                          <a:spcPct val="100000"/>
                        </a:lnSpc>
                        <a:spcBef>
                          <a:spcPts val="0"/>
                        </a:spcBef>
                        <a:spcAft>
                          <a:spcPts val="0"/>
                        </a:spcAft>
                        <a:buClrTx/>
                        <a:buSzTx/>
                        <a:buFontTx/>
                        <a:buAutoNum type="alphaLcParenBoth"/>
                        <a:tabLst/>
                        <a:defRPr/>
                      </a:pPr>
                      <a:r>
                        <a:rPr lang="en-US" sz="1100" kern="1200" noProof="0">
                          <a:solidFill>
                            <a:schemeClr val="tx1"/>
                          </a:solidFill>
                          <a:effectLst/>
                          <a:latin typeface="Adani Regular" panose="02000503000000020004" pitchFamily="2" charset="0"/>
                        </a:rPr>
                        <a:t>Delay in Pre-Commissioning and Commissioning activities for Phase 3 </a:t>
                      </a:r>
                    </a:p>
                    <a:p>
                      <a:pPr marL="228600" marR="0" lvl="0" indent="-228600" algn="just" defTabSz="914400" eaLnBrk="1" fontAlgn="auto" latinLnBrk="0" hangingPunct="1">
                        <a:lnSpc>
                          <a:spcPct val="100000"/>
                        </a:lnSpc>
                        <a:spcBef>
                          <a:spcPts val="0"/>
                        </a:spcBef>
                        <a:spcAft>
                          <a:spcPts val="0"/>
                        </a:spcAft>
                        <a:buClrTx/>
                        <a:buSzTx/>
                        <a:buFontTx/>
                        <a:buAutoNum type="alphaLcParenBoth"/>
                        <a:tabLst/>
                        <a:defRPr/>
                      </a:pPr>
                      <a:r>
                        <a:rPr lang="en-US" sz="1100" kern="1200" noProof="0">
                          <a:solidFill>
                            <a:schemeClr val="tx1"/>
                          </a:solidFill>
                          <a:effectLst/>
                          <a:latin typeface="Adani Regular" panose="02000503000000020004" pitchFamily="2" charset="0"/>
                        </a:rPr>
                        <a:t>Container erection, Integration, Cable laying &amp; Cable Termination pending (in view of delay in receipt of Battery Containers).</a:t>
                      </a:r>
                    </a:p>
                    <a:p>
                      <a:pPr marL="228600" marR="0" lvl="0" indent="-228600" algn="just" defTabSz="914400" eaLnBrk="1" fontAlgn="auto" latinLnBrk="0" hangingPunct="1">
                        <a:lnSpc>
                          <a:spcPct val="100000"/>
                        </a:lnSpc>
                        <a:spcBef>
                          <a:spcPts val="0"/>
                        </a:spcBef>
                        <a:spcAft>
                          <a:spcPts val="0"/>
                        </a:spcAft>
                        <a:buClrTx/>
                        <a:buSzTx/>
                        <a:buFontTx/>
                        <a:buAutoNum type="alphaLcParenBoth"/>
                        <a:tabLst/>
                        <a:defRPr/>
                      </a:pPr>
                      <a:r>
                        <a:rPr lang="en-US" sz="1100" kern="1200" noProof="0">
                          <a:solidFill>
                            <a:schemeClr val="tx1"/>
                          </a:solidFill>
                          <a:effectLst/>
                          <a:latin typeface="Adani Regular" panose="02000503000000020004" pitchFamily="2" charset="0"/>
                        </a:rPr>
                        <a:t>Gate fixing, Contract Closure &amp; Project close out report are pending.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15946">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chemeClr val="bg1"/>
                          </a:solidFill>
                          <a:effectLst/>
                          <a:latin typeface="Adani Regular" panose="02000503000000020004" pitchFamily="2"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94.41%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5.59%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r>
                        <a:rPr lang="en-US" sz="1100" b="1">
                          <a:solidFill>
                            <a:schemeClr val="bg1"/>
                          </a:solidFill>
                          <a:latin typeface="Adani Regular" panose="02000503000000020004" pitchFamily="2" charset="0"/>
                        </a:rPr>
                        <a:t>Mitigation Plan: </a:t>
                      </a:r>
                      <a:r>
                        <a:rPr lang="en-US" sz="1100">
                          <a:solidFill>
                            <a:schemeClr val="bg1"/>
                          </a:solidFill>
                          <a:latin typeface="Adani Regular" panose="02000503000000020004" pitchFamily="2" charset="0"/>
                        </a:rPr>
                        <a:t>Expedite the pending delivery of battery containers and accelerate associated activities, including cable termination, integration for remaining containers.</a:t>
                      </a:r>
                      <a:endParaRPr lang="en-US" sz="1100" b="1" i="0" u="none" strike="noStrike" kern="1200">
                        <a:solidFill>
                          <a:schemeClr val="bg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D00D176E-600A-C45A-EC55-4CE9031450DD}"/>
              </a:ext>
            </a:extLst>
          </p:cNvPr>
          <p:cNvSpPr>
            <a:spLocks noGrp="1"/>
          </p:cNvSpPr>
          <p:nvPr>
            <p:ph type="sldNum" sz="quarter" idx="12"/>
          </p:nvPr>
        </p:nvSpPr>
        <p:spPr>
          <a:xfrm>
            <a:off x="11683999" y="6497285"/>
            <a:ext cx="493311" cy="365125"/>
          </a:xfrm>
        </p:spPr>
        <p:txBody>
          <a:bodyPr/>
          <a:lstStyle/>
          <a:p>
            <a:fld id="{98B285C1-D8A8-4E98-B28C-1FD972D8EC54}" type="slidenum">
              <a:rPr lang="en-IN" smtClean="0"/>
              <a:t>66</a:t>
            </a:fld>
            <a:endParaRPr lang="en-IN"/>
          </a:p>
        </p:txBody>
      </p:sp>
      <p:graphicFrame>
        <p:nvGraphicFramePr>
          <p:cNvPr id="4" name="Chart 3">
            <a:extLst>
              <a:ext uri="{FF2B5EF4-FFF2-40B4-BE49-F238E27FC236}">
                <a16:creationId xmlns:a16="http://schemas.microsoft.com/office/drawing/2014/main" id="{8246E7AB-2AF0-4517-AE5D-C2F46B95B715}"/>
              </a:ext>
            </a:extLst>
          </p:cNvPr>
          <p:cNvGraphicFramePr>
            <a:graphicFrameLocks/>
          </p:cNvGraphicFramePr>
          <p:nvPr>
            <p:extLst>
              <p:ext uri="{D42A27DB-BD31-4B8C-83A1-F6EECF244321}">
                <p14:modId xmlns:p14="http://schemas.microsoft.com/office/powerpoint/2010/main" val="389362328"/>
              </p:ext>
            </p:extLst>
          </p:nvPr>
        </p:nvGraphicFramePr>
        <p:xfrm>
          <a:off x="158462" y="683327"/>
          <a:ext cx="11779537" cy="295952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46422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27E28-20E0-2B94-A169-3E0E2FD9882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68819BC-A42E-8508-300C-FF5BABFEFD0E}"/>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a:gradFill>
                  <a:gsLst>
                    <a:gs pos="9735">
                      <a:schemeClr val="tx2"/>
                    </a:gs>
                    <a:gs pos="63000">
                      <a:srgbClr val="8E278F"/>
                    </a:gs>
                    <a:gs pos="38000">
                      <a:srgbClr val="57499E"/>
                    </a:gs>
                  </a:gsLst>
                  <a:lin ang="0" scaled="0"/>
                </a:gradFill>
              </a:rPr>
              <a:t>Physical Progress : PSS 5A S-Curve </a:t>
            </a:r>
            <a:r>
              <a:rPr lang="en-US" i="1">
                <a:gradFill>
                  <a:gsLst>
                    <a:gs pos="9735">
                      <a:schemeClr val="tx2"/>
                    </a:gs>
                    <a:gs pos="63000">
                      <a:srgbClr val="8E278F"/>
                    </a:gs>
                    <a:gs pos="38000">
                      <a:srgbClr val="57499E"/>
                    </a:gs>
                  </a:gsLst>
                  <a:lin ang="0" scaled="0"/>
                </a:gradFill>
              </a:rPr>
              <a:t>[updated till 31 May 26]</a:t>
            </a:r>
            <a:endParaRPr lang="en-US">
              <a:gradFill>
                <a:gsLst>
                  <a:gs pos="9735">
                    <a:schemeClr val="tx2"/>
                  </a:gs>
                  <a:gs pos="63000">
                    <a:srgbClr val="8E278F"/>
                  </a:gs>
                  <a:gs pos="38000">
                    <a:srgbClr val="57499E"/>
                  </a:gs>
                </a:gsLst>
                <a:lin ang="0" scaled="0"/>
              </a:gradFill>
            </a:endParaRPr>
          </a:p>
        </p:txBody>
      </p:sp>
      <p:graphicFrame>
        <p:nvGraphicFramePr>
          <p:cNvPr id="12" name="object 4">
            <a:extLst>
              <a:ext uri="{FF2B5EF4-FFF2-40B4-BE49-F238E27FC236}">
                <a16:creationId xmlns:a16="http://schemas.microsoft.com/office/drawing/2014/main" id="{8E0D475E-0C9C-6981-17B4-6EFD03289EAF}"/>
              </a:ext>
            </a:extLst>
          </p:cNvPr>
          <p:cNvGraphicFramePr>
            <a:graphicFrameLocks noGrp="1"/>
          </p:cNvGraphicFramePr>
          <p:nvPr>
            <p:extLst>
              <p:ext uri="{D42A27DB-BD31-4B8C-83A1-F6EECF244321}">
                <p14:modId xmlns:p14="http://schemas.microsoft.com/office/powerpoint/2010/main" val="2477399181"/>
              </p:ext>
            </p:extLst>
          </p:nvPr>
        </p:nvGraphicFramePr>
        <p:xfrm>
          <a:off x="290705" y="3782262"/>
          <a:ext cx="11610973" cy="2812065"/>
        </p:xfrm>
        <a:graphic>
          <a:graphicData uri="http://schemas.openxmlformats.org/drawingml/2006/table">
            <a:tbl>
              <a:tblPr firstRow="1" bandRow="1">
                <a:tableStyleId>{2D5ABB26-0587-4C30-8999-92F81FD0307C}</a:tableStyleId>
              </a:tblPr>
              <a:tblGrid>
                <a:gridCol w="1911912">
                  <a:extLst>
                    <a:ext uri="{9D8B030D-6E8A-4147-A177-3AD203B41FA5}">
                      <a16:colId xmlns:a16="http://schemas.microsoft.com/office/drawing/2014/main" val="20000"/>
                    </a:ext>
                  </a:extLst>
                </a:gridCol>
                <a:gridCol w="576456">
                  <a:extLst>
                    <a:ext uri="{9D8B030D-6E8A-4147-A177-3AD203B41FA5}">
                      <a16:colId xmlns:a16="http://schemas.microsoft.com/office/drawing/2014/main" val="20001"/>
                    </a:ext>
                  </a:extLst>
                </a:gridCol>
                <a:gridCol w="748552">
                  <a:extLst>
                    <a:ext uri="{9D8B030D-6E8A-4147-A177-3AD203B41FA5}">
                      <a16:colId xmlns:a16="http://schemas.microsoft.com/office/drawing/2014/main" val="1846315748"/>
                    </a:ext>
                  </a:extLst>
                </a:gridCol>
                <a:gridCol w="705159">
                  <a:extLst>
                    <a:ext uri="{9D8B030D-6E8A-4147-A177-3AD203B41FA5}">
                      <a16:colId xmlns:a16="http://schemas.microsoft.com/office/drawing/2014/main" val="1665052075"/>
                    </a:ext>
                  </a:extLst>
                </a:gridCol>
                <a:gridCol w="705159">
                  <a:extLst>
                    <a:ext uri="{9D8B030D-6E8A-4147-A177-3AD203B41FA5}">
                      <a16:colId xmlns:a16="http://schemas.microsoft.com/office/drawing/2014/main" val="3817577203"/>
                    </a:ext>
                  </a:extLst>
                </a:gridCol>
                <a:gridCol w="6963735">
                  <a:extLst>
                    <a:ext uri="{9D8B030D-6E8A-4147-A177-3AD203B41FA5}">
                      <a16:colId xmlns:a16="http://schemas.microsoft.com/office/drawing/2014/main" val="20006"/>
                    </a:ext>
                  </a:extLst>
                </a:gridCol>
              </a:tblGrid>
              <a:tr h="282675">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82675">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9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45121">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1.94%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0.06%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b="0" i="0" u="none" strike="noStrike" noProof="0">
                          <a:solidFill>
                            <a:schemeClr val="tx1"/>
                          </a:solidFill>
                          <a:effectLst/>
                          <a:latin typeface="Adani Regular" panose="02000503000000020004" pitchFamily="2" charset="0"/>
                        </a:rPr>
                        <a:t>Balance approvals (Fire NOC, </a:t>
                      </a:r>
                      <a:r>
                        <a:rPr lang="en-US" sz="1100" b="0" i="0" u="none" strike="noStrike" kern="1200">
                          <a:solidFill>
                            <a:schemeClr val="tx1"/>
                          </a:solidFill>
                          <a:effectLst/>
                          <a:latin typeface="Adani Regular" panose="02000503000000020004" pitchFamily="2" charset="0"/>
                          <a:ea typeface="+mn-ea"/>
                          <a:cs typeface="+mn-cs"/>
                        </a:rPr>
                        <a:t>Intimation to Labor Inspector) </a:t>
                      </a:r>
                      <a:r>
                        <a:rPr lang="en-US" sz="1100" b="0" i="0" u="none" strike="noStrike" noProof="0">
                          <a:solidFill>
                            <a:schemeClr val="tx1"/>
                          </a:solidFill>
                          <a:effectLst/>
                          <a:latin typeface="Adani Regular" panose="02000503000000020004" pitchFamily="2" charset="0"/>
                        </a:rPr>
                        <a:t>after Commissioning.</a:t>
                      </a:r>
                      <a:endParaRPr lang="en-US" sz="1100">
                        <a:solidFill>
                          <a:schemeClr val="tx1"/>
                        </a:solidFill>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51189">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7574">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38.00%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6130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51.99%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rgbClr val="000000"/>
                          </a:solidFill>
                          <a:effectLst/>
                          <a:latin typeface="Adani Regular" panose="02000503000000020004" pitchFamily="2" charset="0"/>
                        </a:rPr>
                        <a:t>3.01%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The difference between ‘Plan’ and ‘Actual’ view following:-</a:t>
                      </a:r>
                    </a:p>
                    <a:p>
                      <a:pPr marL="228600" marR="0" lvl="0" indent="-228600" algn="just" defTabSz="914400" eaLnBrk="1" fontAlgn="auto" latinLnBrk="0" hangingPunct="1">
                        <a:lnSpc>
                          <a:spcPct val="100000"/>
                        </a:lnSpc>
                        <a:spcBef>
                          <a:spcPts val="0"/>
                        </a:spcBef>
                        <a:spcAft>
                          <a:spcPts val="0"/>
                        </a:spcAft>
                        <a:buClrTx/>
                        <a:buSzTx/>
                        <a:buFontTx/>
                        <a:buAutoNum type="alphaLcParenBoth"/>
                        <a:tabLst/>
                        <a:defRPr/>
                      </a:pPr>
                      <a:r>
                        <a:rPr lang="en-US" sz="1100" kern="1200" noProof="0">
                          <a:solidFill>
                            <a:schemeClr val="tx1"/>
                          </a:solidFill>
                          <a:effectLst/>
                          <a:latin typeface="Adani Regular" panose="02000503000000020004" pitchFamily="2" charset="0"/>
                        </a:rPr>
                        <a:t>Gate fixing, Roads and Drains, Contract Closure &amp; Project close out report are pending by 3.01%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53983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rgbClr val="FFFFFF"/>
                          </a:solidFill>
                          <a:effectLst/>
                          <a:latin typeface="Adani Regular" panose="02000503000000020004" pitchFamily="2"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96.93%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3.07%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endParaRPr lang="en-US" sz="1100" b="1" i="0" u="none" strike="noStrike" kern="1200">
                        <a:solidFill>
                          <a:schemeClr val="bg1"/>
                        </a:solidFill>
                        <a:effectLst/>
                        <a:highlight>
                          <a:srgbClr val="FFFF00"/>
                        </a:highligh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3" name="Slide Number Placeholder 2">
            <a:extLst>
              <a:ext uri="{FF2B5EF4-FFF2-40B4-BE49-F238E27FC236}">
                <a16:creationId xmlns:a16="http://schemas.microsoft.com/office/drawing/2014/main" id="{528FF21F-9375-FEE3-953B-258B48D416CD}"/>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67</a:t>
            </a:fld>
            <a:endParaRPr lang="en-IN"/>
          </a:p>
        </p:txBody>
      </p:sp>
      <p:graphicFrame>
        <p:nvGraphicFramePr>
          <p:cNvPr id="4" name="Chart 3">
            <a:extLst>
              <a:ext uri="{FF2B5EF4-FFF2-40B4-BE49-F238E27FC236}">
                <a16:creationId xmlns:a16="http://schemas.microsoft.com/office/drawing/2014/main" id="{E73D690D-241F-4D6C-BA32-FD3FA544BA5B}"/>
              </a:ext>
            </a:extLst>
          </p:cNvPr>
          <p:cNvGraphicFramePr>
            <a:graphicFrameLocks/>
          </p:cNvGraphicFramePr>
          <p:nvPr>
            <p:extLst>
              <p:ext uri="{D42A27DB-BD31-4B8C-83A1-F6EECF244321}">
                <p14:modId xmlns:p14="http://schemas.microsoft.com/office/powerpoint/2010/main" val="1303835070"/>
              </p:ext>
            </p:extLst>
          </p:nvPr>
        </p:nvGraphicFramePr>
        <p:xfrm>
          <a:off x="158463" y="544979"/>
          <a:ext cx="11812480" cy="32062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82933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1295B-7B56-0C7B-1F2C-D8C322561A2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0F1DCFC-3000-06AD-02EB-E3745DE86B0B}"/>
              </a:ext>
            </a:extLst>
          </p:cNvPr>
          <p:cNvSpPr txBox="1"/>
          <p:nvPr/>
        </p:nvSpPr>
        <p:spPr>
          <a:xfrm>
            <a:off x="158462" y="95882"/>
            <a:ext cx="11610974" cy="424732"/>
          </a:xfrm>
          <a:prstGeom prst="rect">
            <a:avLst/>
          </a:prstGeom>
          <a:noFill/>
        </p:spPr>
        <p:txBody>
          <a:bodyPr vert="horz" wrap="square" lIns="91440" tIns="45720" rIns="91440" bIns="45720" rtlCol="0" anchor="b" anchorCtr="0">
            <a:spAutoFit/>
          </a:bodyPr>
          <a:lstStyle>
            <a:defPPr>
              <a:defRPr lang="en-US"/>
            </a:defPPr>
            <a:lvl1pPr indent="0">
              <a:lnSpc>
                <a:spcPct val="90000"/>
              </a:lnSpc>
              <a:spcBef>
                <a:spcPts val="1000"/>
              </a:spcBef>
              <a:buFont typeface="Arial" panose="020B0604020202020204" pitchFamily="34" charset="0"/>
              <a:buNone/>
              <a:defRPr sz="2400" b="1">
                <a:gradFill flip="none" rotWithShape="1">
                  <a:gsLst>
                    <a:gs pos="0">
                      <a:srgbClr val="FF2F5C"/>
                    </a:gs>
                    <a:gs pos="100000">
                      <a:srgbClr val="0070C0"/>
                    </a:gs>
                  </a:gsLst>
                  <a:path path="circle">
                    <a:fillToRect l="100000" t="100000"/>
                  </a:path>
                  <a:tileRect r="-100000" b="-100000"/>
                </a:gradFill>
                <a:latin typeface="Adani Regular" panose="02000503000000020004" pitchFamily="2"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361950" indent="0">
              <a:lnSpc>
                <a:spcPct val="90000"/>
              </a:lnSpc>
              <a:spcBef>
                <a:spcPts val="500"/>
              </a:spcBef>
              <a:buFont typeface="Arial" panose="020B0604020202020204" pitchFamily="34" charset="0"/>
              <a:buNone/>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defRPr/>
            </a:pPr>
            <a:r>
              <a:rPr lang="en-US">
                <a:gradFill>
                  <a:gsLst>
                    <a:gs pos="9735">
                      <a:schemeClr val="tx2"/>
                    </a:gs>
                    <a:gs pos="63000">
                      <a:srgbClr val="8E278F"/>
                    </a:gs>
                    <a:gs pos="38000">
                      <a:srgbClr val="57499E"/>
                    </a:gs>
                  </a:gsLst>
                  <a:lin ang="0" scaled="0"/>
                </a:gradFill>
              </a:rPr>
              <a:t>Physical Progress : PSS 8A S-Curve </a:t>
            </a:r>
            <a:r>
              <a:rPr lang="en-US" i="1">
                <a:gradFill>
                  <a:gsLst>
                    <a:gs pos="9735">
                      <a:schemeClr val="tx2"/>
                    </a:gs>
                    <a:gs pos="63000">
                      <a:srgbClr val="8E278F"/>
                    </a:gs>
                    <a:gs pos="38000">
                      <a:srgbClr val="57499E"/>
                    </a:gs>
                  </a:gsLst>
                  <a:lin ang="0" scaled="0"/>
                </a:gradFill>
              </a:rPr>
              <a:t>[updated till 31 May 26]</a:t>
            </a:r>
            <a:endParaRPr lang="en-US">
              <a:gradFill>
                <a:gsLst>
                  <a:gs pos="9735">
                    <a:schemeClr val="tx2"/>
                  </a:gs>
                  <a:gs pos="63000">
                    <a:srgbClr val="8E278F"/>
                  </a:gs>
                  <a:gs pos="38000">
                    <a:srgbClr val="57499E"/>
                  </a:gs>
                </a:gsLst>
                <a:lin ang="0" scaled="0"/>
              </a:gradFill>
            </a:endParaRPr>
          </a:p>
        </p:txBody>
      </p:sp>
      <p:graphicFrame>
        <p:nvGraphicFramePr>
          <p:cNvPr id="12" name="object 4">
            <a:extLst>
              <a:ext uri="{FF2B5EF4-FFF2-40B4-BE49-F238E27FC236}">
                <a16:creationId xmlns:a16="http://schemas.microsoft.com/office/drawing/2014/main" id="{48769C31-1EBE-20D6-30A5-51601B7027FB}"/>
              </a:ext>
            </a:extLst>
          </p:cNvPr>
          <p:cNvGraphicFramePr>
            <a:graphicFrameLocks noGrp="1"/>
          </p:cNvGraphicFramePr>
          <p:nvPr>
            <p:extLst>
              <p:ext uri="{D42A27DB-BD31-4B8C-83A1-F6EECF244321}">
                <p14:modId xmlns:p14="http://schemas.microsoft.com/office/powerpoint/2010/main" val="3999149002"/>
              </p:ext>
            </p:extLst>
          </p:nvPr>
        </p:nvGraphicFramePr>
        <p:xfrm>
          <a:off x="292586" y="3701860"/>
          <a:ext cx="11727965" cy="2993632"/>
        </p:xfrm>
        <a:graphic>
          <a:graphicData uri="http://schemas.openxmlformats.org/drawingml/2006/table">
            <a:tbl>
              <a:tblPr firstRow="1" bandRow="1">
                <a:tableStyleId>{2D5ABB26-0587-4C30-8999-92F81FD0307C}</a:tableStyleId>
              </a:tblPr>
              <a:tblGrid>
                <a:gridCol w="1793389">
                  <a:extLst>
                    <a:ext uri="{9D8B030D-6E8A-4147-A177-3AD203B41FA5}">
                      <a16:colId xmlns:a16="http://schemas.microsoft.com/office/drawing/2014/main" val="20000"/>
                    </a:ext>
                  </a:extLst>
                </a:gridCol>
                <a:gridCol w="409575">
                  <a:extLst>
                    <a:ext uri="{9D8B030D-6E8A-4147-A177-3AD203B41FA5}">
                      <a16:colId xmlns:a16="http://schemas.microsoft.com/office/drawing/2014/main" val="20001"/>
                    </a:ext>
                  </a:extLst>
                </a:gridCol>
                <a:gridCol w="619125">
                  <a:extLst>
                    <a:ext uri="{9D8B030D-6E8A-4147-A177-3AD203B41FA5}">
                      <a16:colId xmlns:a16="http://schemas.microsoft.com/office/drawing/2014/main" val="1846315748"/>
                    </a:ext>
                  </a:extLst>
                </a:gridCol>
                <a:gridCol w="638175">
                  <a:extLst>
                    <a:ext uri="{9D8B030D-6E8A-4147-A177-3AD203B41FA5}">
                      <a16:colId xmlns:a16="http://schemas.microsoft.com/office/drawing/2014/main" val="1665052075"/>
                    </a:ext>
                  </a:extLst>
                </a:gridCol>
                <a:gridCol w="628650">
                  <a:extLst>
                    <a:ext uri="{9D8B030D-6E8A-4147-A177-3AD203B41FA5}">
                      <a16:colId xmlns:a16="http://schemas.microsoft.com/office/drawing/2014/main" val="3974385257"/>
                    </a:ext>
                  </a:extLst>
                </a:gridCol>
                <a:gridCol w="7639051">
                  <a:extLst>
                    <a:ext uri="{9D8B030D-6E8A-4147-A177-3AD203B41FA5}">
                      <a16:colId xmlns:a16="http://schemas.microsoft.com/office/drawing/2014/main" val="20006"/>
                    </a:ext>
                  </a:extLst>
                </a:gridCol>
              </a:tblGrid>
              <a:tr h="284955">
                <a:tc rowSpan="2">
                  <a:txBody>
                    <a:bodyPr/>
                    <a:lstStyle/>
                    <a:p>
                      <a:pPr marL="45720" algn="ctr">
                        <a:lnSpc>
                          <a:spcPct val="100000"/>
                        </a:lnSpc>
                      </a:pPr>
                      <a:r>
                        <a:rPr lang="en-US" sz="1100" b="1" spc="-10">
                          <a:solidFill>
                            <a:srgbClr val="FFFFFF"/>
                          </a:solidFill>
                          <a:latin typeface="Adani Regular" panose="02000503000000020004" pitchFamily="2" charset="0"/>
                          <a:cs typeface="Adani Regular"/>
                        </a:rPr>
                        <a:t>Activity</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635" algn="ctr">
                        <a:lnSpc>
                          <a:spcPct val="100000"/>
                        </a:lnSpc>
                      </a:pPr>
                      <a:r>
                        <a:rPr lang="en-US" sz="1100" b="1" spc="-20">
                          <a:solidFill>
                            <a:srgbClr val="FFFFFF"/>
                          </a:solidFill>
                          <a:latin typeface="Adani Regular" panose="02000503000000020004" pitchFamily="2" charset="0"/>
                          <a:cs typeface="Adani Regular"/>
                        </a:rPr>
                        <a:t>Wtg.</a:t>
                      </a:r>
                      <a:endParaRPr lang="en-US" sz="1100" b="1">
                        <a:latin typeface="Adani Regular" panose="02000503000000020004" pitchFamily="2" charset="0"/>
                        <a:cs typeface="Adani Regular"/>
                      </a:endParaRP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a:lnSpc>
                          <a:spcPct val="100000"/>
                        </a:lnSpc>
                        <a:spcBef>
                          <a:spcPts val="450"/>
                        </a:spcBef>
                      </a:pPr>
                      <a:r>
                        <a:rPr lang="en-US" sz="1100" b="1" spc="-25">
                          <a:solidFill>
                            <a:srgbClr val="FFFFFF"/>
                          </a:solidFill>
                          <a:latin typeface="Adani Regular"/>
                          <a:cs typeface="Adani Regular"/>
                        </a:rPr>
                        <a:t>FTM</a:t>
                      </a:r>
                      <a:endParaRPr lang="en-US" sz="1100" b="1">
                        <a:latin typeface="Adani Regular"/>
                        <a:cs typeface="Adani Regular"/>
                      </a:endParaRP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solidFill>
                  </a:tcPr>
                </a:tc>
                <a:tc rowSpan="2">
                  <a:txBody>
                    <a:bodyPr/>
                    <a:lstStyle/>
                    <a:p>
                      <a:pPr marL="0" marR="0" lvl="0" indent="0" algn="ctr" defTabSz="914400" rtl="0" eaLnBrk="1" fontAlgn="auto" latinLnBrk="0" hangingPunct="1">
                        <a:lnSpc>
                          <a:spcPct val="100000"/>
                        </a:lnSpc>
                        <a:spcBef>
                          <a:spcPts val="450"/>
                        </a:spcBef>
                        <a:spcAft>
                          <a:spcPts val="0"/>
                        </a:spcAft>
                        <a:buClrTx/>
                        <a:buSzTx/>
                        <a:buFontTx/>
                        <a:buNone/>
                        <a:tabLst/>
                        <a:defRPr/>
                      </a:pPr>
                      <a:r>
                        <a:rPr lang="en-US" sz="1100" b="1">
                          <a:solidFill>
                            <a:schemeClr val="bg1"/>
                          </a:solidFill>
                          <a:latin typeface="Adani Regular"/>
                          <a:cs typeface="Adani Regular"/>
                        </a:rPr>
                        <a:t>Variance in Plan Vs Actual</a:t>
                      </a:r>
                    </a:p>
                  </a:txBody>
                  <a:tcPr marL="0" marR="0" marT="571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marL="1270" algn="ctr">
                        <a:lnSpc>
                          <a:spcPct val="100000"/>
                        </a:lnSpc>
                      </a:pPr>
                      <a:r>
                        <a:rPr lang="en-US" sz="1100" b="1">
                          <a:solidFill>
                            <a:schemeClr val="bg1"/>
                          </a:solidFill>
                          <a:latin typeface="Adani Regular" panose="02000503000000020004" pitchFamily="2" charset="0"/>
                          <a:cs typeface="Adani Regular"/>
                        </a:rPr>
                        <a:t>Variance Remark &amp; Mitigation/Action Plan</a:t>
                      </a:r>
                    </a:p>
                  </a:txBody>
                  <a:tcPr marL="0" marR="0" marT="412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299830">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tc>
                  <a:txBody>
                    <a:bodyPr/>
                    <a:lstStyle/>
                    <a:p>
                      <a:pPr marL="635" algn="ctr">
                        <a:lnSpc>
                          <a:spcPct val="100000"/>
                        </a:lnSpc>
                        <a:spcBef>
                          <a:spcPts val="455"/>
                        </a:spcBef>
                      </a:pPr>
                      <a:r>
                        <a:rPr lang="en-US" sz="1100" b="1" spc="-20">
                          <a:solidFill>
                            <a:srgbClr val="FFFFFF"/>
                          </a:solidFill>
                          <a:latin typeface="Adani Regular" panose="02000503000000020004" pitchFamily="2" charset="0"/>
                          <a:cs typeface="Adani Regular"/>
                        </a:rPr>
                        <a:t>Plan</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spcBef>
                          <a:spcPts val="455"/>
                        </a:spcBef>
                      </a:pPr>
                      <a:r>
                        <a:rPr lang="en-US" sz="1100" b="1" spc="-20">
                          <a:solidFill>
                            <a:srgbClr val="FFFFFF"/>
                          </a:solidFill>
                          <a:latin typeface="Adani Regular" panose="02000503000000020004" pitchFamily="2" charset="0"/>
                          <a:cs typeface="Adani Regular"/>
                        </a:rPr>
                        <a:t>Actual</a:t>
                      </a:r>
                      <a:endParaRPr lang="en-US" sz="11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635" algn="ctr">
                        <a:lnSpc>
                          <a:spcPct val="100000"/>
                        </a:lnSpc>
                        <a:spcBef>
                          <a:spcPts val="455"/>
                        </a:spcBef>
                      </a:pPr>
                      <a:endParaRPr lang="en-US" sz="1000" b="1">
                        <a:latin typeface="Adani Regular" panose="02000503000000020004" pitchFamily="2" charset="0"/>
                        <a:cs typeface="Adani Regular"/>
                      </a:endParaRPr>
                    </a:p>
                  </a:txBody>
                  <a:tcPr marL="0" marR="0" marT="577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412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4E5EAB"/>
                    </a:solidFill>
                  </a:tcPr>
                </a:tc>
                <a:extLst>
                  <a:ext uri="{0D108BD9-81ED-4DB2-BD59-A6C34878D82A}">
                    <a16:rowId xmlns:a16="http://schemas.microsoft.com/office/drawing/2014/main" val="10001"/>
                  </a:ext>
                </a:extLst>
              </a:tr>
              <a:tr h="284955">
                <a:tc>
                  <a:txBody>
                    <a:bodyPr/>
                    <a:lstStyle/>
                    <a:p>
                      <a:pPr marL="45720" marR="0" lvl="0" indent="0" algn="l" rtl="0" eaLnBrk="1" fontAlgn="auto" latinLnBrk="0" hangingPunct="1">
                        <a:lnSpc>
                          <a:spcPct val="100000"/>
                        </a:lnSpc>
                        <a:spcBef>
                          <a:spcPts val="445"/>
                        </a:spcBef>
                        <a:spcAft>
                          <a:spcPts val="0"/>
                        </a:spcAft>
                        <a:buClrTx/>
                        <a:buSzTx/>
                        <a:buFontTx/>
                        <a:buNone/>
                      </a:pPr>
                      <a:r>
                        <a:rPr lang="en-IN" sz="1100" b="0" i="0" u="none" strike="noStrike">
                          <a:solidFill>
                            <a:schemeClr val="tx1"/>
                          </a:solidFill>
                          <a:effectLst/>
                          <a:latin typeface="Adani Regular" panose="02000503000000020004" pitchFamily="2" charset="0"/>
                        </a:rPr>
                        <a:t>Statutory Approvals</a:t>
                      </a:r>
                      <a:endParaRPr lang="en-US" sz="1100">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2%</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1.94%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0.06%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100" b="0" i="0" u="none" strike="noStrike" noProof="0">
                          <a:solidFill>
                            <a:schemeClr val="tx1"/>
                          </a:solidFill>
                          <a:effectLst/>
                          <a:latin typeface="Adani Regular" panose="02000503000000020004" pitchFamily="2" charset="0"/>
                        </a:rPr>
                        <a:t>Balance approvals (Fire NOC, </a:t>
                      </a:r>
                      <a:r>
                        <a:rPr lang="en-US" sz="1100" b="0" i="0" u="none" strike="noStrike" kern="1200">
                          <a:solidFill>
                            <a:schemeClr val="tx1"/>
                          </a:solidFill>
                          <a:effectLst/>
                          <a:latin typeface="Adani Regular" panose="02000503000000020004" pitchFamily="2" charset="0"/>
                          <a:ea typeface="+mn-ea"/>
                          <a:cs typeface="+mn-cs"/>
                        </a:rPr>
                        <a:t>Intimation to Labor Inspector) </a:t>
                      </a:r>
                      <a:r>
                        <a:rPr lang="en-US" sz="1100" b="0" i="0" u="none" strike="noStrike" noProof="0">
                          <a:solidFill>
                            <a:schemeClr val="tx1"/>
                          </a:solidFill>
                          <a:effectLst/>
                          <a:latin typeface="Adani Regular" panose="02000503000000020004" pitchFamily="2" charset="0"/>
                        </a:rPr>
                        <a:t>after Commissioning.</a:t>
                      </a:r>
                      <a:endParaRPr lang="en-US" sz="1100">
                        <a:solidFill>
                          <a:schemeClr val="tx1"/>
                        </a:solidFill>
                        <a:latin typeface="Adani Regular" panose="02000503000000020004"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0133264"/>
                  </a:ext>
                </a:extLst>
              </a:tr>
              <a:tr h="284955">
                <a:tc>
                  <a:txBody>
                    <a:bodyPr/>
                    <a:lstStyle/>
                    <a:p>
                      <a:pPr marL="45720">
                        <a:lnSpc>
                          <a:spcPct val="100000"/>
                        </a:lnSpc>
                        <a:spcBef>
                          <a:spcPts val="445"/>
                        </a:spcBef>
                      </a:pPr>
                      <a:r>
                        <a:rPr lang="en-US" sz="1100" spc="-10">
                          <a:latin typeface="Adani Regular" panose="02000503000000020004" pitchFamily="2" charset="0"/>
                          <a:cs typeface="Adani Regular"/>
                        </a:rPr>
                        <a:t>Engineering</a:t>
                      </a:r>
                      <a:endParaRPr lang="en-US" sz="1100">
                        <a:latin typeface="Adani Regular" panose="02000503000000020004" pitchFamily="2" charset="0"/>
                        <a:cs typeface="Adani Regular"/>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5551">
                <a:tc>
                  <a:txBody>
                    <a:bodyPr/>
                    <a:lstStyle/>
                    <a:p>
                      <a:pPr marL="45720" marR="0" lvl="0" indent="0" algn="l" defTabSz="914400" rtl="0" eaLnBrk="1" fontAlgn="auto" latinLnBrk="0" hangingPunct="1">
                        <a:lnSpc>
                          <a:spcPct val="100000"/>
                        </a:lnSpc>
                        <a:spcBef>
                          <a:spcPts val="445"/>
                        </a:spcBef>
                        <a:spcAft>
                          <a:spcPts val="0"/>
                        </a:spcAft>
                        <a:buClrTx/>
                        <a:buSzTx/>
                        <a:buFontTx/>
                        <a:buNone/>
                      </a:pPr>
                      <a:r>
                        <a:rPr lang="en-US" sz="1100" b="0" i="0" u="none" strike="noStrike" kern="1200" noProof="0">
                          <a:solidFill>
                            <a:schemeClr val="tx1"/>
                          </a:solidFill>
                          <a:effectLst/>
                          <a:latin typeface="Adani Regular" panose="02000503000000020004" pitchFamily="2" charset="0"/>
                          <a:ea typeface="+mn-ea"/>
                          <a:cs typeface="+mn-cs"/>
                        </a:rPr>
                        <a:t>Ordering, Manufacturing &amp; Supply </a:t>
                      </a:r>
                      <a:endParaRPr lang="en-US"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38%</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38.00%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solidFill>
                            <a:schemeClr val="tx1"/>
                          </a:solidFill>
                          <a:effectLst/>
                          <a:latin typeface="Adani Regular" panose="02000503000000020004" pitchFamily="2" charset="0"/>
                          <a:ea typeface="Aptos" panose="020B0004020202020204" pitchFamily="34" charset="0"/>
                          <a:cs typeface="Aptos" panose="020B0004020202020204" pitchFamily="34" charset="0"/>
                        </a:rPr>
                        <a:t>Completed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95626">
                <a:tc>
                  <a:txBody>
                    <a:bodyPr/>
                    <a:lstStyle/>
                    <a:p>
                      <a:r>
                        <a:rPr lang="en-US" sz="1100" b="0" i="0" u="none" strike="noStrike" kern="1200">
                          <a:solidFill>
                            <a:schemeClr val="tx1"/>
                          </a:solidFill>
                          <a:effectLst/>
                          <a:latin typeface="Adani Regular" panose="02000503000000020004" pitchFamily="2" charset="0"/>
                          <a:ea typeface="+mn-ea"/>
                          <a:cs typeface="+mn-cs"/>
                        </a:rPr>
                        <a:t>Construction (Civil), Electrical,</a:t>
                      </a:r>
                    </a:p>
                    <a:p>
                      <a:r>
                        <a:rPr lang="en-US" sz="1100" b="0" i="0" u="none" strike="noStrike" kern="1200">
                          <a:solidFill>
                            <a:schemeClr val="tx1"/>
                          </a:solidFill>
                          <a:effectLst/>
                          <a:latin typeface="Adani Regular" panose="02000503000000020004" pitchFamily="2" charset="0"/>
                          <a:ea typeface="+mn-ea"/>
                          <a:cs typeface="+mn-cs"/>
                        </a:rPr>
                        <a:t>Integration &amp; Commissioning</a:t>
                      </a:r>
                      <a:endParaRPr lang="en-IN" sz="1100" b="0" i="0" u="none" strike="noStrike" kern="1200">
                        <a:solidFill>
                          <a:schemeClr val="tx1"/>
                        </a:solidFill>
                        <a:effectLs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1100" b="0" i="0" u="none" strike="noStrike">
                          <a:solidFill>
                            <a:srgbClr val="000000"/>
                          </a:solidFill>
                          <a:effectLst/>
                          <a:latin typeface="Adani Regular" panose="02000503000000020004" pitchFamily="2" charset="0"/>
                        </a:rPr>
                        <a:t>55%</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52.36%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en-US" sz="900" b="0" i="0" u="none" strike="noStrike">
                          <a:solidFill>
                            <a:schemeClr val="tx1"/>
                          </a:solidFill>
                          <a:effectLst/>
                          <a:latin typeface="Adani Regular" panose="02000503000000020004" pitchFamily="2" charset="0"/>
                        </a:rPr>
                        <a:t>2.64%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100" kern="1200" noProof="0">
                          <a:solidFill>
                            <a:schemeClr val="tx1"/>
                          </a:solidFill>
                          <a:effectLst/>
                          <a:latin typeface="Adani Regular" panose="02000503000000020004" pitchFamily="2" charset="0"/>
                        </a:rPr>
                        <a:t>The difference between ‘Plan’ and ‘Actual’ view following:-</a:t>
                      </a:r>
                    </a:p>
                    <a:p>
                      <a:pPr marL="228600" marR="0" lvl="0" indent="-228600" algn="just" defTabSz="914400" eaLnBrk="1" fontAlgn="auto" latinLnBrk="0" hangingPunct="1">
                        <a:lnSpc>
                          <a:spcPct val="100000"/>
                        </a:lnSpc>
                        <a:spcBef>
                          <a:spcPts val="0"/>
                        </a:spcBef>
                        <a:spcAft>
                          <a:spcPts val="0"/>
                        </a:spcAft>
                        <a:buClrTx/>
                        <a:buSzTx/>
                        <a:buFontTx/>
                        <a:buAutoNum type="alphaLcParenBoth"/>
                        <a:tabLst/>
                        <a:defRPr/>
                      </a:pPr>
                      <a:r>
                        <a:rPr lang="en-US" sz="1100" kern="1200" noProof="0">
                          <a:solidFill>
                            <a:schemeClr val="tx1"/>
                          </a:solidFill>
                          <a:effectLst/>
                          <a:latin typeface="Adani Regular" panose="02000503000000020004" pitchFamily="2" charset="0"/>
                        </a:rPr>
                        <a:t>Contract Closure &amp; Project close out report are pending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448443"/>
                  </a:ext>
                </a:extLst>
              </a:tr>
              <a:tr h="454835">
                <a:tc>
                  <a:txBody>
                    <a:bodyPr/>
                    <a:lstStyle/>
                    <a:p>
                      <a:pPr algn="ctr"/>
                      <a:r>
                        <a:rPr lang="en-US" sz="1100" b="1" spc="-10">
                          <a:solidFill>
                            <a:schemeClr val="bg1"/>
                          </a:solidFill>
                          <a:latin typeface="Adani Regular" panose="02000503000000020004" pitchFamily="2" charset="0"/>
                        </a:rPr>
                        <a:t>Total</a:t>
                      </a:r>
                      <a:endParaRPr lang="en-IN" sz="1100">
                        <a:solidFill>
                          <a:schemeClr val="bg1"/>
                        </a:solidFill>
                        <a:latin typeface="Adani Regular" panose="02000503000000020004"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algn="ctr" defTabSz="914400" rtl="0" eaLnBrk="1" fontAlgn="ctr" latinLnBrk="0" hangingPunct="1">
                        <a:buNone/>
                      </a:pPr>
                      <a:r>
                        <a:rPr lang="en-IN" sz="1100" b="1" i="0" u="none" strike="noStrike" kern="1200">
                          <a:solidFill>
                            <a:schemeClr val="bg1"/>
                          </a:solidFill>
                          <a:effectLst/>
                          <a:latin typeface="Adani Regular" panose="02000503000000020004" pitchFamily="2" charset="0"/>
                          <a:ea typeface="+mn-ea"/>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100" b="1" i="0" u="none" strike="noStrike">
                          <a:solidFill>
                            <a:schemeClr val="bg1"/>
                          </a:solidFill>
                          <a:effectLst/>
                          <a:latin typeface="Adani Regular" panose="02000503000000020004" pitchFamily="2"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97.30%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buNone/>
                      </a:pPr>
                      <a:r>
                        <a:rPr lang="en-US" sz="1000" b="1" i="0" u="none" strike="noStrike">
                          <a:solidFill>
                            <a:schemeClr val="bg1"/>
                          </a:solidFill>
                          <a:effectLst/>
                          <a:latin typeface="Adani Regular" panose="02000503000000020004" pitchFamily="2" charset="0"/>
                        </a:rPr>
                        <a:t>2.70%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35560" lvl="0" indent="0" algn="l" defTabSz="914400" rtl="0" eaLnBrk="1" fontAlgn="ctr" latinLnBrk="0" hangingPunct="1">
                        <a:lnSpc>
                          <a:spcPct val="100000"/>
                        </a:lnSpc>
                        <a:spcBef>
                          <a:spcPts val="65"/>
                        </a:spcBef>
                        <a:spcAft>
                          <a:spcPts val="0"/>
                        </a:spcAft>
                        <a:buClrTx/>
                        <a:buSzTx/>
                        <a:buFont typeface="Arial" panose="020B0604020202020204" pitchFamily="34" charset="0"/>
                        <a:buNone/>
                        <a:tabLst>
                          <a:tab pos="219075" algn="l"/>
                        </a:tabLst>
                        <a:defRPr/>
                      </a:pPr>
                      <a:endParaRPr lang="en-US" sz="1100" b="1" i="0" u="none" strike="noStrike" kern="1200">
                        <a:solidFill>
                          <a:schemeClr val="bg1"/>
                        </a:solidFill>
                        <a:effectLst/>
                        <a:highlight>
                          <a:srgbClr val="FFFF00"/>
                        </a:highlight>
                        <a:latin typeface="Adani Regular" panose="02000503000000020004" pitchFamily="2"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20722021"/>
                  </a:ext>
                </a:extLst>
              </a:tr>
            </a:tbl>
          </a:graphicData>
        </a:graphic>
      </p:graphicFrame>
      <p:sp>
        <p:nvSpPr>
          <p:cNvPr id="2" name="Slide Number Placeholder 2">
            <a:extLst>
              <a:ext uri="{FF2B5EF4-FFF2-40B4-BE49-F238E27FC236}">
                <a16:creationId xmlns:a16="http://schemas.microsoft.com/office/drawing/2014/main" id="{56B55EE8-A571-E04C-92A4-F24D66EA6A0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68</a:t>
            </a:fld>
            <a:endParaRPr lang="en-IN"/>
          </a:p>
        </p:txBody>
      </p:sp>
      <p:graphicFrame>
        <p:nvGraphicFramePr>
          <p:cNvPr id="5" name="Chart 4">
            <a:extLst>
              <a:ext uri="{FF2B5EF4-FFF2-40B4-BE49-F238E27FC236}">
                <a16:creationId xmlns:a16="http://schemas.microsoft.com/office/drawing/2014/main" id="{453F038F-684F-4240-86A5-CA0526EE3D8C}"/>
              </a:ext>
            </a:extLst>
          </p:cNvPr>
          <p:cNvGraphicFramePr>
            <a:graphicFrameLocks/>
          </p:cNvGraphicFramePr>
          <p:nvPr>
            <p:extLst>
              <p:ext uri="{D42A27DB-BD31-4B8C-83A1-F6EECF244321}">
                <p14:modId xmlns:p14="http://schemas.microsoft.com/office/powerpoint/2010/main" val="1457733321"/>
              </p:ext>
            </p:extLst>
          </p:nvPr>
        </p:nvGraphicFramePr>
        <p:xfrm>
          <a:off x="76200" y="484708"/>
          <a:ext cx="12039600" cy="303620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77009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E5E5F-9E98-DC46-B353-652BA751D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1B2C1-C661-400F-E735-704EF0FE0F3B}"/>
              </a:ext>
            </a:extLst>
          </p:cNvPr>
          <p:cNvSpPr>
            <a:spLocks noGrp="1"/>
          </p:cNvSpPr>
          <p:nvPr>
            <p:ph type="ctrTitle"/>
          </p:nvPr>
        </p:nvSpPr>
        <p:spPr>
          <a:xfrm>
            <a:off x="316783" y="74981"/>
            <a:ext cx="11577483" cy="424449"/>
          </a:xfrm>
          <a:noFill/>
        </p:spPr>
        <p:txBody>
          <a:bodyPr vert="horz" wrap="square" lIns="91157" tIns="45580" rIns="91157" bIns="45580" rtlCol="0" anchor="b">
            <a:spAutoFit/>
          </a:bodyPr>
          <a:lstStyle/>
          <a:p>
            <a:pPr marL="109192" algn="l" defTabSz="911377"/>
            <a:r>
              <a:rPr lang="en-US" sz="2400" b="1">
                <a:gradFill>
                  <a:gsLst>
                    <a:gs pos="9735">
                      <a:schemeClr val="tx2"/>
                    </a:gs>
                    <a:gs pos="63000">
                      <a:srgbClr val="8E278F"/>
                    </a:gs>
                    <a:gs pos="38000">
                      <a:srgbClr val="57499E"/>
                    </a:gs>
                  </a:gsLst>
                  <a:lin ang="0" scaled="0"/>
                </a:gradFill>
              </a:rPr>
              <a:t>Engineering Progress : PSS 10 / PSS 05 / PSS 08</a:t>
            </a:r>
          </a:p>
        </p:txBody>
      </p:sp>
      <p:pic>
        <p:nvPicPr>
          <p:cNvPr id="11" name="Picture 10">
            <a:extLst>
              <a:ext uri="{FF2B5EF4-FFF2-40B4-BE49-F238E27FC236}">
                <a16:creationId xmlns:a16="http://schemas.microsoft.com/office/drawing/2014/main" id="{7C6ABF82-4C58-457E-7E03-0A549DED7955}"/>
              </a:ext>
            </a:extLst>
          </p:cNvPr>
          <p:cNvPicPr>
            <a:picLocks noChangeAspect="1"/>
          </p:cNvPicPr>
          <p:nvPr/>
        </p:nvPicPr>
        <p:blipFill>
          <a:blip r:embed="rId3"/>
          <a:stretch>
            <a:fillRect/>
          </a:stretch>
        </p:blipFill>
        <p:spPr>
          <a:xfrm>
            <a:off x="6086475" y="3419475"/>
            <a:ext cx="19050" cy="19050"/>
          </a:xfrm>
          <a:prstGeom prst="rect">
            <a:avLst/>
          </a:prstGeom>
        </p:spPr>
      </p:pic>
      <p:graphicFrame>
        <p:nvGraphicFramePr>
          <p:cNvPr id="7" name="object 9">
            <a:extLst>
              <a:ext uri="{FF2B5EF4-FFF2-40B4-BE49-F238E27FC236}">
                <a16:creationId xmlns:a16="http://schemas.microsoft.com/office/drawing/2014/main" id="{52CAF8A1-4890-AB0C-3B8A-6CBF438B0F60}"/>
              </a:ext>
            </a:extLst>
          </p:cNvPr>
          <p:cNvGraphicFramePr>
            <a:graphicFrameLocks noGrp="1"/>
          </p:cNvGraphicFramePr>
          <p:nvPr/>
        </p:nvGraphicFramePr>
        <p:xfrm>
          <a:off x="356754" y="684402"/>
          <a:ext cx="11708248" cy="4671370"/>
        </p:xfrm>
        <a:graphic>
          <a:graphicData uri="http://schemas.openxmlformats.org/drawingml/2006/table">
            <a:tbl>
              <a:tblPr firstRow="1" bandRow="1">
                <a:tableStyleId>{2D5ABB26-0587-4C30-8999-92F81FD0307C}</a:tableStyleId>
              </a:tblPr>
              <a:tblGrid>
                <a:gridCol w="1050705">
                  <a:extLst>
                    <a:ext uri="{9D8B030D-6E8A-4147-A177-3AD203B41FA5}">
                      <a16:colId xmlns:a16="http://schemas.microsoft.com/office/drawing/2014/main" val="20000"/>
                    </a:ext>
                  </a:extLst>
                </a:gridCol>
                <a:gridCol w="1110076">
                  <a:extLst>
                    <a:ext uri="{9D8B030D-6E8A-4147-A177-3AD203B41FA5}">
                      <a16:colId xmlns:a16="http://schemas.microsoft.com/office/drawing/2014/main" val="20001"/>
                    </a:ext>
                  </a:extLst>
                </a:gridCol>
                <a:gridCol w="686279">
                  <a:extLst>
                    <a:ext uri="{9D8B030D-6E8A-4147-A177-3AD203B41FA5}">
                      <a16:colId xmlns:a16="http://schemas.microsoft.com/office/drawing/2014/main" val="20002"/>
                    </a:ext>
                  </a:extLst>
                </a:gridCol>
                <a:gridCol w="834640">
                  <a:extLst>
                    <a:ext uri="{9D8B030D-6E8A-4147-A177-3AD203B41FA5}">
                      <a16:colId xmlns:a16="http://schemas.microsoft.com/office/drawing/2014/main" val="20003"/>
                    </a:ext>
                  </a:extLst>
                </a:gridCol>
                <a:gridCol w="930209">
                  <a:extLst>
                    <a:ext uri="{9D8B030D-6E8A-4147-A177-3AD203B41FA5}">
                      <a16:colId xmlns:a16="http://schemas.microsoft.com/office/drawing/2014/main" val="20004"/>
                    </a:ext>
                  </a:extLst>
                </a:gridCol>
                <a:gridCol w="624570">
                  <a:extLst>
                    <a:ext uri="{9D8B030D-6E8A-4147-A177-3AD203B41FA5}">
                      <a16:colId xmlns:a16="http://schemas.microsoft.com/office/drawing/2014/main" val="20005"/>
                    </a:ext>
                  </a:extLst>
                </a:gridCol>
                <a:gridCol w="624570">
                  <a:extLst>
                    <a:ext uri="{9D8B030D-6E8A-4147-A177-3AD203B41FA5}">
                      <a16:colId xmlns:a16="http://schemas.microsoft.com/office/drawing/2014/main" val="20006"/>
                    </a:ext>
                  </a:extLst>
                </a:gridCol>
                <a:gridCol w="624570">
                  <a:extLst>
                    <a:ext uri="{9D8B030D-6E8A-4147-A177-3AD203B41FA5}">
                      <a16:colId xmlns:a16="http://schemas.microsoft.com/office/drawing/2014/main" val="20007"/>
                    </a:ext>
                  </a:extLst>
                </a:gridCol>
                <a:gridCol w="624570">
                  <a:extLst>
                    <a:ext uri="{9D8B030D-6E8A-4147-A177-3AD203B41FA5}">
                      <a16:colId xmlns:a16="http://schemas.microsoft.com/office/drawing/2014/main" val="20008"/>
                    </a:ext>
                  </a:extLst>
                </a:gridCol>
                <a:gridCol w="624570">
                  <a:extLst>
                    <a:ext uri="{9D8B030D-6E8A-4147-A177-3AD203B41FA5}">
                      <a16:colId xmlns:a16="http://schemas.microsoft.com/office/drawing/2014/main" val="20009"/>
                    </a:ext>
                  </a:extLst>
                </a:gridCol>
                <a:gridCol w="1116799">
                  <a:extLst>
                    <a:ext uri="{9D8B030D-6E8A-4147-A177-3AD203B41FA5}">
                      <a16:colId xmlns:a16="http://schemas.microsoft.com/office/drawing/2014/main" val="20010"/>
                    </a:ext>
                  </a:extLst>
                </a:gridCol>
                <a:gridCol w="1051652">
                  <a:extLst>
                    <a:ext uri="{9D8B030D-6E8A-4147-A177-3AD203B41FA5}">
                      <a16:colId xmlns:a16="http://schemas.microsoft.com/office/drawing/2014/main" val="20011"/>
                    </a:ext>
                  </a:extLst>
                </a:gridCol>
                <a:gridCol w="902519">
                  <a:extLst>
                    <a:ext uri="{9D8B030D-6E8A-4147-A177-3AD203B41FA5}">
                      <a16:colId xmlns:a16="http://schemas.microsoft.com/office/drawing/2014/main" val="20012"/>
                    </a:ext>
                  </a:extLst>
                </a:gridCol>
                <a:gridCol w="902519">
                  <a:extLst>
                    <a:ext uri="{9D8B030D-6E8A-4147-A177-3AD203B41FA5}">
                      <a16:colId xmlns:a16="http://schemas.microsoft.com/office/drawing/2014/main" val="357900955"/>
                    </a:ext>
                  </a:extLst>
                </a:gridCol>
              </a:tblGrid>
              <a:tr h="695606">
                <a:tc rowSpan="3">
                  <a:txBody>
                    <a:bodyPr/>
                    <a:lstStyle/>
                    <a:p>
                      <a:pPr marR="199390" algn="ctr">
                        <a:lnSpc>
                          <a:spcPct val="100000"/>
                        </a:lnSpc>
                      </a:pPr>
                      <a:r>
                        <a:rPr lang="en-US" sz="1200" b="1" spc="-10">
                          <a:solidFill>
                            <a:schemeClr val="bg1"/>
                          </a:solidFill>
                          <a:latin typeface="Adani Regular" panose="02000503000000020004" pitchFamily="2" charset="0"/>
                          <a:cs typeface="Arial"/>
                        </a:rPr>
                        <a:t>Descrip</a:t>
                      </a:r>
                      <a:r>
                        <a:rPr lang="en-US" sz="1200" b="1" spc="-20">
                          <a:solidFill>
                            <a:schemeClr val="bg1"/>
                          </a:solidFill>
                          <a:latin typeface="Adani Regular" panose="02000503000000020004" pitchFamily="2" charset="0"/>
                          <a:cs typeface="Arial"/>
                        </a:rPr>
                        <a:t>tion</a:t>
                      </a:r>
                      <a:endParaRPr lang="en-US" sz="1200">
                        <a:solidFill>
                          <a:schemeClr val="bg1"/>
                        </a:solidFill>
                        <a:latin typeface="Adani Regular" panose="02000503000000020004" pitchFamily="2" charset="0"/>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3">
                  <a:txBody>
                    <a:bodyPr/>
                    <a:lstStyle/>
                    <a:p>
                      <a:pPr marL="68580" marR="50800" indent="-3175" algn="ctr">
                        <a:lnSpc>
                          <a:spcPct val="100000"/>
                        </a:lnSpc>
                        <a:spcBef>
                          <a:spcPts val="5"/>
                        </a:spcBef>
                      </a:pPr>
                      <a:r>
                        <a:rPr lang="en-US" sz="1200" b="1" spc="-10">
                          <a:solidFill>
                            <a:schemeClr val="bg1"/>
                          </a:solidFill>
                          <a:latin typeface="Adani Regular" panose="02000503000000020004" pitchFamily="2" charset="0"/>
                          <a:cs typeface="Arial"/>
                        </a:rPr>
                        <a:t>Overall </a:t>
                      </a:r>
                      <a:r>
                        <a:rPr lang="en-US" sz="1200" b="1" spc="-20">
                          <a:solidFill>
                            <a:schemeClr val="bg1"/>
                          </a:solidFill>
                          <a:latin typeface="Adani Regular" panose="02000503000000020004" pitchFamily="2" charset="0"/>
                          <a:cs typeface="Arial"/>
                        </a:rPr>
                        <a:t>Complet</a:t>
                      </a:r>
                      <a:r>
                        <a:rPr lang="en-US" sz="1200" b="1" spc="-25">
                          <a:solidFill>
                            <a:schemeClr val="bg1"/>
                          </a:solidFill>
                          <a:latin typeface="Adani Regular" panose="02000503000000020004" pitchFamily="2" charset="0"/>
                          <a:cs typeface="Arial"/>
                        </a:rPr>
                        <a:t>ion</a:t>
                      </a:r>
                      <a:endParaRPr lang="en-US" sz="1200">
                        <a:solidFill>
                          <a:schemeClr val="bg1"/>
                        </a:solidFill>
                        <a:latin typeface="Adani Regular" panose="02000503000000020004" pitchFamily="2" charset="0"/>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3">
                  <a:txBody>
                    <a:bodyPr/>
                    <a:lstStyle/>
                    <a:p>
                      <a:pPr marL="33655" algn="ctr">
                        <a:lnSpc>
                          <a:spcPct val="100000"/>
                        </a:lnSpc>
                      </a:pPr>
                      <a:r>
                        <a:rPr sz="1200" b="1" spc="-10">
                          <a:solidFill>
                            <a:schemeClr val="bg1"/>
                          </a:solidFill>
                          <a:latin typeface="Adani Regular" panose="02000503000000020004" pitchFamily="2" charset="0"/>
                          <a:cs typeface="Arial"/>
                        </a:rPr>
                        <a:t>Total</a:t>
                      </a:r>
                      <a:endParaRPr sz="1200">
                        <a:solidFill>
                          <a:schemeClr val="bg1"/>
                        </a:solidFill>
                        <a:latin typeface="Adani Regular" panose="02000503000000020004" pitchFamily="2" charset="0"/>
                        <a:cs typeface="Arial"/>
                      </a:endParaRPr>
                    </a:p>
                    <a:p>
                      <a:pPr marL="13970" algn="ctr">
                        <a:lnSpc>
                          <a:spcPct val="100000"/>
                        </a:lnSpc>
                        <a:spcBef>
                          <a:spcPts val="5"/>
                        </a:spcBef>
                      </a:pPr>
                      <a:r>
                        <a:rPr sz="1200" b="1" spc="-10">
                          <a:solidFill>
                            <a:schemeClr val="bg1"/>
                          </a:solidFill>
                          <a:latin typeface="Adani Regular" panose="02000503000000020004" pitchFamily="2" charset="0"/>
                          <a:cs typeface="Arial"/>
                        </a:rPr>
                        <a:t>Docs.</a:t>
                      </a:r>
                      <a:endParaRPr sz="1200">
                        <a:solidFill>
                          <a:schemeClr val="bg1"/>
                        </a:solidFill>
                        <a:latin typeface="Adani Regular" panose="02000503000000020004" pitchFamily="2" charset="0"/>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11">
                  <a:txBody>
                    <a:bodyPr/>
                    <a:lstStyle/>
                    <a:p>
                      <a:pPr>
                        <a:lnSpc>
                          <a:spcPct val="100000"/>
                        </a:lnSpc>
                        <a:spcBef>
                          <a:spcPts val="170"/>
                        </a:spcBef>
                      </a:pPr>
                      <a:endParaRPr lang="en-US" sz="1200">
                        <a:solidFill>
                          <a:schemeClr val="bg1"/>
                        </a:solidFill>
                        <a:latin typeface="Adani Regular" panose="02000503000000020004" pitchFamily="2" charset="0"/>
                        <a:cs typeface="Times New Roman"/>
                      </a:endParaRPr>
                    </a:p>
                    <a:p>
                      <a:pPr marL="2540" algn="ctr">
                        <a:lnSpc>
                          <a:spcPct val="100000"/>
                        </a:lnSpc>
                      </a:pPr>
                      <a:r>
                        <a:rPr lang="en-US" sz="1400" b="1">
                          <a:solidFill>
                            <a:schemeClr val="bg1"/>
                          </a:solidFill>
                          <a:latin typeface="Adani Regular" panose="02000503000000020004" pitchFamily="2" charset="0"/>
                          <a:cs typeface="Arial"/>
                        </a:rPr>
                        <a:t>Overall</a:t>
                      </a:r>
                      <a:r>
                        <a:rPr lang="en-US" sz="1400" b="1" spc="75">
                          <a:solidFill>
                            <a:schemeClr val="bg1"/>
                          </a:solidFill>
                          <a:latin typeface="Adani Regular" panose="02000503000000020004" pitchFamily="2" charset="0"/>
                          <a:cs typeface="Arial"/>
                        </a:rPr>
                        <a:t> </a:t>
                      </a:r>
                      <a:r>
                        <a:rPr lang="en-US" sz="1400" b="1">
                          <a:solidFill>
                            <a:schemeClr val="bg1"/>
                          </a:solidFill>
                          <a:latin typeface="Adani Regular" panose="02000503000000020004" pitchFamily="2" charset="0"/>
                          <a:cs typeface="Arial"/>
                        </a:rPr>
                        <a:t>Status up to Feb’26</a:t>
                      </a:r>
                      <a:endParaRPr lang="en-US" sz="1400">
                        <a:solidFill>
                          <a:schemeClr val="bg1"/>
                        </a:solidFill>
                        <a:latin typeface="Adani Regular" panose="02000503000000020004" pitchFamily="2" charset="0"/>
                        <a:cs typeface="Arial"/>
                      </a:endParaRPr>
                    </a:p>
                  </a:txBody>
                  <a:tcPr marL="0" marR="0" marT="21590" marB="0">
                    <a:lnL w="12700" cap="flat" cmpd="sng" algn="ctr">
                      <a:solidFill>
                        <a:schemeClr val="tx1"/>
                      </a:solidFill>
                      <a:prstDash val="solid"/>
                      <a:round/>
                      <a:headEnd type="none" w="med" len="med"/>
                      <a:tailEnd type="none" w="med" len="med"/>
                    </a:lnL>
                    <a:lnR w="12700">
                      <a:solidFill>
                        <a:srgbClr val="00AEEE"/>
                      </a:solidFill>
                      <a:prstDash val="sysDot"/>
                    </a:lnR>
                    <a:lnT w="12700">
                      <a:solidFill>
                        <a:srgbClr val="00AEEE"/>
                      </a:solidFill>
                      <a:prstDash val="soli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pPr marL="2540" algn="ctr">
                        <a:lnSpc>
                          <a:spcPct val="100000"/>
                        </a:lnSpc>
                      </a:pPr>
                      <a:endParaRPr lang="en-US" sz="1200">
                        <a:solidFill>
                          <a:schemeClr val="bg1"/>
                        </a:solidFill>
                        <a:latin typeface="Adani Regular" panose="02000503000000020004" pitchFamily="2" charset="0"/>
                        <a:cs typeface="Arial"/>
                      </a:endParaRPr>
                    </a:p>
                  </a:txBody>
                  <a:tcPr marL="0" marR="0" marT="21590" marB="0">
                    <a:lnL w="12700" cap="flat" cmpd="sng" algn="ctr">
                      <a:solidFill>
                        <a:schemeClr val="tx1"/>
                      </a:solidFill>
                      <a:prstDash val="solid"/>
                      <a:round/>
                      <a:headEnd type="none" w="med" len="med"/>
                      <a:tailEnd type="none" w="med" len="med"/>
                    </a:lnL>
                    <a:lnR w="12700">
                      <a:solidFill>
                        <a:srgbClr val="00AEEE"/>
                      </a:solidFill>
                      <a:prstDash val="sysDot"/>
                    </a:lnR>
                    <a:lnT w="12700">
                      <a:solidFill>
                        <a:srgbClr val="00AEEE"/>
                      </a:solidFill>
                      <a:prstDash val="soli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546945">
                <a:tc vMerge="1">
                  <a:txBody>
                    <a:bodyPr/>
                    <a:lstStyle/>
                    <a:p>
                      <a:endParaRPr/>
                    </a:p>
                  </a:txBody>
                  <a:tcPr marL="0" marR="0" marT="0" marB="0">
                    <a:lnL w="12700">
                      <a:solidFill>
                        <a:srgbClr val="00AEEE"/>
                      </a:solidFill>
                      <a:prstDash val="solid"/>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rowSpan="2">
                  <a:txBody>
                    <a:bodyPr/>
                    <a:lstStyle/>
                    <a:p>
                      <a:pPr>
                        <a:lnSpc>
                          <a:spcPct val="100000"/>
                        </a:lnSpc>
                        <a:spcBef>
                          <a:spcPts val="810"/>
                        </a:spcBef>
                      </a:pPr>
                      <a:endParaRPr lang="en-US" sz="1200">
                        <a:solidFill>
                          <a:schemeClr val="bg1"/>
                        </a:solidFill>
                        <a:latin typeface="Adani Regular" panose="02000503000000020004" pitchFamily="2" charset="0"/>
                        <a:cs typeface="Times New Roman"/>
                      </a:endParaRPr>
                    </a:p>
                    <a:p>
                      <a:pPr marL="50165" marR="34290" indent="-3810" algn="ctr">
                        <a:lnSpc>
                          <a:spcPct val="100000"/>
                        </a:lnSpc>
                      </a:pPr>
                      <a:r>
                        <a:rPr sz="1200" b="1" spc="-10">
                          <a:solidFill>
                            <a:schemeClr val="bg1"/>
                          </a:solidFill>
                          <a:latin typeface="Adani Regular" panose="02000503000000020004" pitchFamily="2" charset="0"/>
                          <a:cs typeface="Arial"/>
                        </a:rPr>
                        <a:t>Total </a:t>
                      </a:r>
                      <a:r>
                        <a:rPr sz="1200" b="1" spc="-20">
                          <a:solidFill>
                            <a:schemeClr val="bg1"/>
                          </a:solidFill>
                          <a:latin typeface="Adani Regular" panose="02000503000000020004" pitchFamily="2" charset="0"/>
                          <a:cs typeface="Arial"/>
                        </a:rPr>
                        <a:t>Cum. </a:t>
                      </a:r>
                      <a:r>
                        <a:rPr sz="1200" b="1" spc="-25">
                          <a:solidFill>
                            <a:schemeClr val="bg1"/>
                          </a:solidFill>
                          <a:latin typeface="Adani Regular" panose="02000503000000020004" pitchFamily="2" charset="0"/>
                          <a:cs typeface="Arial"/>
                        </a:rPr>
                        <a:t>Planne</a:t>
                      </a:r>
                      <a:r>
                        <a:rPr sz="1200" b="1" spc="-50">
                          <a:solidFill>
                            <a:schemeClr val="bg1"/>
                          </a:solidFill>
                          <a:latin typeface="Adani Regular" panose="02000503000000020004" pitchFamily="2" charset="0"/>
                          <a:cs typeface="Arial"/>
                        </a:rPr>
                        <a:t>d</a:t>
                      </a:r>
                      <a:endParaRPr sz="1200">
                        <a:solidFill>
                          <a:schemeClr val="bg1"/>
                        </a:solidFill>
                        <a:latin typeface="Adani Regular" panose="02000503000000020004" pitchFamily="2" charset="0"/>
                        <a:cs typeface="Arial"/>
                      </a:endParaRP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nSpc>
                          <a:spcPct val="100000"/>
                        </a:lnSpc>
                        <a:spcBef>
                          <a:spcPts val="810"/>
                        </a:spcBef>
                      </a:pPr>
                      <a:endParaRPr sz="1200">
                        <a:solidFill>
                          <a:schemeClr val="bg1"/>
                        </a:solidFill>
                        <a:latin typeface="Adani Regular" panose="02000503000000020004" pitchFamily="2" charset="0"/>
                        <a:cs typeface="Times New Roman"/>
                      </a:endParaRPr>
                    </a:p>
                    <a:p>
                      <a:pPr marL="86995" marR="72390" indent="3175" algn="ctr">
                        <a:lnSpc>
                          <a:spcPct val="100000"/>
                        </a:lnSpc>
                      </a:pPr>
                      <a:r>
                        <a:rPr sz="1200" b="1" spc="-10">
                          <a:solidFill>
                            <a:schemeClr val="bg1"/>
                          </a:solidFill>
                          <a:latin typeface="Adani Regular" panose="02000503000000020004" pitchFamily="2" charset="0"/>
                          <a:cs typeface="Arial"/>
                        </a:rPr>
                        <a:t>Docs. </a:t>
                      </a:r>
                      <a:r>
                        <a:rPr sz="1200" b="1" spc="-20">
                          <a:solidFill>
                            <a:schemeClr val="bg1"/>
                          </a:solidFill>
                          <a:latin typeface="Adani Regular" panose="02000503000000020004" pitchFamily="2" charset="0"/>
                          <a:cs typeface="Arial"/>
                        </a:rPr>
                        <a:t>Cum. </a:t>
                      </a:r>
                      <a:r>
                        <a:rPr sz="1200" b="1" spc="-25">
                          <a:solidFill>
                            <a:schemeClr val="bg1"/>
                          </a:solidFill>
                          <a:latin typeface="Adani Regular" panose="02000503000000020004" pitchFamily="2" charset="0"/>
                          <a:cs typeface="Arial"/>
                        </a:rPr>
                        <a:t>Received</a:t>
                      </a:r>
                      <a:endParaRPr sz="1200">
                        <a:solidFill>
                          <a:schemeClr val="bg1"/>
                        </a:solidFill>
                        <a:latin typeface="Adani Regular" panose="02000503000000020004" pitchFamily="2" charset="0"/>
                        <a:cs typeface="Arial"/>
                      </a:endParaRP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5">
                  <a:txBody>
                    <a:bodyPr/>
                    <a:lstStyle/>
                    <a:p>
                      <a:pPr marL="200025" algn="ctr">
                        <a:lnSpc>
                          <a:spcPct val="100000"/>
                        </a:lnSpc>
                        <a:spcBef>
                          <a:spcPts val="894"/>
                        </a:spcBef>
                      </a:pPr>
                      <a:r>
                        <a:rPr sz="1200" b="1" spc="-10">
                          <a:solidFill>
                            <a:schemeClr val="bg1"/>
                          </a:solidFill>
                          <a:latin typeface="Adani Regular" panose="02000503000000020004" pitchFamily="2" charset="0"/>
                          <a:cs typeface="Arial"/>
                        </a:rPr>
                        <a:t>Documents</a:t>
                      </a:r>
                      <a:r>
                        <a:rPr sz="1200" b="1" spc="-20">
                          <a:solidFill>
                            <a:schemeClr val="bg1"/>
                          </a:solidFill>
                          <a:latin typeface="Adani Regular" panose="02000503000000020004" pitchFamily="2" charset="0"/>
                          <a:cs typeface="Arial"/>
                        </a:rPr>
                        <a:t> </a:t>
                      </a:r>
                      <a:r>
                        <a:rPr sz="1200" b="1" spc="-10">
                          <a:solidFill>
                            <a:schemeClr val="bg1"/>
                          </a:solidFill>
                          <a:latin typeface="Adani Regular" panose="02000503000000020004" pitchFamily="2" charset="0"/>
                          <a:cs typeface="Arial"/>
                        </a:rPr>
                        <a:t>Approved</a:t>
                      </a:r>
                      <a:endParaRPr sz="1200">
                        <a:solidFill>
                          <a:schemeClr val="bg1"/>
                        </a:solidFill>
                        <a:latin typeface="Adani Regular" panose="02000503000000020004" pitchFamily="2" charset="0"/>
                        <a:cs typeface="Arial"/>
                      </a:endParaRPr>
                    </a:p>
                  </a:txBody>
                  <a:tcPr marL="0" marR="0" marT="11366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rowSpan="2">
                  <a:txBody>
                    <a:bodyPr/>
                    <a:lstStyle/>
                    <a:p>
                      <a:pPr>
                        <a:lnSpc>
                          <a:spcPct val="100000"/>
                        </a:lnSpc>
                        <a:spcBef>
                          <a:spcPts val="810"/>
                        </a:spcBef>
                      </a:pPr>
                      <a:endParaRPr lang="en-US" sz="1200">
                        <a:solidFill>
                          <a:schemeClr val="bg1"/>
                        </a:solidFill>
                        <a:latin typeface="Adani Regular" panose="02000503000000020004" pitchFamily="2" charset="0"/>
                        <a:cs typeface="Times New Roman"/>
                      </a:endParaRPr>
                    </a:p>
                    <a:p>
                      <a:pPr marL="102235" marR="83820" algn="ctr">
                        <a:lnSpc>
                          <a:spcPct val="100000"/>
                        </a:lnSpc>
                      </a:pPr>
                      <a:r>
                        <a:rPr lang="en-US" sz="1200" b="1" spc="-35">
                          <a:solidFill>
                            <a:schemeClr val="bg1"/>
                          </a:solidFill>
                          <a:latin typeface="Adani Regular" panose="02000503000000020004" pitchFamily="2" charset="0"/>
                          <a:cs typeface="Arial"/>
                        </a:rPr>
                        <a:t>Docume</a:t>
                      </a:r>
                      <a:r>
                        <a:rPr lang="en-US" sz="1200" b="1" spc="-25">
                          <a:solidFill>
                            <a:schemeClr val="bg1"/>
                          </a:solidFill>
                          <a:latin typeface="Adani Regular" panose="02000503000000020004" pitchFamily="2" charset="0"/>
                          <a:cs typeface="Arial"/>
                        </a:rPr>
                        <a:t>nts </a:t>
                      </a:r>
                      <a:r>
                        <a:rPr lang="en-US" sz="1200" b="1" spc="-10">
                          <a:solidFill>
                            <a:schemeClr val="bg1"/>
                          </a:solidFill>
                          <a:latin typeface="Adani Regular" panose="02000503000000020004" pitchFamily="2" charset="0"/>
                          <a:cs typeface="Arial"/>
                        </a:rPr>
                        <a:t>Under Review</a:t>
                      </a:r>
                      <a:endParaRPr lang="en-US" sz="1200">
                        <a:solidFill>
                          <a:schemeClr val="bg1"/>
                        </a:solidFill>
                        <a:latin typeface="Adani Regular" panose="02000503000000020004" pitchFamily="2" charset="0"/>
                        <a:cs typeface="Arial"/>
                      </a:endParaRP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nSpc>
                          <a:spcPct val="100000"/>
                        </a:lnSpc>
                        <a:spcBef>
                          <a:spcPts val="810"/>
                        </a:spcBef>
                      </a:pPr>
                      <a:endParaRPr sz="1200">
                        <a:solidFill>
                          <a:schemeClr val="bg1"/>
                        </a:solidFill>
                        <a:latin typeface="Adani Regular" panose="02000503000000020004" pitchFamily="2" charset="0"/>
                        <a:cs typeface="Times New Roman"/>
                      </a:endParaRPr>
                    </a:p>
                    <a:p>
                      <a:pPr marL="79375" marR="62865" indent="1270" algn="ctr">
                        <a:lnSpc>
                          <a:spcPct val="100000"/>
                        </a:lnSpc>
                      </a:pPr>
                      <a:r>
                        <a:rPr sz="1200" b="1" spc="-20">
                          <a:solidFill>
                            <a:schemeClr val="bg1"/>
                          </a:solidFill>
                          <a:latin typeface="Adani Regular" panose="02000503000000020004" pitchFamily="2" charset="0"/>
                          <a:cs typeface="Arial"/>
                        </a:rPr>
                        <a:t>Cum. </a:t>
                      </a:r>
                      <a:r>
                        <a:rPr sz="1200" b="1" spc="-10">
                          <a:solidFill>
                            <a:schemeClr val="bg1"/>
                          </a:solidFill>
                          <a:latin typeface="Adani Regular" panose="02000503000000020004" pitchFamily="2" charset="0"/>
                          <a:cs typeface="Arial"/>
                        </a:rPr>
                        <a:t>Total </a:t>
                      </a:r>
                      <a:r>
                        <a:rPr sz="1200" b="1" spc="-40">
                          <a:solidFill>
                            <a:schemeClr val="bg1"/>
                          </a:solidFill>
                          <a:latin typeface="Adani Regular" panose="02000503000000020004" pitchFamily="2" charset="0"/>
                          <a:cs typeface="Arial"/>
                        </a:rPr>
                        <a:t>approve</a:t>
                      </a:r>
                      <a:r>
                        <a:rPr sz="1200" b="1" spc="-50">
                          <a:solidFill>
                            <a:schemeClr val="bg1"/>
                          </a:solidFill>
                          <a:latin typeface="Adani Regular" panose="02000503000000020004" pitchFamily="2" charset="0"/>
                          <a:cs typeface="Arial"/>
                        </a:rPr>
                        <a:t>d</a:t>
                      </a:r>
                      <a:endParaRPr sz="1200">
                        <a:solidFill>
                          <a:schemeClr val="bg1"/>
                        </a:solidFill>
                        <a:latin typeface="Adani Regular" panose="02000503000000020004" pitchFamily="2" charset="0"/>
                        <a:cs typeface="Arial"/>
                      </a:endParaRPr>
                    </a:p>
                  </a:txBody>
                  <a:tcPr marL="0" marR="0" marT="10287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nSpc>
                          <a:spcPct val="100000"/>
                        </a:lnSpc>
                      </a:pPr>
                      <a:endParaRPr sz="1200">
                        <a:solidFill>
                          <a:schemeClr val="bg1"/>
                        </a:solidFill>
                        <a:latin typeface="Adani Regular" panose="02000503000000020004" pitchFamily="2" charset="0"/>
                        <a:cs typeface="Times New Roman"/>
                      </a:endParaRPr>
                    </a:p>
                    <a:p>
                      <a:pPr>
                        <a:lnSpc>
                          <a:spcPct val="100000"/>
                        </a:lnSpc>
                        <a:spcBef>
                          <a:spcPts val="950"/>
                        </a:spcBef>
                      </a:pPr>
                      <a:endParaRPr sz="1200">
                        <a:solidFill>
                          <a:schemeClr val="bg1"/>
                        </a:solidFill>
                        <a:latin typeface="Adani Regular" panose="02000503000000020004" pitchFamily="2" charset="0"/>
                        <a:cs typeface="Times New Roman"/>
                      </a:endParaRPr>
                    </a:p>
                    <a:p>
                      <a:pPr marL="3175" algn="ctr">
                        <a:lnSpc>
                          <a:spcPct val="100000"/>
                        </a:lnSpc>
                      </a:pPr>
                      <a:r>
                        <a:rPr sz="1200" b="1" spc="-10">
                          <a:solidFill>
                            <a:schemeClr val="bg1"/>
                          </a:solidFill>
                          <a:latin typeface="Adani Regular" panose="02000503000000020004" pitchFamily="2" charset="0"/>
                          <a:cs typeface="Arial"/>
                        </a:rPr>
                        <a:t>Approv</a:t>
                      </a:r>
                      <a:r>
                        <a:rPr sz="1200" b="1">
                          <a:solidFill>
                            <a:schemeClr val="bg1"/>
                          </a:solidFill>
                          <a:latin typeface="Adani Regular" panose="02000503000000020004" pitchFamily="2" charset="0"/>
                          <a:cs typeface="Arial"/>
                        </a:rPr>
                        <a:t>ed</a:t>
                      </a:r>
                      <a:r>
                        <a:rPr sz="1200" b="1" spc="10">
                          <a:solidFill>
                            <a:schemeClr val="bg1"/>
                          </a:solidFill>
                          <a:latin typeface="Adani Regular" panose="02000503000000020004" pitchFamily="2" charset="0"/>
                          <a:cs typeface="Arial"/>
                        </a:rPr>
                        <a:t> </a:t>
                      </a:r>
                      <a:r>
                        <a:rPr sz="1200" b="1" spc="-50">
                          <a:solidFill>
                            <a:schemeClr val="bg1"/>
                          </a:solidFill>
                          <a:latin typeface="Adani Regular" panose="02000503000000020004" pitchFamily="2" charset="0"/>
                          <a:cs typeface="Arial"/>
                        </a:rPr>
                        <a:t>%</a:t>
                      </a:r>
                      <a:endParaRPr sz="1200">
                        <a:solidFill>
                          <a:schemeClr val="bg1"/>
                        </a:solidFill>
                        <a:latin typeface="Adani Regular" panose="02000503000000020004" pitchFamily="2" charset="0"/>
                        <a:cs typeface="Aria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3">
                  <a:txBody>
                    <a:bodyPr/>
                    <a:lstStyle/>
                    <a:p>
                      <a:pPr marL="3175" algn="ctr">
                        <a:lnSpc>
                          <a:spcPct val="100000"/>
                        </a:lnSpc>
                      </a:pPr>
                      <a:r>
                        <a:rPr lang="en-US" sz="1200" b="1" kern="1200" spc="-10">
                          <a:solidFill>
                            <a:schemeClr val="bg1"/>
                          </a:solidFill>
                          <a:latin typeface="Adani Regular" panose="02000503000000020004" pitchFamily="2" charset="0"/>
                          <a:ea typeface="+mn-ea"/>
                          <a:cs typeface="Arial"/>
                        </a:rPr>
                        <a:t>Remarks</a:t>
                      </a:r>
                      <a:endParaRPr sz="1200" b="1" kern="1200" spc="-10">
                        <a:solidFill>
                          <a:schemeClr val="bg1"/>
                        </a:solidFill>
                        <a:latin typeface="Adani Regular" panose="02000503000000020004" pitchFamily="2" charset="0"/>
                        <a:ea typeface="+mn-ea"/>
                        <a:cs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1"/>
                  </a:ext>
                </a:extLst>
              </a:tr>
              <a:tr h="634489">
                <a:tc vMerge="1">
                  <a:txBody>
                    <a:bodyPr/>
                    <a:lstStyle/>
                    <a:p>
                      <a:endParaRPr/>
                    </a:p>
                  </a:txBody>
                  <a:tcPr marL="0" marR="0" marT="0" marB="0">
                    <a:lnL w="12700">
                      <a:solidFill>
                        <a:srgbClr val="00AEEE"/>
                      </a:solidFill>
                      <a:prstDash val="solid"/>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olid"/>
                    </a:lnT>
                    <a:lnB w="12700">
                      <a:solidFill>
                        <a:srgbClr val="00AEEE"/>
                      </a:solidFill>
                      <a:prstDash val="sysDot"/>
                    </a:lnB>
                    <a:solidFill>
                      <a:srgbClr val="DFD1ED"/>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a:txBody>
                    <a:bodyPr/>
                    <a:lstStyle/>
                    <a:p>
                      <a:pPr marL="4445" algn="ctr">
                        <a:lnSpc>
                          <a:spcPct val="100000"/>
                        </a:lnSpc>
                      </a:pPr>
                      <a:r>
                        <a:rPr sz="1200" b="1">
                          <a:solidFill>
                            <a:schemeClr val="bg1"/>
                          </a:solidFill>
                          <a:latin typeface="Adani Regular" panose="02000503000000020004" pitchFamily="2" charset="0"/>
                          <a:cs typeface="Arial"/>
                        </a:rPr>
                        <a:t>Cat</a:t>
                      </a:r>
                      <a:r>
                        <a:rPr sz="1200" b="1" spc="65">
                          <a:solidFill>
                            <a:schemeClr val="bg1"/>
                          </a:solidFill>
                          <a:latin typeface="Adani Regular" panose="02000503000000020004" pitchFamily="2" charset="0"/>
                          <a:cs typeface="Arial"/>
                        </a:rPr>
                        <a:t> </a:t>
                      </a:r>
                      <a:r>
                        <a:rPr sz="1200" b="1" spc="-50">
                          <a:solidFill>
                            <a:schemeClr val="bg1"/>
                          </a:solidFill>
                          <a:latin typeface="Adani Regular" panose="02000503000000020004" pitchFamily="2" charset="0"/>
                          <a:cs typeface="Arial"/>
                        </a:rPr>
                        <a:t>I</a:t>
                      </a:r>
                      <a:endParaRPr sz="1200">
                        <a:solidFill>
                          <a:schemeClr val="bg1"/>
                        </a:solidFill>
                        <a:latin typeface="Adani Regular" panose="02000503000000020004" pitchFamily="2" charset="0"/>
                        <a:cs typeface="Arial"/>
                      </a:endParaRPr>
                    </a:p>
                  </a:txBody>
                  <a:tcPr marL="0" marR="0" marT="158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lnSpc>
                          <a:spcPct val="100000"/>
                        </a:lnSpc>
                      </a:pPr>
                      <a:r>
                        <a:rPr sz="1200" b="1">
                          <a:solidFill>
                            <a:schemeClr val="bg1"/>
                          </a:solidFill>
                          <a:latin typeface="Adani Regular" panose="02000503000000020004" pitchFamily="2" charset="0"/>
                          <a:cs typeface="Arial"/>
                        </a:rPr>
                        <a:t>Cat</a:t>
                      </a:r>
                      <a:r>
                        <a:rPr sz="1200" b="1" spc="60">
                          <a:solidFill>
                            <a:schemeClr val="bg1"/>
                          </a:solidFill>
                          <a:latin typeface="Adani Regular" panose="02000503000000020004" pitchFamily="2" charset="0"/>
                          <a:cs typeface="Arial"/>
                        </a:rPr>
                        <a:t> </a:t>
                      </a:r>
                      <a:r>
                        <a:rPr sz="1200" b="1" spc="-25">
                          <a:solidFill>
                            <a:schemeClr val="bg1"/>
                          </a:solidFill>
                          <a:latin typeface="Adani Regular" panose="02000503000000020004" pitchFamily="2" charset="0"/>
                          <a:cs typeface="Arial"/>
                        </a:rPr>
                        <a:t>II</a:t>
                      </a:r>
                      <a:endParaRPr sz="1200">
                        <a:solidFill>
                          <a:schemeClr val="bg1"/>
                        </a:solidFill>
                        <a:latin typeface="Adani Regular" panose="02000503000000020004" pitchFamily="2" charset="0"/>
                        <a:cs typeface="Arial"/>
                      </a:endParaRPr>
                    </a:p>
                  </a:txBody>
                  <a:tcPr marL="0" marR="0" marT="1581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32715" marR="116205" indent="-58419" algn="ctr">
                        <a:lnSpc>
                          <a:spcPct val="100000"/>
                        </a:lnSpc>
                      </a:pPr>
                      <a:r>
                        <a:rPr sz="1200" b="1" spc="-25">
                          <a:solidFill>
                            <a:schemeClr val="bg1"/>
                          </a:solidFill>
                          <a:latin typeface="Adani Regular" panose="02000503000000020004" pitchFamily="2" charset="0"/>
                          <a:cs typeface="Arial"/>
                        </a:rPr>
                        <a:t>Cat III</a:t>
                      </a:r>
                      <a:endParaRPr sz="1200">
                        <a:solidFill>
                          <a:schemeClr val="bg1"/>
                        </a:solidFill>
                        <a:latin typeface="Adani Regular" panose="02000503000000020004" pitchFamily="2" charset="0"/>
                        <a:cs typeface="Arial"/>
                      </a:endParaRPr>
                    </a:p>
                  </a:txBody>
                  <a:tcPr marL="0" marR="0" marT="666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113030" marR="100330" indent="-52069" algn="ctr">
                        <a:lnSpc>
                          <a:spcPct val="100000"/>
                        </a:lnSpc>
                      </a:pPr>
                      <a:r>
                        <a:rPr sz="1200" b="1" spc="-25">
                          <a:solidFill>
                            <a:schemeClr val="bg1"/>
                          </a:solidFill>
                          <a:latin typeface="Adani Regular" panose="02000503000000020004" pitchFamily="2" charset="0"/>
                          <a:cs typeface="Arial"/>
                        </a:rPr>
                        <a:t>Cat IV</a:t>
                      </a:r>
                      <a:endParaRPr sz="1200">
                        <a:solidFill>
                          <a:schemeClr val="bg1"/>
                        </a:solidFill>
                        <a:latin typeface="Adani Regular" panose="02000503000000020004" pitchFamily="2" charset="0"/>
                        <a:cs typeface="Arial"/>
                      </a:endParaRPr>
                    </a:p>
                  </a:txBody>
                  <a:tcPr marL="0" marR="0" marT="666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58419" marR="73025" indent="-20320" algn="ctr">
                        <a:lnSpc>
                          <a:spcPct val="100000"/>
                        </a:lnSpc>
                      </a:pPr>
                      <a:r>
                        <a:rPr sz="1200" b="1" spc="-25">
                          <a:solidFill>
                            <a:schemeClr val="bg1"/>
                          </a:solidFill>
                          <a:latin typeface="Adani Regular" panose="02000503000000020004" pitchFamily="2" charset="0"/>
                          <a:cs typeface="Arial"/>
                        </a:rPr>
                        <a:t>Cat IV*</a:t>
                      </a:r>
                      <a:endParaRPr sz="1200">
                        <a:solidFill>
                          <a:schemeClr val="bg1"/>
                        </a:solidFill>
                        <a:latin typeface="Adani Regular" panose="02000503000000020004" pitchFamily="2" charset="0"/>
                        <a:cs typeface="Arial"/>
                      </a:endParaRPr>
                    </a:p>
                  </a:txBody>
                  <a:tcPr marL="0" marR="0" marT="666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a:p>
                  </a:txBody>
                  <a:tcPr marL="0" marR="0" marT="10287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a:p>
                  </a:txBody>
                  <a:tcPr marL="0" marR="0" marT="0" marB="0">
                    <a:lnL w="12700">
                      <a:solidFill>
                        <a:srgbClr val="00AEEE"/>
                      </a:solidFill>
                      <a:prstDash val="sysDot"/>
                    </a:lnL>
                    <a:lnR w="12700">
                      <a:solidFill>
                        <a:srgbClr val="00AEEE"/>
                      </a:solidFill>
                      <a:prstDash val="sysDot"/>
                    </a:lnR>
                    <a:lnT w="12700">
                      <a:solidFill>
                        <a:srgbClr val="00AEEE"/>
                      </a:solidFill>
                      <a:prstDash val="sysDot"/>
                    </a:lnT>
                    <a:lnB w="12700">
                      <a:solidFill>
                        <a:srgbClr val="00AEEE"/>
                      </a:solidFill>
                      <a:prstDash val="sysDot"/>
                    </a:lnB>
                    <a:solidFill>
                      <a:srgbClr val="DFD1ED"/>
                    </a:solidFill>
                  </a:tcPr>
                </a:tc>
                <a:tc vMerge="1">
                  <a:txBody>
                    <a:bodyPr/>
                    <a:lstStyle/>
                    <a:p>
                      <a:endParaRPr lang="en-US"/>
                    </a:p>
                  </a:txBody>
                  <a:tcPr/>
                </a:tc>
                <a:extLst>
                  <a:ext uri="{0D108BD9-81ED-4DB2-BD59-A6C34878D82A}">
                    <a16:rowId xmlns:a16="http://schemas.microsoft.com/office/drawing/2014/main" val="10002"/>
                  </a:ext>
                </a:extLst>
              </a:tr>
              <a:tr h="836317">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5715" algn="ctr">
                        <a:lnSpc>
                          <a:spcPct val="100000"/>
                        </a:lnSpc>
                      </a:pPr>
                      <a:r>
                        <a:rPr lang="en-US" sz="1400" spc="-50">
                          <a:solidFill>
                            <a:schemeClr val="bg1"/>
                          </a:solidFill>
                          <a:latin typeface="Adani Regular" panose="02000503000000020004" pitchFamily="2" charset="0"/>
                          <a:cs typeface="Arial"/>
                        </a:rPr>
                        <a:t>A</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1905" algn="ctr">
                        <a:lnSpc>
                          <a:spcPct val="100000"/>
                        </a:lnSpc>
                      </a:pPr>
                      <a:r>
                        <a:rPr lang="en-US" sz="1400" spc="-10">
                          <a:solidFill>
                            <a:schemeClr val="bg1"/>
                          </a:solidFill>
                          <a:latin typeface="Adani Regular" panose="02000503000000020004" pitchFamily="2" charset="0"/>
                          <a:cs typeface="Arial"/>
                        </a:rPr>
                        <a:t>Dates</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6985" algn="ctr">
                        <a:lnSpc>
                          <a:spcPct val="100000"/>
                        </a:lnSpc>
                      </a:pPr>
                      <a:r>
                        <a:rPr lang="en-US" sz="1400" spc="5">
                          <a:solidFill>
                            <a:schemeClr val="bg1"/>
                          </a:solidFill>
                          <a:latin typeface="Adani Regular" panose="02000503000000020004" pitchFamily="2" charset="0"/>
                          <a:cs typeface="Arial"/>
                        </a:rPr>
                        <a:t>B</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3175" algn="ctr">
                        <a:lnSpc>
                          <a:spcPct val="100000"/>
                        </a:lnSpc>
                      </a:pPr>
                      <a:r>
                        <a:rPr lang="en-US" sz="1400" spc="15">
                          <a:solidFill>
                            <a:schemeClr val="bg1"/>
                          </a:solidFill>
                          <a:latin typeface="Adani Regular" panose="02000503000000020004" pitchFamily="2" charset="0"/>
                          <a:cs typeface="Arial"/>
                        </a:rPr>
                        <a:t>C</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3810" algn="ctr">
                        <a:lnSpc>
                          <a:spcPct val="100000"/>
                        </a:lnSpc>
                      </a:pPr>
                      <a:r>
                        <a:rPr lang="en-US" sz="1400" spc="-50">
                          <a:solidFill>
                            <a:schemeClr val="bg1"/>
                          </a:solidFill>
                          <a:latin typeface="Adani Regular" panose="02000503000000020004" pitchFamily="2" charset="0"/>
                          <a:cs typeface="Arial"/>
                        </a:rPr>
                        <a:t>D</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5080" algn="ctr">
                        <a:lnSpc>
                          <a:spcPct val="100000"/>
                        </a:lnSpc>
                      </a:pPr>
                      <a:r>
                        <a:rPr lang="en-US" sz="1400" spc="-50">
                          <a:solidFill>
                            <a:schemeClr val="bg1"/>
                          </a:solidFill>
                          <a:latin typeface="Adani Regular" panose="02000503000000020004" pitchFamily="2" charset="0"/>
                          <a:cs typeface="Arial"/>
                        </a:rPr>
                        <a:t>E</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6350" algn="ctr">
                        <a:lnSpc>
                          <a:spcPct val="100000"/>
                        </a:lnSpc>
                      </a:pPr>
                      <a:r>
                        <a:rPr lang="en-US" sz="1400" spc="85">
                          <a:solidFill>
                            <a:schemeClr val="bg1"/>
                          </a:solidFill>
                          <a:latin typeface="Adani Regular" panose="02000503000000020004" pitchFamily="2" charset="0"/>
                          <a:cs typeface="Arial"/>
                        </a:rPr>
                        <a:t>F</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5080" algn="ctr">
                        <a:lnSpc>
                          <a:spcPct val="100000"/>
                        </a:lnSpc>
                      </a:pPr>
                      <a:r>
                        <a:rPr lang="en-US" sz="1400">
                          <a:solidFill>
                            <a:schemeClr val="bg1"/>
                          </a:solidFill>
                          <a:latin typeface="Adani Regular" panose="02000503000000020004" pitchFamily="2" charset="0"/>
                          <a:cs typeface="Arial"/>
                        </a:rPr>
                        <a:t>G</a:t>
                      </a: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5715" algn="ctr">
                        <a:lnSpc>
                          <a:spcPct val="100000"/>
                        </a:lnSpc>
                      </a:pPr>
                      <a:r>
                        <a:rPr lang="en-US" sz="1400" spc="15">
                          <a:solidFill>
                            <a:schemeClr val="bg1"/>
                          </a:solidFill>
                          <a:latin typeface="Adani Regular" panose="02000503000000020004" pitchFamily="2" charset="0"/>
                          <a:cs typeface="Arial"/>
                        </a:rPr>
                        <a:t>H</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7620" algn="ctr">
                        <a:lnSpc>
                          <a:spcPct val="100000"/>
                        </a:lnSpc>
                      </a:pPr>
                      <a:r>
                        <a:rPr lang="en-US" sz="1400" spc="15">
                          <a:solidFill>
                            <a:schemeClr val="bg1"/>
                          </a:solidFill>
                          <a:latin typeface="Adani Regular" panose="02000503000000020004" pitchFamily="2" charset="0"/>
                          <a:cs typeface="Arial"/>
                        </a:rPr>
                        <a:t>I</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5715" algn="ctr">
                        <a:lnSpc>
                          <a:spcPct val="100000"/>
                        </a:lnSpc>
                      </a:pPr>
                      <a:r>
                        <a:rPr lang="en-US" sz="1400" spc="5">
                          <a:solidFill>
                            <a:schemeClr val="bg1"/>
                          </a:solidFill>
                          <a:latin typeface="Adani Regular" panose="02000503000000020004" pitchFamily="2" charset="0"/>
                          <a:cs typeface="Arial"/>
                        </a:rPr>
                        <a:t>J</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32384" algn="ctr">
                        <a:lnSpc>
                          <a:spcPct val="100000"/>
                        </a:lnSpc>
                        <a:spcBef>
                          <a:spcPts val="1040"/>
                        </a:spcBef>
                      </a:pPr>
                      <a:r>
                        <a:rPr lang="pt-BR" sz="1400">
                          <a:solidFill>
                            <a:schemeClr val="bg1"/>
                          </a:solidFill>
                          <a:latin typeface="Adani Regular" panose="02000503000000020004" pitchFamily="2" charset="0"/>
                          <a:cs typeface="Arial"/>
                        </a:rPr>
                        <a:t>K</a:t>
                      </a:r>
                      <a:r>
                        <a:rPr lang="pt-BR" sz="1400" spc="5">
                          <a:solidFill>
                            <a:schemeClr val="bg1"/>
                          </a:solidFill>
                          <a:latin typeface="Adani Regular" panose="02000503000000020004" pitchFamily="2" charset="0"/>
                          <a:cs typeface="Arial"/>
                        </a:rPr>
                        <a:t> </a:t>
                      </a:r>
                      <a:r>
                        <a:rPr lang="pt-BR" sz="1400">
                          <a:solidFill>
                            <a:schemeClr val="bg1"/>
                          </a:solidFill>
                          <a:latin typeface="Adani Regular" panose="02000503000000020004" pitchFamily="2" charset="0"/>
                          <a:cs typeface="Arial"/>
                        </a:rPr>
                        <a:t>=</a:t>
                      </a:r>
                      <a:r>
                        <a:rPr lang="pt-BR" sz="1400" spc="20">
                          <a:solidFill>
                            <a:schemeClr val="bg1"/>
                          </a:solidFill>
                          <a:latin typeface="Adani Regular" panose="02000503000000020004" pitchFamily="2" charset="0"/>
                          <a:cs typeface="Arial"/>
                        </a:rPr>
                        <a:t> </a:t>
                      </a:r>
                      <a:r>
                        <a:rPr lang="pt-BR" sz="1400">
                          <a:solidFill>
                            <a:schemeClr val="bg1"/>
                          </a:solidFill>
                          <a:latin typeface="Adani Regular" panose="02000503000000020004" pitchFamily="2" charset="0"/>
                          <a:cs typeface="Arial"/>
                        </a:rPr>
                        <a:t>E</a:t>
                      </a:r>
                      <a:r>
                        <a:rPr lang="pt-BR" sz="1400" spc="25">
                          <a:solidFill>
                            <a:schemeClr val="bg1"/>
                          </a:solidFill>
                          <a:latin typeface="Adani Regular" panose="02000503000000020004" pitchFamily="2" charset="0"/>
                          <a:cs typeface="Arial"/>
                        </a:rPr>
                        <a:t> </a:t>
                      </a:r>
                      <a:r>
                        <a:rPr lang="pt-BR" sz="1400">
                          <a:solidFill>
                            <a:schemeClr val="bg1"/>
                          </a:solidFill>
                          <a:latin typeface="Adani Regular" panose="02000503000000020004" pitchFamily="2" charset="0"/>
                          <a:cs typeface="Arial"/>
                        </a:rPr>
                        <a:t>+</a:t>
                      </a:r>
                      <a:r>
                        <a:rPr lang="pt-BR" sz="1400" spc="20">
                          <a:solidFill>
                            <a:schemeClr val="bg1"/>
                          </a:solidFill>
                          <a:latin typeface="Adani Regular" panose="02000503000000020004" pitchFamily="2" charset="0"/>
                          <a:cs typeface="Arial"/>
                        </a:rPr>
                        <a:t> </a:t>
                      </a:r>
                      <a:r>
                        <a:rPr lang="pt-BR" sz="1400" spc="80">
                          <a:solidFill>
                            <a:schemeClr val="bg1"/>
                          </a:solidFill>
                          <a:latin typeface="Adani Regular" panose="02000503000000020004" pitchFamily="2" charset="0"/>
                          <a:cs typeface="Arial"/>
                        </a:rPr>
                        <a:t>F</a:t>
                      </a:r>
                      <a:endParaRPr lang="pt-BR" sz="1400">
                        <a:solidFill>
                          <a:schemeClr val="bg1"/>
                        </a:solidFill>
                        <a:latin typeface="Adani Regular" panose="02000503000000020004" pitchFamily="2" charset="0"/>
                        <a:cs typeface="Arial"/>
                      </a:endParaRPr>
                    </a:p>
                    <a:p>
                      <a:pPr marL="99695" algn="ctr">
                        <a:lnSpc>
                          <a:spcPct val="100000"/>
                        </a:lnSpc>
                      </a:pPr>
                      <a:r>
                        <a:rPr lang="pt-BR" sz="1400">
                          <a:solidFill>
                            <a:schemeClr val="bg1"/>
                          </a:solidFill>
                          <a:latin typeface="Adani Regular" panose="02000503000000020004" pitchFamily="2" charset="0"/>
                          <a:cs typeface="Arial"/>
                        </a:rPr>
                        <a:t>+</a:t>
                      </a:r>
                      <a:r>
                        <a:rPr lang="pt-BR" sz="1400" spc="5">
                          <a:solidFill>
                            <a:schemeClr val="bg1"/>
                          </a:solidFill>
                          <a:latin typeface="Adani Regular" panose="02000503000000020004" pitchFamily="2" charset="0"/>
                          <a:cs typeface="Arial"/>
                        </a:rPr>
                        <a:t> </a:t>
                      </a:r>
                      <a:r>
                        <a:rPr lang="pt-BR" sz="1400" spc="65">
                          <a:solidFill>
                            <a:schemeClr val="bg1"/>
                          </a:solidFill>
                          <a:latin typeface="Adani Regular" panose="02000503000000020004" pitchFamily="2" charset="0"/>
                          <a:cs typeface="Arial"/>
                        </a:rPr>
                        <a:t>H</a:t>
                      </a:r>
                      <a:r>
                        <a:rPr lang="pt-BR" sz="1400" spc="20">
                          <a:solidFill>
                            <a:schemeClr val="bg1"/>
                          </a:solidFill>
                          <a:latin typeface="Adani Regular" panose="02000503000000020004" pitchFamily="2" charset="0"/>
                          <a:cs typeface="Arial"/>
                        </a:rPr>
                        <a:t> </a:t>
                      </a:r>
                      <a:r>
                        <a:rPr lang="pt-BR" sz="1400">
                          <a:solidFill>
                            <a:schemeClr val="bg1"/>
                          </a:solidFill>
                          <a:latin typeface="Adani Regular" panose="02000503000000020004" pitchFamily="2" charset="0"/>
                          <a:cs typeface="Arial"/>
                        </a:rPr>
                        <a:t>+</a:t>
                      </a:r>
                      <a:r>
                        <a:rPr lang="pt-BR" sz="1400" spc="5">
                          <a:solidFill>
                            <a:schemeClr val="bg1"/>
                          </a:solidFill>
                          <a:latin typeface="Adani Regular" panose="02000503000000020004" pitchFamily="2" charset="0"/>
                          <a:cs typeface="Arial"/>
                        </a:rPr>
                        <a:t> </a:t>
                      </a:r>
                      <a:r>
                        <a:rPr lang="pt-BR" sz="1400" spc="15">
                          <a:solidFill>
                            <a:schemeClr val="bg1"/>
                          </a:solidFill>
                          <a:latin typeface="Adani Regular" panose="02000503000000020004" pitchFamily="2" charset="0"/>
                          <a:cs typeface="Arial"/>
                        </a:rPr>
                        <a:t>I</a:t>
                      </a:r>
                      <a:endParaRPr lang="pt-BR" sz="1400">
                        <a:solidFill>
                          <a:schemeClr val="bg1"/>
                        </a:solidFill>
                        <a:latin typeface="Adani Regular" panose="02000503000000020004" pitchFamily="2" charset="0"/>
                        <a:cs typeface="Arial"/>
                      </a:endParaRPr>
                    </a:p>
                  </a:txBody>
                  <a:tcPr marL="0" marR="0" marT="1320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nSpc>
                          <a:spcPct val="100000"/>
                        </a:lnSpc>
                        <a:spcBef>
                          <a:spcPts val="440"/>
                        </a:spcBef>
                      </a:pPr>
                      <a:endParaRPr lang="en-US" sz="1400">
                        <a:solidFill>
                          <a:schemeClr val="bg1"/>
                        </a:solidFill>
                        <a:latin typeface="Adani Regular" panose="02000503000000020004" pitchFamily="2" charset="0"/>
                        <a:cs typeface="Times New Roman"/>
                      </a:endParaRPr>
                    </a:p>
                    <a:p>
                      <a:pPr marL="9525" algn="ctr">
                        <a:lnSpc>
                          <a:spcPct val="100000"/>
                        </a:lnSpc>
                      </a:pPr>
                      <a:r>
                        <a:rPr lang="en-US" sz="1400" spc="55">
                          <a:solidFill>
                            <a:schemeClr val="bg1"/>
                          </a:solidFill>
                          <a:latin typeface="Adani Regular" panose="02000503000000020004" pitchFamily="2" charset="0"/>
                          <a:cs typeface="Arial"/>
                        </a:rPr>
                        <a:t>l</a:t>
                      </a:r>
                      <a:r>
                        <a:rPr lang="en-US" sz="1400" spc="-20">
                          <a:solidFill>
                            <a:schemeClr val="bg1"/>
                          </a:solidFill>
                          <a:latin typeface="Adani Regular" panose="02000503000000020004" pitchFamily="2" charset="0"/>
                          <a:cs typeface="Arial"/>
                        </a:rPr>
                        <a:t> </a:t>
                      </a:r>
                      <a:r>
                        <a:rPr lang="en-US" sz="1400">
                          <a:solidFill>
                            <a:schemeClr val="bg1"/>
                          </a:solidFill>
                          <a:latin typeface="Adani Regular" panose="02000503000000020004" pitchFamily="2" charset="0"/>
                          <a:cs typeface="Arial"/>
                        </a:rPr>
                        <a:t>=</a:t>
                      </a:r>
                      <a:r>
                        <a:rPr lang="en-US" sz="1400" spc="15">
                          <a:solidFill>
                            <a:schemeClr val="bg1"/>
                          </a:solidFill>
                          <a:latin typeface="Adani Regular" panose="02000503000000020004" pitchFamily="2" charset="0"/>
                          <a:cs typeface="Arial"/>
                        </a:rPr>
                        <a:t> </a:t>
                      </a:r>
                      <a:r>
                        <a:rPr lang="en-US" sz="1400">
                          <a:solidFill>
                            <a:schemeClr val="bg1"/>
                          </a:solidFill>
                          <a:latin typeface="Adani Regular" panose="02000503000000020004" pitchFamily="2" charset="0"/>
                          <a:cs typeface="Arial"/>
                        </a:rPr>
                        <a:t>k</a:t>
                      </a:r>
                      <a:r>
                        <a:rPr lang="en-US" sz="1400" spc="-15">
                          <a:solidFill>
                            <a:schemeClr val="bg1"/>
                          </a:solidFill>
                          <a:latin typeface="Adani Regular" panose="02000503000000020004" pitchFamily="2" charset="0"/>
                          <a:cs typeface="Arial"/>
                        </a:rPr>
                        <a:t> </a:t>
                      </a:r>
                      <a:r>
                        <a:rPr lang="en-US" sz="1400" spc="80">
                          <a:solidFill>
                            <a:schemeClr val="bg1"/>
                          </a:solidFill>
                          <a:latin typeface="Adani Regular" panose="02000503000000020004" pitchFamily="2" charset="0"/>
                          <a:cs typeface="Arial"/>
                        </a:rPr>
                        <a:t>/</a:t>
                      </a:r>
                      <a:r>
                        <a:rPr lang="en-US" sz="1400" spc="15">
                          <a:solidFill>
                            <a:schemeClr val="bg1"/>
                          </a:solidFill>
                          <a:latin typeface="Adani Regular" panose="02000503000000020004" pitchFamily="2" charset="0"/>
                          <a:cs typeface="Arial"/>
                        </a:rPr>
                        <a:t> </a:t>
                      </a:r>
                      <a:r>
                        <a:rPr lang="en-US" sz="1400" spc="5">
                          <a:solidFill>
                            <a:schemeClr val="bg1"/>
                          </a:solidFill>
                          <a:latin typeface="Adani Regular" panose="02000503000000020004" pitchFamily="2" charset="0"/>
                          <a:cs typeface="Arial"/>
                        </a:rPr>
                        <a:t>b</a:t>
                      </a:r>
                      <a:endParaRPr lang="en-US" sz="1400">
                        <a:solidFill>
                          <a:schemeClr val="bg1"/>
                        </a:solidFill>
                        <a:latin typeface="Adani Regular" panose="02000503000000020004" pitchFamily="2" charset="0"/>
                        <a:cs typeface="Arial"/>
                      </a:endParaRPr>
                    </a:p>
                  </a:txBody>
                  <a:tcPr marL="0" marR="0" marT="558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pPr marL="9525" algn="ctr">
                        <a:lnSpc>
                          <a:spcPct val="100000"/>
                        </a:lnSpc>
                      </a:pPr>
                      <a:endParaRPr sz="1200">
                        <a:solidFill>
                          <a:schemeClr val="bg1"/>
                        </a:solidFill>
                        <a:latin typeface="Adani Regular" panose="02000503000000020004" pitchFamily="2" charset="0"/>
                        <a:cs typeface="Arial"/>
                      </a:endParaRPr>
                    </a:p>
                  </a:txBody>
                  <a:tcPr marL="0" marR="0" marT="558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0003"/>
                  </a:ext>
                </a:extLst>
              </a:tr>
              <a:tr h="652671">
                <a:tc>
                  <a:txBody>
                    <a:bodyPr/>
                    <a:lstStyle/>
                    <a:p>
                      <a:pPr algn="ctr" rtl="0" fontAlgn="ctr"/>
                      <a:r>
                        <a:rPr lang="en-US" sz="1400" kern="1200">
                          <a:solidFill>
                            <a:schemeClr val="tx1"/>
                          </a:solidFill>
                          <a:latin typeface="Adani Regular" panose="02000503000000020004" pitchFamily="2" charset="0"/>
                          <a:ea typeface="+mn-ea"/>
                          <a:cs typeface="Arial"/>
                        </a:rPr>
                        <a:t>PSS-10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17-Jan-26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0" marR="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52671">
                <a:tc>
                  <a:txBody>
                    <a:bodyPr/>
                    <a:lstStyle/>
                    <a:p>
                      <a:pPr algn="ctr" rtl="0" fontAlgn="ctr"/>
                      <a:r>
                        <a:rPr lang="en-US" sz="1400" kern="1200">
                          <a:solidFill>
                            <a:schemeClr val="tx1"/>
                          </a:solidFill>
                          <a:latin typeface="Adani Regular" panose="02000503000000020004" pitchFamily="2" charset="0"/>
                          <a:ea typeface="+mn-ea"/>
                          <a:cs typeface="Arial"/>
                        </a:rPr>
                        <a:t>PSS-05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17-Jan-26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0" marR="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029797"/>
                  </a:ext>
                </a:extLst>
              </a:tr>
              <a:tr h="652671">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kern="1200">
                          <a:solidFill>
                            <a:schemeClr val="tx1"/>
                          </a:solidFill>
                          <a:latin typeface="Adani Regular" panose="02000503000000020004" pitchFamily="2" charset="0"/>
                          <a:ea typeface="+mn-ea"/>
                          <a:cs typeface="Arial"/>
                        </a:rPr>
                        <a:t>PSS-08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31-Jan-26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dani Regular" panose="02000503000000020004" pitchFamily="2"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en-US" sz="1400" b="0" i="0" u="none" strike="noStrike">
                          <a:solidFill>
                            <a:srgbClr val="000000"/>
                          </a:solidFill>
                          <a:effectLst/>
                          <a:latin typeface="Adani Regular" panose="02000503000000020004" pitchFamily="2"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400" b="0" i="0" u="none" strike="noStrike">
                          <a:solidFill>
                            <a:srgbClr val="000000"/>
                          </a:solidFill>
                          <a:effectLst/>
                          <a:latin typeface="Adani Regular" panose="02000503000000020004" pitchFamily="2"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p>
                  </a:txBody>
                  <a:tcPr marL="0" marR="0"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7603363"/>
                  </a:ext>
                </a:extLst>
              </a:tr>
            </a:tbl>
          </a:graphicData>
        </a:graphic>
      </p:graphicFrame>
      <p:sp>
        <p:nvSpPr>
          <p:cNvPr id="8" name="object 6">
            <a:extLst>
              <a:ext uri="{FF2B5EF4-FFF2-40B4-BE49-F238E27FC236}">
                <a16:creationId xmlns:a16="http://schemas.microsoft.com/office/drawing/2014/main" id="{27D78F13-8569-7265-5646-1D0A8EC9A5DA}"/>
              </a:ext>
            </a:extLst>
          </p:cNvPr>
          <p:cNvSpPr txBox="1"/>
          <p:nvPr/>
        </p:nvSpPr>
        <p:spPr>
          <a:xfrm>
            <a:off x="356754" y="5782438"/>
            <a:ext cx="10739120" cy="391160"/>
          </a:xfrm>
          <a:prstGeom prst="rect">
            <a:avLst/>
          </a:prstGeom>
        </p:spPr>
        <p:txBody>
          <a:bodyPr vert="horz" wrap="square" lIns="0" tIns="12700" rIns="0" bIns="0" rtlCol="0">
            <a:spAutoFit/>
          </a:bodyPr>
          <a:lstStyle/>
          <a:p>
            <a:pPr marL="12700" marR="5080">
              <a:lnSpc>
                <a:spcPct val="100000"/>
              </a:lnSpc>
              <a:spcBef>
                <a:spcPts val="100"/>
              </a:spcBef>
            </a:pPr>
            <a:r>
              <a:rPr sz="1200" spc="20">
                <a:latin typeface="Adani Regular" panose="02000503000000020004" pitchFamily="2" charset="0"/>
                <a:cs typeface="Arial"/>
              </a:rPr>
              <a:t>Cat</a:t>
            </a:r>
            <a:r>
              <a:rPr sz="1200" spc="30">
                <a:latin typeface="Adani Regular" panose="02000503000000020004" pitchFamily="2" charset="0"/>
                <a:cs typeface="Arial"/>
              </a:rPr>
              <a:t> </a:t>
            </a:r>
            <a:r>
              <a:rPr sz="1200" spc="20">
                <a:latin typeface="Adani Regular" panose="02000503000000020004" pitchFamily="2" charset="0"/>
                <a:cs typeface="Arial"/>
              </a:rPr>
              <a:t>I:</a:t>
            </a:r>
            <a:r>
              <a:rPr sz="1200" spc="30">
                <a:latin typeface="Adani Regular" panose="02000503000000020004" pitchFamily="2" charset="0"/>
                <a:cs typeface="Arial"/>
              </a:rPr>
              <a:t> </a:t>
            </a:r>
            <a:r>
              <a:rPr sz="1200" spc="20">
                <a:latin typeface="Adani Regular" panose="02000503000000020004" pitchFamily="2" charset="0"/>
                <a:cs typeface="Arial"/>
              </a:rPr>
              <a:t>Approved,</a:t>
            </a:r>
            <a:r>
              <a:rPr sz="1200" spc="35">
                <a:latin typeface="Adani Regular" panose="02000503000000020004" pitchFamily="2" charset="0"/>
                <a:cs typeface="Arial"/>
              </a:rPr>
              <a:t> </a:t>
            </a:r>
            <a:r>
              <a:rPr sz="1200" spc="20">
                <a:latin typeface="Adani Regular" panose="02000503000000020004" pitchFamily="2" charset="0"/>
                <a:cs typeface="Arial"/>
              </a:rPr>
              <a:t>Cat</a:t>
            </a:r>
            <a:r>
              <a:rPr sz="1200" spc="30">
                <a:latin typeface="Adani Regular" panose="02000503000000020004" pitchFamily="2" charset="0"/>
                <a:cs typeface="Arial"/>
              </a:rPr>
              <a:t> </a:t>
            </a:r>
            <a:r>
              <a:rPr sz="1200" spc="20">
                <a:latin typeface="Adani Regular" panose="02000503000000020004" pitchFamily="2" charset="0"/>
                <a:cs typeface="Arial"/>
              </a:rPr>
              <a:t>II:</a:t>
            </a:r>
            <a:r>
              <a:rPr sz="1200" spc="50">
                <a:latin typeface="Adani Regular" panose="02000503000000020004" pitchFamily="2" charset="0"/>
                <a:cs typeface="Arial"/>
              </a:rPr>
              <a:t> </a:t>
            </a:r>
            <a:r>
              <a:rPr sz="1200" spc="20">
                <a:latin typeface="Adani Regular" panose="02000503000000020004" pitchFamily="2" charset="0"/>
                <a:cs typeface="Arial"/>
              </a:rPr>
              <a:t>Approved</a:t>
            </a:r>
            <a:r>
              <a:rPr sz="1200" spc="30">
                <a:latin typeface="Adani Regular" panose="02000503000000020004" pitchFamily="2" charset="0"/>
                <a:cs typeface="Arial"/>
              </a:rPr>
              <a:t> </a:t>
            </a:r>
            <a:r>
              <a:rPr sz="1200" spc="90">
                <a:latin typeface="Adani Regular" panose="02000503000000020004" pitchFamily="2" charset="0"/>
                <a:cs typeface="Arial"/>
              </a:rPr>
              <a:t>with</a:t>
            </a:r>
            <a:r>
              <a:rPr sz="1200" spc="45">
                <a:latin typeface="Adani Regular" panose="02000503000000020004" pitchFamily="2" charset="0"/>
                <a:cs typeface="Arial"/>
              </a:rPr>
              <a:t> </a:t>
            </a:r>
            <a:r>
              <a:rPr sz="1200" spc="50">
                <a:latin typeface="Adani Regular" panose="02000503000000020004" pitchFamily="2" charset="0"/>
                <a:cs typeface="Arial"/>
              </a:rPr>
              <a:t>minor</a:t>
            </a:r>
            <a:r>
              <a:rPr sz="1200" spc="30">
                <a:latin typeface="Adani Regular" panose="02000503000000020004" pitchFamily="2" charset="0"/>
                <a:cs typeface="Arial"/>
              </a:rPr>
              <a:t> </a:t>
            </a:r>
            <a:r>
              <a:rPr sz="1200" spc="20">
                <a:latin typeface="Adani Regular" panose="02000503000000020004" pitchFamily="2" charset="0"/>
                <a:cs typeface="Arial"/>
              </a:rPr>
              <a:t>comments,</a:t>
            </a:r>
            <a:r>
              <a:rPr sz="1200" spc="35">
                <a:latin typeface="Adani Regular" panose="02000503000000020004" pitchFamily="2" charset="0"/>
                <a:cs typeface="Arial"/>
              </a:rPr>
              <a:t> </a:t>
            </a:r>
            <a:r>
              <a:rPr sz="1200" spc="20">
                <a:latin typeface="Adani Regular" panose="02000503000000020004" pitchFamily="2" charset="0"/>
                <a:cs typeface="Arial"/>
              </a:rPr>
              <a:t>Cat</a:t>
            </a:r>
            <a:r>
              <a:rPr sz="1200" spc="15">
                <a:latin typeface="Adani Regular" panose="02000503000000020004" pitchFamily="2" charset="0"/>
                <a:cs typeface="Arial"/>
              </a:rPr>
              <a:t> </a:t>
            </a:r>
            <a:r>
              <a:rPr sz="1200" spc="10">
                <a:latin typeface="Adani Regular" panose="02000503000000020004" pitchFamily="2" charset="0"/>
                <a:cs typeface="Arial"/>
              </a:rPr>
              <a:t>III:</a:t>
            </a:r>
            <a:r>
              <a:rPr sz="1200" spc="45">
                <a:latin typeface="Adani Regular" panose="02000503000000020004" pitchFamily="2" charset="0"/>
                <a:cs typeface="Arial"/>
              </a:rPr>
              <a:t> </a:t>
            </a:r>
            <a:r>
              <a:rPr sz="1200" spc="80">
                <a:latin typeface="Adani Regular" panose="02000503000000020004" pitchFamily="2" charset="0"/>
                <a:cs typeface="Arial"/>
              </a:rPr>
              <a:t>Not</a:t>
            </a:r>
            <a:r>
              <a:rPr sz="1200" spc="30">
                <a:latin typeface="Adani Regular" panose="02000503000000020004" pitchFamily="2" charset="0"/>
                <a:cs typeface="Arial"/>
              </a:rPr>
              <a:t> </a:t>
            </a:r>
            <a:r>
              <a:rPr sz="1200" spc="20">
                <a:latin typeface="Adani Regular" panose="02000503000000020004" pitchFamily="2" charset="0"/>
                <a:cs typeface="Arial"/>
              </a:rPr>
              <a:t>approved,</a:t>
            </a:r>
            <a:r>
              <a:rPr sz="1200" spc="45">
                <a:latin typeface="Adani Regular" panose="02000503000000020004" pitchFamily="2" charset="0"/>
                <a:cs typeface="Arial"/>
              </a:rPr>
              <a:t> </a:t>
            </a:r>
            <a:r>
              <a:rPr sz="1200" spc="20">
                <a:latin typeface="Adani Regular" panose="02000503000000020004" pitchFamily="2" charset="0"/>
                <a:cs typeface="Arial"/>
              </a:rPr>
              <a:t>Cat</a:t>
            </a:r>
            <a:r>
              <a:rPr sz="1200" spc="35">
                <a:latin typeface="Adani Regular" panose="02000503000000020004" pitchFamily="2" charset="0"/>
                <a:cs typeface="Arial"/>
              </a:rPr>
              <a:t> </a:t>
            </a:r>
            <a:r>
              <a:rPr sz="1200" spc="20">
                <a:latin typeface="Adani Regular" panose="02000503000000020004" pitchFamily="2" charset="0"/>
                <a:cs typeface="Arial"/>
              </a:rPr>
              <a:t>IV:</a:t>
            </a:r>
            <a:r>
              <a:rPr sz="1200" spc="45">
                <a:latin typeface="Adani Regular" panose="02000503000000020004" pitchFamily="2" charset="0"/>
                <a:cs typeface="Arial"/>
              </a:rPr>
              <a:t> </a:t>
            </a:r>
            <a:r>
              <a:rPr sz="1200" spc="20">
                <a:latin typeface="Adani Regular" panose="02000503000000020004" pitchFamily="2" charset="0"/>
                <a:cs typeface="Arial"/>
              </a:rPr>
              <a:t>For</a:t>
            </a:r>
            <a:r>
              <a:rPr sz="1200" spc="30">
                <a:latin typeface="Adani Regular" panose="02000503000000020004" pitchFamily="2" charset="0"/>
                <a:cs typeface="Arial"/>
              </a:rPr>
              <a:t> </a:t>
            </a:r>
            <a:r>
              <a:rPr sz="1200" spc="20">
                <a:latin typeface="Adani Regular" panose="02000503000000020004" pitchFamily="2" charset="0"/>
                <a:cs typeface="Arial"/>
              </a:rPr>
              <a:t>Information,</a:t>
            </a:r>
            <a:r>
              <a:rPr sz="1200" spc="40">
                <a:latin typeface="Adani Regular" panose="02000503000000020004" pitchFamily="2" charset="0"/>
                <a:cs typeface="Arial"/>
              </a:rPr>
              <a:t> </a:t>
            </a:r>
            <a:r>
              <a:rPr sz="1200" spc="20">
                <a:latin typeface="Adani Regular" panose="02000503000000020004" pitchFamily="2" charset="0"/>
                <a:cs typeface="Arial"/>
              </a:rPr>
              <a:t>Cat</a:t>
            </a:r>
            <a:r>
              <a:rPr sz="1200" spc="30">
                <a:latin typeface="Adani Regular" panose="02000503000000020004" pitchFamily="2" charset="0"/>
                <a:cs typeface="Arial"/>
              </a:rPr>
              <a:t> </a:t>
            </a:r>
            <a:r>
              <a:rPr sz="1200" spc="20">
                <a:latin typeface="Adani Regular" panose="02000503000000020004" pitchFamily="2" charset="0"/>
                <a:cs typeface="Arial"/>
              </a:rPr>
              <a:t>IV*:Incorporate</a:t>
            </a:r>
            <a:r>
              <a:rPr sz="1200" spc="-5">
                <a:latin typeface="Adani Regular" panose="02000503000000020004" pitchFamily="2" charset="0"/>
                <a:cs typeface="Arial"/>
              </a:rPr>
              <a:t> </a:t>
            </a:r>
            <a:r>
              <a:rPr sz="1200" spc="50">
                <a:latin typeface="Adani Regular" panose="02000503000000020004" pitchFamily="2" charset="0"/>
                <a:cs typeface="Arial"/>
              </a:rPr>
              <a:t>comments</a:t>
            </a:r>
            <a:r>
              <a:rPr sz="1200" spc="35">
                <a:latin typeface="Adani Regular" panose="02000503000000020004" pitchFamily="2" charset="0"/>
                <a:cs typeface="Arial"/>
              </a:rPr>
              <a:t> </a:t>
            </a:r>
            <a:r>
              <a:rPr sz="1200" spc="20">
                <a:latin typeface="Adani Regular" panose="02000503000000020004" pitchFamily="2" charset="0"/>
                <a:cs typeface="Arial"/>
              </a:rPr>
              <a:t>and</a:t>
            </a:r>
            <a:r>
              <a:rPr sz="1200" spc="25">
                <a:latin typeface="Adani Regular" panose="02000503000000020004" pitchFamily="2" charset="0"/>
                <a:cs typeface="Arial"/>
              </a:rPr>
              <a:t> </a:t>
            </a:r>
            <a:r>
              <a:rPr sz="1200" spc="50">
                <a:latin typeface="Adani Regular" panose="02000503000000020004" pitchFamily="2" charset="0"/>
                <a:cs typeface="Arial"/>
              </a:rPr>
              <a:t>resubmit</a:t>
            </a:r>
            <a:r>
              <a:rPr sz="1200" spc="25">
                <a:latin typeface="Adani Regular" panose="02000503000000020004" pitchFamily="2" charset="0"/>
                <a:cs typeface="Arial"/>
              </a:rPr>
              <a:t> </a:t>
            </a:r>
            <a:r>
              <a:rPr sz="1200" spc="40">
                <a:latin typeface="Adani Regular" panose="02000503000000020004" pitchFamily="2" charset="0"/>
                <a:cs typeface="Arial"/>
              </a:rPr>
              <a:t>for </a:t>
            </a:r>
            <a:r>
              <a:rPr sz="1200" spc="50">
                <a:latin typeface="Adani Regular" panose="02000503000000020004" pitchFamily="2" charset="0"/>
                <a:cs typeface="Arial"/>
              </a:rPr>
              <a:t>information</a:t>
            </a:r>
            <a:endParaRPr sz="1200">
              <a:latin typeface="Adani Regular" panose="02000503000000020004" pitchFamily="2" charset="0"/>
              <a:cs typeface="Arial"/>
            </a:endParaRPr>
          </a:p>
        </p:txBody>
      </p:sp>
      <p:sp>
        <p:nvSpPr>
          <p:cNvPr id="3" name="Slide Number Placeholder 2">
            <a:extLst>
              <a:ext uri="{FF2B5EF4-FFF2-40B4-BE49-F238E27FC236}">
                <a16:creationId xmlns:a16="http://schemas.microsoft.com/office/drawing/2014/main" id="{95D50C6B-8E4D-2D48-6207-36C1E6F862A6}"/>
              </a:ext>
            </a:extLst>
          </p:cNvPr>
          <p:cNvSpPr>
            <a:spLocks noGrp="1"/>
          </p:cNvSpPr>
          <p:nvPr>
            <p:ph type="sldNum" sz="quarter" idx="12"/>
          </p:nvPr>
        </p:nvSpPr>
        <p:spPr/>
        <p:txBody>
          <a:bodyPr/>
          <a:lstStyle/>
          <a:p>
            <a:fld id="{98B285C1-D8A8-4E98-B28C-1FD972D8EC54}" type="slidenum">
              <a:rPr lang="en-IN" smtClean="0"/>
              <a:t>69</a:t>
            </a:fld>
            <a:endParaRPr lang="en-IN"/>
          </a:p>
        </p:txBody>
      </p:sp>
    </p:spTree>
    <p:extLst>
      <p:ext uri="{BB962C8B-B14F-4D97-AF65-F5344CB8AC3E}">
        <p14:creationId xmlns:p14="http://schemas.microsoft.com/office/powerpoint/2010/main" val="25393762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7AE5824-8AD0-7693-7D22-77413A050E49}"/>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400" b="1">
                <a:solidFill>
                  <a:srgbClr val="00B050"/>
                </a:solidFill>
              </a:rPr>
              <a:t>Civil Plan Vs Actual Summary PSS 10 - Completed</a:t>
            </a:r>
          </a:p>
        </p:txBody>
      </p:sp>
      <p:sp>
        <p:nvSpPr>
          <p:cNvPr id="7" name="Rectangle 2">
            <a:extLst>
              <a:ext uri="{FF2B5EF4-FFF2-40B4-BE49-F238E27FC236}">
                <a16:creationId xmlns:a16="http://schemas.microsoft.com/office/drawing/2014/main" id="{78BD4021-A9E1-DCC2-63A8-64573B6F8884}"/>
              </a:ext>
            </a:extLst>
          </p:cNvPr>
          <p:cNvSpPr txBox="1">
            <a:spLocks noChangeArrowheads="1"/>
          </p:cNvSpPr>
          <p:nvPr/>
        </p:nvSpPr>
        <p:spPr>
          <a:xfrm>
            <a:off x="127950" y="609169"/>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1400" b="1">
                <a:solidFill>
                  <a:srgbClr val="00B050"/>
                </a:solidFill>
              </a:rPr>
              <a:t>BOP Plan Vs Actual :</a:t>
            </a:r>
            <a:endParaRPr lang="en-IN" sz="1600" b="1">
              <a:solidFill>
                <a:srgbClr val="00B050"/>
              </a:solidFill>
            </a:endParaRPr>
          </a:p>
        </p:txBody>
      </p:sp>
      <p:sp>
        <p:nvSpPr>
          <p:cNvPr id="8" name="Rectangle 2">
            <a:extLst>
              <a:ext uri="{FF2B5EF4-FFF2-40B4-BE49-F238E27FC236}">
                <a16:creationId xmlns:a16="http://schemas.microsoft.com/office/drawing/2014/main" id="{575DFD99-7A73-890C-F1B8-AA8F9366A91A}"/>
              </a:ext>
            </a:extLst>
          </p:cNvPr>
          <p:cNvSpPr txBox="1">
            <a:spLocks noChangeArrowheads="1"/>
          </p:cNvSpPr>
          <p:nvPr/>
        </p:nvSpPr>
        <p:spPr>
          <a:xfrm>
            <a:off x="127950" y="4244188"/>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1400" b="1">
                <a:solidFill>
                  <a:srgbClr val="00B050"/>
                </a:solidFill>
              </a:rPr>
              <a:t>BCF Plan Vs Actual :</a:t>
            </a:r>
            <a:endParaRPr lang="en-IN" sz="1600" b="1">
              <a:solidFill>
                <a:srgbClr val="00B050"/>
              </a:solidFill>
            </a:endParaRPr>
          </a:p>
        </p:txBody>
      </p:sp>
      <p:graphicFrame>
        <p:nvGraphicFramePr>
          <p:cNvPr id="12" name="Table 11">
            <a:extLst>
              <a:ext uri="{FF2B5EF4-FFF2-40B4-BE49-F238E27FC236}">
                <a16:creationId xmlns:a16="http://schemas.microsoft.com/office/drawing/2014/main" id="{E7021DAF-1F6A-2DC0-6AF9-4E7731725789}"/>
              </a:ext>
            </a:extLst>
          </p:cNvPr>
          <p:cNvGraphicFramePr>
            <a:graphicFrameLocks noGrp="1"/>
          </p:cNvGraphicFramePr>
          <p:nvPr/>
        </p:nvGraphicFramePr>
        <p:xfrm>
          <a:off x="6297930" y="6332220"/>
          <a:ext cx="5097779" cy="464820"/>
        </p:xfrm>
        <a:graphic>
          <a:graphicData uri="http://schemas.openxmlformats.org/drawingml/2006/table">
            <a:tbl>
              <a:tblPr/>
              <a:tblGrid>
                <a:gridCol w="1059934">
                  <a:extLst>
                    <a:ext uri="{9D8B030D-6E8A-4147-A177-3AD203B41FA5}">
                      <a16:colId xmlns:a16="http://schemas.microsoft.com/office/drawing/2014/main" val="3472009011"/>
                    </a:ext>
                  </a:extLst>
                </a:gridCol>
                <a:gridCol w="807569">
                  <a:extLst>
                    <a:ext uri="{9D8B030D-6E8A-4147-A177-3AD203B41FA5}">
                      <a16:colId xmlns:a16="http://schemas.microsoft.com/office/drawing/2014/main" val="3357738247"/>
                    </a:ext>
                  </a:extLst>
                </a:gridCol>
                <a:gridCol w="807569">
                  <a:extLst>
                    <a:ext uri="{9D8B030D-6E8A-4147-A177-3AD203B41FA5}">
                      <a16:colId xmlns:a16="http://schemas.microsoft.com/office/drawing/2014/main" val="2588269304"/>
                    </a:ext>
                  </a:extLst>
                </a:gridCol>
                <a:gridCol w="807569">
                  <a:extLst>
                    <a:ext uri="{9D8B030D-6E8A-4147-A177-3AD203B41FA5}">
                      <a16:colId xmlns:a16="http://schemas.microsoft.com/office/drawing/2014/main" val="104172231"/>
                    </a:ext>
                  </a:extLst>
                </a:gridCol>
                <a:gridCol w="1615138">
                  <a:extLst>
                    <a:ext uri="{9D8B030D-6E8A-4147-A177-3AD203B41FA5}">
                      <a16:colId xmlns:a16="http://schemas.microsoft.com/office/drawing/2014/main" val="687460494"/>
                    </a:ext>
                  </a:extLst>
                </a:gridCol>
              </a:tblGrid>
              <a:tr h="190500">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0070C0"/>
                    </a:solidFill>
                  </a:tcPr>
                </a:tc>
                <a:tc>
                  <a:txBody>
                    <a:bodyPr/>
                    <a:lstStyle/>
                    <a:p>
                      <a:pPr algn="l" fontAlgn="b">
                        <a:buNone/>
                      </a:pPr>
                      <a:r>
                        <a:rPr lang="en-US" sz="900" b="0" i="0" u="none" strike="noStrike">
                          <a:solidFill>
                            <a:srgbClr val="000000"/>
                          </a:solidFill>
                          <a:effectLst/>
                          <a:latin typeface="Adani Light" panose="02000503000000020004" pitchFamily="2" charset="0"/>
                        </a:rPr>
                        <a:t>Plan</a:t>
                      </a:r>
                    </a:p>
                  </a:txBody>
                  <a:tcPr marL="0" marR="0" marT="0" marB="0" anchor="b">
                    <a:lnL>
                      <a:noFill/>
                    </a:lnL>
                    <a:lnR>
                      <a:noFill/>
                    </a:lnR>
                    <a:lnT>
                      <a:noFill/>
                    </a:lnT>
                    <a:lnB>
                      <a:noFill/>
                    </a:lnB>
                    <a:noFill/>
                  </a:tcPr>
                </a:tc>
                <a:tc>
                  <a:txBody>
                    <a:bodyPr/>
                    <a:lstStyle/>
                    <a:p>
                      <a:pPr algn="l" fontAlgn="b">
                        <a:buNone/>
                      </a:pPr>
                      <a:endParaRPr lang="en-US" sz="900" b="0" i="0" u="none" strike="noStrike">
                        <a:solidFill>
                          <a:srgbClr val="000000"/>
                        </a:solidFill>
                        <a:effectLst/>
                        <a:latin typeface="Adani Light" panose="02000503000000020004" pitchFamily="2" charset="0"/>
                      </a:endParaRPr>
                    </a:p>
                  </a:txBody>
                  <a:tcPr marL="0" marR="0" marT="0" marB="0"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00B050"/>
                    </a:solidFill>
                  </a:tcPr>
                </a:tc>
                <a:tc>
                  <a:txBody>
                    <a:bodyPr/>
                    <a:lstStyle/>
                    <a:p>
                      <a:pPr algn="l" fontAlgn="b">
                        <a:buNone/>
                      </a:pPr>
                      <a:r>
                        <a:rPr lang="en-US" sz="900" b="0" i="0" u="none" strike="noStrike">
                          <a:solidFill>
                            <a:srgbClr val="000000"/>
                          </a:solidFill>
                          <a:effectLst/>
                          <a:latin typeface="Adani Light" panose="02000503000000020004" pitchFamily="2" charset="0"/>
                        </a:rPr>
                        <a:t>Actual (80% plan achieved)</a:t>
                      </a:r>
                    </a:p>
                  </a:txBody>
                  <a:tcPr marL="0" marR="0" marT="0" marB="0" anchor="b">
                    <a:lnL>
                      <a:noFill/>
                    </a:lnL>
                    <a:lnR>
                      <a:noFill/>
                    </a:lnR>
                    <a:lnT>
                      <a:noFill/>
                    </a:lnT>
                    <a:lnB>
                      <a:noFill/>
                    </a:lnB>
                    <a:noFill/>
                  </a:tcPr>
                </a:tc>
                <a:extLst>
                  <a:ext uri="{0D108BD9-81ED-4DB2-BD59-A6C34878D82A}">
                    <a16:rowId xmlns:a16="http://schemas.microsoft.com/office/drawing/2014/main" val="911106202"/>
                  </a:ext>
                </a:extLst>
              </a:tr>
              <a:tr h="190500">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FFFF00"/>
                    </a:solidFill>
                  </a:tcPr>
                </a:tc>
                <a:tc gridSpan="2">
                  <a:txBody>
                    <a:bodyPr/>
                    <a:lstStyle/>
                    <a:p>
                      <a:pPr algn="l" fontAlgn="b">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b">
                    <a:lnL>
                      <a:noFill/>
                    </a:lnL>
                    <a:lnR>
                      <a:noFill/>
                    </a:lnR>
                    <a:lnT>
                      <a:noFill/>
                    </a:lnT>
                    <a:lnB>
                      <a:noFill/>
                    </a:lnB>
                    <a:noFill/>
                  </a:tcPr>
                </a:tc>
                <a:tc hMerge="1">
                  <a:txBody>
                    <a:bodyPr/>
                    <a:lstStyle/>
                    <a:p>
                      <a:endParaRPr lang="en-US"/>
                    </a:p>
                  </a:txBody>
                  <a:tcPr/>
                </a:tc>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FF0000"/>
                    </a:solidFill>
                  </a:tcPr>
                </a:tc>
                <a:tc>
                  <a:txBody>
                    <a:bodyPr/>
                    <a:lstStyle/>
                    <a:p>
                      <a:pPr algn="l" fontAlgn="b">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b">
                    <a:lnL>
                      <a:noFill/>
                    </a:lnL>
                    <a:lnR>
                      <a:noFill/>
                    </a:lnR>
                    <a:lnT>
                      <a:noFill/>
                    </a:lnT>
                    <a:lnB>
                      <a:noFill/>
                    </a:lnB>
                    <a:noFill/>
                  </a:tcPr>
                </a:tc>
                <a:extLst>
                  <a:ext uri="{0D108BD9-81ED-4DB2-BD59-A6C34878D82A}">
                    <a16:rowId xmlns:a16="http://schemas.microsoft.com/office/drawing/2014/main" val="965146196"/>
                  </a:ext>
                </a:extLst>
              </a:tr>
            </a:tbl>
          </a:graphicData>
        </a:graphic>
      </p:graphicFrame>
      <p:graphicFrame>
        <p:nvGraphicFramePr>
          <p:cNvPr id="20" name="Table 19">
            <a:extLst>
              <a:ext uri="{FF2B5EF4-FFF2-40B4-BE49-F238E27FC236}">
                <a16:creationId xmlns:a16="http://schemas.microsoft.com/office/drawing/2014/main" id="{4B058AF2-8E43-5204-872D-F3CC9930EDFD}"/>
              </a:ext>
            </a:extLst>
          </p:cNvPr>
          <p:cNvGraphicFramePr>
            <a:graphicFrameLocks noGrp="1"/>
          </p:cNvGraphicFramePr>
          <p:nvPr/>
        </p:nvGraphicFramePr>
        <p:xfrm>
          <a:off x="200025" y="927764"/>
          <a:ext cx="5953716" cy="3316424"/>
        </p:xfrm>
        <a:graphic>
          <a:graphicData uri="http://schemas.openxmlformats.org/drawingml/2006/table">
            <a:tbl>
              <a:tblPr/>
              <a:tblGrid>
                <a:gridCol w="570416">
                  <a:extLst>
                    <a:ext uri="{9D8B030D-6E8A-4147-A177-3AD203B41FA5}">
                      <a16:colId xmlns:a16="http://schemas.microsoft.com/office/drawing/2014/main" val="827253855"/>
                    </a:ext>
                  </a:extLst>
                </a:gridCol>
                <a:gridCol w="570416">
                  <a:extLst>
                    <a:ext uri="{9D8B030D-6E8A-4147-A177-3AD203B41FA5}">
                      <a16:colId xmlns:a16="http://schemas.microsoft.com/office/drawing/2014/main" val="2344557911"/>
                    </a:ext>
                  </a:extLst>
                </a:gridCol>
                <a:gridCol w="570416">
                  <a:extLst>
                    <a:ext uri="{9D8B030D-6E8A-4147-A177-3AD203B41FA5}">
                      <a16:colId xmlns:a16="http://schemas.microsoft.com/office/drawing/2014/main" val="1873469178"/>
                    </a:ext>
                  </a:extLst>
                </a:gridCol>
                <a:gridCol w="808089">
                  <a:extLst>
                    <a:ext uri="{9D8B030D-6E8A-4147-A177-3AD203B41FA5}">
                      <a16:colId xmlns:a16="http://schemas.microsoft.com/office/drawing/2014/main" val="3612205357"/>
                    </a:ext>
                  </a:extLst>
                </a:gridCol>
                <a:gridCol w="701136">
                  <a:extLst>
                    <a:ext uri="{9D8B030D-6E8A-4147-A177-3AD203B41FA5}">
                      <a16:colId xmlns:a16="http://schemas.microsoft.com/office/drawing/2014/main" val="3212980396"/>
                    </a:ext>
                  </a:extLst>
                </a:gridCol>
                <a:gridCol w="594183">
                  <a:extLst>
                    <a:ext uri="{9D8B030D-6E8A-4147-A177-3AD203B41FA5}">
                      <a16:colId xmlns:a16="http://schemas.microsoft.com/office/drawing/2014/main" val="1707401672"/>
                    </a:ext>
                  </a:extLst>
                </a:gridCol>
                <a:gridCol w="819973">
                  <a:extLst>
                    <a:ext uri="{9D8B030D-6E8A-4147-A177-3AD203B41FA5}">
                      <a16:colId xmlns:a16="http://schemas.microsoft.com/office/drawing/2014/main" val="3464780125"/>
                    </a:ext>
                  </a:extLst>
                </a:gridCol>
                <a:gridCol w="570416">
                  <a:extLst>
                    <a:ext uri="{9D8B030D-6E8A-4147-A177-3AD203B41FA5}">
                      <a16:colId xmlns:a16="http://schemas.microsoft.com/office/drawing/2014/main" val="1959702155"/>
                    </a:ext>
                  </a:extLst>
                </a:gridCol>
                <a:gridCol w="748671">
                  <a:extLst>
                    <a:ext uri="{9D8B030D-6E8A-4147-A177-3AD203B41FA5}">
                      <a16:colId xmlns:a16="http://schemas.microsoft.com/office/drawing/2014/main" val="1419536479"/>
                    </a:ext>
                  </a:extLst>
                </a:gridCol>
              </a:tblGrid>
              <a:tr h="930281">
                <a:tc gridSpan="2">
                  <a:txBody>
                    <a:bodyPr/>
                    <a:lstStyle/>
                    <a:p>
                      <a:pPr algn="ctr" fontAlgn="ctr">
                        <a:buNone/>
                      </a:pPr>
                      <a:endParaRPr lang="en-US" sz="1050" b="1" i="0" u="none" strike="noStrike">
                        <a:solidFill>
                          <a:srgbClr val="00B050"/>
                        </a:solidFill>
                        <a:effectLst/>
                        <a:latin typeface="Adani Light" panose="02000503000000020004"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1050" b="1" i="0" u="none" strike="noStrike">
                          <a:solidFill>
                            <a:srgbClr val="00B050"/>
                          </a:solidFill>
                          <a:effectLst/>
                          <a:latin typeface="Adani Light" panose="02000503000000020004" pitchFamily="2" charset="0"/>
                        </a:rPr>
                        <a:t>Total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50" b="1" i="0" u="none" strike="noStrike">
                          <a:solidFill>
                            <a:srgbClr val="00B050"/>
                          </a:solidFill>
                          <a:effectLst/>
                          <a:latin typeface="Adani Light" panose="02000503000000020004" pitchFamily="2" charset="0"/>
                        </a:rPr>
                        <a:t>Marking &amp; Excavation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50" b="1" i="0" u="none" strike="noStrike">
                          <a:solidFill>
                            <a:srgbClr val="00B050"/>
                          </a:solidFill>
                          <a:effectLst/>
                          <a:latin typeface="Adani Light" panose="02000503000000020004" pitchFamily="2" charset="0"/>
                        </a:rPr>
                        <a:t>Plum concrete &amp; PCC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50" b="1" i="0" u="none" strike="noStrike">
                          <a:solidFill>
                            <a:srgbClr val="00B050"/>
                          </a:solidFill>
                          <a:effectLst/>
                          <a:latin typeface="Adani Light" panose="02000503000000020004" pitchFamily="2" charset="0"/>
                        </a:rPr>
                        <a:t>Footing &amp; column casting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50" b="1" i="0" u="none" strike="noStrike">
                          <a:solidFill>
                            <a:srgbClr val="00B050"/>
                          </a:solidFill>
                          <a:effectLst/>
                          <a:latin typeface="Adani Light" panose="02000503000000020004" pitchFamily="2" charset="0"/>
                        </a:rPr>
                        <a:t>Backfilling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50" b="1" i="0" u="none" strike="noStrike">
                          <a:solidFill>
                            <a:srgbClr val="00B050"/>
                          </a:solidFill>
                          <a:effectLst/>
                          <a:latin typeface="Adani Light" panose="02000503000000020004" pitchFamily="2" charset="0"/>
                        </a:rPr>
                        <a:t>Slab Casting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050" b="1" i="0" u="none" strike="noStrike">
                          <a:solidFill>
                            <a:srgbClr val="00B050"/>
                          </a:solidFill>
                          <a:effectLst/>
                          <a:latin typeface="Adani Light" panose="02000503000000020004" pitchFamily="2" charset="0"/>
                        </a:rPr>
                        <a:t>Progress</a:t>
                      </a:r>
                      <a:endParaRPr lang="en-US" sz="1050" b="0" i="0" u="none" strike="noStrike">
                        <a:solidFill>
                          <a:srgbClr val="00B05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0585228"/>
                  </a:ext>
                </a:extLst>
              </a:tr>
              <a:tr h="105666">
                <a:tc rowSpan="2">
                  <a:txBody>
                    <a:bodyPr/>
                    <a:lstStyle/>
                    <a:p>
                      <a:pPr algn="ctr" fontAlgn="ctr">
                        <a:buNone/>
                      </a:pPr>
                      <a:r>
                        <a:rPr lang="en-US" sz="1100" b="1" i="0" u="none" strike="noStrike">
                          <a:solidFill>
                            <a:srgbClr val="00B050"/>
                          </a:solidFill>
                          <a:effectLst/>
                          <a:latin typeface="Adani Light" panose="02000503000000020004" pitchFamily="2" charset="0"/>
                        </a:rPr>
                        <a:t>PCS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2462754072"/>
                  </a:ext>
                </a:extLst>
              </a:tr>
              <a:tr h="161907">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3171794"/>
                  </a:ext>
                </a:extLst>
              </a:tr>
              <a:tr h="206823">
                <a:tc rowSpan="2">
                  <a:txBody>
                    <a:bodyPr/>
                    <a:lstStyle/>
                    <a:p>
                      <a:pPr algn="ctr" fontAlgn="ctr">
                        <a:buNone/>
                      </a:pPr>
                      <a:r>
                        <a:rPr lang="en-US" sz="1100" b="1" i="0" u="none" strike="noStrike">
                          <a:solidFill>
                            <a:srgbClr val="00B050"/>
                          </a:solidFill>
                          <a:effectLst/>
                          <a:latin typeface="Adani Light" panose="02000503000000020004" pitchFamily="2" charset="0"/>
                        </a:rPr>
                        <a:t>SGR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1409788895"/>
                  </a:ext>
                </a:extLst>
              </a:tr>
              <a:tr h="161907">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5834169"/>
                  </a:ext>
                </a:extLst>
              </a:tr>
              <a:tr h="161907">
                <a:tc rowSpan="2">
                  <a:txBody>
                    <a:bodyPr/>
                    <a:lstStyle/>
                    <a:p>
                      <a:pPr algn="ctr" fontAlgn="ctr">
                        <a:buNone/>
                      </a:pPr>
                      <a:r>
                        <a:rPr lang="en-US" sz="1100" b="1" i="0" u="none" strike="noStrike">
                          <a:solidFill>
                            <a:srgbClr val="00B050"/>
                          </a:solidFill>
                          <a:effectLst/>
                          <a:latin typeface="Adani Light" panose="02000503000000020004" pitchFamily="2" charset="0"/>
                        </a:rPr>
                        <a:t>MCR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812869061"/>
                  </a:ext>
                </a:extLst>
              </a:tr>
              <a:tr h="161907">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477523"/>
                  </a:ext>
                </a:extLst>
              </a:tr>
              <a:tr h="161907">
                <a:tc rowSpan="2">
                  <a:txBody>
                    <a:bodyPr/>
                    <a:lstStyle/>
                    <a:p>
                      <a:pPr algn="ctr" fontAlgn="ctr">
                        <a:buNone/>
                      </a:pPr>
                      <a:r>
                        <a:rPr lang="en-US" sz="1100" b="1" i="0" u="none" strike="noStrike">
                          <a:solidFill>
                            <a:srgbClr val="00B050"/>
                          </a:solidFill>
                          <a:effectLst/>
                          <a:latin typeface="Adani Light" panose="02000503000000020004" pitchFamily="2" charset="0"/>
                        </a:rPr>
                        <a:t>CT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663828836"/>
                  </a:ext>
                </a:extLst>
              </a:tr>
              <a:tr h="161907">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88544"/>
                  </a:ext>
                </a:extLst>
              </a:tr>
              <a:tr h="161907">
                <a:tc rowSpan="2">
                  <a:txBody>
                    <a:bodyPr/>
                    <a:lstStyle/>
                    <a:p>
                      <a:pPr algn="ctr" fontAlgn="ctr">
                        <a:buNone/>
                      </a:pPr>
                      <a:r>
                        <a:rPr lang="en-US" sz="1100" b="1" i="0" u="none" strike="noStrike">
                          <a:solidFill>
                            <a:srgbClr val="00B050"/>
                          </a:solidFill>
                          <a:effectLst/>
                          <a:latin typeface="Adani Light" panose="02000503000000020004" pitchFamily="2" charset="0"/>
                        </a:rPr>
                        <a:t>CSS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611606701"/>
                  </a:ext>
                </a:extLst>
              </a:tr>
              <a:tr h="161907">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4690308"/>
                  </a:ext>
                </a:extLst>
              </a:tr>
              <a:tr h="161907">
                <a:tc rowSpan="2">
                  <a:txBody>
                    <a:bodyPr/>
                    <a:lstStyle/>
                    <a:p>
                      <a:pPr algn="ctr" fontAlgn="ctr">
                        <a:buNone/>
                      </a:pPr>
                      <a:r>
                        <a:rPr lang="en-US" sz="1100" b="1" i="0" u="none" strike="noStrike">
                          <a:solidFill>
                            <a:srgbClr val="00B050"/>
                          </a:solidFill>
                          <a:effectLst/>
                          <a:latin typeface="Adani Light" panose="02000503000000020004" pitchFamily="2" charset="0"/>
                        </a:rPr>
                        <a:t>BOT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491647454"/>
                  </a:ext>
                </a:extLst>
              </a:tr>
              <a:tr h="161907">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0360622"/>
                  </a:ext>
                </a:extLst>
              </a:tr>
              <a:tr h="161907">
                <a:tc rowSpan="2">
                  <a:txBody>
                    <a:bodyPr/>
                    <a:lstStyle/>
                    <a:p>
                      <a:pPr algn="ctr" fontAlgn="ctr">
                        <a:buNone/>
                      </a:pPr>
                      <a:r>
                        <a:rPr lang="en-US" sz="1100" b="1" i="0" u="none" strike="noStrike">
                          <a:solidFill>
                            <a:srgbClr val="00B050"/>
                          </a:solidFill>
                          <a:effectLst/>
                          <a:latin typeface="Adani Light" panose="02000503000000020004" pitchFamily="2" charset="0"/>
                        </a:rPr>
                        <a:t>NIFPS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736849143"/>
                  </a:ext>
                </a:extLst>
              </a:tr>
              <a:tr h="161907">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0815154"/>
                  </a:ext>
                </a:extLst>
              </a:tr>
            </a:tbl>
          </a:graphicData>
        </a:graphic>
      </p:graphicFrame>
      <p:graphicFrame>
        <p:nvGraphicFramePr>
          <p:cNvPr id="21" name="Table 20">
            <a:extLst>
              <a:ext uri="{FF2B5EF4-FFF2-40B4-BE49-F238E27FC236}">
                <a16:creationId xmlns:a16="http://schemas.microsoft.com/office/drawing/2014/main" id="{AA740809-B7B0-E287-7AA8-66BB33A151AD}"/>
              </a:ext>
            </a:extLst>
          </p:cNvPr>
          <p:cNvGraphicFramePr>
            <a:graphicFrameLocks noGrp="1"/>
          </p:cNvGraphicFramePr>
          <p:nvPr/>
        </p:nvGraphicFramePr>
        <p:xfrm>
          <a:off x="200025" y="4527079"/>
          <a:ext cx="5972332" cy="1687488"/>
        </p:xfrm>
        <a:graphic>
          <a:graphicData uri="http://schemas.openxmlformats.org/drawingml/2006/table">
            <a:tbl>
              <a:tblPr/>
              <a:tblGrid>
                <a:gridCol w="572199">
                  <a:extLst>
                    <a:ext uri="{9D8B030D-6E8A-4147-A177-3AD203B41FA5}">
                      <a16:colId xmlns:a16="http://schemas.microsoft.com/office/drawing/2014/main" val="2823334702"/>
                    </a:ext>
                  </a:extLst>
                </a:gridCol>
                <a:gridCol w="572199">
                  <a:extLst>
                    <a:ext uri="{9D8B030D-6E8A-4147-A177-3AD203B41FA5}">
                      <a16:colId xmlns:a16="http://schemas.microsoft.com/office/drawing/2014/main" val="3757983766"/>
                    </a:ext>
                  </a:extLst>
                </a:gridCol>
                <a:gridCol w="572199">
                  <a:extLst>
                    <a:ext uri="{9D8B030D-6E8A-4147-A177-3AD203B41FA5}">
                      <a16:colId xmlns:a16="http://schemas.microsoft.com/office/drawing/2014/main" val="2139204876"/>
                    </a:ext>
                  </a:extLst>
                </a:gridCol>
                <a:gridCol w="810617">
                  <a:extLst>
                    <a:ext uri="{9D8B030D-6E8A-4147-A177-3AD203B41FA5}">
                      <a16:colId xmlns:a16="http://schemas.microsoft.com/office/drawing/2014/main" val="2023060169"/>
                    </a:ext>
                  </a:extLst>
                </a:gridCol>
                <a:gridCol w="703328">
                  <a:extLst>
                    <a:ext uri="{9D8B030D-6E8A-4147-A177-3AD203B41FA5}">
                      <a16:colId xmlns:a16="http://schemas.microsoft.com/office/drawing/2014/main" val="455172359"/>
                    </a:ext>
                  </a:extLst>
                </a:gridCol>
                <a:gridCol w="596041">
                  <a:extLst>
                    <a:ext uri="{9D8B030D-6E8A-4147-A177-3AD203B41FA5}">
                      <a16:colId xmlns:a16="http://schemas.microsoft.com/office/drawing/2014/main" val="3834318910"/>
                    </a:ext>
                  </a:extLst>
                </a:gridCol>
                <a:gridCol w="822538">
                  <a:extLst>
                    <a:ext uri="{9D8B030D-6E8A-4147-A177-3AD203B41FA5}">
                      <a16:colId xmlns:a16="http://schemas.microsoft.com/office/drawing/2014/main" val="43038021"/>
                    </a:ext>
                  </a:extLst>
                </a:gridCol>
                <a:gridCol w="726281">
                  <a:extLst>
                    <a:ext uri="{9D8B030D-6E8A-4147-A177-3AD203B41FA5}">
                      <a16:colId xmlns:a16="http://schemas.microsoft.com/office/drawing/2014/main" val="2697470881"/>
                    </a:ext>
                  </a:extLst>
                </a:gridCol>
                <a:gridCol w="596930">
                  <a:extLst>
                    <a:ext uri="{9D8B030D-6E8A-4147-A177-3AD203B41FA5}">
                      <a16:colId xmlns:a16="http://schemas.microsoft.com/office/drawing/2014/main" val="1520351854"/>
                    </a:ext>
                  </a:extLst>
                </a:gridCol>
              </a:tblGrid>
              <a:tr h="514008">
                <a:tc gridSpan="2">
                  <a:txBody>
                    <a:bodyPr/>
                    <a:lstStyle/>
                    <a:p>
                      <a:pPr algn="ctr" fontAlgn="ctr">
                        <a:buNone/>
                      </a:pPr>
                      <a:endParaRPr lang="en-US" sz="1100" b="1" i="0" u="none" strike="noStrike">
                        <a:solidFill>
                          <a:srgbClr val="00B050"/>
                        </a:solidFill>
                        <a:effectLst/>
                        <a:latin typeface="Adani Ligh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1100" b="1" i="0" u="none" strike="noStrike">
                          <a:solidFill>
                            <a:srgbClr val="00B050"/>
                          </a:solidFill>
                          <a:effectLst/>
                          <a:latin typeface="Adani Light"/>
                        </a:rPr>
                        <a:t>Total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a:rPr>
                        <a:t>Marking &amp; Excavation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a:rPr>
                        <a:t>Plum concrete &amp; PCC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Column &amp; Beam erection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a:rPr>
                        <a:t>Backfilling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a:rPr>
                        <a:t>Wet concrete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a:rPr>
                        <a:t>Progress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996821"/>
                  </a:ext>
                </a:extLst>
              </a:tr>
              <a:tr h="137674">
                <a:tc rowSpan="2">
                  <a:txBody>
                    <a:bodyPr/>
                    <a:lstStyle/>
                    <a:p>
                      <a:pPr algn="ctr" fontAlgn="ctr">
                        <a:buNone/>
                      </a:pPr>
                      <a:r>
                        <a:rPr lang="en-US" sz="1100" b="1" i="0" u="none" strike="noStrike">
                          <a:solidFill>
                            <a:srgbClr val="00B050"/>
                          </a:solidFill>
                          <a:effectLst/>
                          <a:latin typeface="Adani Light"/>
                        </a:rPr>
                        <a:t>BCF Total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44981070"/>
                  </a:ext>
                </a:extLst>
              </a:tr>
              <a:tr h="137674">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1164172"/>
                  </a:ext>
                </a:extLst>
              </a:tr>
              <a:tr h="137674">
                <a:tc rowSpan="2">
                  <a:txBody>
                    <a:bodyPr/>
                    <a:lstStyle/>
                    <a:p>
                      <a:pPr algn="ctr" fontAlgn="ctr">
                        <a:buNone/>
                      </a:pPr>
                      <a:r>
                        <a:rPr lang="en-US" sz="1100" b="1" i="0" u="none" strike="noStrike">
                          <a:solidFill>
                            <a:srgbClr val="00B050"/>
                          </a:solidFill>
                          <a:effectLst/>
                          <a:latin typeface="Adani Light"/>
                        </a:rPr>
                        <a:t>BCF Shreeji</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633704698"/>
                  </a:ext>
                </a:extLst>
              </a:tr>
              <a:tr h="137674">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4524684"/>
                  </a:ext>
                </a:extLst>
              </a:tr>
              <a:tr h="137674">
                <a:tc rowSpan="2">
                  <a:txBody>
                    <a:bodyPr/>
                    <a:lstStyle/>
                    <a:p>
                      <a:pPr algn="ctr" fontAlgn="ctr">
                        <a:buNone/>
                      </a:pPr>
                      <a:r>
                        <a:rPr lang="en-US" sz="1100" b="1" i="0" u="none" strike="noStrike">
                          <a:solidFill>
                            <a:srgbClr val="00B050"/>
                          </a:solidFill>
                          <a:effectLst/>
                          <a:latin typeface="Adani Light"/>
                        </a:rPr>
                        <a:t>BCF Radhe Radhe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4150485717"/>
                  </a:ext>
                </a:extLst>
              </a:tr>
              <a:tr h="275348">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3166434"/>
                  </a:ext>
                </a:extLst>
              </a:tr>
            </a:tbl>
          </a:graphicData>
        </a:graphic>
      </p:graphicFrame>
      <p:graphicFrame>
        <p:nvGraphicFramePr>
          <p:cNvPr id="3" name="Chart 2">
            <a:extLst>
              <a:ext uri="{FF2B5EF4-FFF2-40B4-BE49-F238E27FC236}">
                <a16:creationId xmlns:a16="http://schemas.microsoft.com/office/drawing/2014/main" id="{7B755BA1-4941-454E-A79E-6E67D53492AD}"/>
              </a:ext>
            </a:extLst>
          </p:cNvPr>
          <p:cNvGraphicFramePr>
            <a:graphicFrameLocks/>
          </p:cNvGraphicFramePr>
          <p:nvPr/>
        </p:nvGraphicFramePr>
        <p:xfrm>
          <a:off x="6297930" y="927764"/>
          <a:ext cx="5694045" cy="33164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C9C93303-CA2D-4F89-9510-9C110D0CBD7E}"/>
              </a:ext>
            </a:extLst>
          </p:cNvPr>
          <p:cNvGraphicFramePr>
            <a:graphicFrameLocks/>
          </p:cNvGraphicFramePr>
          <p:nvPr/>
        </p:nvGraphicFramePr>
        <p:xfrm>
          <a:off x="6297929" y="4504829"/>
          <a:ext cx="5694045" cy="1687488"/>
        </p:xfrm>
        <a:graphic>
          <a:graphicData uri="http://schemas.openxmlformats.org/drawingml/2006/chart">
            <c:chart xmlns:c="http://schemas.openxmlformats.org/drawingml/2006/chart" xmlns:r="http://schemas.openxmlformats.org/officeDocument/2006/relationships" r:id="rId4"/>
          </a:graphicData>
        </a:graphic>
      </p:graphicFrame>
      <p:sp>
        <p:nvSpPr>
          <p:cNvPr id="4" name="Slide Number Placeholder 2">
            <a:extLst>
              <a:ext uri="{FF2B5EF4-FFF2-40B4-BE49-F238E27FC236}">
                <a16:creationId xmlns:a16="http://schemas.microsoft.com/office/drawing/2014/main" id="{1280A9B1-7102-BE53-B9A0-7877B210955A}"/>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70</a:t>
            </a:fld>
            <a:endParaRPr lang="en-IN"/>
          </a:p>
        </p:txBody>
      </p:sp>
    </p:spTree>
    <p:extLst>
      <p:ext uri="{BB962C8B-B14F-4D97-AF65-F5344CB8AC3E}">
        <p14:creationId xmlns:p14="http://schemas.microsoft.com/office/powerpoint/2010/main" val="8579766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85D33-5853-DF3D-7B8E-F87C5C410D2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597D829-FC55-0813-F848-E1E95E1D2E5E}"/>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400" b="1">
                <a:solidFill>
                  <a:srgbClr val="912A82"/>
                </a:solidFill>
              </a:rPr>
              <a:t>Electrical Plan Vs Actual Summary PSS 10 </a:t>
            </a:r>
            <a:r>
              <a:rPr lang="en-US" sz="2400" b="1" i="1">
                <a:gradFill>
                  <a:gsLst>
                    <a:gs pos="9735">
                      <a:schemeClr val="tx2"/>
                    </a:gs>
                    <a:gs pos="63000">
                      <a:srgbClr val="8E278F"/>
                    </a:gs>
                    <a:gs pos="38000">
                      <a:srgbClr val="57499E"/>
                    </a:gs>
                  </a:gsLst>
                  <a:lin ang="0" scaled="0"/>
                </a:gradFill>
              </a:rPr>
              <a:t>[updated till 30 Apr 26]</a:t>
            </a:r>
            <a:endParaRPr lang="en-IN" sz="2400" b="1">
              <a:solidFill>
                <a:srgbClr val="912A82"/>
              </a:solidFill>
            </a:endParaRPr>
          </a:p>
        </p:txBody>
      </p:sp>
      <p:graphicFrame>
        <p:nvGraphicFramePr>
          <p:cNvPr id="10" name="Table 9">
            <a:extLst>
              <a:ext uri="{FF2B5EF4-FFF2-40B4-BE49-F238E27FC236}">
                <a16:creationId xmlns:a16="http://schemas.microsoft.com/office/drawing/2014/main" id="{DE7B53DA-89D3-BE7F-A7BB-B6AD07653D98}"/>
              </a:ext>
            </a:extLst>
          </p:cNvPr>
          <p:cNvGraphicFramePr>
            <a:graphicFrameLocks noGrp="1"/>
          </p:cNvGraphicFramePr>
          <p:nvPr/>
        </p:nvGraphicFramePr>
        <p:xfrm>
          <a:off x="304800" y="831032"/>
          <a:ext cx="5915024" cy="5186367"/>
        </p:xfrm>
        <a:graphic>
          <a:graphicData uri="http://schemas.openxmlformats.org/drawingml/2006/table">
            <a:tbl>
              <a:tblPr>
                <a:tableStyleId>{5C22544A-7EE6-4342-B048-85BDC9FD1C3A}</a:tableStyleId>
              </a:tblPr>
              <a:tblGrid>
                <a:gridCol w="1624789">
                  <a:extLst>
                    <a:ext uri="{9D8B030D-6E8A-4147-A177-3AD203B41FA5}">
                      <a16:colId xmlns:a16="http://schemas.microsoft.com/office/drawing/2014/main" val="2494373097"/>
                    </a:ext>
                  </a:extLst>
                </a:gridCol>
                <a:gridCol w="672033">
                  <a:extLst>
                    <a:ext uri="{9D8B030D-6E8A-4147-A177-3AD203B41FA5}">
                      <a16:colId xmlns:a16="http://schemas.microsoft.com/office/drawing/2014/main" val="490043787"/>
                    </a:ext>
                  </a:extLst>
                </a:gridCol>
                <a:gridCol w="748593">
                  <a:extLst>
                    <a:ext uri="{9D8B030D-6E8A-4147-A177-3AD203B41FA5}">
                      <a16:colId xmlns:a16="http://schemas.microsoft.com/office/drawing/2014/main" val="3912995190"/>
                    </a:ext>
                  </a:extLst>
                </a:gridCol>
                <a:gridCol w="725909">
                  <a:extLst>
                    <a:ext uri="{9D8B030D-6E8A-4147-A177-3AD203B41FA5}">
                      <a16:colId xmlns:a16="http://schemas.microsoft.com/office/drawing/2014/main" val="1040459365"/>
                    </a:ext>
                  </a:extLst>
                </a:gridCol>
                <a:gridCol w="771278">
                  <a:extLst>
                    <a:ext uri="{9D8B030D-6E8A-4147-A177-3AD203B41FA5}">
                      <a16:colId xmlns:a16="http://schemas.microsoft.com/office/drawing/2014/main" val="54251520"/>
                    </a:ext>
                  </a:extLst>
                </a:gridCol>
                <a:gridCol w="669198">
                  <a:extLst>
                    <a:ext uri="{9D8B030D-6E8A-4147-A177-3AD203B41FA5}">
                      <a16:colId xmlns:a16="http://schemas.microsoft.com/office/drawing/2014/main" val="2702813168"/>
                    </a:ext>
                  </a:extLst>
                </a:gridCol>
                <a:gridCol w="703224">
                  <a:extLst>
                    <a:ext uri="{9D8B030D-6E8A-4147-A177-3AD203B41FA5}">
                      <a16:colId xmlns:a16="http://schemas.microsoft.com/office/drawing/2014/main" val="4179969475"/>
                    </a:ext>
                  </a:extLst>
                </a:gridCol>
              </a:tblGrid>
              <a:tr h="576263">
                <a:tc>
                  <a:txBody>
                    <a:bodyPr/>
                    <a:lstStyle/>
                    <a:p>
                      <a:pPr algn="l" fontAlgn="ctr">
                        <a:buNone/>
                      </a:pPr>
                      <a:r>
                        <a:rPr lang="en-IN" sz="1100" b="0" i="0" u="none" strike="noStrike">
                          <a:solidFill>
                            <a:schemeClr val="bg1"/>
                          </a:solidFill>
                          <a:effectLst/>
                          <a:latin typeface="Adani Regular" panose="02000503000000020004" pitchFamily="2" charset="0"/>
                        </a:rPr>
                        <a:t> </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UoM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Scope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Plan</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Actual</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Plan %</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Actual %</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extLst>
                  <a:ext uri="{0D108BD9-81ED-4DB2-BD59-A6C34878D82A}">
                    <a16:rowId xmlns:a16="http://schemas.microsoft.com/office/drawing/2014/main" val="202599431"/>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18268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18268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18268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144588962"/>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Aux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32500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32500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32500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005212093"/>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LT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113360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113360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113225</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3854956687"/>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3546</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3546</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3546</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033088358"/>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 DC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71558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71558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71558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51375642"/>
                  </a:ext>
                </a:extLst>
              </a:tr>
              <a:tr h="576263">
                <a:tc>
                  <a:txBody>
                    <a:bodyPr/>
                    <a:lstStyle/>
                    <a:p>
                      <a:pPr algn="ctr" fontAlgn="ctr">
                        <a:buNone/>
                      </a:pPr>
                      <a:r>
                        <a:rPr lang="en-US" sz="1100" b="0" i="0" u="none" strike="noStrike">
                          <a:solidFill>
                            <a:srgbClr val="000000"/>
                          </a:solidFill>
                          <a:effectLst/>
                          <a:latin typeface="Adani Regular" panose="02000503000000020004" pitchFamily="2" charset="0"/>
                        </a:rPr>
                        <a:t>Communication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24826</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24826</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24392</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98%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65684212"/>
                  </a:ext>
                </a:extLst>
              </a:tr>
              <a:tr h="576263">
                <a:tc>
                  <a:txBody>
                    <a:bodyPr/>
                    <a:lstStyle/>
                    <a:p>
                      <a:pPr algn="ctr" fontAlgn="ctr">
                        <a:buNone/>
                      </a:pPr>
                      <a:r>
                        <a:rPr lang="en-US" sz="1100" b="0" i="0" u="none" strike="noStrike">
                          <a:solidFill>
                            <a:srgbClr val="000000"/>
                          </a:solidFill>
                          <a:effectLst/>
                          <a:latin typeface="Adani Regular" panose="02000503000000020004" pitchFamily="2" charset="0"/>
                        </a:rPr>
                        <a:t>EMS Control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28306</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28306</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27855</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Adani Regular" panose="02000503000000020004" pitchFamily="2" charset="0"/>
                        </a:rPr>
                        <a:t>98%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422130669"/>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CT Control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19229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19229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19229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3952980261"/>
                  </a:ext>
                </a:extLst>
              </a:tr>
            </a:tbl>
          </a:graphicData>
        </a:graphic>
      </p:graphicFrame>
      <p:graphicFrame>
        <p:nvGraphicFramePr>
          <p:cNvPr id="11" name="Chart 10">
            <a:extLst>
              <a:ext uri="{FF2B5EF4-FFF2-40B4-BE49-F238E27FC236}">
                <a16:creationId xmlns:a16="http://schemas.microsoft.com/office/drawing/2014/main" id="{3E370E1F-B9B7-567F-252F-A14E889EC18E}"/>
              </a:ext>
            </a:extLst>
          </p:cNvPr>
          <p:cNvGraphicFramePr>
            <a:graphicFrameLocks/>
          </p:cNvGraphicFramePr>
          <p:nvPr/>
        </p:nvGraphicFramePr>
        <p:xfrm>
          <a:off x="6308750" y="831032"/>
          <a:ext cx="5578449" cy="518636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42675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D8470-20F4-0097-51D7-26BDAA9DD6A4}"/>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B6FF628A-6164-7B96-8175-06CD1C94B6A6}"/>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400" b="1">
                <a:solidFill>
                  <a:srgbClr val="00B050"/>
                </a:solidFill>
              </a:rPr>
              <a:t>Civil Plan Vs Actual PSS-05 - Completed</a:t>
            </a:r>
          </a:p>
        </p:txBody>
      </p:sp>
      <p:sp>
        <p:nvSpPr>
          <p:cNvPr id="7" name="Rectangle 2">
            <a:extLst>
              <a:ext uri="{FF2B5EF4-FFF2-40B4-BE49-F238E27FC236}">
                <a16:creationId xmlns:a16="http://schemas.microsoft.com/office/drawing/2014/main" id="{A95793F5-D725-A872-2154-7BDBE832477E}"/>
              </a:ext>
            </a:extLst>
          </p:cNvPr>
          <p:cNvSpPr txBox="1">
            <a:spLocks noChangeArrowheads="1"/>
          </p:cNvSpPr>
          <p:nvPr/>
        </p:nvSpPr>
        <p:spPr>
          <a:xfrm>
            <a:off x="127950" y="609169"/>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1400" b="1">
                <a:solidFill>
                  <a:srgbClr val="00B050"/>
                </a:solidFill>
              </a:rPr>
              <a:t>BOP Plan Vs Actual :</a:t>
            </a:r>
            <a:endParaRPr lang="en-IN" sz="1600" b="1">
              <a:solidFill>
                <a:srgbClr val="00B050"/>
              </a:solidFill>
            </a:endParaRPr>
          </a:p>
        </p:txBody>
      </p:sp>
      <p:sp>
        <p:nvSpPr>
          <p:cNvPr id="8" name="Rectangle 2">
            <a:extLst>
              <a:ext uri="{FF2B5EF4-FFF2-40B4-BE49-F238E27FC236}">
                <a16:creationId xmlns:a16="http://schemas.microsoft.com/office/drawing/2014/main" id="{94D048E0-A7BA-6AFC-B52E-C9B86E924129}"/>
              </a:ext>
            </a:extLst>
          </p:cNvPr>
          <p:cNvSpPr txBox="1">
            <a:spLocks noChangeArrowheads="1"/>
          </p:cNvSpPr>
          <p:nvPr/>
        </p:nvSpPr>
        <p:spPr>
          <a:xfrm>
            <a:off x="185412" y="3767767"/>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1400" b="1">
                <a:solidFill>
                  <a:srgbClr val="00B050"/>
                </a:solidFill>
              </a:rPr>
              <a:t>BCF Plan Vs Actual :</a:t>
            </a:r>
            <a:endParaRPr lang="en-IN" sz="1600" b="1">
              <a:solidFill>
                <a:srgbClr val="00B050"/>
              </a:solidFill>
            </a:endParaRPr>
          </a:p>
        </p:txBody>
      </p:sp>
      <p:graphicFrame>
        <p:nvGraphicFramePr>
          <p:cNvPr id="12" name="Table 11">
            <a:extLst>
              <a:ext uri="{FF2B5EF4-FFF2-40B4-BE49-F238E27FC236}">
                <a16:creationId xmlns:a16="http://schemas.microsoft.com/office/drawing/2014/main" id="{736EC0E9-CEE0-BB7C-EB24-51D9D385EB26}"/>
              </a:ext>
            </a:extLst>
          </p:cNvPr>
          <p:cNvGraphicFramePr>
            <a:graphicFrameLocks noGrp="1"/>
          </p:cNvGraphicFramePr>
          <p:nvPr/>
        </p:nvGraphicFramePr>
        <p:xfrm>
          <a:off x="6297930" y="6332220"/>
          <a:ext cx="5097779" cy="464820"/>
        </p:xfrm>
        <a:graphic>
          <a:graphicData uri="http://schemas.openxmlformats.org/drawingml/2006/table">
            <a:tbl>
              <a:tblPr/>
              <a:tblGrid>
                <a:gridCol w="1059934">
                  <a:extLst>
                    <a:ext uri="{9D8B030D-6E8A-4147-A177-3AD203B41FA5}">
                      <a16:colId xmlns:a16="http://schemas.microsoft.com/office/drawing/2014/main" val="3472009011"/>
                    </a:ext>
                  </a:extLst>
                </a:gridCol>
                <a:gridCol w="807569">
                  <a:extLst>
                    <a:ext uri="{9D8B030D-6E8A-4147-A177-3AD203B41FA5}">
                      <a16:colId xmlns:a16="http://schemas.microsoft.com/office/drawing/2014/main" val="3357738247"/>
                    </a:ext>
                  </a:extLst>
                </a:gridCol>
                <a:gridCol w="807569">
                  <a:extLst>
                    <a:ext uri="{9D8B030D-6E8A-4147-A177-3AD203B41FA5}">
                      <a16:colId xmlns:a16="http://schemas.microsoft.com/office/drawing/2014/main" val="2588269304"/>
                    </a:ext>
                  </a:extLst>
                </a:gridCol>
                <a:gridCol w="807569">
                  <a:extLst>
                    <a:ext uri="{9D8B030D-6E8A-4147-A177-3AD203B41FA5}">
                      <a16:colId xmlns:a16="http://schemas.microsoft.com/office/drawing/2014/main" val="104172231"/>
                    </a:ext>
                  </a:extLst>
                </a:gridCol>
                <a:gridCol w="1615138">
                  <a:extLst>
                    <a:ext uri="{9D8B030D-6E8A-4147-A177-3AD203B41FA5}">
                      <a16:colId xmlns:a16="http://schemas.microsoft.com/office/drawing/2014/main" val="687460494"/>
                    </a:ext>
                  </a:extLst>
                </a:gridCol>
              </a:tblGrid>
              <a:tr h="190500">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0070C0"/>
                    </a:solidFill>
                  </a:tcPr>
                </a:tc>
                <a:tc>
                  <a:txBody>
                    <a:bodyPr/>
                    <a:lstStyle/>
                    <a:p>
                      <a:pPr algn="l" fontAlgn="b">
                        <a:buNone/>
                      </a:pPr>
                      <a:r>
                        <a:rPr lang="en-US" sz="900" b="0" i="0" u="none" strike="noStrike">
                          <a:solidFill>
                            <a:srgbClr val="000000"/>
                          </a:solidFill>
                          <a:effectLst/>
                          <a:latin typeface="Adani Light" panose="02000503000000020004" pitchFamily="2" charset="0"/>
                        </a:rPr>
                        <a:t>Plan</a:t>
                      </a:r>
                    </a:p>
                  </a:txBody>
                  <a:tcPr marL="0" marR="0" marT="0" marB="0" anchor="b">
                    <a:lnL>
                      <a:noFill/>
                    </a:lnL>
                    <a:lnR>
                      <a:noFill/>
                    </a:lnR>
                    <a:lnT>
                      <a:noFill/>
                    </a:lnT>
                    <a:lnB>
                      <a:noFill/>
                    </a:lnB>
                    <a:noFill/>
                  </a:tcPr>
                </a:tc>
                <a:tc>
                  <a:txBody>
                    <a:bodyPr/>
                    <a:lstStyle/>
                    <a:p>
                      <a:pPr algn="l" fontAlgn="b">
                        <a:buNone/>
                      </a:pPr>
                      <a:endParaRPr lang="en-US" sz="900" b="0" i="0" u="none" strike="noStrike">
                        <a:solidFill>
                          <a:srgbClr val="000000"/>
                        </a:solidFill>
                        <a:effectLst/>
                        <a:latin typeface="Adani Light" panose="02000503000000020004" pitchFamily="2" charset="0"/>
                      </a:endParaRPr>
                    </a:p>
                  </a:txBody>
                  <a:tcPr marL="0" marR="0" marT="0" marB="0"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00B050"/>
                    </a:solidFill>
                  </a:tcPr>
                </a:tc>
                <a:tc>
                  <a:txBody>
                    <a:bodyPr/>
                    <a:lstStyle/>
                    <a:p>
                      <a:pPr algn="l" fontAlgn="b">
                        <a:buNone/>
                      </a:pPr>
                      <a:r>
                        <a:rPr lang="en-US" sz="900" b="0" i="0" u="none" strike="noStrike">
                          <a:solidFill>
                            <a:srgbClr val="000000"/>
                          </a:solidFill>
                          <a:effectLst/>
                          <a:latin typeface="Adani Light" panose="02000503000000020004" pitchFamily="2" charset="0"/>
                        </a:rPr>
                        <a:t>Actual (80% plan achieved)</a:t>
                      </a:r>
                    </a:p>
                  </a:txBody>
                  <a:tcPr marL="0" marR="0" marT="0" marB="0" anchor="b">
                    <a:lnL>
                      <a:noFill/>
                    </a:lnL>
                    <a:lnR>
                      <a:noFill/>
                    </a:lnR>
                    <a:lnT>
                      <a:noFill/>
                    </a:lnT>
                    <a:lnB>
                      <a:noFill/>
                    </a:lnB>
                    <a:noFill/>
                  </a:tcPr>
                </a:tc>
                <a:extLst>
                  <a:ext uri="{0D108BD9-81ED-4DB2-BD59-A6C34878D82A}">
                    <a16:rowId xmlns:a16="http://schemas.microsoft.com/office/drawing/2014/main" val="911106202"/>
                  </a:ext>
                </a:extLst>
              </a:tr>
              <a:tr h="190500">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FFFF00"/>
                    </a:solidFill>
                  </a:tcPr>
                </a:tc>
                <a:tc gridSpan="2">
                  <a:txBody>
                    <a:bodyPr/>
                    <a:lstStyle/>
                    <a:p>
                      <a:pPr algn="l" fontAlgn="b">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b">
                    <a:lnL>
                      <a:noFill/>
                    </a:lnL>
                    <a:lnR>
                      <a:noFill/>
                    </a:lnR>
                    <a:lnT>
                      <a:noFill/>
                    </a:lnT>
                    <a:lnB>
                      <a:noFill/>
                    </a:lnB>
                    <a:noFill/>
                  </a:tcPr>
                </a:tc>
                <a:tc hMerge="1">
                  <a:txBody>
                    <a:bodyPr/>
                    <a:lstStyle/>
                    <a:p>
                      <a:endParaRPr lang="en-US"/>
                    </a:p>
                  </a:txBody>
                  <a:tcPr/>
                </a:tc>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FF0000"/>
                    </a:solidFill>
                  </a:tcPr>
                </a:tc>
                <a:tc>
                  <a:txBody>
                    <a:bodyPr/>
                    <a:lstStyle/>
                    <a:p>
                      <a:pPr algn="l" fontAlgn="b">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b">
                    <a:lnL>
                      <a:noFill/>
                    </a:lnL>
                    <a:lnR>
                      <a:noFill/>
                    </a:lnR>
                    <a:lnT>
                      <a:noFill/>
                    </a:lnT>
                    <a:lnB>
                      <a:noFill/>
                    </a:lnB>
                    <a:noFill/>
                  </a:tcPr>
                </a:tc>
                <a:extLst>
                  <a:ext uri="{0D108BD9-81ED-4DB2-BD59-A6C34878D82A}">
                    <a16:rowId xmlns:a16="http://schemas.microsoft.com/office/drawing/2014/main" val="965146196"/>
                  </a:ext>
                </a:extLst>
              </a:tr>
            </a:tbl>
          </a:graphicData>
        </a:graphic>
      </p:graphicFrame>
      <p:graphicFrame>
        <p:nvGraphicFramePr>
          <p:cNvPr id="23" name="Table 22">
            <a:extLst>
              <a:ext uri="{FF2B5EF4-FFF2-40B4-BE49-F238E27FC236}">
                <a16:creationId xmlns:a16="http://schemas.microsoft.com/office/drawing/2014/main" id="{C901080C-0055-DCC6-10A3-00B7071B3B65}"/>
              </a:ext>
            </a:extLst>
          </p:cNvPr>
          <p:cNvGraphicFramePr>
            <a:graphicFrameLocks noGrp="1"/>
          </p:cNvGraphicFramePr>
          <p:nvPr/>
        </p:nvGraphicFramePr>
        <p:xfrm>
          <a:off x="204626" y="867143"/>
          <a:ext cx="6097905" cy="2934162"/>
        </p:xfrm>
        <a:graphic>
          <a:graphicData uri="http://schemas.openxmlformats.org/drawingml/2006/table">
            <a:tbl>
              <a:tblPr/>
              <a:tblGrid>
                <a:gridCol w="584231">
                  <a:extLst>
                    <a:ext uri="{9D8B030D-6E8A-4147-A177-3AD203B41FA5}">
                      <a16:colId xmlns:a16="http://schemas.microsoft.com/office/drawing/2014/main" val="827253855"/>
                    </a:ext>
                  </a:extLst>
                </a:gridCol>
                <a:gridCol w="584231">
                  <a:extLst>
                    <a:ext uri="{9D8B030D-6E8A-4147-A177-3AD203B41FA5}">
                      <a16:colId xmlns:a16="http://schemas.microsoft.com/office/drawing/2014/main" val="2344557911"/>
                    </a:ext>
                  </a:extLst>
                </a:gridCol>
                <a:gridCol w="584231">
                  <a:extLst>
                    <a:ext uri="{9D8B030D-6E8A-4147-A177-3AD203B41FA5}">
                      <a16:colId xmlns:a16="http://schemas.microsoft.com/office/drawing/2014/main" val="1873469178"/>
                    </a:ext>
                  </a:extLst>
                </a:gridCol>
                <a:gridCol w="827659">
                  <a:extLst>
                    <a:ext uri="{9D8B030D-6E8A-4147-A177-3AD203B41FA5}">
                      <a16:colId xmlns:a16="http://schemas.microsoft.com/office/drawing/2014/main" val="3612205357"/>
                    </a:ext>
                  </a:extLst>
                </a:gridCol>
                <a:gridCol w="718116">
                  <a:extLst>
                    <a:ext uri="{9D8B030D-6E8A-4147-A177-3AD203B41FA5}">
                      <a16:colId xmlns:a16="http://schemas.microsoft.com/office/drawing/2014/main" val="3212980396"/>
                    </a:ext>
                  </a:extLst>
                </a:gridCol>
                <a:gridCol w="608573">
                  <a:extLst>
                    <a:ext uri="{9D8B030D-6E8A-4147-A177-3AD203B41FA5}">
                      <a16:colId xmlns:a16="http://schemas.microsoft.com/office/drawing/2014/main" val="1707401672"/>
                    </a:ext>
                  </a:extLst>
                </a:gridCol>
                <a:gridCol w="839831">
                  <a:extLst>
                    <a:ext uri="{9D8B030D-6E8A-4147-A177-3AD203B41FA5}">
                      <a16:colId xmlns:a16="http://schemas.microsoft.com/office/drawing/2014/main" val="3464780125"/>
                    </a:ext>
                  </a:extLst>
                </a:gridCol>
                <a:gridCol w="584231">
                  <a:extLst>
                    <a:ext uri="{9D8B030D-6E8A-4147-A177-3AD203B41FA5}">
                      <a16:colId xmlns:a16="http://schemas.microsoft.com/office/drawing/2014/main" val="1959702155"/>
                    </a:ext>
                  </a:extLst>
                </a:gridCol>
                <a:gridCol w="766802">
                  <a:extLst>
                    <a:ext uri="{9D8B030D-6E8A-4147-A177-3AD203B41FA5}">
                      <a16:colId xmlns:a16="http://schemas.microsoft.com/office/drawing/2014/main" val="1419536479"/>
                    </a:ext>
                  </a:extLst>
                </a:gridCol>
              </a:tblGrid>
              <a:tr h="587202">
                <a:tc gridSpan="2">
                  <a:txBody>
                    <a:bodyPr/>
                    <a:lstStyle/>
                    <a:p>
                      <a:pPr algn="ctr" fontAlgn="ctr">
                        <a:buNone/>
                      </a:pPr>
                      <a:endParaRPr lang="en-US" sz="1000" b="1" i="0" u="none" strike="noStrike">
                        <a:solidFill>
                          <a:srgbClr val="000000"/>
                        </a:solidFill>
                        <a:effectLst/>
                        <a:latin typeface="Adani Light" panose="02000503000000020004"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1000" b="1" i="0" u="none" strike="noStrike">
                          <a:solidFill>
                            <a:srgbClr val="000000"/>
                          </a:solidFill>
                          <a:effectLst/>
                          <a:latin typeface="Adani Light" panose="02000503000000020004" pitchFamily="2" charset="0"/>
                        </a:rPr>
                        <a:t>Total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dani Light" panose="02000503000000020004" pitchFamily="2" charset="0"/>
                        </a:rPr>
                        <a:t>Marking &amp; Excavation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dani Light" panose="02000503000000020004" pitchFamily="2" charset="0"/>
                        </a:rPr>
                        <a:t>Plum concrete &amp; PCC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dani Light" panose="02000503000000020004" pitchFamily="2" charset="0"/>
                        </a:rPr>
                        <a:t>Footing &amp; column casting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dani Light" panose="02000503000000020004" pitchFamily="2" charset="0"/>
                        </a:rPr>
                        <a:t>Backfilling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dani Light" panose="02000503000000020004" pitchFamily="2" charset="0"/>
                        </a:rPr>
                        <a:t>Slab Casting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dani Light" panose="02000503000000020004" pitchFamily="2" charset="0"/>
                        </a:rPr>
                        <a:t>Progress</a:t>
                      </a:r>
                      <a:endParaRPr lang="en-US" sz="1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0585228"/>
                  </a:ext>
                </a:extLst>
              </a:tr>
              <a:tr h="155187">
                <a:tc rowSpan="2">
                  <a:txBody>
                    <a:bodyPr/>
                    <a:lstStyle/>
                    <a:p>
                      <a:pPr algn="ctr" fontAlgn="ctr">
                        <a:buNone/>
                      </a:pPr>
                      <a:r>
                        <a:rPr lang="en-IN" sz="1100" b="1" i="0" u="none" strike="noStrike">
                          <a:solidFill>
                            <a:srgbClr val="00B050"/>
                          </a:solidFill>
                          <a:effectLst/>
                          <a:latin typeface="Adani Light" panose="02000503000000020004" pitchFamily="2" charset="0"/>
                        </a:rPr>
                        <a:t>PCS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2462754072"/>
                  </a:ext>
                </a:extLst>
              </a:tr>
              <a:tr h="155187">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3171794"/>
                  </a:ext>
                </a:extLst>
              </a:tr>
              <a:tr h="155187">
                <a:tc rowSpan="2">
                  <a:txBody>
                    <a:bodyPr/>
                    <a:lstStyle/>
                    <a:p>
                      <a:pPr algn="ctr" fontAlgn="ctr">
                        <a:buNone/>
                      </a:pPr>
                      <a:r>
                        <a:rPr lang="en-IN" sz="1100" b="1" i="0" u="none" strike="noStrike">
                          <a:solidFill>
                            <a:srgbClr val="00B050"/>
                          </a:solidFill>
                          <a:effectLst/>
                          <a:latin typeface="Adani Light" panose="02000503000000020004" pitchFamily="2" charset="0"/>
                        </a:rPr>
                        <a:t>SGR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1409788895"/>
                  </a:ext>
                </a:extLst>
              </a:tr>
              <a:tr h="155187">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5834169"/>
                  </a:ext>
                </a:extLst>
              </a:tr>
              <a:tr h="155187">
                <a:tc rowSpan="2">
                  <a:txBody>
                    <a:bodyPr/>
                    <a:lstStyle/>
                    <a:p>
                      <a:pPr algn="ctr" fontAlgn="ctr">
                        <a:buNone/>
                      </a:pPr>
                      <a:r>
                        <a:rPr lang="en-IN" sz="1100" b="1" i="0" u="none" strike="noStrike">
                          <a:solidFill>
                            <a:srgbClr val="00B050"/>
                          </a:solidFill>
                          <a:effectLst/>
                          <a:latin typeface="Adani Light" panose="02000503000000020004" pitchFamily="2" charset="0"/>
                        </a:rPr>
                        <a:t>MCR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812869061"/>
                  </a:ext>
                </a:extLst>
              </a:tr>
              <a:tr h="155187">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477523"/>
                  </a:ext>
                </a:extLst>
              </a:tr>
              <a:tr h="155187">
                <a:tc rowSpan="2">
                  <a:txBody>
                    <a:bodyPr/>
                    <a:lstStyle/>
                    <a:p>
                      <a:pPr algn="ctr" fontAlgn="ctr">
                        <a:buNone/>
                      </a:pPr>
                      <a:r>
                        <a:rPr lang="en-IN" sz="1100" b="1" i="0" u="none" strike="noStrike">
                          <a:solidFill>
                            <a:srgbClr val="00B050"/>
                          </a:solidFill>
                          <a:effectLst/>
                          <a:latin typeface="Adani Light" panose="02000503000000020004" pitchFamily="2" charset="0"/>
                        </a:rPr>
                        <a:t>CT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663828836"/>
                  </a:ext>
                </a:extLst>
              </a:tr>
              <a:tr h="155187">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88544"/>
                  </a:ext>
                </a:extLst>
              </a:tr>
              <a:tr h="155187">
                <a:tc rowSpan="2">
                  <a:txBody>
                    <a:bodyPr/>
                    <a:lstStyle/>
                    <a:p>
                      <a:pPr algn="ctr" fontAlgn="ctr">
                        <a:buNone/>
                      </a:pPr>
                      <a:r>
                        <a:rPr lang="en-IN" sz="1100" b="1" i="0" u="none" strike="noStrike">
                          <a:solidFill>
                            <a:srgbClr val="00B050"/>
                          </a:solidFill>
                          <a:effectLst/>
                          <a:latin typeface="Adani Light" panose="02000503000000020004" pitchFamily="2" charset="0"/>
                        </a:rPr>
                        <a:t>CSS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611606701"/>
                  </a:ext>
                </a:extLst>
              </a:tr>
              <a:tr h="155187">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4690308"/>
                  </a:ext>
                </a:extLst>
              </a:tr>
              <a:tr h="155187">
                <a:tc rowSpan="2">
                  <a:txBody>
                    <a:bodyPr/>
                    <a:lstStyle/>
                    <a:p>
                      <a:pPr algn="ctr" fontAlgn="ctr">
                        <a:buNone/>
                      </a:pPr>
                      <a:r>
                        <a:rPr lang="en-IN" sz="1100" b="1" i="0" u="none" strike="noStrike">
                          <a:solidFill>
                            <a:srgbClr val="00B050"/>
                          </a:solidFill>
                          <a:effectLst/>
                          <a:latin typeface="Adani Light" panose="02000503000000020004" pitchFamily="2" charset="0"/>
                        </a:rPr>
                        <a:t>BOT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491647454"/>
                  </a:ext>
                </a:extLst>
              </a:tr>
              <a:tr h="155187">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0360622"/>
                  </a:ext>
                </a:extLst>
              </a:tr>
              <a:tr h="155187">
                <a:tc rowSpan="2">
                  <a:txBody>
                    <a:bodyPr/>
                    <a:lstStyle/>
                    <a:p>
                      <a:pPr algn="ctr" fontAlgn="ctr">
                        <a:buNone/>
                      </a:pPr>
                      <a:r>
                        <a:rPr lang="en-IN" sz="1100" b="1" i="0" u="none" strike="noStrike">
                          <a:solidFill>
                            <a:srgbClr val="00B050"/>
                          </a:solidFill>
                          <a:effectLst/>
                          <a:latin typeface="Adani Light" panose="02000503000000020004" pitchFamily="2" charset="0"/>
                        </a:rPr>
                        <a:t>NIFPS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736849143"/>
                  </a:ext>
                </a:extLst>
              </a:tr>
              <a:tr h="155187">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0815154"/>
                  </a:ext>
                </a:extLst>
              </a:tr>
            </a:tbl>
          </a:graphicData>
        </a:graphic>
      </p:graphicFrame>
      <p:graphicFrame>
        <p:nvGraphicFramePr>
          <p:cNvPr id="24" name="Table 23">
            <a:extLst>
              <a:ext uri="{FF2B5EF4-FFF2-40B4-BE49-F238E27FC236}">
                <a16:creationId xmlns:a16="http://schemas.microsoft.com/office/drawing/2014/main" id="{02DF660C-64CC-4261-0F54-B4B7954E42D1}"/>
              </a:ext>
            </a:extLst>
          </p:cNvPr>
          <p:cNvGraphicFramePr>
            <a:graphicFrameLocks noGrp="1"/>
          </p:cNvGraphicFramePr>
          <p:nvPr/>
        </p:nvGraphicFramePr>
        <p:xfrm>
          <a:off x="185412" y="3995589"/>
          <a:ext cx="6097903" cy="1989072"/>
        </p:xfrm>
        <a:graphic>
          <a:graphicData uri="http://schemas.openxmlformats.org/drawingml/2006/table">
            <a:tbl>
              <a:tblPr/>
              <a:tblGrid>
                <a:gridCol w="584230">
                  <a:extLst>
                    <a:ext uri="{9D8B030D-6E8A-4147-A177-3AD203B41FA5}">
                      <a16:colId xmlns:a16="http://schemas.microsoft.com/office/drawing/2014/main" val="2823334702"/>
                    </a:ext>
                  </a:extLst>
                </a:gridCol>
                <a:gridCol w="584230">
                  <a:extLst>
                    <a:ext uri="{9D8B030D-6E8A-4147-A177-3AD203B41FA5}">
                      <a16:colId xmlns:a16="http://schemas.microsoft.com/office/drawing/2014/main" val="3757983766"/>
                    </a:ext>
                  </a:extLst>
                </a:gridCol>
                <a:gridCol w="584230">
                  <a:extLst>
                    <a:ext uri="{9D8B030D-6E8A-4147-A177-3AD203B41FA5}">
                      <a16:colId xmlns:a16="http://schemas.microsoft.com/office/drawing/2014/main" val="2139204876"/>
                    </a:ext>
                  </a:extLst>
                </a:gridCol>
                <a:gridCol w="827660">
                  <a:extLst>
                    <a:ext uri="{9D8B030D-6E8A-4147-A177-3AD203B41FA5}">
                      <a16:colId xmlns:a16="http://schemas.microsoft.com/office/drawing/2014/main" val="2023060169"/>
                    </a:ext>
                  </a:extLst>
                </a:gridCol>
                <a:gridCol w="718116">
                  <a:extLst>
                    <a:ext uri="{9D8B030D-6E8A-4147-A177-3AD203B41FA5}">
                      <a16:colId xmlns:a16="http://schemas.microsoft.com/office/drawing/2014/main" val="455172359"/>
                    </a:ext>
                  </a:extLst>
                </a:gridCol>
                <a:gridCol w="608574">
                  <a:extLst>
                    <a:ext uri="{9D8B030D-6E8A-4147-A177-3AD203B41FA5}">
                      <a16:colId xmlns:a16="http://schemas.microsoft.com/office/drawing/2014/main" val="3834318910"/>
                    </a:ext>
                  </a:extLst>
                </a:gridCol>
                <a:gridCol w="768973">
                  <a:extLst>
                    <a:ext uri="{9D8B030D-6E8A-4147-A177-3AD203B41FA5}">
                      <a16:colId xmlns:a16="http://schemas.microsoft.com/office/drawing/2014/main" val="43038021"/>
                    </a:ext>
                  </a:extLst>
                </a:gridCol>
                <a:gridCol w="655088">
                  <a:extLst>
                    <a:ext uri="{9D8B030D-6E8A-4147-A177-3AD203B41FA5}">
                      <a16:colId xmlns:a16="http://schemas.microsoft.com/office/drawing/2014/main" val="2697470881"/>
                    </a:ext>
                  </a:extLst>
                </a:gridCol>
                <a:gridCol w="766802">
                  <a:extLst>
                    <a:ext uri="{9D8B030D-6E8A-4147-A177-3AD203B41FA5}">
                      <a16:colId xmlns:a16="http://schemas.microsoft.com/office/drawing/2014/main" val="1520351854"/>
                    </a:ext>
                  </a:extLst>
                </a:gridCol>
              </a:tblGrid>
              <a:tr h="512807">
                <a:tc gridSpan="2">
                  <a:txBody>
                    <a:bodyPr/>
                    <a:lstStyle/>
                    <a:p>
                      <a:pPr algn="ctr" fontAlgn="ctr">
                        <a:buNone/>
                      </a:pPr>
                      <a:r>
                        <a:rPr lang="en-IN"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IN"/>
                    </a:p>
                  </a:txBody>
                  <a:tcPr/>
                </a:tc>
                <a:tc>
                  <a:txBody>
                    <a:bodyPr/>
                    <a:lstStyle/>
                    <a:p>
                      <a:pPr algn="ctr" fontAlgn="ctr">
                        <a:buNone/>
                      </a:pPr>
                      <a:r>
                        <a:rPr lang="en-IN" sz="1100" b="1" i="0" u="none" strike="noStrike">
                          <a:solidFill>
                            <a:srgbClr val="00B050"/>
                          </a:solidFill>
                          <a:effectLst/>
                          <a:latin typeface="Adani Light" panose="02000503000000020004" pitchFamily="2" charset="0"/>
                        </a:rPr>
                        <a:t>Total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Marking &amp; Excavation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Plum concrete &amp; PCC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Column &amp; Beam erection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Backfilling/</a:t>
                      </a:r>
                    </a:p>
                    <a:p>
                      <a:pPr algn="ctr" fontAlgn="ctr">
                        <a:buNone/>
                      </a:pPr>
                      <a:r>
                        <a:rPr lang="en-IN" sz="1100" b="1" i="0" u="none" strike="noStrike">
                          <a:solidFill>
                            <a:srgbClr val="00B050"/>
                          </a:solidFill>
                          <a:effectLst/>
                          <a:latin typeface="Adani Light" panose="02000503000000020004" pitchFamily="2" charset="0"/>
                        </a:rPr>
                        <a:t>Welding with Pile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Wet concrete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Progress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996821"/>
                  </a:ext>
                </a:extLst>
              </a:tr>
              <a:tr h="170936">
                <a:tc rowSpan="2">
                  <a:txBody>
                    <a:bodyPr/>
                    <a:lstStyle/>
                    <a:p>
                      <a:pPr algn="ctr" fontAlgn="ctr">
                        <a:buNone/>
                      </a:pPr>
                      <a:r>
                        <a:rPr lang="en-IN" sz="1100" b="1" i="0" u="none" strike="noStrike">
                          <a:solidFill>
                            <a:srgbClr val="00B050"/>
                          </a:solidFill>
                          <a:effectLst/>
                          <a:latin typeface="Adani Light" panose="02000503000000020004" pitchFamily="2" charset="0"/>
                        </a:rPr>
                        <a:t>BCF Total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246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44981070"/>
                  </a:ext>
                </a:extLst>
              </a:tr>
              <a:tr h="170936">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246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1164172"/>
                  </a:ext>
                </a:extLst>
              </a:tr>
              <a:tr h="170936">
                <a:tc rowSpan="2">
                  <a:txBody>
                    <a:bodyPr/>
                    <a:lstStyle/>
                    <a:p>
                      <a:pPr algn="ctr" fontAlgn="ctr">
                        <a:buNone/>
                      </a:pPr>
                      <a:r>
                        <a:rPr lang="en-IN" sz="1100" b="1" i="0" u="none" strike="noStrike">
                          <a:solidFill>
                            <a:srgbClr val="00B050"/>
                          </a:solidFill>
                          <a:effectLst/>
                          <a:latin typeface="Adani Light" panose="02000503000000020004" pitchFamily="2" charset="0"/>
                        </a:rPr>
                        <a:t>BCF Shreeji</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633704698"/>
                  </a:ext>
                </a:extLst>
              </a:tr>
              <a:tr h="170936">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4524684"/>
                  </a:ext>
                </a:extLst>
              </a:tr>
              <a:tr h="170936">
                <a:tc rowSpan="2">
                  <a:txBody>
                    <a:bodyPr/>
                    <a:lstStyle/>
                    <a:p>
                      <a:pPr algn="ctr" fontAlgn="ctr">
                        <a:buNone/>
                      </a:pPr>
                      <a:r>
                        <a:rPr lang="en-IN" sz="1100" b="1" i="0" u="none" strike="noStrike">
                          <a:solidFill>
                            <a:srgbClr val="00B050"/>
                          </a:solidFill>
                          <a:effectLst/>
                          <a:latin typeface="Adani Light" panose="02000503000000020004" pitchFamily="2" charset="0"/>
                        </a:rPr>
                        <a:t>BCF RR/VAB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4150485717"/>
                  </a:ext>
                </a:extLst>
              </a:tr>
              <a:tr h="170936">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3166434"/>
                  </a:ext>
                </a:extLst>
              </a:tr>
              <a:tr h="279713">
                <a:tc rowSpan="2">
                  <a:txBody>
                    <a:bodyPr/>
                    <a:lstStyle/>
                    <a:p>
                      <a:pPr algn="ctr" fontAlgn="ctr">
                        <a:buNone/>
                      </a:pPr>
                      <a:r>
                        <a:rPr lang="en-IN" sz="1000" b="1" i="0" u="none" strike="noStrike">
                          <a:solidFill>
                            <a:srgbClr val="00B050"/>
                          </a:solidFill>
                          <a:effectLst/>
                          <a:latin typeface="Adani Light" panose="02000503000000020004" pitchFamily="2" charset="0"/>
                        </a:rPr>
                        <a:t>BCF </a:t>
                      </a:r>
                      <a:r>
                        <a:rPr lang="en-IN" sz="900" b="1" i="0" u="none" strike="noStrike">
                          <a:solidFill>
                            <a:srgbClr val="00B050"/>
                          </a:solidFill>
                          <a:effectLst/>
                          <a:latin typeface="Adani Light" panose="02000503000000020004" pitchFamily="2" charset="0"/>
                        </a:rPr>
                        <a:t>Cemindia/ Ankit</a:t>
                      </a:r>
                      <a:endParaRPr lang="en-IN" sz="1000" b="1" i="0" u="none" strike="noStrike">
                        <a:solidFill>
                          <a:srgbClr val="00B050"/>
                        </a:solidFill>
                        <a:effectLst/>
                        <a:latin typeface="Adani Light" panose="02000503000000020004"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2965350"/>
                  </a:ext>
                </a:extLst>
              </a:tr>
              <a:tr h="170936">
                <a:tc vMerge="1">
                  <a:txBody>
                    <a:bodyPr/>
                    <a:lstStyle/>
                    <a:p>
                      <a:endParaRPr lang="en-IN"/>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8984321"/>
                  </a:ext>
                </a:extLst>
              </a:tr>
            </a:tbl>
          </a:graphicData>
        </a:graphic>
      </p:graphicFrame>
      <p:graphicFrame>
        <p:nvGraphicFramePr>
          <p:cNvPr id="10" name="Chart 9">
            <a:extLst>
              <a:ext uri="{FF2B5EF4-FFF2-40B4-BE49-F238E27FC236}">
                <a16:creationId xmlns:a16="http://schemas.microsoft.com/office/drawing/2014/main" id="{33D1511B-03DE-4802-A996-3D0661E24CE5}"/>
              </a:ext>
            </a:extLst>
          </p:cNvPr>
          <p:cNvGraphicFramePr>
            <a:graphicFrameLocks/>
          </p:cNvGraphicFramePr>
          <p:nvPr/>
        </p:nvGraphicFramePr>
        <p:xfrm>
          <a:off x="6440407" y="3952155"/>
          <a:ext cx="5623641" cy="229667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87C92E29-28B3-431E-8D27-5863103AFC9D}"/>
              </a:ext>
            </a:extLst>
          </p:cNvPr>
          <p:cNvGraphicFramePr>
            <a:graphicFrameLocks/>
          </p:cNvGraphicFramePr>
          <p:nvPr/>
        </p:nvGraphicFramePr>
        <p:xfrm>
          <a:off x="6381705" y="793529"/>
          <a:ext cx="5682343" cy="2974238"/>
        </p:xfrm>
        <a:graphic>
          <a:graphicData uri="http://schemas.openxmlformats.org/drawingml/2006/chart">
            <c:chart xmlns:c="http://schemas.openxmlformats.org/drawingml/2006/chart" xmlns:r="http://schemas.openxmlformats.org/officeDocument/2006/relationships" r:id="rId4"/>
          </a:graphicData>
        </a:graphic>
      </p:graphicFrame>
      <p:sp>
        <p:nvSpPr>
          <p:cNvPr id="4" name="Slide Number Placeholder 2">
            <a:extLst>
              <a:ext uri="{FF2B5EF4-FFF2-40B4-BE49-F238E27FC236}">
                <a16:creationId xmlns:a16="http://schemas.microsoft.com/office/drawing/2014/main" id="{821A944B-5241-75A4-9E48-E2040525E7D9}"/>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72</a:t>
            </a:fld>
            <a:endParaRPr lang="en-IN"/>
          </a:p>
        </p:txBody>
      </p:sp>
    </p:spTree>
    <p:extLst>
      <p:ext uri="{BB962C8B-B14F-4D97-AF65-F5344CB8AC3E}">
        <p14:creationId xmlns:p14="http://schemas.microsoft.com/office/powerpoint/2010/main" val="25339394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36BF3-DD7B-A478-0CA9-9DD99E7CB54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3B4665B-4E1A-04CC-5C41-2DAC1BB613F0}"/>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200" b="1">
                <a:solidFill>
                  <a:srgbClr val="912A82"/>
                </a:solidFill>
              </a:rPr>
              <a:t>Electrical Plan Vs Actual Summary PSS 05 </a:t>
            </a:r>
            <a:r>
              <a:rPr lang="en-US" b="1" i="1">
                <a:gradFill>
                  <a:gsLst>
                    <a:gs pos="9735">
                      <a:schemeClr val="tx2"/>
                    </a:gs>
                    <a:gs pos="63000">
                      <a:srgbClr val="8E278F"/>
                    </a:gs>
                    <a:gs pos="38000">
                      <a:srgbClr val="57499E"/>
                    </a:gs>
                  </a:gsLst>
                  <a:lin ang="0" scaled="0"/>
                </a:gradFill>
              </a:rPr>
              <a:t>[updated till 30 Apr 26]</a:t>
            </a:r>
            <a:endParaRPr lang="en-IN" sz="2200" b="1">
              <a:solidFill>
                <a:srgbClr val="912A82"/>
              </a:solidFill>
            </a:endParaRPr>
          </a:p>
        </p:txBody>
      </p:sp>
      <p:sp>
        <p:nvSpPr>
          <p:cNvPr id="4" name="Arrow: Left 3">
            <a:hlinkClick r:id="" action="ppaction://noaction"/>
            <a:extLst>
              <a:ext uri="{FF2B5EF4-FFF2-40B4-BE49-F238E27FC236}">
                <a16:creationId xmlns:a16="http://schemas.microsoft.com/office/drawing/2014/main" id="{4C141620-629C-CC59-1B41-580BDA28AA72}"/>
              </a:ext>
            </a:extLst>
          </p:cNvPr>
          <p:cNvSpPr/>
          <p:nvPr/>
        </p:nvSpPr>
        <p:spPr>
          <a:xfrm>
            <a:off x="10928057" y="6710745"/>
            <a:ext cx="209862" cy="122744"/>
          </a:xfrm>
          <a:prstGeom prst="lef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hlinkClick r:id="" action="ppaction://noaction"/>
            <a:extLst>
              <a:ext uri="{FF2B5EF4-FFF2-40B4-BE49-F238E27FC236}">
                <a16:creationId xmlns:a16="http://schemas.microsoft.com/office/drawing/2014/main" id="{FD6E9D1A-5D42-48AB-C7E0-02735CC65879}"/>
              </a:ext>
            </a:extLst>
          </p:cNvPr>
          <p:cNvSpPr/>
          <p:nvPr/>
        </p:nvSpPr>
        <p:spPr>
          <a:xfrm>
            <a:off x="11255997" y="6710745"/>
            <a:ext cx="209862" cy="123898"/>
          </a:xfrm>
          <a:prstGeom prst="righ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04F82604-4EE3-B278-ED08-C78EF789641C}"/>
              </a:ext>
            </a:extLst>
          </p:cNvPr>
          <p:cNvGraphicFramePr>
            <a:graphicFrameLocks noGrp="1"/>
          </p:cNvGraphicFramePr>
          <p:nvPr/>
        </p:nvGraphicFramePr>
        <p:xfrm>
          <a:off x="304800" y="831032"/>
          <a:ext cx="5915024" cy="5186367"/>
        </p:xfrm>
        <a:graphic>
          <a:graphicData uri="http://schemas.openxmlformats.org/drawingml/2006/table">
            <a:tbl>
              <a:tblPr>
                <a:tableStyleId>{5C22544A-7EE6-4342-B048-85BDC9FD1C3A}</a:tableStyleId>
              </a:tblPr>
              <a:tblGrid>
                <a:gridCol w="1624789">
                  <a:extLst>
                    <a:ext uri="{9D8B030D-6E8A-4147-A177-3AD203B41FA5}">
                      <a16:colId xmlns:a16="http://schemas.microsoft.com/office/drawing/2014/main" val="2494373097"/>
                    </a:ext>
                  </a:extLst>
                </a:gridCol>
                <a:gridCol w="672033">
                  <a:extLst>
                    <a:ext uri="{9D8B030D-6E8A-4147-A177-3AD203B41FA5}">
                      <a16:colId xmlns:a16="http://schemas.microsoft.com/office/drawing/2014/main" val="490043787"/>
                    </a:ext>
                  </a:extLst>
                </a:gridCol>
                <a:gridCol w="748593">
                  <a:extLst>
                    <a:ext uri="{9D8B030D-6E8A-4147-A177-3AD203B41FA5}">
                      <a16:colId xmlns:a16="http://schemas.microsoft.com/office/drawing/2014/main" val="3912995190"/>
                    </a:ext>
                  </a:extLst>
                </a:gridCol>
                <a:gridCol w="725909">
                  <a:extLst>
                    <a:ext uri="{9D8B030D-6E8A-4147-A177-3AD203B41FA5}">
                      <a16:colId xmlns:a16="http://schemas.microsoft.com/office/drawing/2014/main" val="1040459365"/>
                    </a:ext>
                  </a:extLst>
                </a:gridCol>
                <a:gridCol w="771278">
                  <a:extLst>
                    <a:ext uri="{9D8B030D-6E8A-4147-A177-3AD203B41FA5}">
                      <a16:colId xmlns:a16="http://schemas.microsoft.com/office/drawing/2014/main" val="54251520"/>
                    </a:ext>
                  </a:extLst>
                </a:gridCol>
                <a:gridCol w="669198">
                  <a:extLst>
                    <a:ext uri="{9D8B030D-6E8A-4147-A177-3AD203B41FA5}">
                      <a16:colId xmlns:a16="http://schemas.microsoft.com/office/drawing/2014/main" val="2702813168"/>
                    </a:ext>
                  </a:extLst>
                </a:gridCol>
                <a:gridCol w="703224">
                  <a:extLst>
                    <a:ext uri="{9D8B030D-6E8A-4147-A177-3AD203B41FA5}">
                      <a16:colId xmlns:a16="http://schemas.microsoft.com/office/drawing/2014/main" val="4179969475"/>
                    </a:ext>
                  </a:extLst>
                </a:gridCol>
              </a:tblGrid>
              <a:tr h="576263">
                <a:tc>
                  <a:txBody>
                    <a:bodyPr/>
                    <a:lstStyle/>
                    <a:p>
                      <a:pPr algn="l" fontAlgn="ctr">
                        <a:buNone/>
                      </a:pPr>
                      <a:r>
                        <a:rPr lang="en-IN" sz="1100" b="0" i="0" u="none" strike="noStrike">
                          <a:solidFill>
                            <a:schemeClr val="bg1"/>
                          </a:solidFill>
                          <a:effectLst/>
                          <a:latin typeface="Adani Regular" panose="02000503000000020004" pitchFamily="2" charset="0"/>
                        </a:rPr>
                        <a:t> </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UoM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Scope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Plan</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Actual</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Plan %</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Actual %</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extLst>
                  <a:ext uri="{0D108BD9-81ED-4DB2-BD59-A6C34878D82A}">
                    <a16:rowId xmlns:a16="http://schemas.microsoft.com/office/drawing/2014/main" val="202599431"/>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19572</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19572</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19572</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144588962"/>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Aux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33679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33679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33679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005212093"/>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LT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102432</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102432</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102432</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3854956687"/>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5268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5268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5268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033088358"/>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 DC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77870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77870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76946</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99%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51375642"/>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Communication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33284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33284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32889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99%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65684212"/>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EMS Control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31117</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31117</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30084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97%</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422130669"/>
                  </a:ext>
                </a:extLst>
              </a:tr>
              <a:tr h="576263">
                <a:tc>
                  <a:txBody>
                    <a:bodyPr/>
                    <a:lstStyle/>
                    <a:p>
                      <a:pPr algn="ctr" fontAlgn="ctr">
                        <a:buNone/>
                      </a:pPr>
                      <a:r>
                        <a:rPr lang="en-US" sz="1100" b="1" i="0" u="none" strike="noStrike">
                          <a:solidFill>
                            <a:srgbClr val="00B050"/>
                          </a:solidFill>
                          <a:effectLst/>
                          <a:latin typeface="Adani Regular" panose="02000503000000020004" pitchFamily="2" charset="0"/>
                        </a:rPr>
                        <a:t>CT Control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18148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18148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17819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98%</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3952980261"/>
                  </a:ext>
                </a:extLst>
              </a:tr>
            </a:tbl>
          </a:graphicData>
        </a:graphic>
      </p:graphicFrame>
      <p:graphicFrame>
        <p:nvGraphicFramePr>
          <p:cNvPr id="6" name="Chart 5">
            <a:extLst>
              <a:ext uri="{FF2B5EF4-FFF2-40B4-BE49-F238E27FC236}">
                <a16:creationId xmlns:a16="http://schemas.microsoft.com/office/drawing/2014/main" id="{991C41EB-CBF0-46FD-9118-E492BE5248BD}"/>
              </a:ext>
            </a:extLst>
          </p:cNvPr>
          <p:cNvGraphicFramePr>
            <a:graphicFrameLocks/>
          </p:cNvGraphicFramePr>
          <p:nvPr/>
        </p:nvGraphicFramePr>
        <p:xfrm>
          <a:off x="6467052" y="831032"/>
          <a:ext cx="5104057" cy="51863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413958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7CF5E-A569-AEED-4BF3-7F2E031082C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FC4748EA-FEF7-8FEF-3898-B9C9506511A8}"/>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2400" b="1">
                <a:solidFill>
                  <a:srgbClr val="00B050"/>
                </a:solidFill>
              </a:rPr>
              <a:t>Civil Plan Vs Actual PSS 08 - Completed</a:t>
            </a:r>
          </a:p>
        </p:txBody>
      </p:sp>
      <p:sp>
        <p:nvSpPr>
          <p:cNvPr id="7" name="Rectangle 2">
            <a:extLst>
              <a:ext uri="{FF2B5EF4-FFF2-40B4-BE49-F238E27FC236}">
                <a16:creationId xmlns:a16="http://schemas.microsoft.com/office/drawing/2014/main" id="{8A985D9B-C250-4818-17FB-AC18CFB79B36}"/>
              </a:ext>
            </a:extLst>
          </p:cNvPr>
          <p:cNvSpPr txBox="1">
            <a:spLocks noChangeArrowheads="1"/>
          </p:cNvSpPr>
          <p:nvPr/>
        </p:nvSpPr>
        <p:spPr>
          <a:xfrm>
            <a:off x="127950" y="609169"/>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1400" b="1">
                <a:solidFill>
                  <a:srgbClr val="00B050"/>
                </a:solidFill>
              </a:rPr>
              <a:t>BOP Plan Vs Actual :</a:t>
            </a:r>
            <a:endParaRPr lang="en-IN" sz="1600" b="1">
              <a:solidFill>
                <a:srgbClr val="00B050"/>
              </a:solidFill>
            </a:endParaRPr>
          </a:p>
        </p:txBody>
      </p:sp>
      <p:sp>
        <p:nvSpPr>
          <p:cNvPr id="8" name="Rectangle 2">
            <a:extLst>
              <a:ext uri="{FF2B5EF4-FFF2-40B4-BE49-F238E27FC236}">
                <a16:creationId xmlns:a16="http://schemas.microsoft.com/office/drawing/2014/main" id="{0EB5D663-F5F9-2369-832D-CFA00EF5B282}"/>
              </a:ext>
            </a:extLst>
          </p:cNvPr>
          <p:cNvSpPr txBox="1">
            <a:spLocks noChangeArrowheads="1"/>
          </p:cNvSpPr>
          <p:nvPr/>
        </p:nvSpPr>
        <p:spPr>
          <a:xfrm>
            <a:off x="0" y="459356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sz="1400" b="1">
                <a:solidFill>
                  <a:srgbClr val="00B050"/>
                </a:solidFill>
              </a:rPr>
              <a:t>BCF Plan Vs Actual :</a:t>
            </a:r>
            <a:endParaRPr lang="en-IN" sz="1600" b="1">
              <a:solidFill>
                <a:srgbClr val="00B050"/>
              </a:solidFill>
            </a:endParaRPr>
          </a:p>
        </p:txBody>
      </p:sp>
      <p:graphicFrame>
        <p:nvGraphicFramePr>
          <p:cNvPr id="12" name="Table 11">
            <a:extLst>
              <a:ext uri="{FF2B5EF4-FFF2-40B4-BE49-F238E27FC236}">
                <a16:creationId xmlns:a16="http://schemas.microsoft.com/office/drawing/2014/main" id="{AAE4A0DA-92B6-E0E5-F3A3-60A1E9476FDB}"/>
              </a:ext>
            </a:extLst>
          </p:cNvPr>
          <p:cNvGraphicFramePr>
            <a:graphicFrameLocks noGrp="1"/>
          </p:cNvGraphicFramePr>
          <p:nvPr/>
        </p:nvGraphicFramePr>
        <p:xfrm>
          <a:off x="6297930" y="6332220"/>
          <a:ext cx="5097779" cy="464820"/>
        </p:xfrm>
        <a:graphic>
          <a:graphicData uri="http://schemas.openxmlformats.org/drawingml/2006/table">
            <a:tbl>
              <a:tblPr/>
              <a:tblGrid>
                <a:gridCol w="1059934">
                  <a:extLst>
                    <a:ext uri="{9D8B030D-6E8A-4147-A177-3AD203B41FA5}">
                      <a16:colId xmlns:a16="http://schemas.microsoft.com/office/drawing/2014/main" val="3472009011"/>
                    </a:ext>
                  </a:extLst>
                </a:gridCol>
                <a:gridCol w="807569">
                  <a:extLst>
                    <a:ext uri="{9D8B030D-6E8A-4147-A177-3AD203B41FA5}">
                      <a16:colId xmlns:a16="http://schemas.microsoft.com/office/drawing/2014/main" val="3357738247"/>
                    </a:ext>
                  </a:extLst>
                </a:gridCol>
                <a:gridCol w="807569">
                  <a:extLst>
                    <a:ext uri="{9D8B030D-6E8A-4147-A177-3AD203B41FA5}">
                      <a16:colId xmlns:a16="http://schemas.microsoft.com/office/drawing/2014/main" val="2588269304"/>
                    </a:ext>
                  </a:extLst>
                </a:gridCol>
                <a:gridCol w="807569">
                  <a:extLst>
                    <a:ext uri="{9D8B030D-6E8A-4147-A177-3AD203B41FA5}">
                      <a16:colId xmlns:a16="http://schemas.microsoft.com/office/drawing/2014/main" val="104172231"/>
                    </a:ext>
                  </a:extLst>
                </a:gridCol>
                <a:gridCol w="1615138">
                  <a:extLst>
                    <a:ext uri="{9D8B030D-6E8A-4147-A177-3AD203B41FA5}">
                      <a16:colId xmlns:a16="http://schemas.microsoft.com/office/drawing/2014/main" val="687460494"/>
                    </a:ext>
                  </a:extLst>
                </a:gridCol>
              </a:tblGrid>
              <a:tr h="190500">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0070C0"/>
                    </a:solidFill>
                  </a:tcPr>
                </a:tc>
                <a:tc>
                  <a:txBody>
                    <a:bodyPr/>
                    <a:lstStyle/>
                    <a:p>
                      <a:pPr algn="l" fontAlgn="b">
                        <a:buNone/>
                      </a:pPr>
                      <a:r>
                        <a:rPr lang="en-US" sz="900" b="0" i="0" u="none" strike="noStrike">
                          <a:solidFill>
                            <a:srgbClr val="000000"/>
                          </a:solidFill>
                          <a:effectLst/>
                          <a:latin typeface="Adani Light" panose="02000503000000020004" pitchFamily="2" charset="0"/>
                        </a:rPr>
                        <a:t>Plan</a:t>
                      </a:r>
                    </a:p>
                  </a:txBody>
                  <a:tcPr marL="0" marR="0" marT="0" marB="0" anchor="b">
                    <a:lnL>
                      <a:noFill/>
                    </a:lnL>
                    <a:lnR>
                      <a:noFill/>
                    </a:lnR>
                    <a:lnT>
                      <a:noFill/>
                    </a:lnT>
                    <a:lnB>
                      <a:noFill/>
                    </a:lnB>
                    <a:noFill/>
                  </a:tcPr>
                </a:tc>
                <a:tc>
                  <a:txBody>
                    <a:bodyPr/>
                    <a:lstStyle/>
                    <a:p>
                      <a:pPr algn="l" fontAlgn="b">
                        <a:buNone/>
                      </a:pPr>
                      <a:endParaRPr lang="en-US" sz="900" b="0" i="0" u="none" strike="noStrike">
                        <a:solidFill>
                          <a:srgbClr val="000000"/>
                        </a:solidFill>
                        <a:effectLst/>
                        <a:latin typeface="Adani Light" panose="02000503000000020004" pitchFamily="2" charset="0"/>
                      </a:endParaRPr>
                    </a:p>
                  </a:txBody>
                  <a:tcPr marL="0" marR="0" marT="0" marB="0"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00B050"/>
                    </a:solidFill>
                  </a:tcPr>
                </a:tc>
                <a:tc>
                  <a:txBody>
                    <a:bodyPr/>
                    <a:lstStyle/>
                    <a:p>
                      <a:pPr algn="l" fontAlgn="b">
                        <a:buNone/>
                      </a:pPr>
                      <a:r>
                        <a:rPr lang="en-US" sz="900" b="0" i="0" u="none" strike="noStrike">
                          <a:solidFill>
                            <a:srgbClr val="000000"/>
                          </a:solidFill>
                          <a:effectLst/>
                          <a:latin typeface="Adani Light" panose="02000503000000020004" pitchFamily="2" charset="0"/>
                        </a:rPr>
                        <a:t>Actual (80% plan achieved)</a:t>
                      </a:r>
                    </a:p>
                  </a:txBody>
                  <a:tcPr marL="0" marR="0" marT="0" marB="0" anchor="b">
                    <a:lnL>
                      <a:noFill/>
                    </a:lnL>
                    <a:lnR>
                      <a:noFill/>
                    </a:lnR>
                    <a:lnT>
                      <a:noFill/>
                    </a:lnT>
                    <a:lnB>
                      <a:noFill/>
                    </a:lnB>
                    <a:noFill/>
                  </a:tcPr>
                </a:tc>
                <a:extLst>
                  <a:ext uri="{0D108BD9-81ED-4DB2-BD59-A6C34878D82A}">
                    <a16:rowId xmlns:a16="http://schemas.microsoft.com/office/drawing/2014/main" val="911106202"/>
                  </a:ext>
                </a:extLst>
              </a:tr>
              <a:tr h="190500">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FFFF00"/>
                    </a:solidFill>
                  </a:tcPr>
                </a:tc>
                <a:tc gridSpan="2">
                  <a:txBody>
                    <a:bodyPr/>
                    <a:lstStyle/>
                    <a:p>
                      <a:pPr algn="l" fontAlgn="b">
                        <a:buNone/>
                      </a:pPr>
                      <a:r>
                        <a:rPr lang="en-US" sz="900" b="0" i="0" u="none" strike="noStrike">
                          <a:solidFill>
                            <a:srgbClr val="000000"/>
                          </a:solidFill>
                          <a:effectLst/>
                          <a:latin typeface="Adani Light" panose="02000503000000020004" pitchFamily="2" charset="0"/>
                        </a:rPr>
                        <a:t>Actual (between 40% to 80% plan achieved)</a:t>
                      </a:r>
                    </a:p>
                  </a:txBody>
                  <a:tcPr marL="0" marR="0" marT="0" marB="0" anchor="b">
                    <a:lnL>
                      <a:noFill/>
                    </a:lnL>
                    <a:lnR>
                      <a:noFill/>
                    </a:lnR>
                    <a:lnT>
                      <a:noFill/>
                    </a:lnT>
                    <a:lnB>
                      <a:noFill/>
                    </a:lnB>
                    <a:noFill/>
                  </a:tcPr>
                </a:tc>
                <a:tc hMerge="1">
                  <a:txBody>
                    <a:bodyPr/>
                    <a:lstStyle/>
                    <a:p>
                      <a:endParaRPr lang="en-US"/>
                    </a:p>
                  </a:txBody>
                  <a:tcPr/>
                </a:tc>
                <a:tc>
                  <a:txBody>
                    <a:bodyPr/>
                    <a:lstStyle/>
                    <a:p>
                      <a:pPr algn="l" fontAlgn="b">
                        <a:buNone/>
                      </a:pPr>
                      <a:r>
                        <a:rPr lang="en-US" sz="900" b="0" i="0" u="none" strike="noStrike">
                          <a:solidFill>
                            <a:srgbClr val="000000"/>
                          </a:solidFill>
                          <a:effectLst/>
                          <a:latin typeface="Adani Light" panose="02000503000000020004" pitchFamily="2" charset="0"/>
                        </a:rPr>
                        <a:t> </a:t>
                      </a:r>
                    </a:p>
                  </a:txBody>
                  <a:tcPr marL="0" marR="0" marT="0" marB="0" anchor="b">
                    <a:lnL>
                      <a:noFill/>
                    </a:lnL>
                    <a:lnR>
                      <a:noFill/>
                    </a:lnR>
                    <a:lnT>
                      <a:noFill/>
                    </a:lnT>
                    <a:lnB>
                      <a:noFill/>
                    </a:lnB>
                    <a:solidFill>
                      <a:srgbClr val="FF0000"/>
                    </a:solidFill>
                  </a:tcPr>
                </a:tc>
                <a:tc>
                  <a:txBody>
                    <a:bodyPr/>
                    <a:lstStyle/>
                    <a:p>
                      <a:pPr algn="l" fontAlgn="b">
                        <a:buNone/>
                      </a:pPr>
                      <a:r>
                        <a:rPr lang="en-US" sz="900" b="0" i="0" u="none" strike="noStrike">
                          <a:solidFill>
                            <a:srgbClr val="000000"/>
                          </a:solidFill>
                          <a:effectLst/>
                          <a:latin typeface="Adani Light" panose="02000503000000020004" pitchFamily="2" charset="0"/>
                        </a:rPr>
                        <a:t>Actual (below 40% plan achieved)</a:t>
                      </a:r>
                    </a:p>
                  </a:txBody>
                  <a:tcPr marL="0" marR="0" marT="0" marB="0" anchor="b">
                    <a:lnL>
                      <a:noFill/>
                    </a:lnL>
                    <a:lnR>
                      <a:noFill/>
                    </a:lnR>
                    <a:lnT>
                      <a:noFill/>
                    </a:lnT>
                    <a:lnB>
                      <a:noFill/>
                    </a:lnB>
                    <a:noFill/>
                  </a:tcPr>
                </a:tc>
                <a:extLst>
                  <a:ext uri="{0D108BD9-81ED-4DB2-BD59-A6C34878D82A}">
                    <a16:rowId xmlns:a16="http://schemas.microsoft.com/office/drawing/2014/main" val="965146196"/>
                  </a:ext>
                </a:extLst>
              </a:tr>
            </a:tbl>
          </a:graphicData>
        </a:graphic>
      </p:graphicFrame>
      <p:graphicFrame>
        <p:nvGraphicFramePr>
          <p:cNvPr id="6" name="Table 5">
            <a:extLst>
              <a:ext uri="{FF2B5EF4-FFF2-40B4-BE49-F238E27FC236}">
                <a16:creationId xmlns:a16="http://schemas.microsoft.com/office/drawing/2014/main" id="{7F185F34-897E-C77B-1852-79B6A3B76EB2}"/>
              </a:ext>
            </a:extLst>
          </p:cNvPr>
          <p:cNvGraphicFramePr>
            <a:graphicFrameLocks noGrp="1"/>
          </p:cNvGraphicFramePr>
          <p:nvPr/>
        </p:nvGraphicFramePr>
        <p:xfrm>
          <a:off x="85453" y="926150"/>
          <a:ext cx="6278198" cy="3598545"/>
        </p:xfrm>
        <a:graphic>
          <a:graphicData uri="http://schemas.openxmlformats.org/drawingml/2006/table">
            <a:tbl>
              <a:tblPr/>
              <a:tblGrid>
                <a:gridCol w="597923">
                  <a:extLst>
                    <a:ext uri="{9D8B030D-6E8A-4147-A177-3AD203B41FA5}">
                      <a16:colId xmlns:a16="http://schemas.microsoft.com/office/drawing/2014/main" val="3965346732"/>
                    </a:ext>
                  </a:extLst>
                </a:gridCol>
                <a:gridCol w="512506">
                  <a:extLst>
                    <a:ext uri="{9D8B030D-6E8A-4147-A177-3AD203B41FA5}">
                      <a16:colId xmlns:a16="http://schemas.microsoft.com/office/drawing/2014/main" val="1280408668"/>
                    </a:ext>
                  </a:extLst>
                </a:gridCol>
                <a:gridCol w="512506">
                  <a:extLst>
                    <a:ext uri="{9D8B030D-6E8A-4147-A177-3AD203B41FA5}">
                      <a16:colId xmlns:a16="http://schemas.microsoft.com/office/drawing/2014/main" val="3911801117"/>
                    </a:ext>
                  </a:extLst>
                </a:gridCol>
                <a:gridCol w="843500">
                  <a:extLst>
                    <a:ext uri="{9D8B030D-6E8A-4147-A177-3AD203B41FA5}">
                      <a16:colId xmlns:a16="http://schemas.microsoft.com/office/drawing/2014/main" val="86333175"/>
                    </a:ext>
                  </a:extLst>
                </a:gridCol>
                <a:gridCol w="928917">
                  <a:extLst>
                    <a:ext uri="{9D8B030D-6E8A-4147-A177-3AD203B41FA5}">
                      <a16:colId xmlns:a16="http://schemas.microsoft.com/office/drawing/2014/main" val="2812566588"/>
                    </a:ext>
                  </a:extLst>
                </a:gridCol>
                <a:gridCol w="736727">
                  <a:extLst>
                    <a:ext uri="{9D8B030D-6E8A-4147-A177-3AD203B41FA5}">
                      <a16:colId xmlns:a16="http://schemas.microsoft.com/office/drawing/2014/main" val="1242933459"/>
                    </a:ext>
                  </a:extLst>
                </a:gridCol>
                <a:gridCol w="822145">
                  <a:extLst>
                    <a:ext uri="{9D8B030D-6E8A-4147-A177-3AD203B41FA5}">
                      <a16:colId xmlns:a16="http://schemas.microsoft.com/office/drawing/2014/main" val="248246610"/>
                    </a:ext>
                  </a:extLst>
                </a:gridCol>
                <a:gridCol w="651310">
                  <a:extLst>
                    <a:ext uri="{9D8B030D-6E8A-4147-A177-3AD203B41FA5}">
                      <a16:colId xmlns:a16="http://schemas.microsoft.com/office/drawing/2014/main" val="2652072204"/>
                    </a:ext>
                  </a:extLst>
                </a:gridCol>
                <a:gridCol w="672664">
                  <a:extLst>
                    <a:ext uri="{9D8B030D-6E8A-4147-A177-3AD203B41FA5}">
                      <a16:colId xmlns:a16="http://schemas.microsoft.com/office/drawing/2014/main" val="2367538811"/>
                    </a:ext>
                  </a:extLst>
                </a:gridCol>
              </a:tblGrid>
              <a:tr h="428625">
                <a:tc gridSpan="2">
                  <a:txBody>
                    <a:bodyPr/>
                    <a:lstStyle/>
                    <a:p>
                      <a:pPr algn="ctr" fontAlgn="ctr">
                        <a:buNone/>
                      </a:pPr>
                      <a:r>
                        <a:rPr lang="en-IN"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IN"/>
                    </a:p>
                  </a:txBody>
                  <a:tcPr/>
                </a:tc>
                <a:tc>
                  <a:txBody>
                    <a:bodyPr/>
                    <a:lstStyle/>
                    <a:p>
                      <a:pPr algn="ctr" fontAlgn="ctr">
                        <a:buNone/>
                      </a:pPr>
                      <a:r>
                        <a:rPr lang="en-IN" sz="1100" b="1" i="0" u="none" strike="noStrike">
                          <a:solidFill>
                            <a:srgbClr val="00B050"/>
                          </a:solidFill>
                          <a:effectLst/>
                          <a:latin typeface="Adani Light" panose="02000503000000020004" pitchFamily="2" charset="0"/>
                        </a:rPr>
                        <a:t>Total Scope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DCIS Piling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PIT &amp; Pile Chipping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Footing &amp; Column Casting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Slab Casting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Progress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9078542"/>
                  </a:ext>
                </a:extLst>
              </a:tr>
              <a:tr h="190500">
                <a:tc rowSpan="2">
                  <a:txBody>
                    <a:bodyPr/>
                    <a:lstStyle/>
                    <a:p>
                      <a:pPr algn="ctr" fontAlgn="ctr">
                        <a:buNone/>
                      </a:pPr>
                      <a:r>
                        <a:rPr lang="en-IN" sz="1000" b="1" i="0" u="none" strike="noStrike">
                          <a:solidFill>
                            <a:srgbClr val="00B050"/>
                          </a:solidFill>
                          <a:effectLst/>
                          <a:latin typeface="Adani Light" panose="02000503000000020004" pitchFamily="2" charset="0"/>
                        </a:rPr>
                        <a:t>LT Panel Found.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116689059"/>
                  </a:ext>
                </a:extLst>
              </a:tr>
              <a:tr h="190500">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6827132"/>
                  </a:ext>
                </a:extLst>
              </a:tr>
              <a:tr h="190500">
                <a:tc rowSpan="2">
                  <a:txBody>
                    <a:bodyPr/>
                    <a:lstStyle/>
                    <a:p>
                      <a:pPr algn="ctr" fontAlgn="ctr">
                        <a:buNone/>
                      </a:pPr>
                      <a:r>
                        <a:rPr lang="en-IN" sz="1100" b="1" i="0" u="none" strike="noStrike">
                          <a:solidFill>
                            <a:srgbClr val="00B050"/>
                          </a:solidFill>
                          <a:effectLst/>
                          <a:latin typeface="Adani Light" panose="02000503000000020004" pitchFamily="2" charset="0"/>
                        </a:rPr>
                        <a:t>SGR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1663360012"/>
                  </a:ext>
                </a:extLst>
              </a:tr>
              <a:tr h="190500">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751462"/>
                  </a:ext>
                </a:extLst>
              </a:tr>
              <a:tr h="190500">
                <a:tc rowSpan="2">
                  <a:txBody>
                    <a:bodyPr/>
                    <a:lstStyle/>
                    <a:p>
                      <a:pPr algn="ctr" fontAlgn="ctr">
                        <a:buNone/>
                      </a:pPr>
                      <a:r>
                        <a:rPr lang="en-IN" sz="1100" b="1" i="0" u="none" strike="noStrike">
                          <a:solidFill>
                            <a:srgbClr val="00B050"/>
                          </a:solidFill>
                          <a:effectLst/>
                          <a:latin typeface="Adani Light" panose="02000503000000020004" pitchFamily="2" charset="0"/>
                        </a:rPr>
                        <a:t>MCR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223688551"/>
                  </a:ext>
                </a:extLst>
              </a:tr>
              <a:tr h="190500">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4551189"/>
                  </a:ext>
                </a:extLst>
              </a:tr>
              <a:tr h="428625">
                <a:tc gridSpan="2">
                  <a:txBody>
                    <a:bodyPr/>
                    <a:lstStyle/>
                    <a:p>
                      <a:pPr algn="ctr" fontAlgn="ctr">
                        <a:buNone/>
                      </a:pPr>
                      <a:r>
                        <a:rPr lang="en-IN" sz="1100" b="1" i="0" u="none" strike="noStrike">
                          <a:solidFill>
                            <a:srgbClr val="00B050"/>
                          </a:solidFill>
                          <a:effectLst/>
                          <a:latin typeface="Adani Light" panose="02000503000000020004" pitchFamily="2"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IN"/>
                    </a:p>
                  </a:txBody>
                  <a:tcPr/>
                </a:tc>
                <a:tc>
                  <a:txBody>
                    <a:bodyPr/>
                    <a:lstStyle/>
                    <a:p>
                      <a:pPr algn="ctr" fontAlgn="ctr">
                        <a:buNone/>
                      </a:pPr>
                      <a:r>
                        <a:rPr lang="en-IN" sz="1100" b="1" i="0" u="none" strike="noStrike">
                          <a:solidFill>
                            <a:srgbClr val="00B050"/>
                          </a:solidFill>
                          <a:effectLst/>
                          <a:latin typeface="Adani Light" panose="02000503000000020004" pitchFamily="2" charset="0"/>
                        </a:rPr>
                        <a:t>Total Scope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Excavation &amp; PCC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Light" panose="02000503000000020004" pitchFamily="2" charset="0"/>
                        </a:rPr>
                        <a:t>Footing &amp; Wall Casting/ Precast Installation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Backfilling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Final Lift &amp; Rail fixing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Slab work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IN" sz="1100" b="1" i="0" u="none" strike="noStrike">
                          <a:solidFill>
                            <a:srgbClr val="00B050"/>
                          </a:solidFill>
                          <a:effectLst/>
                          <a:latin typeface="Adani Light" panose="02000503000000020004" pitchFamily="2" charset="0"/>
                        </a:rPr>
                        <a:t>Progress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5600791"/>
                  </a:ext>
                </a:extLst>
              </a:tr>
              <a:tr h="190500">
                <a:tc rowSpan="2">
                  <a:txBody>
                    <a:bodyPr/>
                    <a:lstStyle/>
                    <a:p>
                      <a:pPr algn="ctr" fontAlgn="ctr">
                        <a:buNone/>
                      </a:pPr>
                      <a:r>
                        <a:rPr lang="en-IN" sz="1100" b="1" i="0" u="none" strike="noStrike">
                          <a:solidFill>
                            <a:srgbClr val="00B050"/>
                          </a:solidFill>
                          <a:effectLst/>
                          <a:latin typeface="Adani Light" panose="02000503000000020004" pitchFamily="2" charset="0"/>
                        </a:rPr>
                        <a:t>CT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344558392"/>
                  </a:ext>
                </a:extLst>
              </a:tr>
              <a:tr h="190500">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6565263"/>
                  </a:ext>
                </a:extLst>
              </a:tr>
              <a:tr h="190500">
                <a:tc rowSpan="2">
                  <a:txBody>
                    <a:bodyPr/>
                    <a:lstStyle/>
                    <a:p>
                      <a:pPr algn="ctr" fontAlgn="ctr">
                        <a:buNone/>
                      </a:pPr>
                      <a:r>
                        <a:rPr lang="en-IN" sz="1100" b="1" i="0" u="none" strike="noStrike">
                          <a:solidFill>
                            <a:srgbClr val="00B050"/>
                          </a:solidFill>
                          <a:effectLst/>
                          <a:latin typeface="Adani Light" panose="02000503000000020004" pitchFamily="2" charset="0"/>
                        </a:rPr>
                        <a:t>CSS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1005663937"/>
                  </a:ext>
                </a:extLst>
              </a:tr>
              <a:tr h="190500">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5344801"/>
                  </a:ext>
                </a:extLst>
              </a:tr>
              <a:tr h="190500">
                <a:tc rowSpan="2">
                  <a:txBody>
                    <a:bodyPr/>
                    <a:lstStyle/>
                    <a:p>
                      <a:pPr algn="ctr" fontAlgn="ctr">
                        <a:buNone/>
                      </a:pPr>
                      <a:r>
                        <a:rPr lang="en-IN" sz="1100" b="1" i="0" u="none" strike="noStrike">
                          <a:solidFill>
                            <a:srgbClr val="00B050"/>
                          </a:solidFill>
                          <a:effectLst/>
                          <a:latin typeface="Adani Light" panose="02000503000000020004" pitchFamily="2" charset="0"/>
                        </a:rPr>
                        <a:t>BOT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3290658617"/>
                  </a:ext>
                </a:extLst>
              </a:tr>
              <a:tr h="190500">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140014"/>
                  </a:ext>
                </a:extLst>
              </a:tr>
              <a:tr h="190500">
                <a:tc rowSpan="2">
                  <a:txBody>
                    <a:bodyPr/>
                    <a:lstStyle/>
                    <a:p>
                      <a:pPr algn="ctr" fontAlgn="ctr">
                        <a:buNone/>
                      </a:pPr>
                      <a:r>
                        <a:rPr lang="en-IN" sz="1100" b="1" i="0" u="none" strike="noStrike">
                          <a:solidFill>
                            <a:srgbClr val="00B050"/>
                          </a:solidFill>
                          <a:effectLst/>
                          <a:latin typeface="Adani Light" panose="02000503000000020004" pitchFamily="2" charset="0"/>
                        </a:rPr>
                        <a:t>NIFPS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extLst>
                  <a:ext uri="{0D108BD9-81ED-4DB2-BD59-A6C34878D82A}">
                    <a16:rowId xmlns:a16="http://schemas.microsoft.com/office/drawing/2014/main" val="663139354"/>
                  </a:ext>
                </a:extLst>
              </a:tr>
              <a:tr h="190500">
                <a:tc vMerge="1">
                  <a:txBody>
                    <a:bodyPr/>
                    <a:lstStyle/>
                    <a:p>
                      <a:endParaRPr lang="en-IN"/>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7445861"/>
                  </a:ext>
                </a:extLst>
              </a:tr>
            </a:tbl>
          </a:graphicData>
        </a:graphic>
      </p:graphicFrame>
      <p:graphicFrame>
        <p:nvGraphicFramePr>
          <p:cNvPr id="11" name="Table 10">
            <a:extLst>
              <a:ext uri="{FF2B5EF4-FFF2-40B4-BE49-F238E27FC236}">
                <a16:creationId xmlns:a16="http://schemas.microsoft.com/office/drawing/2014/main" id="{909ACE8E-3B46-4CFA-B0AC-A14BA3F41366}"/>
              </a:ext>
            </a:extLst>
          </p:cNvPr>
          <p:cNvGraphicFramePr>
            <a:graphicFrameLocks noGrp="1"/>
          </p:cNvGraphicFramePr>
          <p:nvPr/>
        </p:nvGraphicFramePr>
        <p:xfrm>
          <a:off x="85453" y="4871770"/>
          <a:ext cx="6217191" cy="762000"/>
        </p:xfrm>
        <a:graphic>
          <a:graphicData uri="http://schemas.openxmlformats.org/drawingml/2006/table">
            <a:tbl>
              <a:tblPr/>
              <a:tblGrid>
                <a:gridCol w="657873">
                  <a:extLst>
                    <a:ext uri="{9D8B030D-6E8A-4147-A177-3AD203B41FA5}">
                      <a16:colId xmlns:a16="http://schemas.microsoft.com/office/drawing/2014/main" val="629632682"/>
                    </a:ext>
                  </a:extLst>
                </a:gridCol>
                <a:gridCol w="568970">
                  <a:extLst>
                    <a:ext uri="{9D8B030D-6E8A-4147-A177-3AD203B41FA5}">
                      <a16:colId xmlns:a16="http://schemas.microsoft.com/office/drawing/2014/main" val="4119579703"/>
                    </a:ext>
                  </a:extLst>
                </a:gridCol>
                <a:gridCol w="568970">
                  <a:extLst>
                    <a:ext uri="{9D8B030D-6E8A-4147-A177-3AD203B41FA5}">
                      <a16:colId xmlns:a16="http://schemas.microsoft.com/office/drawing/2014/main" val="4109357858"/>
                    </a:ext>
                  </a:extLst>
                </a:gridCol>
                <a:gridCol w="936431">
                  <a:extLst>
                    <a:ext uri="{9D8B030D-6E8A-4147-A177-3AD203B41FA5}">
                      <a16:colId xmlns:a16="http://schemas.microsoft.com/office/drawing/2014/main" val="1405461696"/>
                    </a:ext>
                  </a:extLst>
                </a:gridCol>
                <a:gridCol w="1031260">
                  <a:extLst>
                    <a:ext uri="{9D8B030D-6E8A-4147-A177-3AD203B41FA5}">
                      <a16:colId xmlns:a16="http://schemas.microsoft.com/office/drawing/2014/main" val="3311690363"/>
                    </a:ext>
                  </a:extLst>
                </a:gridCol>
                <a:gridCol w="817895">
                  <a:extLst>
                    <a:ext uri="{9D8B030D-6E8A-4147-A177-3AD203B41FA5}">
                      <a16:colId xmlns:a16="http://schemas.microsoft.com/office/drawing/2014/main" val="3643359006"/>
                    </a:ext>
                  </a:extLst>
                </a:gridCol>
                <a:gridCol w="912724">
                  <a:extLst>
                    <a:ext uri="{9D8B030D-6E8A-4147-A177-3AD203B41FA5}">
                      <a16:colId xmlns:a16="http://schemas.microsoft.com/office/drawing/2014/main" val="2151305498"/>
                    </a:ext>
                  </a:extLst>
                </a:gridCol>
                <a:gridCol w="723068">
                  <a:extLst>
                    <a:ext uri="{9D8B030D-6E8A-4147-A177-3AD203B41FA5}">
                      <a16:colId xmlns:a16="http://schemas.microsoft.com/office/drawing/2014/main" val="1829193047"/>
                    </a:ext>
                  </a:extLst>
                </a:gridCol>
              </a:tblGrid>
              <a:tr h="381000">
                <a:tc gridSpan="2">
                  <a:txBody>
                    <a:bodyPr/>
                    <a:lstStyle/>
                    <a:p>
                      <a:pPr algn="ctr" fontAlgn="ctr">
                        <a:buNone/>
                      </a:pPr>
                      <a:endParaRPr lang="en-US" sz="1100" b="1" i="0" u="none" strike="noStrike">
                        <a:solidFill>
                          <a:srgbClr val="00B050"/>
                        </a:solidFill>
                        <a:effectLst/>
                        <a:latin typeface="Adani Light" panose="02000503000000020004"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Total 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DCIS Piling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PIT &amp; Pile Chipping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Pile Built up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Precast erection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Progress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8423133"/>
                  </a:ext>
                </a:extLst>
              </a:tr>
              <a:tr h="190500">
                <a:tc rowSpan="2">
                  <a:txBody>
                    <a:bodyPr/>
                    <a:lstStyle/>
                    <a:p>
                      <a:pPr algn="ctr" fontAlgn="ctr">
                        <a:buNone/>
                      </a:pPr>
                      <a:r>
                        <a:rPr lang="en-US" sz="1000" b="1" i="0" u="none" strike="noStrike">
                          <a:solidFill>
                            <a:srgbClr val="00B050"/>
                          </a:solidFill>
                          <a:effectLst/>
                          <a:latin typeface="Adani Light" panose="02000503000000020004" pitchFamily="2" charset="0"/>
                        </a:rPr>
                        <a:t>BCF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Plan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2893524864"/>
                  </a:ext>
                </a:extLst>
              </a:tr>
              <a:tr h="190500">
                <a:tc vMerge="1">
                  <a:txBody>
                    <a:bodyPr/>
                    <a:lstStyle/>
                    <a:p>
                      <a:endParaRPr lang="en-US"/>
                    </a:p>
                  </a:txBody>
                  <a:tcPr/>
                </a:tc>
                <a:tc>
                  <a:txBody>
                    <a:bodyPr/>
                    <a:lstStyle/>
                    <a:p>
                      <a:pPr algn="ctr" fontAlgn="ctr">
                        <a:buNone/>
                      </a:pPr>
                      <a:r>
                        <a:rPr lang="en-US" sz="1100" b="1" i="0" u="none" strike="noStrike">
                          <a:solidFill>
                            <a:srgbClr val="00B050"/>
                          </a:solidFill>
                          <a:effectLst/>
                          <a:latin typeface="Adani Light" panose="02000503000000020004" pitchFamily="2" charset="0"/>
                        </a:rPr>
                        <a:t>Actual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B050"/>
                          </a:solidFill>
                          <a:effectLst/>
                          <a:latin typeface="Adani Light" panose="02000503000000020004" pitchFamily="2"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7401458"/>
                  </a:ext>
                </a:extLst>
              </a:tr>
            </a:tbl>
          </a:graphicData>
        </a:graphic>
      </p:graphicFrame>
      <p:graphicFrame>
        <p:nvGraphicFramePr>
          <p:cNvPr id="13" name="Chart 12">
            <a:extLst>
              <a:ext uri="{FF2B5EF4-FFF2-40B4-BE49-F238E27FC236}">
                <a16:creationId xmlns:a16="http://schemas.microsoft.com/office/drawing/2014/main" id="{1AC477AE-421F-4462-B7CE-BD549C5D4E26}"/>
              </a:ext>
            </a:extLst>
          </p:cNvPr>
          <p:cNvGraphicFramePr>
            <a:graphicFrameLocks/>
          </p:cNvGraphicFramePr>
          <p:nvPr/>
        </p:nvGraphicFramePr>
        <p:xfrm>
          <a:off x="6470129" y="4730873"/>
          <a:ext cx="5636418" cy="151191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4751D7C7-94AB-4597-BEB7-F3890D8B7E63}"/>
              </a:ext>
            </a:extLst>
          </p:cNvPr>
          <p:cNvGraphicFramePr>
            <a:graphicFrameLocks/>
          </p:cNvGraphicFramePr>
          <p:nvPr/>
        </p:nvGraphicFramePr>
        <p:xfrm>
          <a:off x="6470129" y="902599"/>
          <a:ext cx="5636419" cy="3669507"/>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2">
            <a:extLst>
              <a:ext uri="{FF2B5EF4-FFF2-40B4-BE49-F238E27FC236}">
                <a16:creationId xmlns:a16="http://schemas.microsoft.com/office/drawing/2014/main" id="{F3D80E41-8648-48A3-025D-73F39D9B107A}"/>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74</a:t>
            </a:fld>
            <a:endParaRPr lang="en-IN"/>
          </a:p>
        </p:txBody>
      </p:sp>
    </p:spTree>
    <p:extLst>
      <p:ext uri="{BB962C8B-B14F-4D97-AF65-F5344CB8AC3E}">
        <p14:creationId xmlns:p14="http://schemas.microsoft.com/office/powerpoint/2010/main" val="24859288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D73F7-3153-C108-B35E-BC39D2A6AB0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4DD21AF-E6C1-3022-F81C-D2A995F505B2}"/>
              </a:ext>
            </a:extLst>
          </p:cNvPr>
          <p:cNvSpPr txBox="1">
            <a:spLocks noChangeArrowheads="1"/>
          </p:cNvSpPr>
          <p:nvPr/>
        </p:nvSpPr>
        <p:spPr>
          <a:xfrm>
            <a:off x="185413" y="141975"/>
            <a:ext cx="11067531" cy="433120"/>
          </a:xfrm>
          <a:prstGeom prst="rect">
            <a:avLst/>
          </a:prstGeom>
        </p:spPr>
        <p:txBody>
          <a:bodyPr lIns="91440" tIns="45720" rIns="91440" bIns="45720" anchor="t"/>
          <a:lstStyle>
            <a:defPPr>
              <a:defRPr lang="en-US"/>
            </a:defPPr>
            <a:lvl1pPr>
              <a:lnSpc>
                <a:spcPct val="90000"/>
              </a:lnSpc>
              <a:spcBef>
                <a:spcPct val="0"/>
              </a:spcBef>
              <a:buNone/>
              <a:defRPr sz="2000">
                <a:solidFill>
                  <a:srgbClr val="8B4394"/>
                </a:solidFill>
                <a:latin typeface="Adani Regular"/>
                <a:ea typeface="+mj-ea"/>
                <a:cs typeface="+mj-cs"/>
              </a:defRPr>
            </a:lvl1pPr>
          </a:lstStyle>
          <a:p>
            <a:pPr defTabSz="1219170"/>
            <a:r>
              <a:rPr lang="en-IN" b="1">
                <a:solidFill>
                  <a:srgbClr val="912A82"/>
                </a:solidFill>
              </a:rPr>
              <a:t>Electrical Plan Vs Actual Summary PSS 08 </a:t>
            </a:r>
            <a:r>
              <a:rPr lang="en-US" b="1" i="1">
                <a:gradFill>
                  <a:gsLst>
                    <a:gs pos="9735">
                      <a:schemeClr val="tx2"/>
                    </a:gs>
                    <a:gs pos="63000">
                      <a:srgbClr val="8E278F"/>
                    </a:gs>
                    <a:gs pos="38000">
                      <a:srgbClr val="57499E"/>
                    </a:gs>
                  </a:gsLst>
                  <a:lin ang="0" scaled="0"/>
                </a:gradFill>
              </a:rPr>
              <a:t>[updated till 30 Apr 26]</a:t>
            </a:r>
            <a:endParaRPr lang="en-IN" b="1">
              <a:solidFill>
                <a:srgbClr val="912A82"/>
              </a:solidFill>
            </a:endParaRPr>
          </a:p>
        </p:txBody>
      </p:sp>
      <p:graphicFrame>
        <p:nvGraphicFramePr>
          <p:cNvPr id="7" name="Table 6">
            <a:extLst>
              <a:ext uri="{FF2B5EF4-FFF2-40B4-BE49-F238E27FC236}">
                <a16:creationId xmlns:a16="http://schemas.microsoft.com/office/drawing/2014/main" id="{C82D29E4-84AF-C78D-10EB-1D7156F55BD2}"/>
              </a:ext>
            </a:extLst>
          </p:cNvPr>
          <p:cNvGraphicFramePr>
            <a:graphicFrameLocks noGrp="1"/>
          </p:cNvGraphicFramePr>
          <p:nvPr>
            <p:extLst>
              <p:ext uri="{D42A27DB-BD31-4B8C-83A1-F6EECF244321}">
                <p14:modId xmlns:p14="http://schemas.microsoft.com/office/powerpoint/2010/main" val="1091746406"/>
              </p:ext>
            </p:extLst>
          </p:nvPr>
        </p:nvGraphicFramePr>
        <p:xfrm>
          <a:off x="304801" y="1057275"/>
          <a:ext cx="6567337" cy="4834480"/>
        </p:xfrm>
        <a:graphic>
          <a:graphicData uri="http://schemas.openxmlformats.org/drawingml/2006/table">
            <a:tbl>
              <a:tblPr>
                <a:tableStyleId>{5C22544A-7EE6-4342-B048-85BDC9FD1C3A}</a:tableStyleId>
              </a:tblPr>
              <a:tblGrid>
                <a:gridCol w="1803972">
                  <a:extLst>
                    <a:ext uri="{9D8B030D-6E8A-4147-A177-3AD203B41FA5}">
                      <a16:colId xmlns:a16="http://schemas.microsoft.com/office/drawing/2014/main" val="2494373097"/>
                    </a:ext>
                  </a:extLst>
                </a:gridCol>
                <a:gridCol w="746146">
                  <a:extLst>
                    <a:ext uri="{9D8B030D-6E8A-4147-A177-3AD203B41FA5}">
                      <a16:colId xmlns:a16="http://schemas.microsoft.com/office/drawing/2014/main" val="490043787"/>
                    </a:ext>
                  </a:extLst>
                </a:gridCol>
                <a:gridCol w="831148">
                  <a:extLst>
                    <a:ext uri="{9D8B030D-6E8A-4147-A177-3AD203B41FA5}">
                      <a16:colId xmlns:a16="http://schemas.microsoft.com/office/drawing/2014/main" val="3912995190"/>
                    </a:ext>
                  </a:extLst>
                </a:gridCol>
                <a:gridCol w="805963">
                  <a:extLst>
                    <a:ext uri="{9D8B030D-6E8A-4147-A177-3AD203B41FA5}">
                      <a16:colId xmlns:a16="http://schemas.microsoft.com/office/drawing/2014/main" val="1040459365"/>
                    </a:ext>
                  </a:extLst>
                </a:gridCol>
                <a:gridCol w="856335">
                  <a:extLst>
                    <a:ext uri="{9D8B030D-6E8A-4147-A177-3AD203B41FA5}">
                      <a16:colId xmlns:a16="http://schemas.microsoft.com/office/drawing/2014/main" val="54251520"/>
                    </a:ext>
                  </a:extLst>
                </a:gridCol>
                <a:gridCol w="742997">
                  <a:extLst>
                    <a:ext uri="{9D8B030D-6E8A-4147-A177-3AD203B41FA5}">
                      <a16:colId xmlns:a16="http://schemas.microsoft.com/office/drawing/2014/main" val="2702813168"/>
                    </a:ext>
                  </a:extLst>
                </a:gridCol>
                <a:gridCol w="780776">
                  <a:extLst>
                    <a:ext uri="{9D8B030D-6E8A-4147-A177-3AD203B41FA5}">
                      <a16:colId xmlns:a16="http://schemas.microsoft.com/office/drawing/2014/main" val="4179969475"/>
                    </a:ext>
                  </a:extLst>
                </a:gridCol>
              </a:tblGrid>
              <a:tr h="604310">
                <a:tc>
                  <a:txBody>
                    <a:bodyPr/>
                    <a:lstStyle/>
                    <a:p>
                      <a:pPr algn="l" fontAlgn="ctr">
                        <a:buNone/>
                      </a:pPr>
                      <a:r>
                        <a:rPr lang="en-IN" sz="1100" b="0" i="0" u="none" strike="noStrike">
                          <a:solidFill>
                            <a:schemeClr val="bg1"/>
                          </a:solidFill>
                          <a:effectLst/>
                          <a:latin typeface="Adani Regular" panose="02000503000000020004" pitchFamily="2" charset="0"/>
                        </a:rPr>
                        <a:t> </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UoM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Scope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Plan</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Actual</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Plan %</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tc>
                  <a:txBody>
                    <a:bodyPr/>
                    <a:lstStyle/>
                    <a:p>
                      <a:pPr algn="ctr" fontAlgn="ctr">
                        <a:buNone/>
                      </a:pPr>
                      <a:r>
                        <a:rPr lang="en-IN" sz="1200" b="1" i="0" u="none" strike="noStrike">
                          <a:solidFill>
                            <a:schemeClr val="bg1"/>
                          </a:solidFill>
                          <a:effectLst/>
                          <a:latin typeface="Adani Regular" panose="02000503000000020004" pitchFamily="2" charset="0"/>
                        </a:rPr>
                        <a:t>Actual %</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rgbClr val="A02B93"/>
                    </a:solidFill>
                  </a:tcPr>
                </a:tc>
                <a:extLst>
                  <a:ext uri="{0D108BD9-81ED-4DB2-BD59-A6C34878D82A}">
                    <a16:rowId xmlns:a16="http://schemas.microsoft.com/office/drawing/2014/main" val="202599431"/>
                  </a:ext>
                </a:extLst>
              </a:tr>
              <a:tr h="604310">
                <a:tc>
                  <a:txBody>
                    <a:bodyPr/>
                    <a:lstStyle/>
                    <a:p>
                      <a:pPr algn="ctr" fontAlgn="ctr">
                        <a:buNone/>
                      </a:pPr>
                      <a:r>
                        <a:rPr lang="en-US" sz="1100" b="1" i="0" u="none" strike="noStrike">
                          <a:solidFill>
                            <a:srgbClr val="00B050"/>
                          </a:solidFill>
                          <a:effectLst/>
                          <a:latin typeface="Adani Regular" panose="02000503000000020004" pitchFamily="2" charset="0"/>
                        </a:rPr>
                        <a:t>HT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15824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15824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15824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144588962"/>
                  </a:ext>
                </a:extLst>
              </a:tr>
              <a:tr h="604310">
                <a:tc>
                  <a:txBody>
                    <a:bodyPr/>
                    <a:lstStyle/>
                    <a:p>
                      <a:pPr algn="ctr" fontAlgn="ctr">
                        <a:buNone/>
                      </a:pPr>
                      <a:r>
                        <a:rPr lang="en-US" sz="1100" b="0" i="0" u="none" strike="noStrike">
                          <a:solidFill>
                            <a:srgbClr val="00B050"/>
                          </a:solidFill>
                          <a:effectLst/>
                          <a:latin typeface="Adani Regular" panose="02000503000000020004" pitchFamily="2" charset="0"/>
                        </a:rPr>
                        <a:t>Aux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Nos.</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16949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16949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16949</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005212093"/>
                  </a:ext>
                </a:extLst>
              </a:tr>
              <a:tr h="604310">
                <a:tc>
                  <a:txBody>
                    <a:bodyPr/>
                    <a:lstStyle/>
                    <a:p>
                      <a:pPr algn="ctr" fontAlgn="ctr">
                        <a:buNone/>
                      </a:pPr>
                      <a:r>
                        <a:rPr lang="en-US" sz="1100" b="0" i="0" u="none" strike="noStrike">
                          <a:solidFill>
                            <a:srgbClr val="00B050"/>
                          </a:solidFill>
                          <a:effectLst/>
                          <a:latin typeface="Adani Regular" panose="02000503000000020004" pitchFamily="2" charset="0"/>
                        </a:rPr>
                        <a:t>LT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88024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88024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88024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3854956687"/>
                  </a:ext>
                </a:extLst>
              </a:tr>
              <a:tr h="604310">
                <a:tc>
                  <a:txBody>
                    <a:bodyPr/>
                    <a:lstStyle/>
                    <a:p>
                      <a:pPr algn="ctr" fontAlgn="ctr">
                        <a:buNone/>
                      </a:pPr>
                      <a:r>
                        <a:rPr lang="en-US" sz="1100" b="1" i="0" u="none" strike="noStrike">
                          <a:solidFill>
                            <a:srgbClr val="00B050"/>
                          </a:solidFill>
                          <a:effectLst/>
                          <a:latin typeface="Adani Regular" panose="02000503000000020004" pitchFamily="2" charset="0"/>
                        </a:rPr>
                        <a:t>FO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4164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4164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4164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033088358"/>
                  </a:ext>
                </a:extLst>
              </a:tr>
              <a:tr h="604310">
                <a:tc>
                  <a:txBody>
                    <a:bodyPr/>
                    <a:lstStyle/>
                    <a:p>
                      <a:pPr algn="ctr" fontAlgn="ctr">
                        <a:buNone/>
                      </a:pPr>
                      <a:r>
                        <a:rPr lang="en-US" sz="1100" b="0" i="0" u="none" strike="noStrike">
                          <a:solidFill>
                            <a:srgbClr val="00B050"/>
                          </a:solidFill>
                          <a:effectLst/>
                          <a:latin typeface="Adani Regular" panose="02000503000000020004" pitchFamily="2" charset="0"/>
                        </a:rPr>
                        <a:t>Communication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14994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14994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14994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51375642"/>
                  </a:ext>
                </a:extLst>
              </a:tr>
              <a:tr h="604310">
                <a:tc>
                  <a:txBody>
                    <a:bodyPr/>
                    <a:lstStyle/>
                    <a:p>
                      <a:pPr algn="ctr" fontAlgn="ctr">
                        <a:buNone/>
                      </a:pPr>
                      <a:r>
                        <a:rPr lang="en-US" sz="1100" b="0" i="0" u="none" strike="noStrike">
                          <a:solidFill>
                            <a:srgbClr val="00B050"/>
                          </a:solidFill>
                          <a:effectLst/>
                          <a:latin typeface="Adani Regular" panose="02000503000000020004" pitchFamily="2" charset="0"/>
                        </a:rPr>
                        <a:t>EMS Control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44031</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44031</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44031</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2882540197"/>
                  </a:ext>
                </a:extLst>
              </a:tr>
              <a:tr h="604310">
                <a:tc>
                  <a:txBody>
                    <a:bodyPr/>
                    <a:lstStyle/>
                    <a:p>
                      <a:pPr algn="ctr" fontAlgn="ctr">
                        <a:buNone/>
                      </a:pPr>
                      <a:r>
                        <a:rPr lang="en-US" sz="1100" b="0" i="0" u="none" strike="noStrike">
                          <a:solidFill>
                            <a:srgbClr val="00B050"/>
                          </a:solidFill>
                          <a:effectLst/>
                          <a:latin typeface="Adani Regular" panose="02000503000000020004" pitchFamily="2" charset="0"/>
                        </a:rPr>
                        <a:t>CT Control Cable</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B050"/>
                          </a:solidFill>
                          <a:effectLst/>
                          <a:latin typeface="Adani Regular" panose="02000503000000020004" pitchFamily="2" charset="0"/>
                        </a:rPr>
                        <a:t>RM</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15824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15824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15824</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tc>
                  <a:txBody>
                    <a:bodyPr/>
                    <a:lstStyle/>
                    <a:p>
                      <a:pPr algn="ctr" fontAlgn="ctr">
                        <a:buNone/>
                      </a:pPr>
                      <a:r>
                        <a:rPr lang="en-US" sz="1100" b="1" i="0" u="none" strike="noStrike">
                          <a:solidFill>
                            <a:srgbClr val="00B050"/>
                          </a:solidFill>
                          <a:effectLst/>
                          <a:latin typeface="Adani Regular" panose="02000503000000020004" pitchFamily="2" charset="0"/>
                        </a:rPr>
                        <a:t>100%</a:t>
                      </a:r>
                    </a:p>
                  </a:txBody>
                  <a:tcPr marL="0" marR="0" marT="0" marB="0" anchor="ctr">
                    <a:lnL w="6350" cap="flat" cmpd="sng" algn="ctr">
                      <a:solidFill>
                        <a:srgbClr val="7030A0"/>
                      </a:solidFill>
                      <a:prstDash val="solid"/>
                      <a:round/>
                      <a:headEnd type="none" w="med" len="med"/>
                      <a:tailEnd type="none" w="med" len="med"/>
                    </a:lnL>
                    <a:lnR w="6350" cap="flat" cmpd="sng" algn="ctr">
                      <a:solidFill>
                        <a:srgbClr val="7030A0"/>
                      </a:solidFill>
                      <a:prstDash val="solid"/>
                      <a:round/>
                      <a:headEnd type="none" w="med" len="med"/>
                      <a:tailEnd type="none" w="med" len="med"/>
                    </a:lnR>
                    <a:lnT w="6350" cap="flat" cmpd="sng" algn="ctr">
                      <a:solidFill>
                        <a:srgbClr val="7030A0"/>
                      </a:solidFill>
                      <a:prstDash val="solid"/>
                      <a:round/>
                      <a:headEnd type="none" w="med" len="med"/>
                      <a:tailEnd type="none" w="med" len="med"/>
                    </a:lnT>
                    <a:lnB w="635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65684212"/>
                  </a:ext>
                </a:extLst>
              </a:tr>
            </a:tbl>
          </a:graphicData>
        </a:graphic>
      </p:graphicFrame>
      <p:sp>
        <p:nvSpPr>
          <p:cNvPr id="4" name="Arrow: Left 3">
            <a:hlinkClick r:id="" action="ppaction://noaction"/>
            <a:extLst>
              <a:ext uri="{FF2B5EF4-FFF2-40B4-BE49-F238E27FC236}">
                <a16:creationId xmlns:a16="http://schemas.microsoft.com/office/drawing/2014/main" id="{A0B70A34-BA89-DE64-CCD0-957F1DBF1150}"/>
              </a:ext>
            </a:extLst>
          </p:cNvPr>
          <p:cNvSpPr/>
          <p:nvPr/>
        </p:nvSpPr>
        <p:spPr>
          <a:xfrm>
            <a:off x="10928057" y="6710745"/>
            <a:ext cx="209862" cy="122744"/>
          </a:xfrm>
          <a:prstGeom prst="leftArrow">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a:extLst>
              <a:ext uri="{FF2B5EF4-FFF2-40B4-BE49-F238E27FC236}">
                <a16:creationId xmlns:a16="http://schemas.microsoft.com/office/drawing/2014/main" id="{376F2243-79CD-8A65-2A29-74C9B85B5E99}"/>
              </a:ext>
            </a:extLst>
          </p:cNvPr>
          <p:cNvGraphicFramePr>
            <a:graphicFrameLocks/>
          </p:cNvGraphicFramePr>
          <p:nvPr/>
        </p:nvGraphicFramePr>
        <p:xfrm>
          <a:off x="6985341" y="1057275"/>
          <a:ext cx="5056832" cy="48344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18229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25D70-FD01-61E9-6566-948E98E2D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D72B3-8D10-3477-B9DF-8D6D788FE588}"/>
              </a:ext>
            </a:extLst>
          </p:cNvPr>
          <p:cNvSpPr>
            <a:spLocks noGrp="1"/>
          </p:cNvSpPr>
          <p:nvPr>
            <p:ph type="ctrTitle"/>
          </p:nvPr>
        </p:nvSpPr>
        <p:spPr>
          <a:xfrm>
            <a:off x="391557" y="132790"/>
            <a:ext cx="11577483" cy="426565"/>
          </a:xfrm>
          <a:noFill/>
        </p:spPr>
        <p:txBody>
          <a:bodyPr vert="horz" wrap="square" lIns="91157" tIns="45580" rIns="91157" bIns="45580" rtlCol="0" anchor="b">
            <a:spAutoFit/>
          </a:bodyPr>
          <a:lstStyle/>
          <a:p>
            <a:pPr marL="109192" algn="l" defTabSz="911377"/>
            <a:r>
              <a:rPr lang="en-US" sz="2400" b="1">
                <a:gradFill>
                  <a:gsLst>
                    <a:gs pos="9735">
                      <a:schemeClr val="tx2"/>
                    </a:gs>
                    <a:gs pos="63000">
                      <a:srgbClr val="8E278F"/>
                    </a:gs>
                    <a:gs pos="38000">
                      <a:srgbClr val="57499E"/>
                    </a:gs>
                  </a:gsLst>
                  <a:lin ang="0" scaled="0"/>
                </a:gradFill>
                <a:ea typeface="+mn-ea"/>
                <a:cs typeface="+mn-cs"/>
              </a:rPr>
              <a:t>Major Milestones – Next 3 months </a:t>
            </a:r>
            <a:r>
              <a:rPr lang="en-US" sz="2400" b="1">
                <a:gradFill>
                  <a:gsLst>
                    <a:gs pos="9735">
                      <a:schemeClr val="tx2"/>
                    </a:gs>
                    <a:gs pos="63000">
                      <a:srgbClr val="8E278F"/>
                    </a:gs>
                    <a:gs pos="38000">
                      <a:srgbClr val="57499E"/>
                    </a:gs>
                  </a:gsLst>
                  <a:lin ang="0" scaled="0"/>
                </a:gradFill>
              </a:rPr>
              <a:t>(PSS – 10A, 5A &amp; 8A)</a:t>
            </a:r>
            <a:endParaRPr lang="en-US" sz="2400" b="1">
              <a:gradFill>
                <a:gsLst>
                  <a:gs pos="9735">
                    <a:schemeClr val="tx2"/>
                  </a:gs>
                  <a:gs pos="63000">
                    <a:srgbClr val="8E278F"/>
                  </a:gs>
                  <a:gs pos="38000">
                    <a:srgbClr val="57499E"/>
                  </a:gs>
                </a:gsLst>
                <a:lin ang="0" scaled="0"/>
              </a:gradFill>
              <a:ea typeface="+mn-ea"/>
              <a:cs typeface="+mn-cs"/>
            </a:endParaRPr>
          </a:p>
        </p:txBody>
      </p:sp>
      <p:pic>
        <p:nvPicPr>
          <p:cNvPr id="11" name="Picture 10">
            <a:extLst>
              <a:ext uri="{FF2B5EF4-FFF2-40B4-BE49-F238E27FC236}">
                <a16:creationId xmlns:a16="http://schemas.microsoft.com/office/drawing/2014/main" id="{776B8AF7-7A83-3227-AA3E-A68E1DC93F2B}"/>
              </a:ext>
            </a:extLst>
          </p:cNvPr>
          <p:cNvPicPr>
            <a:picLocks noChangeAspect="1"/>
          </p:cNvPicPr>
          <p:nvPr/>
        </p:nvPicPr>
        <p:blipFill>
          <a:blip r:embed="rId3"/>
          <a:stretch>
            <a:fillRect/>
          </a:stretch>
        </p:blipFill>
        <p:spPr>
          <a:xfrm>
            <a:off x="6086475" y="3419475"/>
            <a:ext cx="19050" cy="19050"/>
          </a:xfrm>
          <a:prstGeom prst="rect">
            <a:avLst/>
          </a:prstGeom>
        </p:spPr>
      </p:pic>
      <p:graphicFrame>
        <p:nvGraphicFramePr>
          <p:cNvPr id="4" name="Table 3">
            <a:extLst>
              <a:ext uri="{FF2B5EF4-FFF2-40B4-BE49-F238E27FC236}">
                <a16:creationId xmlns:a16="http://schemas.microsoft.com/office/drawing/2014/main" id="{BB08045F-0C5C-B236-2682-3B9CF523079E}"/>
              </a:ext>
            </a:extLst>
          </p:cNvPr>
          <p:cNvGraphicFramePr>
            <a:graphicFrameLocks noGrp="1"/>
          </p:cNvGraphicFramePr>
          <p:nvPr>
            <p:extLst>
              <p:ext uri="{D42A27DB-BD31-4B8C-83A1-F6EECF244321}">
                <p14:modId xmlns:p14="http://schemas.microsoft.com/office/powerpoint/2010/main" val="2609103368"/>
              </p:ext>
            </p:extLst>
          </p:nvPr>
        </p:nvGraphicFramePr>
        <p:xfrm>
          <a:off x="163773" y="649415"/>
          <a:ext cx="11520226" cy="5839482"/>
        </p:xfrm>
        <a:graphic>
          <a:graphicData uri="http://schemas.openxmlformats.org/drawingml/2006/table">
            <a:tbl>
              <a:tblPr firstRow="1" bandRow="1">
                <a:tableStyleId>{5C22544A-7EE6-4342-B048-85BDC9FD1C3A}</a:tableStyleId>
              </a:tblPr>
              <a:tblGrid>
                <a:gridCol w="5434076">
                  <a:extLst>
                    <a:ext uri="{9D8B030D-6E8A-4147-A177-3AD203B41FA5}">
                      <a16:colId xmlns:a16="http://schemas.microsoft.com/office/drawing/2014/main" val="1044031235"/>
                    </a:ext>
                  </a:extLst>
                </a:gridCol>
                <a:gridCol w="6086150">
                  <a:extLst>
                    <a:ext uri="{9D8B030D-6E8A-4147-A177-3AD203B41FA5}">
                      <a16:colId xmlns:a16="http://schemas.microsoft.com/office/drawing/2014/main" val="3226430816"/>
                    </a:ext>
                  </a:extLst>
                </a:gridCol>
              </a:tblGrid>
              <a:tr h="290267">
                <a:tc>
                  <a:txBody>
                    <a:bodyPr/>
                    <a:lstStyle/>
                    <a:p>
                      <a:pPr lvl="0" algn="ctr">
                        <a:buNone/>
                      </a:pPr>
                      <a:r>
                        <a:rPr lang="en-US" sz="1100">
                          <a:solidFill>
                            <a:schemeClr val="bg1"/>
                          </a:solidFill>
                          <a:latin typeface="Adani Regular"/>
                        </a:rPr>
                        <a:t>Jun-26</a:t>
                      </a:r>
                      <a:endParaRPr lang="en-US" sz="1100">
                        <a:solidFill>
                          <a:schemeClr val="bg1"/>
                        </a:solidFill>
                        <a:latin typeface="Adani Regular"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lvl="0" algn="ctr">
                        <a:buNone/>
                      </a:pPr>
                      <a:r>
                        <a:rPr lang="en-US" sz="1100">
                          <a:solidFill>
                            <a:schemeClr val="bg1"/>
                          </a:solidFill>
                          <a:latin typeface="Adani Regular"/>
                        </a:rPr>
                        <a:t>Jul-26</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3649064186"/>
                  </a:ext>
                </a:extLst>
              </a:tr>
              <a:tr h="5549215">
                <a:tc>
                  <a:txBody>
                    <a:bodyPr/>
                    <a:lstStyle/>
                    <a:p>
                      <a:pPr marL="0" marR="0" lvl="0" indent="0" algn="l">
                        <a:lnSpc>
                          <a:spcPct val="100000"/>
                        </a:lnSpc>
                        <a:spcBef>
                          <a:spcPts val="0"/>
                        </a:spcBef>
                        <a:spcAft>
                          <a:spcPts val="0"/>
                        </a:spcAft>
                        <a:buNone/>
                      </a:pPr>
                      <a:r>
                        <a:rPr lang="en-US" sz="1100" b="1" i="0" u="none" strike="noStrike" noProof="0">
                          <a:solidFill>
                            <a:schemeClr val="tx1"/>
                          </a:solidFill>
                          <a:latin typeface="Adani Regular" panose="02000503000000020004" pitchFamily="2" charset="0"/>
                        </a:rPr>
                        <a:t>Civil: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Adani Regular" panose="02000503000000020004" pitchFamily="2" charset="0"/>
                        </a:rPr>
                        <a:t>Completion of Roads &amp; Gate fixing works for PSS 10, 5 &amp; 8.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Adani Regular" panose="02000503000000020004" pitchFamily="2" charset="0"/>
                        </a:rPr>
                        <a:t>Completion of Gravel filling PSS 5 &amp; 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i="0" u="none" strike="noStrike" noProof="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i="0" u="none" strike="noStrike" noProof="0">
                          <a:solidFill>
                            <a:schemeClr val="tx1"/>
                          </a:solidFill>
                          <a:latin typeface="Adani Regular" panose="02000503000000020004" pitchFamily="2" charset="0"/>
                        </a:rPr>
                        <a:t>Delivery at Site: </a:t>
                      </a:r>
                    </a:p>
                    <a:p>
                      <a:pPr marL="0" marR="0" lvl="0" indent="0" algn="just" defTabSz="91440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i="0" u="none" strike="noStrike" noProof="0">
                          <a:solidFill>
                            <a:schemeClr val="tx1"/>
                          </a:solidFill>
                          <a:latin typeface="Adani Regular" panose="02000503000000020004" pitchFamily="2" charset="0"/>
                        </a:rPr>
                        <a:t>Battery Container </a:t>
                      </a:r>
                      <a:r>
                        <a:rPr lang="en-US" sz="1100" b="0" i="0" u="none" strike="noStrike" noProof="0">
                          <a:solidFill>
                            <a:schemeClr val="tx1"/>
                          </a:solidFill>
                          <a:latin typeface="Adani Regular" panose="02000503000000020004" pitchFamily="2" charset="0"/>
                        </a:rPr>
                        <a:t>- </a:t>
                      </a:r>
                      <a:r>
                        <a:rPr lang="en-US" sz="1100" b="0" i="0" u="none" strike="sngStrike" noProof="0">
                          <a:solidFill>
                            <a:schemeClr val="tx1"/>
                          </a:solidFill>
                          <a:latin typeface="Adani Regular" panose="02000503000000020004" pitchFamily="2" charset="0"/>
                        </a:rPr>
                        <a:t>Great Power</a:t>
                      </a:r>
                      <a:r>
                        <a:rPr lang="en-US" sz="1100" b="0" i="0" u="none" strike="noStrike" noProof="0">
                          <a:solidFill>
                            <a:schemeClr val="tx1"/>
                          </a:solidFill>
                          <a:latin typeface="Adani Regular" panose="02000503000000020004" pitchFamily="2" charset="0"/>
                        </a:rPr>
                        <a:t> Jinko (37).</a:t>
                      </a:r>
                      <a:endParaRPr lang="en-US" sz="1100" b="1" i="0" u="none" strike="noStrike" noProof="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r>
                        <a:rPr lang="en-US" sz="1100" b="1" i="0" u="none" strike="noStrike" noProof="0">
                          <a:solidFill>
                            <a:schemeClr val="tx1"/>
                          </a:solidFill>
                          <a:latin typeface="Adani Regular" panose="02000503000000020004" pitchFamily="2" charset="0"/>
                        </a:rPr>
                        <a:t>Contract Closure: </a:t>
                      </a:r>
                      <a:r>
                        <a:rPr lang="en-US" sz="1100" b="0" i="0" u="none" strike="noStrike" noProof="0">
                          <a:solidFill>
                            <a:schemeClr val="tx1"/>
                          </a:solidFill>
                          <a:latin typeface="Adani Regular" panose="02000503000000020004" pitchFamily="2" charset="0"/>
                        </a:rPr>
                        <a:t>Continuation of contract closure activities.</a:t>
                      </a:r>
                    </a:p>
                    <a:p>
                      <a:pPr marL="0" marR="0" lvl="0" indent="0" algn="just">
                        <a:lnSpc>
                          <a:spcPct val="100000"/>
                        </a:lnSpc>
                        <a:spcBef>
                          <a:spcPts val="0"/>
                        </a:spcBef>
                        <a:spcAft>
                          <a:spcPts val="0"/>
                        </a:spcAft>
                        <a:buNone/>
                      </a:pPr>
                      <a:endParaRPr lang="en-US" sz="1100" b="1" i="0" u="none" strike="noStrike" noProof="0">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r>
                        <a:rPr lang="en-US" sz="1100" b="1" i="0" u="none" strike="noStrike" noProof="0">
                          <a:solidFill>
                            <a:schemeClr val="tx1"/>
                          </a:solidFill>
                          <a:latin typeface="Adani Regular" panose="02000503000000020004" pitchFamily="2" charset="0"/>
                        </a:rPr>
                        <a:t>Obtaining Fire NOC for PSS 10, 5 &amp; 8.</a:t>
                      </a:r>
                    </a:p>
                    <a:p>
                      <a:pPr marL="0" marR="0" lvl="0" indent="0" algn="just">
                        <a:lnSpc>
                          <a:spcPct val="100000"/>
                        </a:lnSpc>
                        <a:spcBef>
                          <a:spcPts val="0"/>
                        </a:spcBef>
                        <a:spcAft>
                          <a:spcPts val="0"/>
                        </a:spcAft>
                        <a:buNone/>
                      </a:pPr>
                      <a:endParaRPr lang="en-US" sz="1100" b="0" i="0" u="none" strike="noStrike" noProof="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Intimation to Labour Inspector for PSS 10, 5 &amp; 8</a:t>
                      </a: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100" b="1" i="0" u="none" strike="noStrike" noProof="0">
                        <a:solidFill>
                          <a:schemeClr val="tx1"/>
                        </a:solidFill>
                        <a:highlight>
                          <a:srgbClr val="FFFF00"/>
                        </a:highlight>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Completion of FAP for BESS 10,5 &amp; 8.</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Adani Regular" panose="02000503000000020004" pitchFamily="2" charset="0"/>
                          <a:ea typeface="+mn-ea"/>
                          <a:cs typeface="+mn-cs"/>
                        </a:rPr>
                        <a:t>HOTO for PSS 10, 5 &amp;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i="0" u="none" strike="noStrike" noProof="0">
                        <a:solidFill>
                          <a:schemeClr val="tx1"/>
                        </a:solidFill>
                        <a:latin typeface="Adani Regular" panose="02000503000000020004" pitchFamily="2" charset="0"/>
                      </a:endParaRPr>
                    </a:p>
                    <a:p>
                      <a:pPr marL="0" marR="0" lvl="0" indent="0" algn="l">
                        <a:lnSpc>
                          <a:spcPct val="100000"/>
                        </a:lnSpc>
                        <a:spcBef>
                          <a:spcPts val="0"/>
                        </a:spcBef>
                        <a:spcAft>
                          <a:spcPts val="0"/>
                        </a:spcAft>
                        <a:buNone/>
                      </a:pPr>
                      <a:r>
                        <a:rPr lang="en-US" sz="1100" b="1" i="0" u="none" strike="noStrike" noProof="0">
                          <a:solidFill>
                            <a:schemeClr val="tx1"/>
                          </a:solidFill>
                          <a:latin typeface="Adani Regular" panose="02000503000000020004" pitchFamily="2" charset="0"/>
                        </a:rPr>
                        <a:t>Electrical:</a:t>
                      </a:r>
                    </a:p>
                    <a:p>
                      <a:pPr marL="0" marR="0" lvl="0" indent="0" algn="l">
                        <a:lnSpc>
                          <a:spcPct val="100000"/>
                        </a:lnSpc>
                        <a:spcBef>
                          <a:spcPts val="0"/>
                        </a:spcBef>
                        <a:spcAft>
                          <a:spcPts val="0"/>
                        </a:spcAft>
                        <a:buNone/>
                      </a:pPr>
                      <a:endParaRPr lang="en-US" sz="1100" b="0" i="0" u="none" strike="noStrike" noProof="0">
                        <a:solidFill>
                          <a:schemeClr val="tx1"/>
                        </a:solidFill>
                        <a:latin typeface="Adani Regular" panose="02000503000000020004" pitchFamily="2" charset="0"/>
                      </a:endParaRPr>
                    </a:p>
                    <a:p>
                      <a:pPr marL="0" marR="0" lvl="0" indent="0" algn="just">
                        <a:lnSpc>
                          <a:spcPct val="100000"/>
                        </a:lnSpc>
                        <a:spcBef>
                          <a:spcPts val="0"/>
                        </a:spcBef>
                        <a:spcAft>
                          <a:spcPts val="0"/>
                        </a:spcAft>
                        <a:buNone/>
                      </a:pPr>
                      <a:r>
                        <a:rPr lang="en-US" sz="1100" b="0">
                          <a:solidFill>
                            <a:schemeClr val="tx1"/>
                          </a:solidFill>
                          <a:latin typeface="Adani Regular" panose="02000503000000020004" pitchFamily="2" charset="0"/>
                        </a:rPr>
                        <a:t>Completion of all Electrical works for 10.</a:t>
                      </a:r>
                    </a:p>
                    <a:p>
                      <a:pPr marL="0" marR="0" lvl="0" indent="0" algn="just">
                        <a:lnSpc>
                          <a:spcPct val="100000"/>
                        </a:lnSpc>
                        <a:spcBef>
                          <a:spcPts val="0"/>
                        </a:spcBef>
                        <a:spcAft>
                          <a:spcPts val="0"/>
                        </a:spcAft>
                        <a:buNone/>
                      </a:pPr>
                      <a:r>
                        <a:rPr lang="en-US" sz="1100" b="0">
                          <a:solidFill>
                            <a:schemeClr val="tx1"/>
                          </a:solidFill>
                          <a:latin typeface="Adani Regular" panose="02000503000000020004" pitchFamily="2" charset="0"/>
                        </a:rPr>
                        <a:t>Completion of all Integration work for PSS 10.</a:t>
                      </a:r>
                    </a:p>
                    <a:p>
                      <a:pPr marL="0" marR="0" lvl="0" indent="0" algn="just"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100" b="0" i="0" u="none" strike="noStrike" noProof="0">
                        <a:solidFill>
                          <a:schemeClr val="tx1"/>
                        </a:solidFill>
                        <a:latin typeface="Adani Regular" panose="02000503000000020004" pitchFamily="2" charset="0"/>
                      </a:endParaRPr>
                    </a:p>
                    <a:p>
                      <a:pPr marL="0" marR="0" lvl="0" indent="0" algn="just" defTabSz="91440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i="0" u="none" strike="noStrike" noProof="0">
                          <a:solidFill>
                            <a:schemeClr val="tx1"/>
                          </a:solidFill>
                          <a:latin typeface="Adani Regular" panose="02000503000000020004" pitchFamily="2" charset="0"/>
                        </a:rPr>
                        <a:t>Pre-Commissioning and Commissioning </a:t>
                      </a:r>
                      <a:r>
                        <a:rPr lang="en-US" sz="1100" b="0" i="0" u="none" strike="noStrike" noProof="0">
                          <a:solidFill>
                            <a:schemeClr val="tx1"/>
                          </a:solidFill>
                          <a:latin typeface="Adani Regular" panose="02000503000000020004" pitchFamily="2" charset="0"/>
                        </a:rPr>
                        <a:t>activities at PSS 10 (37 Container).</a:t>
                      </a:r>
                    </a:p>
                    <a:p>
                      <a:pPr marL="0" marR="0" lvl="0" indent="0" algn="l">
                        <a:lnSpc>
                          <a:spcPct val="100000"/>
                        </a:lnSpc>
                        <a:spcBef>
                          <a:spcPts val="0"/>
                        </a:spcBef>
                        <a:spcAft>
                          <a:spcPts val="0"/>
                        </a:spcAft>
                        <a:buNone/>
                      </a:pPr>
                      <a:endParaRPr lang="en-US" sz="1100" b="0" i="0" u="none" strike="noStrike" noProof="0">
                        <a:solidFill>
                          <a:srgbClr val="000000"/>
                        </a:solidFill>
                        <a:highlight>
                          <a:srgbClr val="FFFF00"/>
                        </a:highlight>
                        <a:latin typeface="Adani Regular"/>
                      </a:endParaRPr>
                    </a:p>
                    <a:p>
                      <a:pPr marL="0" marR="0" lvl="0" indent="0" algn="l">
                        <a:lnSpc>
                          <a:spcPct val="100000"/>
                        </a:lnSpc>
                        <a:spcBef>
                          <a:spcPts val="0"/>
                        </a:spcBef>
                        <a:spcAft>
                          <a:spcPts val="0"/>
                        </a:spcAft>
                        <a:buNone/>
                      </a:pPr>
                      <a:r>
                        <a:rPr lang="en-US" sz="1100" b="1" i="0" u="none" strike="noStrike" noProof="0">
                          <a:solidFill>
                            <a:schemeClr val="tx1"/>
                          </a:solidFill>
                          <a:latin typeface="Adani Regular"/>
                        </a:rPr>
                        <a:t>Commissioning: </a:t>
                      </a:r>
                      <a:endParaRPr lang="en-US" sz="1100" b="0" i="0" u="none" strike="noStrike" noProof="0">
                        <a:solidFill>
                          <a:srgbClr val="000000"/>
                        </a:solidFill>
                        <a:latin typeface="Adani Regular"/>
                      </a:endParaRPr>
                    </a:p>
                    <a:p>
                      <a:pPr marL="0" marR="0" lvl="0" indent="0" algn="l">
                        <a:lnSpc>
                          <a:spcPct val="100000"/>
                        </a:lnSpc>
                        <a:spcBef>
                          <a:spcPts val="0"/>
                        </a:spcBef>
                        <a:spcAft>
                          <a:spcPts val="0"/>
                        </a:spcAft>
                        <a:buNone/>
                      </a:pPr>
                      <a:r>
                        <a:rPr lang="en-US" sz="1100" b="0" i="0" u="none" strike="noStrike" noProof="0">
                          <a:solidFill>
                            <a:schemeClr val="tx1"/>
                          </a:solidFill>
                          <a:latin typeface="Adani Regular"/>
                        </a:rPr>
                        <a:t>PSS 10: Commissioning of 37 Containers.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1" i="0" u="none" strike="noStrike" noProof="0">
                        <a:solidFill>
                          <a:schemeClr val="tx1"/>
                        </a:solidFill>
                        <a:highlight>
                          <a:srgbClr val="FFFF00"/>
                        </a:highlight>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b="1" i="0" u="none" strike="noStrike" noProof="0">
                          <a:solidFill>
                            <a:schemeClr val="tx1"/>
                          </a:solidFill>
                          <a:latin typeface="Adani Regular" panose="02000503000000020004" pitchFamily="2" charset="0"/>
                        </a:rPr>
                        <a:t>Contract Closure: </a:t>
                      </a:r>
                      <a:r>
                        <a:rPr lang="en-US" sz="1100" b="0" i="0" u="none" strike="noStrike" noProof="0">
                          <a:solidFill>
                            <a:schemeClr val="tx1"/>
                          </a:solidFill>
                          <a:latin typeface="Adani Regular" panose="02000503000000020004" pitchFamily="2" charset="0"/>
                        </a:rPr>
                        <a:t>Completion of contract closure activities.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100" b="0">
                        <a:solidFill>
                          <a:schemeClr val="tx1"/>
                        </a:solidFill>
                        <a:latin typeface="Adani Regular" panose="02000503000000020004"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Adani Regular" panose="02000503000000020004" pitchFamily="2" charset="0"/>
                          <a:ea typeface="+mn-ea"/>
                          <a:cs typeface="+mn-cs"/>
                        </a:rPr>
                        <a:t>HOTO for PSS 10 (37 Container).</a:t>
                      </a:r>
                    </a:p>
                    <a:p>
                      <a:pPr marL="0" marR="0" lvl="0" indent="0" algn="l">
                        <a:lnSpc>
                          <a:spcPct val="100000"/>
                        </a:lnSpc>
                        <a:spcBef>
                          <a:spcPts val="0"/>
                        </a:spcBef>
                        <a:spcAft>
                          <a:spcPts val="0"/>
                        </a:spcAft>
                        <a:buNone/>
                      </a:pPr>
                      <a:endParaRPr lang="en-US" sz="1100" b="0" i="0" u="none" strike="noStrike" noProof="0">
                        <a:solidFill>
                          <a:schemeClr val="tx1"/>
                        </a:solidFill>
                        <a:latin typeface="Adani Regular"/>
                      </a:endParaRPr>
                    </a:p>
                    <a:p>
                      <a:pPr marL="0" marR="0" lvl="0" indent="0" algn="l">
                        <a:lnSpc>
                          <a:spcPct val="100000"/>
                        </a:lnSpc>
                        <a:spcBef>
                          <a:spcPts val="0"/>
                        </a:spcBef>
                        <a:spcAft>
                          <a:spcPts val="0"/>
                        </a:spcAft>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6566165"/>
                  </a:ext>
                </a:extLst>
              </a:tr>
            </a:tbl>
          </a:graphicData>
        </a:graphic>
      </p:graphicFrame>
      <p:sp>
        <p:nvSpPr>
          <p:cNvPr id="3" name="Slide Number Placeholder 2">
            <a:extLst>
              <a:ext uri="{FF2B5EF4-FFF2-40B4-BE49-F238E27FC236}">
                <a16:creationId xmlns:a16="http://schemas.microsoft.com/office/drawing/2014/main" id="{E0F9D4CB-0D26-A4F2-9800-48C30D2D9329}"/>
              </a:ext>
            </a:extLst>
          </p:cNvPr>
          <p:cNvSpPr>
            <a:spLocks noGrp="1"/>
          </p:cNvSpPr>
          <p:nvPr>
            <p:ph type="sldNum" sz="quarter" idx="12"/>
          </p:nvPr>
        </p:nvSpPr>
        <p:spPr/>
        <p:txBody>
          <a:bodyPr/>
          <a:lstStyle/>
          <a:p>
            <a:fld id="{98B285C1-D8A8-4E98-B28C-1FD972D8EC54}" type="slidenum">
              <a:rPr lang="en-IN" smtClean="0"/>
              <a:t>76</a:t>
            </a:fld>
            <a:endParaRPr lang="en-IN"/>
          </a:p>
        </p:txBody>
      </p:sp>
    </p:spTree>
    <p:extLst>
      <p:ext uri="{BB962C8B-B14F-4D97-AF65-F5344CB8AC3E}">
        <p14:creationId xmlns:p14="http://schemas.microsoft.com/office/powerpoint/2010/main" val="10987532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CEDF6-A4EA-E698-7B44-9D84CF6DD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C9215-2A0F-7356-4B66-963C978477E4}"/>
              </a:ext>
            </a:extLst>
          </p:cNvPr>
          <p:cNvSpPr>
            <a:spLocks noGrp="1"/>
          </p:cNvSpPr>
          <p:nvPr>
            <p:ph type="title"/>
          </p:nvPr>
        </p:nvSpPr>
        <p:spPr>
          <a:xfrm>
            <a:off x="176461" y="105981"/>
            <a:ext cx="10829925" cy="461382"/>
          </a:xfrm>
          <a:noFill/>
        </p:spPr>
        <p:txBody>
          <a:bodyPr vert="horz" wrap="square" lIns="91157" tIns="45580" rIns="91157" bIns="45580" rtlCol="0" anchor="ctr">
            <a:spAutoFit/>
          </a:bodyPr>
          <a:lstStyle/>
          <a:p>
            <a:pPr marL="109192" defTabSz="911377"/>
            <a:r>
              <a:rPr lang="en-US" sz="2400" b="1">
                <a:gradFill>
                  <a:gsLst>
                    <a:gs pos="9735">
                      <a:schemeClr val="tx2"/>
                    </a:gs>
                    <a:gs pos="63000">
                      <a:srgbClr val="8E278F"/>
                    </a:gs>
                    <a:gs pos="38000">
                      <a:srgbClr val="57499E"/>
                    </a:gs>
                  </a:gsLst>
                  <a:lin ang="0" scaled="0"/>
                </a:gradFill>
                <a:latin typeface="Adani Regular" panose="02000503000000020004" pitchFamily="2" charset="0"/>
                <a:ea typeface="+mn-ea"/>
                <a:cs typeface="+mn-cs"/>
              </a:rPr>
              <a:t>CRITICAL ISSUES </a:t>
            </a:r>
            <a:r>
              <a:rPr lang="en-US" sz="2400" b="1">
                <a:gradFill>
                  <a:gsLst>
                    <a:gs pos="9735">
                      <a:schemeClr val="tx2"/>
                    </a:gs>
                    <a:gs pos="63000">
                      <a:srgbClr val="8E278F"/>
                    </a:gs>
                    <a:gs pos="38000">
                      <a:srgbClr val="57499E"/>
                    </a:gs>
                  </a:gsLst>
                  <a:lin ang="0" scaled="0"/>
                </a:gradFill>
                <a:latin typeface="Adani Regular" panose="02000503000000020004" pitchFamily="2" charset="0"/>
              </a:rPr>
              <a:t>FY 25-26</a:t>
            </a:r>
            <a:endParaRPr lang="en-US" sz="2400" b="1">
              <a:gradFill>
                <a:gsLst>
                  <a:gs pos="9735">
                    <a:schemeClr val="tx2"/>
                  </a:gs>
                  <a:gs pos="63000">
                    <a:srgbClr val="8E278F"/>
                  </a:gs>
                  <a:gs pos="38000">
                    <a:srgbClr val="57499E"/>
                  </a:gs>
                </a:gsLst>
                <a:lin ang="0" scaled="0"/>
              </a:gradFill>
              <a:latin typeface="Adani Regular" panose="02000503000000020004" pitchFamily="2" charset="0"/>
              <a:ea typeface="+mn-ea"/>
              <a:cs typeface="+mn-cs"/>
            </a:endParaRPr>
          </a:p>
        </p:txBody>
      </p:sp>
      <p:graphicFrame>
        <p:nvGraphicFramePr>
          <p:cNvPr id="4" name="Table 3">
            <a:extLst>
              <a:ext uri="{FF2B5EF4-FFF2-40B4-BE49-F238E27FC236}">
                <a16:creationId xmlns:a16="http://schemas.microsoft.com/office/drawing/2014/main" id="{3F2F6B3D-644C-DE99-D331-D32A743FBE08}"/>
              </a:ext>
            </a:extLst>
          </p:cNvPr>
          <p:cNvGraphicFramePr>
            <a:graphicFrameLocks noGrp="1"/>
          </p:cNvGraphicFramePr>
          <p:nvPr/>
        </p:nvGraphicFramePr>
        <p:xfrm>
          <a:off x="176460" y="624755"/>
          <a:ext cx="11871162" cy="6174175"/>
        </p:xfrm>
        <a:graphic>
          <a:graphicData uri="http://schemas.openxmlformats.org/drawingml/2006/table">
            <a:tbl>
              <a:tblPr/>
              <a:tblGrid>
                <a:gridCol w="320965">
                  <a:extLst>
                    <a:ext uri="{9D8B030D-6E8A-4147-A177-3AD203B41FA5}">
                      <a16:colId xmlns:a16="http://schemas.microsoft.com/office/drawing/2014/main" val="1937269532"/>
                    </a:ext>
                  </a:extLst>
                </a:gridCol>
                <a:gridCol w="1448521">
                  <a:extLst>
                    <a:ext uri="{9D8B030D-6E8A-4147-A177-3AD203B41FA5}">
                      <a16:colId xmlns:a16="http://schemas.microsoft.com/office/drawing/2014/main" val="2780564658"/>
                    </a:ext>
                  </a:extLst>
                </a:gridCol>
                <a:gridCol w="1147522">
                  <a:extLst>
                    <a:ext uri="{9D8B030D-6E8A-4147-A177-3AD203B41FA5}">
                      <a16:colId xmlns:a16="http://schemas.microsoft.com/office/drawing/2014/main" val="1656575301"/>
                    </a:ext>
                  </a:extLst>
                </a:gridCol>
                <a:gridCol w="3457354">
                  <a:extLst>
                    <a:ext uri="{9D8B030D-6E8A-4147-A177-3AD203B41FA5}">
                      <a16:colId xmlns:a16="http://schemas.microsoft.com/office/drawing/2014/main" val="2047575609"/>
                    </a:ext>
                  </a:extLst>
                </a:gridCol>
                <a:gridCol w="1092477">
                  <a:extLst>
                    <a:ext uri="{9D8B030D-6E8A-4147-A177-3AD203B41FA5}">
                      <a16:colId xmlns:a16="http://schemas.microsoft.com/office/drawing/2014/main" val="1227767698"/>
                    </a:ext>
                  </a:extLst>
                </a:gridCol>
                <a:gridCol w="770107">
                  <a:extLst>
                    <a:ext uri="{9D8B030D-6E8A-4147-A177-3AD203B41FA5}">
                      <a16:colId xmlns:a16="http://schemas.microsoft.com/office/drawing/2014/main" val="3797749600"/>
                    </a:ext>
                  </a:extLst>
                </a:gridCol>
                <a:gridCol w="2972972">
                  <a:extLst>
                    <a:ext uri="{9D8B030D-6E8A-4147-A177-3AD203B41FA5}">
                      <a16:colId xmlns:a16="http://schemas.microsoft.com/office/drawing/2014/main" val="2918615442"/>
                    </a:ext>
                  </a:extLst>
                </a:gridCol>
                <a:gridCol w="661244">
                  <a:extLst>
                    <a:ext uri="{9D8B030D-6E8A-4147-A177-3AD203B41FA5}">
                      <a16:colId xmlns:a16="http://schemas.microsoft.com/office/drawing/2014/main" val="3809812117"/>
                    </a:ext>
                  </a:extLst>
                </a:gridCol>
              </a:tblGrid>
              <a:tr h="157983">
                <a:tc rowSpan="2">
                  <a:txBody>
                    <a:bodyPr/>
                    <a:lstStyle/>
                    <a:p>
                      <a:pPr algn="ctr" rtl="0" fontAlgn="ctr"/>
                      <a:r>
                        <a:rPr lang="en-US" sz="1200" b="1" i="0" u="none" strike="noStrike">
                          <a:solidFill>
                            <a:schemeClr val="bg1"/>
                          </a:solidFill>
                          <a:effectLst/>
                          <a:latin typeface="Adani Regular" panose="02000503000000020004" pitchFamily="2"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Issues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Potential Impact</a:t>
                      </a:r>
                    </a:p>
                    <a:p>
                      <a:pPr algn="ctr" rtl="0" fontAlgn="ctr"/>
                      <a:r>
                        <a:rPr lang="en-US" sz="1200" b="1" i="0" u="none" strike="noStrike">
                          <a:solidFill>
                            <a:schemeClr val="bg1"/>
                          </a:solidFill>
                          <a:effectLst/>
                          <a:latin typeface="Adani Regular" panose="02000503000000020004" pitchFamily="2" charset="0"/>
                        </a:rPr>
                        <a:t>(Time &amp; Cost)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Corrective </a:t>
                      </a:r>
                    </a:p>
                    <a:p>
                      <a:pPr algn="ctr" rtl="0" fontAlgn="ctr"/>
                      <a:r>
                        <a:rPr lang="en-US" sz="1200" b="1" i="0" u="none" strike="noStrike">
                          <a:solidFill>
                            <a:schemeClr val="bg1"/>
                          </a:solidFill>
                          <a:effectLst/>
                          <a:latin typeface="Adani Regular" panose="02000503000000020004" pitchFamily="2" charset="0"/>
                        </a:rPr>
                        <a:t>Action(s)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gridSpan="2">
                  <a:txBody>
                    <a:bodyPr/>
                    <a:lstStyle/>
                    <a:p>
                      <a:pPr algn="ctr" rtl="0" fontAlgn="ctr"/>
                      <a:r>
                        <a:rPr lang="en-US" sz="1200" b="1" i="0" u="none" strike="noStrike">
                          <a:solidFill>
                            <a:schemeClr val="bg1"/>
                          </a:solidFill>
                          <a:effectLst/>
                          <a:latin typeface="Adani Regular" panose="02000503000000020004" pitchFamily="2" charset="0"/>
                        </a:rPr>
                        <a:t>Action By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lang="kn-IN"/>
                    </a:p>
                  </a:txBody>
                  <a:tcPr/>
                </a:tc>
                <a:tc rowSpan="2">
                  <a:txBody>
                    <a:bodyPr/>
                    <a:lstStyle/>
                    <a:p>
                      <a:pPr algn="ctr" rtl="0" fontAlgn="ctr"/>
                      <a:r>
                        <a:rPr lang="en-US" sz="1200" b="1" i="0" u="none" strike="noStrike">
                          <a:solidFill>
                            <a:schemeClr val="bg1"/>
                          </a:solidFill>
                          <a:effectLst/>
                          <a:latin typeface="Adani Regular" panose="02000503000000020004" pitchFamily="2" charset="0"/>
                        </a:rPr>
                        <a:t>Current </a:t>
                      </a:r>
                    </a:p>
                    <a:p>
                      <a:pPr algn="ctr" rtl="0" fontAlgn="ctr"/>
                      <a:r>
                        <a:rPr lang="en-US" sz="1200" b="1" i="0" u="none" strike="noStrike">
                          <a:solidFill>
                            <a:schemeClr val="bg1"/>
                          </a:solidFill>
                          <a:effectLst/>
                          <a:latin typeface="Adani Regular" panose="02000503000000020004" pitchFamily="2" charset="0"/>
                        </a:rPr>
                        <a:t>Status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rowSpan="2">
                  <a:txBody>
                    <a:bodyPr/>
                    <a:lstStyle/>
                    <a:p>
                      <a:pPr algn="ctr" rtl="0" fontAlgn="ctr"/>
                      <a:r>
                        <a:rPr lang="en-US" sz="1200" b="1" i="0" u="none" strike="noStrike">
                          <a:solidFill>
                            <a:schemeClr val="bg1"/>
                          </a:solidFill>
                          <a:effectLst/>
                          <a:latin typeface="Adani Regular" panose="02000503000000020004" pitchFamily="2" charset="0"/>
                        </a:rPr>
                        <a:t>Support </a:t>
                      </a:r>
                    </a:p>
                    <a:p>
                      <a:pPr algn="ctr" rtl="0" fontAlgn="ctr"/>
                      <a:r>
                        <a:rPr lang="en-US" sz="1200" b="1" i="0" u="none" strike="noStrike">
                          <a:solidFill>
                            <a:schemeClr val="bg1"/>
                          </a:solidFill>
                          <a:effectLst/>
                          <a:latin typeface="Adani Regular" panose="02000503000000020004" pitchFamily="2" charset="0"/>
                        </a:rPr>
                        <a:t>Required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2307056465"/>
                  </a:ext>
                </a:extLst>
              </a:tr>
              <a:tr h="261686">
                <a:tc vMerge="1">
                  <a:txBody>
                    <a:bodyPr/>
                    <a:lstStyle/>
                    <a:p>
                      <a:endParaRPr lang="kn-IN"/>
                    </a:p>
                  </a:txBody>
                  <a:tcPr/>
                </a:tc>
                <a:tc vMerge="1">
                  <a:txBody>
                    <a:bodyPr/>
                    <a:lstStyle/>
                    <a:p>
                      <a:endParaRPr lang="kn-IN"/>
                    </a:p>
                  </a:txBody>
                  <a:tcPr/>
                </a:tc>
                <a:tc vMerge="1">
                  <a:txBody>
                    <a:bodyPr/>
                    <a:lstStyle/>
                    <a:p>
                      <a:endParaRPr lang="kn-IN"/>
                    </a:p>
                  </a:txBody>
                  <a:tcPr/>
                </a:tc>
                <a:tc vMerge="1">
                  <a:txBody>
                    <a:bodyPr/>
                    <a:lstStyle/>
                    <a:p>
                      <a:endParaRPr lang="kn-IN"/>
                    </a:p>
                  </a:txBody>
                  <a:tcPr/>
                </a:tc>
                <a:tc>
                  <a:txBody>
                    <a:bodyPr/>
                    <a:lstStyle/>
                    <a:p>
                      <a:pPr algn="ctr" rtl="0" fontAlgn="ctr"/>
                      <a:r>
                        <a:rPr lang="en-US" sz="1200" b="1" i="0" u="none" strike="noStrike">
                          <a:solidFill>
                            <a:schemeClr val="bg1"/>
                          </a:solidFill>
                          <a:effectLst/>
                          <a:latin typeface="Adani Regular" panose="02000503000000020004" pitchFamily="2" charset="0"/>
                        </a:rPr>
                        <a:t>Whom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rtl="0" fontAlgn="ctr"/>
                      <a:r>
                        <a:rPr lang="en-US" sz="1200" b="1" i="0" u="none" strike="noStrike">
                          <a:solidFill>
                            <a:schemeClr val="bg1"/>
                          </a:solidFill>
                          <a:effectLst/>
                          <a:latin typeface="Adani Regular" panose="02000503000000020004" pitchFamily="2" charset="0"/>
                        </a:rPr>
                        <a:t>Date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lang="kn-IN"/>
                    </a:p>
                  </a:txBody>
                  <a:tcPr/>
                </a:tc>
                <a:tc vMerge="1">
                  <a:txBody>
                    <a:bodyPr/>
                    <a:lstStyle/>
                    <a:p>
                      <a:endParaRPr lang="kn-IN"/>
                    </a:p>
                  </a:txBody>
                  <a:tcPr/>
                </a:tc>
                <a:extLst>
                  <a:ext uri="{0D108BD9-81ED-4DB2-BD59-A6C34878D82A}">
                    <a16:rowId xmlns:a16="http://schemas.microsoft.com/office/drawing/2014/main" val="3427794270"/>
                  </a:ext>
                </a:extLst>
              </a:tr>
              <a:tr h="1592992">
                <a:tc>
                  <a:txBody>
                    <a:bodyPr/>
                    <a:lstStyle/>
                    <a:p>
                      <a:pPr marL="0" lvl="0" algn="ctr" defTabSz="914400">
                        <a:buNone/>
                      </a:pPr>
                      <a:r>
                        <a:rPr lang="en-US" sz="1100" b="0" i="0" u="none" strike="noStrike" kern="1200">
                          <a:solidFill>
                            <a:srgbClr val="000000"/>
                          </a:solidFill>
                          <a:effectLst/>
                          <a:latin typeface="Adani Regular" panose="02000503000000020004" pitchFamily="2" charset="0"/>
                          <a:ea typeface="+mn-ea"/>
                          <a:cs typeface="+mn-cs"/>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sz="1100" b="0" i="0" u="none" strike="noStrike">
                          <a:solidFill>
                            <a:schemeClr val="tx1"/>
                          </a:solidFill>
                          <a:effectLst/>
                          <a:latin typeface="Adani Regular" panose="02000503000000020004" pitchFamily="2" charset="0"/>
                          <a:ea typeface="+mn-ea"/>
                          <a:cs typeface="+mn-cs"/>
                        </a:rPr>
                        <a:t>Timely Integration and Commissioning </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panose="02000503000000020004" pitchFamily="2" charset="0"/>
                          <a:ea typeface="+mn-ea"/>
                          <a:cs typeface="+mn-cs"/>
                        </a:rPr>
                        <a:t>Commissioning Delay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4163" marR="0" lvl="0" indent="-220663"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100" b="0" i="0" u="none" strike="noStrike" kern="1200">
                          <a:solidFill>
                            <a:schemeClr val="tx1"/>
                          </a:solidFill>
                          <a:effectLst/>
                          <a:latin typeface="Adani Regular" panose="02000503000000020004" pitchFamily="2" charset="0"/>
                          <a:ea typeface="+mn-ea"/>
                          <a:cs typeface="+mn-cs"/>
                        </a:rPr>
                        <a:t>M/s Geon contracted for Integration and Commissioning activities. </a:t>
                      </a:r>
                    </a:p>
                    <a:p>
                      <a:pPr marL="284163" marR="0" lvl="0" indent="-220663"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100" b="0" i="0" u="none" strike="noStrike" kern="1200" noProof="0">
                          <a:solidFill>
                            <a:schemeClr val="tx1"/>
                          </a:solidFill>
                          <a:effectLst/>
                          <a:latin typeface="Adani Regular" panose="02000503000000020004" pitchFamily="2" charset="0"/>
                          <a:ea typeface="+mn-ea"/>
                          <a:cs typeface="+mn-cs"/>
                        </a:rPr>
                        <a:t>A multi-disciplinary team consisting of members from O&amp;M, Asset Commissioning, Project, Technology Teams formed for supervising Integration, Commissioning activities. </a:t>
                      </a:r>
                      <a:endParaRPr lang="en-US" sz="1100" b="0" i="0" u="none" strike="noStrike" kern="1200">
                        <a:solidFill>
                          <a:schemeClr val="tx1"/>
                        </a:solidFill>
                        <a:effectLst/>
                        <a:latin typeface="Adani Regular" panose="02000503000000020004" pitchFamily="2" charset="0"/>
                        <a:ea typeface="+mn-ea"/>
                        <a:cs typeface="+mn-cs"/>
                      </a:endParaRPr>
                    </a:p>
                    <a:p>
                      <a:pPr marL="284163" marR="0" lvl="0" indent="-220663"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100" b="0" i="0" u="none" strike="noStrike" kern="1200" noProof="0">
                          <a:solidFill>
                            <a:schemeClr val="tx1"/>
                          </a:solidFill>
                          <a:effectLst/>
                          <a:latin typeface="Adani Regular" panose="02000503000000020004" pitchFamily="2" charset="0"/>
                          <a:ea typeface="+mn-ea"/>
                          <a:cs typeface="+mn-cs"/>
                        </a:rPr>
                        <a:t>A Commissioning App has also been created so that all activities are correctly undertaken and in the right sequence. </a:t>
                      </a:r>
                    </a:p>
                    <a:p>
                      <a:pPr marL="284163" marR="0" lvl="0" indent="-220663"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100" b="0" i="0" u="none" strike="noStrike" kern="1200" noProof="0">
                          <a:solidFill>
                            <a:schemeClr val="tx1"/>
                          </a:solidFill>
                          <a:effectLst/>
                          <a:latin typeface="Adani Regular" panose="02000503000000020004" pitchFamily="2" charset="0"/>
                          <a:ea typeface="+mn-ea"/>
                          <a:cs typeface="+mn-cs"/>
                        </a:rPr>
                        <a:t>Separate DG set installed to meet requirement of </a:t>
                      </a:r>
                      <a:r>
                        <a:rPr lang="en-US" sz="1100" b="0" i="0" u="none" strike="noStrike" kern="1200">
                          <a:solidFill>
                            <a:schemeClr val="tx1"/>
                          </a:solidFill>
                          <a:effectLst/>
                          <a:latin typeface="Adani Regular" panose="02000503000000020004" pitchFamily="2" charset="0"/>
                          <a:ea typeface="+mn-ea"/>
                          <a:cs typeface="+mn-cs"/>
                        </a:rPr>
                        <a:t>auxiliary supply.</a:t>
                      </a:r>
                    </a:p>
                  </a:txBody>
                  <a:tcPr marL="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eaLnBrk="1" fontAlgn="ctr" latinLnBrk="0" hangingPunct="1">
                        <a:lnSpc>
                          <a:spcPct val="100000"/>
                        </a:lnSpc>
                        <a:spcBef>
                          <a:spcPts val="0"/>
                        </a:spcBef>
                        <a:spcAft>
                          <a:spcPts val="0"/>
                        </a:spcAft>
                        <a:buClrTx/>
                        <a:buSzTx/>
                        <a:buFontTx/>
                        <a:buNone/>
                      </a:pPr>
                      <a:r>
                        <a:rPr lang="en-US" sz="1100" b="0" i="0" u="none" strike="noStrike" kern="1200">
                          <a:solidFill>
                            <a:srgbClr val="000000"/>
                          </a:solidFill>
                          <a:effectLst/>
                          <a:latin typeface="Adani Regular" panose="02000503000000020004" pitchFamily="2" charset="0"/>
                          <a:ea typeface="+mn-ea"/>
                          <a:cs typeface="+mn-cs"/>
                        </a:rPr>
                        <a:t>O&amp;M, Asset Commissioning, Project, Technology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Adani Regular" panose="02000503000000020004" pitchFamily="2" charset="0"/>
                          <a:ea typeface="+mn-ea"/>
                          <a:cs typeface="+mn-cs"/>
                        </a:rPr>
                        <a:t>Contracted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rtl="0" eaLnBrk="1" fontAlgn="auto" latinLnBrk="0" hangingPunct="1">
                        <a:lnSpc>
                          <a:spcPct val="100000"/>
                        </a:lnSpc>
                        <a:spcBef>
                          <a:spcPts val="0"/>
                        </a:spcBef>
                        <a:spcAft>
                          <a:spcPts val="0"/>
                        </a:spcAft>
                        <a:buClrTx/>
                        <a:buSzTx/>
                        <a:buFont typeface="Arial" panose="020B0604020202020204" pitchFamily="34" charset="0"/>
                        <a:buNone/>
                      </a:pP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Manpower</a:t>
                      </a:r>
                      <a:r>
                        <a:rPr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from</a:t>
                      </a: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M/s Geon available</a:t>
                      </a:r>
                      <a:r>
                        <a:rPr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 </a:t>
                      </a:r>
                      <a:r>
                        <a:rPr kumimoji="0" lang="en-US" sz="1100" b="0" i="0" u="none" strike="noStrike" kern="1200" cap="none" spc="0" normalizeH="0" baseline="0" noProof="0">
                          <a:ln>
                            <a:noFill/>
                          </a:ln>
                          <a:solidFill>
                            <a:srgbClr val="000000"/>
                          </a:solidFill>
                          <a:effectLst/>
                          <a:uLnTx/>
                          <a:uFillTx/>
                          <a:latin typeface="Adani Regular" panose="02000503000000020004" pitchFamily="2" charset="0"/>
                          <a:ea typeface="+mn-ea"/>
                          <a:cs typeface="+mn-cs"/>
                        </a:rPr>
                        <a:t>wef 24 Dec 2025 </a:t>
                      </a:r>
                    </a:p>
                  </a:txBody>
                  <a:tcPr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chemeClr val="tx1"/>
                          </a:solidFill>
                          <a:effectLst/>
                          <a:latin typeface="Adani Regular" panose="02000503000000020004" pitchFamily="2" charset="0"/>
                        </a:rPr>
                        <a:t>-</a:t>
                      </a:r>
                      <a:endParaRPr lang="kn-IN" sz="1100" b="0" i="0" u="none" strike="noStrike">
                        <a:solidFill>
                          <a:schemeClr val="tx1"/>
                        </a:solidFill>
                        <a:effectLst/>
                        <a:latin typeface="Adani Regular" panose="02000503000000020004"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3680139"/>
                  </a:ext>
                </a:extLst>
              </a:tr>
              <a:tr h="2712037">
                <a:tc>
                  <a:txBody>
                    <a:bodyPr/>
                    <a:lstStyle/>
                    <a:p>
                      <a:pPr marL="0" lvl="0" algn="ctr" defTabSz="914400">
                        <a:buNone/>
                      </a:pPr>
                      <a:r>
                        <a:rPr lang="en-US" sz="1100" b="0" i="0" u="none" strike="noStrike" kern="1200">
                          <a:solidFill>
                            <a:srgbClr val="000000"/>
                          </a:solidFill>
                          <a:effectLst/>
                          <a:latin typeface="Adani Regular" panose="02000503000000020004" pitchFamily="2" charset="0"/>
                          <a:ea typeface="+mn-ea"/>
                          <a:cs typeface="+mn-cs"/>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lnSpc>
                          <a:spcPts val="1500"/>
                        </a:lnSpc>
                        <a:buNone/>
                      </a:pPr>
                      <a:r>
                        <a:rPr lang="en-US" sz="1100" b="0" i="0" u="none" strike="noStrike">
                          <a:solidFill>
                            <a:schemeClr val="tx1"/>
                          </a:solidFill>
                          <a:effectLst/>
                          <a:latin typeface="Adani Regular" panose="02000503000000020004" pitchFamily="2" charset="0"/>
                          <a:ea typeface="+mn-ea"/>
                          <a:cs typeface="+mn-cs"/>
                        </a:rPr>
                        <a:t>Delivery of Battery Containers has been delayed due to geopolitical tensions arising from the Iran–Israel–US conflict, resulting in disruption to international logistics and shipping movements.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a:solidFill>
                            <a:schemeClr val="tx1"/>
                          </a:solidFill>
                          <a:effectLst/>
                          <a:latin typeface="Adani Regular" panose="02000503000000020004" pitchFamily="2" charset="0"/>
                          <a:ea typeface="+mn-ea"/>
                          <a:cs typeface="+mn-cs"/>
                        </a:rPr>
                        <a:t>Commissioning Delay for PSS-10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fontAlgn="t">
                        <a:lnSpc>
                          <a:spcPts val="1500"/>
                        </a:lnSpc>
                        <a:buFont typeface="Arial" panose="020B0604020202020204" pitchFamily="34" charset="0"/>
                        <a:buChar char="•"/>
                      </a:pPr>
                      <a:r>
                        <a:rPr lang="en-US" sz="1100" b="0" i="0" u="none" strike="noStrike">
                          <a:solidFill>
                            <a:schemeClr val="tx1"/>
                          </a:solidFill>
                          <a:effectLst/>
                          <a:latin typeface="Adani Regular" panose="02000503000000020004" pitchFamily="2" charset="0"/>
                          <a:ea typeface="+mn-ea"/>
                          <a:cs typeface="+mn-cs"/>
                        </a:rPr>
                        <a:t>Active engagement with logistics partners for expedited container release,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eaLnBrk="1" fontAlgn="ctr" latinLnBrk="0" hangingPunct="1">
                        <a:lnSpc>
                          <a:spcPct val="100000"/>
                        </a:lnSpc>
                        <a:spcBef>
                          <a:spcPts val="0"/>
                        </a:spcBef>
                        <a:spcAft>
                          <a:spcPts val="0"/>
                        </a:spcAft>
                        <a:buClrTx/>
                        <a:buSzTx/>
                        <a:buFontTx/>
                        <a:buNone/>
                      </a:pPr>
                      <a:r>
                        <a:rPr lang="en-US" sz="1100" b="0" i="0" u="none" strike="noStrike" kern="1200">
                          <a:solidFill>
                            <a:srgbClr val="000000"/>
                          </a:solidFill>
                          <a:effectLst/>
                          <a:latin typeface="Adani Regular" panose="02000503000000020004" pitchFamily="2" charset="0"/>
                          <a:ea typeface="+mn-ea"/>
                          <a:cs typeface="+mn-cs"/>
                        </a:rPr>
                        <a:t>Logistic Team, TC Team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Adani Regular" panose="02000503000000020004" pitchFamily="2" charset="0"/>
                          <a:ea typeface="+mn-ea"/>
                          <a:cs typeface="+mn-cs"/>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lnSpc>
                          <a:spcPts val="1500"/>
                        </a:lnSpc>
                        <a:buNone/>
                      </a:pPr>
                      <a:r>
                        <a:rPr lang="en-US" sz="1100" b="0" i="0" u="none" strike="noStrike">
                          <a:solidFill>
                            <a:schemeClr val="tx1"/>
                          </a:solidFill>
                          <a:effectLst/>
                          <a:latin typeface="Adani Regular" panose="02000503000000020004" pitchFamily="2" charset="0"/>
                          <a:ea typeface="+mn-ea"/>
                          <a:cs typeface="+mn-cs"/>
                        </a:rPr>
                        <a:t>A total of 37 numbers of Great Power Battery Containers are presently held up at Jebel Ali Port (UAE), awaiting further instructions for dispatch.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100" b="0" i="0" u="none" strike="noStrike">
                          <a:solidFill>
                            <a:schemeClr val="tx1"/>
                          </a:solidFill>
                          <a:effectLst/>
                          <a:latin typeface="Adani Regular" panose="02000503000000020004" pitchFamily="2" charset="0"/>
                        </a:rPr>
                        <a:t>-</a:t>
                      </a:r>
                      <a:endParaRPr lang="kn-IN" sz="1100" b="0" i="0" u="none" strike="noStrike">
                        <a:solidFill>
                          <a:schemeClr val="tx1"/>
                        </a:solidFill>
                        <a:effectLst/>
                        <a:latin typeface="Adani Regular" panose="02000503000000020004"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6821862"/>
                  </a:ext>
                </a:extLst>
              </a:tr>
              <a:tr h="901818">
                <a:tc>
                  <a:txBody>
                    <a:bodyPr/>
                    <a:lstStyle/>
                    <a:p>
                      <a:pPr marL="0" lvl="0" algn="ctr" defTabSz="914400">
                        <a:buNone/>
                      </a:pPr>
                      <a:r>
                        <a:rPr lang="en-US" sz="1100" b="0" i="0" u="none" strike="noStrike" kern="1200">
                          <a:solidFill>
                            <a:srgbClr val="000000"/>
                          </a:solidFill>
                          <a:effectLst/>
                          <a:latin typeface="Adani Regular" panose="02000503000000020004" pitchFamily="2" charset="0"/>
                          <a:ea typeface="+mn-ea"/>
                          <a:cs typeface="+mn-cs"/>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t" latinLnBrk="0" hangingPunct="1">
                        <a:lnSpc>
                          <a:spcPts val="1500"/>
                        </a:lnSpc>
                        <a:spcBef>
                          <a:spcPts val="0"/>
                        </a:spcBef>
                        <a:spcAft>
                          <a:spcPts val="0"/>
                        </a:spcAft>
                        <a:buClrTx/>
                        <a:buSzTx/>
                        <a:buFontTx/>
                        <a:buNone/>
                        <a:tabLst/>
                        <a:defRPr/>
                      </a:pPr>
                      <a:r>
                        <a:rPr lang="en-US" sz="1000" b="0" i="0" u="none" strike="noStrike">
                          <a:solidFill>
                            <a:srgbClr val="000000"/>
                          </a:solidFill>
                          <a:effectLst/>
                          <a:latin typeface="Adani Regular" panose="02000503000000020004" pitchFamily="2" charset="0"/>
                        </a:rPr>
                        <a:t>Lack of Skilled Civil &amp; ACDC manpower led to delays in project execution. </a:t>
                      </a:r>
                      <a:endParaRPr lang="en-US" sz="1000" b="0" i="0" u="none" strike="noStrike">
                        <a:solidFill>
                          <a:schemeClr val="tx1"/>
                        </a:solidFill>
                        <a:effectLst/>
                        <a:latin typeface="Adani Regular" panose="02000503000000020004" pitchFamily="2"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a:solidFill>
                            <a:schemeClr val="tx1"/>
                          </a:solidFill>
                          <a:effectLst/>
                          <a:latin typeface="Adani Regular" panose="02000503000000020004" pitchFamily="2" charset="0"/>
                          <a:ea typeface="+mn-ea"/>
                          <a:cs typeface="+mn-cs"/>
                        </a:rPr>
                        <a:t>Commissioning Delay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r>
                        <a:rPr lang="en-US" sz="1000" b="0" i="0" u="none" strike="noStrike">
                          <a:solidFill>
                            <a:srgbClr val="000000"/>
                          </a:solidFill>
                          <a:effectLst/>
                          <a:latin typeface="Adani Regular" panose="02000503000000020004" pitchFamily="2" charset="0"/>
                        </a:rPr>
                        <a:t>Specific skill set such as power engineering, control engineering, SCADA should be included in partners team.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eaLnBrk="1" fontAlgn="ctr" latinLnBrk="0" hangingPunct="1">
                        <a:lnSpc>
                          <a:spcPct val="100000"/>
                        </a:lnSpc>
                        <a:spcBef>
                          <a:spcPts val="0"/>
                        </a:spcBef>
                        <a:spcAft>
                          <a:spcPts val="0"/>
                        </a:spcAft>
                        <a:buClrTx/>
                        <a:buSzTx/>
                        <a:buFontTx/>
                        <a:buNone/>
                      </a:pPr>
                      <a:r>
                        <a:rPr lang="en-US" sz="1000" b="0" i="0" u="none" strike="noStrike" kern="1200">
                          <a:solidFill>
                            <a:srgbClr val="000000"/>
                          </a:solidFill>
                          <a:effectLst/>
                          <a:latin typeface="Adani Regular" panose="02000503000000020004" pitchFamily="2" charset="0"/>
                          <a:ea typeface="+mn-ea"/>
                          <a:cs typeface="+mn-cs"/>
                        </a:rPr>
                        <a:t>Project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a:solidFill>
                            <a:schemeClr val="tx1"/>
                          </a:solidFill>
                          <a:effectLst/>
                          <a:latin typeface="Adani Regular" panose="02000503000000020004" pitchFamily="2" charset="0"/>
                          <a:ea typeface="+mn-ea"/>
                          <a:cs typeface="+mn-cs"/>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lnSpc>
                          <a:spcPts val="1500"/>
                        </a:lnSpc>
                        <a:buNone/>
                      </a:pPr>
                      <a:r>
                        <a:rPr lang="en-US" sz="1000" b="0" i="0" u="none" strike="noStrike">
                          <a:solidFill>
                            <a:srgbClr val="000000"/>
                          </a:solidFill>
                          <a:effectLst/>
                          <a:latin typeface="Adani Regular" panose="02000503000000020004" pitchFamily="2" charset="0"/>
                        </a:rPr>
                        <a:t>It will be mitigated in the next project adding skilled manpower on need basis to obviate delays  to project timeline.</a:t>
                      </a:r>
                      <a:endParaRPr lang="en-US" sz="1000" b="0" i="0" u="none" strike="noStrike">
                        <a:solidFill>
                          <a:schemeClr val="tx1"/>
                        </a:solidFill>
                        <a:effectLst/>
                        <a:latin typeface="Adani Regular" panose="02000503000000020004" pitchFamily="2"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endParaRPr lang="kn-IN" sz="1100" b="0" i="0" u="none" strike="noStrike">
                        <a:solidFill>
                          <a:schemeClr val="tx1"/>
                        </a:solidFill>
                        <a:effectLst/>
                        <a:latin typeface="Adani Regular" panose="02000503000000020004"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3832541"/>
                  </a:ext>
                </a:extLst>
              </a:tr>
            </a:tbl>
          </a:graphicData>
        </a:graphic>
      </p:graphicFrame>
      <p:sp>
        <p:nvSpPr>
          <p:cNvPr id="3" name="Slide Number Placeholder 2">
            <a:extLst>
              <a:ext uri="{FF2B5EF4-FFF2-40B4-BE49-F238E27FC236}">
                <a16:creationId xmlns:a16="http://schemas.microsoft.com/office/drawing/2014/main" id="{79705885-3E4A-FE7C-ADD4-B1ECDDEDD0C1}"/>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77</a:t>
            </a:fld>
            <a:endParaRPr lang="en-IN"/>
          </a:p>
        </p:txBody>
      </p:sp>
    </p:spTree>
    <p:extLst>
      <p:ext uri="{BB962C8B-B14F-4D97-AF65-F5344CB8AC3E}">
        <p14:creationId xmlns:p14="http://schemas.microsoft.com/office/powerpoint/2010/main" val="40959696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196B4-65D8-99FD-5918-D941D6B2D9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1C6A753-5788-C2D1-955F-90BBA19BD05B}"/>
              </a:ext>
            </a:extLst>
          </p:cNvPr>
          <p:cNvSpPr txBox="1">
            <a:spLocks/>
          </p:cNvSpPr>
          <p:nvPr/>
        </p:nvSpPr>
        <p:spPr>
          <a:xfrm>
            <a:off x="400345" y="145050"/>
            <a:ext cx="11577483" cy="424449"/>
          </a:xfrm>
          <a:noFill/>
        </p:spPr>
        <p:txBody>
          <a:bodyPr vert="horz" wrap="square" lIns="91157" tIns="45580" rIns="91157" bIns="45580" rtlCol="0" anchor="b">
            <a:spAutoFit/>
          </a:bodyPr>
          <a:lstStyle>
            <a:lvl1pPr algn="l" defTabSz="914400" rtl="0" eaLnBrk="1" latinLnBrk="0" hangingPunct="1">
              <a:lnSpc>
                <a:spcPct val="90000"/>
              </a:lnSpc>
              <a:spcBef>
                <a:spcPct val="0"/>
              </a:spcBef>
              <a:buNone/>
              <a:defRPr sz="2200" kern="1200">
                <a:solidFill>
                  <a:srgbClr val="922682"/>
                </a:solidFill>
                <a:latin typeface="Adani Medium" panose="02000503000000020004" pitchFamily="2" charset="0"/>
                <a:ea typeface="+mj-ea"/>
                <a:cs typeface="+mj-cs"/>
              </a:defRPr>
            </a:lvl1pPr>
          </a:lstStyle>
          <a:p>
            <a:pPr marL="108585" defTabSz="911377"/>
            <a:r>
              <a:rPr lang="en-US" sz="2400" b="1">
                <a:solidFill>
                  <a:srgbClr val="7030A0"/>
                </a:solidFill>
                <a:latin typeface="Adani Regular" panose="02000503000000020004"/>
                <a:ea typeface="+mn-ea"/>
                <a:cs typeface="+mn-cs"/>
              </a:rPr>
              <a:t>Financial Progress: S Curve </a:t>
            </a:r>
            <a:r>
              <a:rPr lang="en-US" sz="2400" b="1" i="1">
                <a:gradFill>
                  <a:gsLst>
                    <a:gs pos="9735">
                      <a:schemeClr val="tx2"/>
                    </a:gs>
                    <a:gs pos="63000">
                      <a:srgbClr val="8E278F"/>
                    </a:gs>
                    <a:gs pos="38000">
                      <a:srgbClr val="57499E"/>
                    </a:gs>
                  </a:gsLst>
                  <a:lin ang="0" scaled="0"/>
                </a:gradFill>
                <a:latin typeface="Adani Regular" panose="02000503000000020004"/>
              </a:rPr>
              <a:t>[updated till 31 May 26]</a:t>
            </a:r>
            <a:r>
              <a:rPr lang="en-US" sz="2400" b="1">
                <a:solidFill>
                  <a:srgbClr val="7030A0"/>
                </a:solidFill>
                <a:latin typeface="Adani Regular" panose="02000503000000020004"/>
                <a:ea typeface="+mn-ea"/>
                <a:cs typeface="+mn-cs"/>
              </a:rPr>
              <a:t> </a:t>
            </a:r>
          </a:p>
        </p:txBody>
      </p:sp>
      <p:sp>
        <p:nvSpPr>
          <p:cNvPr id="3" name="TextBox 2">
            <a:extLst>
              <a:ext uri="{FF2B5EF4-FFF2-40B4-BE49-F238E27FC236}">
                <a16:creationId xmlns:a16="http://schemas.microsoft.com/office/drawing/2014/main" id="{E923F025-EC59-E764-AEFF-33FAC18AD6A1}"/>
              </a:ext>
            </a:extLst>
          </p:cNvPr>
          <p:cNvSpPr txBox="1"/>
          <p:nvPr/>
        </p:nvSpPr>
        <p:spPr>
          <a:xfrm>
            <a:off x="400345" y="6358171"/>
            <a:ext cx="11240813" cy="307777"/>
          </a:xfrm>
          <a:prstGeom prst="rect">
            <a:avLst/>
          </a:prstGeom>
          <a:noFill/>
        </p:spPr>
        <p:txBody>
          <a:bodyPr wrap="square" lIns="91440" tIns="45720" rIns="91440" bIns="45720" rtlCol="0" anchor="t">
            <a:spAutoFit/>
          </a:bodyPr>
          <a:lstStyle/>
          <a:p>
            <a:r>
              <a:rPr lang="en-US" sz="1400" i="1">
                <a:solidFill>
                  <a:srgbClr val="0000FF"/>
                </a:solidFill>
                <a:latin typeface="Adani Regular"/>
              </a:rPr>
              <a:t>* Considering 667 Nos of Container &amp; all PCS reached at site</a:t>
            </a:r>
            <a:r>
              <a:rPr lang="en-US" sz="1400" i="1">
                <a:latin typeface="Adani Regular"/>
              </a:rPr>
              <a:t> </a:t>
            </a:r>
          </a:p>
        </p:txBody>
      </p:sp>
      <p:graphicFrame>
        <p:nvGraphicFramePr>
          <p:cNvPr id="8" name="Table 7">
            <a:extLst>
              <a:ext uri="{FF2B5EF4-FFF2-40B4-BE49-F238E27FC236}">
                <a16:creationId xmlns:a16="http://schemas.microsoft.com/office/drawing/2014/main" id="{318DB6AC-FCB2-75DF-5972-275BDF9A309F}"/>
              </a:ext>
            </a:extLst>
          </p:cNvPr>
          <p:cNvGraphicFramePr>
            <a:graphicFrameLocks noGrp="1"/>
          </p:cNvGraphicFramePr>
          <p:nvPr/>
        </p:nvGraphicFramePr>
        <p:xfrm>
          <a:off x="177800" y="3500339"/>
          <a:ext cx="11800025" cy="2067340"/>
        </p:xfrm>
        <a:graphic>
          <a:graphicData uri="http://schemas.openxmlformats.org/drawingml/2006/table">
            <a:tbl>
              <a:tblPr/>
              <a:tblGrid>
                <a:gridCol w="1751754">
                  <a:extLst>
                    <a:ext uri="{9D8B030D-6E8A-4147-A177-3AD203B41FA5}">
                      <a16:colId xmlns:a16="http://schemas.microsoft.com/office/drawing/2014/main" val="1305421145"/>
                    </a:ext>
                  </a:extLst>
                </a:gridCol>
                <a:gridCol w="624837">
                  <a:extLst>
                    <a:ext uri="{9D8B030D-6E8A-4147-A177-3AD203B41FA5}">
                      <a16:colId xmlns:a16="http://schemas.microsoft.com/office/drawing/2014/main" val="3552762853"/>
                    </a:ext>
                  </a:extLst>
                </a:gridCol>
                <a:gridCol w="726743">
                  <a:extLst>
                    <a:ext uri="{9D8B030D-6E8A-4147-A177-3AD203B41FA5}">
                      <a16:colId xmlns:a16="http://schemas.microsoft.com/office/drawing/2014/main" val="2004234457"/>
                    </a:ext>
                  </a:extLst>
                </a:gridCol>
                <a:gridCol w="726743">
                  <a:extLst>
                    <a:ext uri="{9D8B030D-6E8A-4147-A177-3AD203B41FA5}">
                      <a16:colId xmlns:a16="http://schemas.microsoft.com/office/drawing/2014/main" val="1022481317"/>
                    </a:ext>
                  </a:extLst>
                </a:gridCol>
                <a:gridCol w="702518">
                  <a:extLst>
                    <a:ext uri="{9D8B030D-6E8A-4147-A177-3AD203B41FA5}">
                      <a16:colId xmlns:a16="http://schemas.microsoft.com/office/drawing/2014/main" val="1973524772"/>
                    </a:ext>
                  </a:extLst>
                </a:gridCol>
                <a:gridCol w="726743">
                  <a:extLst>
                    <a:ext uri="{9D8B030D-6E8A-4147-A177-3AD203B41FA5}">
                      <a16:colId xmlns:a16="http://schemas.microsoft.com/office/drawing/2014/main" val="1120892829"/>
                    </a:ext>
                  </a:extLst>
                </a:gridCol>
                <a:gridCol w="726743">
                  <a:extLst>
                    <a:ext uri="{9D8B030D-6E8A-4147-A177-3AD203B41FA5}">
                      <a16:colId xmlns:a16="http://schemas.microsoft.com/office/drawing/2014/main" val="1559335703"/>
                    </a:ext>
                  </a:extLst>
                </a:gridCol>
                <a:gridCol w="726743">
                  <a:extLst>
                    <a:ext uri="{9D8B030D-6E8A-4147-A177-3AD203B41FA5}">
                      <a16:colId xmlns:a16="http://schemas.microsoft.com/office/drawing/2014/main" val="980414030"/>
                    </a:ext>
                  </a:extLst>
                </a:gridCol>
                <a:gridCol w="726743">
                  <a:extLst>
                    <a:ext uri="{9D8B030D-6E8A-4147-A177-3AD203B41FA5}">
                      <a16:colId xmlns:a16="http://schemas.microsoft.com/office/drawing/2014/main" val="2787771928"/>
                    </a:ext>
                  </a:extLst>
                </a:gridCol>
                <a:gridCol w="726743">
                  <a:extLst>
                    <a:ext uri="{9D8B030D-6E8A-4147-A177-3AD203B41FA5}">
                      <a16:colId xmlns:a16="http://schemas.microsoft.com/office/drawing/2014/main" val="1225673837"/>
                    </a:ext>
                  </a:extLst>
                </a:gridCol>
                <a:gridCol w="726743">
                  <a:extLst>
                    <a:ext uri="{9D8B030D-6E8A-4147-A177-3AD203B41FA5}">
                      <a16:colId xmlns:a16="http://schemas.microsoft.com/office/drawing/2014/main" val="287390473"/>
                    </a:ext>
                  </a:extLst>
                </a:gridCol>
                <a:gridCol w="726743">
                  <a:extLst>
                    <a:ext uri="{9D8B030D-6E8A-4147-A177-3AD203B41FA5}">
                      <a16:colId xmlns:a16="http://schemas.microsoft.com/office/drawing/2014/main" val="2460313470"/>
                    </a:ext>
                  </a:extLst>
                </a:gridCol>
                <a:gridCol w="726743">
                  <a:extLst>
                    <a:ext uri="{9D8B030D-6E8A-4147-A177-3AD203B41FA5}">
                      <a16:colId xmlns:a16="http://schemas.microsoft.com/office/drawing/2014/main" val="3431579605"/>
                    </a:ext>
                  </a:extLst>
                </a:gridCol>
                <a:gridCol w="726743">
                  <a:extLst>
                    <a:ext uri="{9D8B030D-6E8A-4147-A177-3AD203B41FA5}">
                      <a16:colId xmlns:a16="http://schemas.microsoft.com/office/drawing/2014/main" val="3002055702"/>
                    </a:ext>
                  </a:extLst>
                </a:gridCol>
                <a:gridCol w="726743">
                  <a:extLst>
                    <a:ext uri="{9D8B030D-6E8A-4147-A177-3AD203B41FA5}">
                      <a16:colId xmlns:a16="http://schemas.microsoft.com/office/drawing/2014/main" val="16209082"/>
                    </a:ext>
                  </a:extLst>
                </a:gridCol>
              </a:tblGrid>
              <a:tr h="394134">
                <a:tc>
                  <a:txBody>
                    <a:bodyPr/>
                    <a:lstStyle/>
                    <a:p>
                      <a:pPr algn="ctr" fontAlgn="b">
                        <a:buNone/>
                      </a:pPr>
                      <a:r>
                        <a:rPr lang="en-US" sz="1200" b="1" i="0" u="none" strike="noStrike">
                          <a:solidFill>
                            <a:schemeClr val="bg1"/>
                          </a:solidFill>
                          <a:effectLst/>
                          <a:latin typeface="Adani Regular" panose="02000503000000020004" pitchFamily="2"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Apr-25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May-25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Jun-25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Jul-25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Aug-25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Sep-25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Oct-25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Nov-25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Dec-25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Jan-26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Feb-26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Mar-26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Apr 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buNone/>
                      </a:pPr>
                      <a:r>
                        <a:rPr lang="en-US" sz="1200" b="1" i="0" u="none" strike="noStrike">
                          <a:solidFill>
                            <a:schemeClr val="bg1"/>
                          </a:solidFill>
                          <a:effectLst/>
                          <a:latin typeface="Adani Regular" panose="02000503000000020004" pitchFamily="2" charset="0"/>
                        </a:rPr>
                        <a:t>May-26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2332656804"/>
                  </a:ext>
                </a:extLst>
              </a:tr>
              <a:tr h="394134">
                <a:tc>
                  <a:txBody>
                    <a:bodyPr/>
                    <a:lstStyle/>
                    <a:p>
                      <a:pPr algn="ctr" fontAlgn="b">
                        <a:buNone/>
                      </a:pPr>
                      <a:r>
                        <a:rPr lang="en-US" sz="1200" b="1" i="0" u="none" strike="noStrike">
                          <a:solidFill>
                            <a:srgbClr val="000000"/>
                          </a:solidFill>
                          <a:effectLst/>
                          <a:latin typeface="Adani Regular" panose="02000503000000020004" pitchFamily="2" charset="0"/>
                        </a:rPr>
                        <a:t>Budgeted- cumulative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558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1129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2391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3202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3723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3834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4185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4480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4621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4744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4750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4750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2861219"/>
                  </a:ext>
                </a:extLst>
              </a:tr>
              <a:tr h="394134">
                <a:tc>
                  <a:txBody>
                    <a:bodyPr/>
                    <a:lstStyle/>
                    <a:p>
                      <a:pPr algn="ctr" fontAlgn="b">
                        <a:buNone/>
                      </a:pPr>
                      <a:r>
                        <a:rPr lang="en-US" sz="1200" b="1" i="0" u="none" strike="noStrike">
                          <a:solidFill>
                            <a:srgbClr val="000000"/>
                          </a:solidFill>
                          <a:effectLst/>
                          <a:latin typeface="Adani Regular" panose="02000503000000020004" pitchFamily="2" charset="0"/>
                        </a:rPr>
                        <a:t>Actual Cash-Cumulative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132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200.8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Aptos Narrow" panose="020B0004020202020204" pitchFamily="34" charset="0"/>
                        </a:rPr>
                        <a:t>242.48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Aptos Narrow" panose="020B0004020202020204" pitchFamily="34" charset="0"/>
                        </a:rPr>
                        <a:t>276.00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3084 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3513.5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3744</a:t>
                      </a:r>
                      <a:r>
                        <a:rPr lang="en-US" sz="1100" b="1" i="0" u="none" strike="noStrike">
                          <a:solidFill>
                            <a:srgbClr val="0000FF"/>
                          </a:solidFill>
                          <a:effectLst/>
                          <a:latin typeface="Aptos Narrow" panose="020B0004020202020204" pitchFamily="34"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100" b="1" i="0" u="none" strike="noStrike">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081785"/>
                  </a:ext>
                </a:extLst>
              </a:tr>
              <a:tr h="394134">
                <a:tc>
                  <a:txBody>
                    <a:bodyPr/>
                    <a:lstStyle/>
                    <a:p>
                      <a:pPr algn="ctr" fontAlgn="b">
                        <a:buNone/>
                      </a:pPr>
                      <a:r>
                        <a:rPr lang="en-US" sz="1200" b="1" i="0" u="none" strike="noStrike">
                          <a:solidFill>
                            <a:srgbClr val="000000"/>
                          </a:solidFill>
                          <a:effectLst/>
                          <a:latin typeface="Adani Regular" panose="02000503000000020004" pitchFamily="2" charset="0"/>
                        </a:rPr>
                        <a:t>Actual- LC-Cumulative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134.49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154.59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Aptos Narrow" panose="020B0004020202020204" pitchFamily="34" charset="0"/>
                        </a:rPr>
                        <a:t>336.84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Aptos Narrow" panose="020B0004020202020204" pitchFamily="34" charset="0"/>
                        </a:rPr>
                        <a:t>376.00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Aptos Narrow" panose="020B0004020202020204" pitchFamily="34" charset="0"/>
                        </a:rPr>
                        <a:t>425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340.00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100" b="1" i="0" u="none" strike="noStrike">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0164160"/>
                  </a:ext>
                </a:extLst>
              </a:tr>
              <a:tr h="490804">
                <a:tc>
                  <a:txBody>
                    <a:bodyPr/>
                    <a:lstStyle/>
                    <a:p>
                      <a:pPr algn="ctr" fontAlgn="b">
                        <a:buNone/>
                      </a:pPr>
                      <a:r>
                        <a:rPr lang="en-US" sz="1200" b="1" i="0" u="none" strike="noStrike">
                          <a:solidFill>
                            <a:srgbClr val="000000"/>
                          </a:solidFill>
                          <a:effectLst/>
                          <a:latin typeface="Adani Regular" panose="02000503000000020004" pitchFamily="2" charset="0"/>
                        </a:rPr>
                        <a:t>Actual Cumulative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2.00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266.49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355.39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Aptos Narrow" panose="020B0004020202020204" pitchFamily="34" charset="0"/>
                        </a:rPr>
                        <a:t>579.32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Aptos Narrow" panose="020B0004020202020204" pitchFamily="34" charset="0"/>
                        </a:rPr>
                        <a:t>651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Aptos Narrow" panose="020B0004020202020204" pitchFamily="34" charset="0"/>
                        </a:rPr>
                        <a:t>735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775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3,084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3,514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3,800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3,843 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4,064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763709"/>
                  </a:ext>
                </a:extLst>
              </a:tr>
            </a:tbl>
          </a:graphicData>
        </a:graphic>
      </p:graphicFrame>
      <p:sp>
        <p:nvSpPr>
          <p:cNvPr id="2" name="Slide Number Placeholder 2">
            <a:extLst>
              <a:ext uri="{FF2B5EF4-FFF2-40B4-BE49-F238E27FC236}">
                <a16:creationId xmlns:a16="http://schemas.microsoft.com/office/drawing/2014/main" id="{7CEC8234-2533-1385-3136-22DE644C8B1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78</a:t>
            </a:fld>
            <a:endParaRPr lang="en-IN"/>
          </a:p>
        </p:txBody>
      </p:sp>
      <p:graphicFrame>
        <p:nvGraphicFramePr>
          <p:cNvPr id="9" name="Chart 8">
            <a:extLst>
              <a:ext uri="{FF2B5EF4-FFF2-40B4-BE49-F238E27FC236}">
                <a16:creationId xmlns:a16="http://schemas.microsoft.com/office/drawing/2014/main" id="{00C1B7F9-857B-BAA0-FC84-C23CEB742377}"/>
              </a:ext>
            </a:extLst>
          </p:cNvPr>
          <p:cNvGraphicFramePr>
            <a:graphicFrameLocks/>
          </p:cNvGraphicFramePr>
          <p:nvPr/>
        </p:nvGraphicFramePr>
        <p:xfrm>
          <a:off x="177800" y="601052"/>
          <a:ext cx="11800025" cy="275660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02048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338D1-64E2-1168-E7BA-83D296C197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009D5A-8C20-5888-FE8C-9DBDD2FD287F}"/>
              </a:ext>
            </a:extLst>
          </p:cNvPr>
          <p:cNvSpPr txBox="1"/>
          <p:nvPr/>
        </p:nvSpPr>
        <p:spPr>
          <a:xfrm>
            <a:off x="0" y="117508"/>
            <a:ext cx="9251969" cy="461665"/>
          </a:xfrm>
          <a:prstGeom prst="rect">
            <a:avLst/>
          </a:prstGeom>
          <a:noFill/>
        </p:spPr>
        <p:txBody>
          <a:bodyPr wrap="square">
            <a:spAutoFit/>
          </a:bodyPr>
          <a:lstStyle/>
          <a:p>
            <a:pPr defTabSz="1219170"/>
            <a:r>
              <a:rPr lang="en-US" sz="2400" b="1">
                <a:solidFill>
                  <a:srgbClr val="00B050"/>
                </a:solidFill>
                <a:latin typeface="Adani Regular" panose="02000503000000020004" pitchFamily="2" charset="0"/>
              </a:rPr>
              <a:t>BESS Project Financing Status - Completed</a:t>
            </a:r>
          </a:p>
        </p:txBody>
      </p:sp>
      <p:graphicFrame>
        <p:nvGraphicFramePr>
          <p:cNvPr id="9" name="Table 8">
            <a:extLst>
              <a:ext uri="{FF2B5EF4-FFF2-40B4-BE49-F238E27FC236}">
                <a16:creationId xmlns:a16="http://schemas.microsoft.com/office/drawing/2014/main" id="{442E396C-B653-5395-4EC8-1C120D9C15C3}"/>
              </a:ext>
            </a:extLst>
          </p:cNvPr>
          <p:cNvGraphicFramePr>
            <a:graphicFrameLocks noGrp="1"/>
          </p:cNvGraphicFramePr>
          <p:nvPr>
            <p:extLst>
              <p:ext uri="{D42A27DB-BD31-4B8C-83A1-F6EECF244321}">
                <p14:modId xmlns:p14="http://schemas.microsoft.com/office/powerpoint/2010/main" val="1619935601"/>
              </p:ext>
            </p:extLst>
          </p:nvPr>
        </p:nvGraphicFramePr>
        <p:xfrm>
          <a:off x="112111" y="695417"/>
          <a:ext cx="11981792" cy="5180720"/>
        </p:xfrm>
        <a:graphic>
          <a:graphicData uri="http://schemas.openxmlformats.org/drawingml/2006/table">
            <a:tbl>
              <a:tblPr>
                <a:tableStyleId>{C4B1156A-380E-4F78-BDF5-A606A8083BF9}</a:tableStyleId>
              </a:tblPr>
              <a:tblGrid>
                <a:gridCol w="602593">
                  <a:extLst>
                    <a:ext uri="{9D8B030D-6E8A-4147-A177-3AD203B41FA5}">
                      <a16:colId xmlns:a16="http://schemas.microsoft.com/office/drawing/2014/main" val="1408601050"/>
                    </a:ext>
                  </a:extLst>
                </a:gridCol>
                <a:gridCol w="1695668">
                  <a:extLst>
                    <a:ext uri="{9D8B030D-6E8A-4147-A177-3AD203B41FA5}">
                      <a16:colId xmlns:a16="http://schemas.microsoft.com/office/drawing/2014/main" val="3298955410"/>
                    </a:ext>
                  </a:extLst>
                </a:gridCol>
                <a:gridCol w="1977527">
                  <a:extLst>
                    <a:ext uri="{9D8B030D-6E8A-4147-A177-3AD203B41FA5}">
                      <a16:colId xmlns:a16="http://schemas.microsoft.com/office/drawing/2014/main" val="908477535"/>
                    </a:ext>
                  </a:extLst>
                </a:gridCol>
                <a:gridCol w="1573469">
                  <a:extLst>
                    <a:ext uri="{9D8B030D-6E8A-4147-A177-3AD203B41FA5}">
                      <a16:colId xmlns:a16="http://schemas.microsoft.com/office/drawing/2014/main" val="4263318483"/>
                    </a:ext>
                  </a:extLst>
                </a:gridCol>
                <a:gridCol w="2023211">
                  <a:extLst>
                    <a:ext uri="{9D8B030D-6E8A-4147-A177-3AD203B41FA5}">
                      <a16:colId xmlns:a16="http://schemas.microsoft.com/office/drawing/2014/main" val="2793721575"/>
                    </a:ext>
                  </a:extLst>
                </a:gridCol>
                <a:gridCol w="2086113">
                  <a:extLst>
                    <a:ext uri="{9D8B030D-6E8A-4147-A177-3AD203B41FA5}">
                      <a16:colId xmlns:a16="http://schemas.microsoft.com/office/drawing/2014/main" val="1885292125"/>
                    </a:ext>
                  </a:extLst>
                </a:gridCol>
                <a:gridCol w="2023211">
                  <a:extLst>
                    <a:ext uri="{9D8B030D-6E8A-4147-A177-3AD203B41FA5}">
                      <a16:colId xmlns:a16="http://schemas.microsoft.com/office/drawing/2014/main" val="4239515683"/>
                    </a:ext>
                  </a:extLst>
                </a:gridCol>
              </a:tblGrid>
              <a:tr h="543509">
                <a:tc gridSpan="2">
                  <a:txBody>
                    <a:bodyPr/>
                    <a:lstStyle/>
                    <a:p>
                      <a:pPr algn="ctr"/>
                      <a:r>
                        <a:rPr lang="en-IN" sz="1400" b="1">
                          <a:solidFill>
                            <a:srgbClr val="00B050"/>
                          </a:solidFill>
                          <a:latin typeface="Adani Regular"/>
                        </a:rPr>
                        <a:t>Project Cost</a:t>
                      </a:r>
                    </a:p>
                    <a:p>
                      <a:pPr algn="ctr"/>
                      <a:r>
                        <a:rPr lang="en-IN" sz="1400" b="1">
                          <a:solidFill>
                            <a:srgbClr val="00B050"/>
                          </a:solidFill>
                          <a:latin typeface="Adani Regular"/>
                        </a:rPr>
                        <a:t>(INR Cr.)</a:t>
                      </a:r>
                      <a:endParaRPr lang="en-US" sz="1400" b="1">
                        <a:solidFill>
                          <a:srgbClr val="00B050"/>
                        </a:solidFill>
                        <a:latin typeface="Adani Regular"/>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rgbClr val="ECEEEC"/>
                    </a:solidFill>
                  </a:tcPr>
                </a:tc>
                <a:tc hMerge="1">
                  <a:txBody>
                    <a:bodyPr/>
                    <a:lstStyle/>
                    <a:p>
                      <a:pPr algn="ctr"/>
                      <a:endParaRPr lang="en-US" sz="1100" b="1">
                        <a:solidFill>
                          <a:schemeClr val="tx1"/>
                        </a:solidFill>
                        <a:latin typeface="Adani Light" panose="02000503000000020004" pitchFamily="2" charset="0"/>
                      </a:endParaRPr>
                    </a:p>
                  </a:txBody>
                  <a:tcPr marL="68580" marR="68580" marT="34290" marB="34290" anchor="ctr"/>
                </a:tc>
                <a:tc>
                  <a:txBody>
                    <a:bodyPr/>
                    <a:lstStyle/>
                    <a:p>
                      <a:pPr algn="ctr"/>
                      <a:r>
                        <a:rPr lang="en-IN" sz="1400" b="1">
                          <a:solidFill>
                            <a:srgbClr val="00B050"/>
                          </a:solidFill>
                          <a:latin typeface="Adani Regular"/>
                        </a:rPr>
                        <a:t>Debt Equity Ratio</a:t>
                      </a:r>
                      <a:endParaRPr lang="en-US" sz="1300" b="1">
                        <a:solidFill>
                          <a:srgbClr val="00B050"/>
                        </a:solidFill>
                        <a:latin typeface="Adani Regular"/>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rgbClr val="ECEEEC"/>
                    </a:solidFill>
                  </a:tcPr>
                </a:tc>
                <a:tc>
                  <a:txBody>
                    <a:bodyPr/>
                    <a:lstStyle/>
                    <a:p>
                      <a:pPr algn="ctr"/>
                      <a:r>
                        <a:rPr lang="en-IN" sz="1400" b="1">
                          <a:solidFill>
                            <a:srgbClr val="00B050"/>
                          </a:solidFill>
                          <a:latin typeface="Adani Regular"/>
                        </a:rPr>
                        <a:t>Lenders</a:t>
                      </a:r>
                      <a:endParaRPr lang="en-US" sz="1400" b="1">
                        <a:solidFill>
                          <a:srgbClr val="00B050"/>
                        </a:solidFill>
                        <a:latin typeface="Adani Regular"/>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rgbClr val="ECEEEC"/>
                    </a:solidFill>
                  </a:tcPr>
                </a:tc>
                <a:tc>
                  <a:txBody>
                    <a:bodyPr/>
                    <a:lstStyle/>
                    <a:p>
                      <a:pPr algn="ctr"/>
                      <a:r>
                        <a:rPr lang="en-IN" sz="1400" b="1">
                          <a:solidFill>
                            <a:srgbClr val="00B050"/>
                          </a:solidFill>
                          <a:latin typeface="Adani Regular"/>
                        </a:rPr>
                        <a:t>Project Debt </a:t>
                      </a:r>
                    </a:p>
                    <a:p>
                      <a:pPr algn="ctr"/>
                      <a:r>
                        <a:rPr lang="en-IN" sz="1400" b="1">
                          <a:solidFill>
                            <a:srgbClr val="00B050"/>
                          </a:solidFill>
                          <a:latin typeface="Adani Regular"/>
                        </a:rPr>
                        <a:t>(INR Cr.)</a:t>
                      </a:r>
                      <a:endParaRPr lang="en-US" sz="1400" b="1">
                        <a:solidFill>
                          <a:srgbClr val="00B050"/>
                        </a:solidFill>
                        <a:latin typeface="Adani Regular"/>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rgbClr val="ECEEEC"/>
                    </a:solidFill>
                  </a:tcPr>
                </a:tc>
                <a:tc>
                  <a:txBody>
                    <a:bodyPr/>
                    <a:lstStyle/>
                    <a:p>
                      <a:pPr algn="ctr"/>
                      <a:r>
                        <a:rPr lang="en-IN" sz="1400" b="1">
                          <a:solidFill>
                            <a:schemeClr val="tx1"/>
                          </a:solidFill>
                          <a:latin typeface="Adani Regular"/>
                        </a:rPr>
                        <a:t>Amount Disbursed (INR Cr.)</a:t>
                      </a:r>
                      <a:endParaRPr lang="en-US" sz="1400" b="1">
                        <a:solidFill>
                          <a:schemeClr val="tx1"/>
                        </a:solidFill>
                        <a:latin typeface="Adani Regular"/>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rgbClr val="ECEEEC"/>
                    </a:solidFill>
                  </a:tcPr>
                </a:tc>
                <a:tc>
                  <a:txBody>
                    <a:bodyPr/>
                    <a:lstStyle/>
                    <a:p>
                      <a:pPr algn="ctr"/>
                      <a:r>
                        <a:rPr lang="en-IN" sz="1400" b="1">
                          <a:solidFill>
                            <a:schemeClr val="tx1"/>
                          </a:solidFill>
                          <a:latin typeface="Adani Light"/>
                        </a:rPr>
                        <a:t>Balance to be disbursed (INR Cr.)</a:t>
                      </a:r>
                      <a:endParaRPr lang="en-US" sz="1400" b="1">
                        <a:solidFill>
                          <a:schemeClr val="tx1"/>
                        </a:solidFill>
                        <a:latin typeface="Adani Light"/>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rgbClr val="ECEEEC"/>
                    </a:solidFill>
                  </a:tcPr>
                </a:tc>
                <a:extLst>
                  <a:ext uri="{0D108BD9-81ED-4DB2-BD59-A6C34878D82A}">
                    <a16:rowId xmlns:a16="http://schemas.microsoft.com/office/drawing/2014/main" val="3130644201"/>
                  </a:ext>
                </a:extLst>
              </a:tr>
              <a:tr h="543509">
                <a:tc gridSpan="2">
                  <a:txBody>
                    <a:bodyPr/>
                    <a:lstStyle/>
                    <a:p>
                      <a:pPr marL="0" marR="0" lvl="0" indent="0" algn="ctr" rtl="0" eaLnBrk="1" fontAlgn="auto" latinLnBrk="0" hangingPunct="1">
                        <a:lnSpc>
                          <a:spcPct val="100000"/>
                        </a:lnSpc>
                        <a:spcBef>
                          <a:spcPts val="0"/>
                        </a:spcBef>
                        <a:spcAft>
                          <a:spcPts val="0"/>
                        </a:spcAft>
                        <a:buClrTx/>
                        <a:buSzTx/>
                        <a:buFontTx/>
                        <a:buNone/>
                      </a:pPr>
                      <a:r>
                        <a:rPr lang="en-IN" sz="1400" b="0" strike="noStrike" kern="1200" noProof="0">
                          <a:solidFill>
                            <a:srgbClr val="00B050"/>
                          </a:solidFill>
                          <a:effectLst/>
                          <a:latin typeface="Adani Regular"/>
                        </a:rPr>
                        <a:t>5,067</a:t>
                      </a:r>
                      <a:endParaRPr lang="en-IN" sz="1400" b="0" strike="noStrike" kern="1200" noProof="0">
                        <a:solidFill>
                          <a:srgbClr val="00B050"/>
                        </a:solidFill>
                        <a:effectLst/>
                        <a:latin typeface="Adani Regular"/>
                        <a:ea typeface="+mn-ea"/>
                        <a:cs typeface="Arial"/>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100" b="1" strike="noStrike" kern="1200" noProof="0">
                        <a:solidFill>
                          <a:schemeClr val="tx1"/>
                        </a:solidFill>
                        <a:effectLst/>
                        <a:latin typeface="Adani Light" panose="02000503000000020004" pitchFamily="2" charset="0"/>
                        <a:ea typeface="+mn-ea"/>
                        <a:cs typeface="Arial"/>
                      </a:endParaRPr>
                    </a:p>
                  </a:txBody>
                  <a:tcPr marL="68580" marR="68580" marT="34290" marB="34290" anchor="ct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400" b="0" u="none" strike="noStrike" kern="1200" cap="none" spc="0" normalizeH="0" baseline="0" noProof="0">
                          <a:ln>
                            <a:noFill/>
                          </a:ln>
                          <a:solidFill>
                            <a:srgbClr val="00B050"/>
                          </a:solidFill>
                          <a:effectLst/>
                          <a:uLnTx/>
                          <a:uFillTx/>
                          <a:latin typeface="Adani Regular"/>
                        </a:rPr>
                        <a:t>65:35</a:t>
                      </a:r>
                      <a:endParaRPr lang="en-IN" sz="1300" b="0" strike="noStrike" kern="1200" noProof="0">
                        <a:solidFill>
                          <a:srgbClr val="00B050"/>
                        </a:solidFill>
                        <a:effectLst/>
                        <a:latin typeface="Adani Regular"/>
                        <a:ea typeface="+mn-ea"/>
                        <a:cs typeface="Arial"/>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a:txBody>
                    <a:bodyPr/>
                    <a:lstStyle/>
                    <a:p>
                      <a:pPr algn="ctr"/>
                      <a:r>
                        <a:rPr lang="en-US" sz="1400" b="0">
                          <a:solidFill>
                            <a:srgbClr val="00B050"/>
                          </a:solidFill>
                          <a:latin typeface="Adani Regular"/>
                        </a:rPr>
                        <a:t>SBI</a:t>
                      </a:r>
                      <a:endParaRPr lang="en-US" sz="1400" b="0" strike="sngStrike">
                        <a:solidFill>
                          <a:srgbClr val="00B050"/>
                        </a:solidFill>
                        <a:latin typeface="Adani Regular"/>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a:txBody>
                    <a:bodyPr/>
                    <a:lstStyle/>
                    <a:p>
                      <a:pPr algn="ctr"/>
                      <a:r>
                        <a:rPr lang="en-US" sz="1400" b="0" strike="noStrike" baseline="0">
                          <a:solidFill>
                            <a:srgbClr val="00B050"/>
                          </a:solidFill>
                          <a:latin typeface="Adani Regular"/>
                        </a:rPr>
                        <a:t>3,294</a:t>
                      </a:r>
                      <a:endParaRPr lang="en-US" sz="3200" strike="sngStrike" baseline="0">
                        <a:solidFill>
                          <a:srgbClr val="00B050"/>
                        </a:solidFill>
                        <a:latin typeface="Adani Regular"/>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a:txBody>
                    <a:bodyPr/>
                    <a:lstStyle/>
                    <a:p>
                      <a:pPr algn="ctr"/>
                      <a:r>
                        <a:rPr lang="en-US" sz="1400" b="0">
                          <a:solidFill>
                            <a:schemeClr val="tx1"/>
                          </a:solidFill>
                          <a:latin typeface="Adani Regular"/>
                        </a:rPr>
                        <a:t>2385</a:t>
                      </a: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a:txBody>
                    <a:bodyPr/>
                    <a:lstStyle/>
                    <a:p>
                      <a:pPr algn="ctr"/>
                      <a:r>
                        <a:rPr lang="en-US" sz="1400" b="0">
                          <a:solidFill>
                            <a:schemeClr val="tx1"/>
                          </a:solidFill>
                          <a:latin typeface="Adani Regular"/>
                        </a:rPr>
                        <a:t>909</a:t>
                      </a:r>
                      <a:endParaRPr lang="en-US" sz="3200">
                        <a:solidFill>
                          <a:schemeClr val="tx1"/>
                        </a:solidFill>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extLst>
                  <a:ext uri="{0D108BD9-81ED-4DB2-BD59-A6C34878D82A}">
                    <a16:rowId xmlns:a16="http://schemas.microsoft.com/office/drawing/2014/main" val="4108843056"/>
                  </a:ext>
                </a:extLst>
              </a:tr>
              <a:tr h="3356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b="1">
                          <a:solidFill>
                            <a:srgbClr val="00B050"/>
                          </a:solidFill>
                          <a:effectLst/>
                          <a:latin typeface="Adani Light"/>
                        </a:rPr>
                        <a:t>Sr. </a:t>
                      </a:r>
                      <a:endParaRPr lang="en-IN" sz="1500" b="1">
                        <a:solidFill>
                          <a:srgbClr val="00B050"/>
                        </a:solidFill>
                        <a:effectLst/>
                        <a:latin typeface="Adani Light"/>
                        <a:ea typeface="Aptos" panose="020B0004020202020204" pitchFamily="34" charset="0"/>
                        <a:cs typeface="Aptos" panose="020B0004020202020204" pitchFamily="34" charset="0"/>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rgbClr val="ECEEE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b="1" kern="1200">
                          <a:solidFill>
                            <a:srgbClr val="00B050"/>
                          </a:solidFill>
                          <a:effectLst/>
                          <a:latin typeface="Adani Regular"/>
                        </a:rPr>
                        <a:t>FC Aspects</a:t>
                      </a:r>
                      <a:endParaRPr lang="en-IN" sz="1500" b="1" kern="1200">
                        <a:solidFill>
                          <a:srgbClr val="00B050"/>
                        </a:solidFill>
                        <a:effectLst/>
                        <a:latin typeface="Adani Regular"/>
                        <a:ea typeface="+mn-ea"/>
                        <a:cs typeface="+mn-cs"/>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rgbClr val="ECEEEC"/>
                    </a:solidFill>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kern="1200">
                          <a:solidFill>
                            <a:srgbClr val="00B050"/>
                          </a:solidFill>
                          <a:effectLst/>
                          <a:latin typeface="Adani Regular"/>
                        </a:rPr>
                        <a:t>Status and Remarks </a:t>
                      </a:r>
                      <a:endParaRPr lang="en-IN" sz="1500" b="1" kern="1200">
                        <a:solidFill>
                          <a:srgbClr val="00B050"/>
                        </a:solidFill>
                        <a:effectLst/>
                        <a:latin typeface="Adani Regular"/>
                        <a:ea typeface="+mn-ea"/>
                        <a:cs typeface="+mn-cs"/>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rgbClr val="ECEEE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79037528"/>
                  </a:ext>
                </a:extLst>
              </a:tr>
              <a:tr h="9590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0">
                          <a:solidFill>
                            <a:srgbClr val="00B050"/>
                          </a:solidFill>
                          <a:effectLst/>
                          <a:latin typeface="Adani Regular"/>
                        </a:rPr>
                        <a:t>1</a:t>
                      </a:r>
                      <a:endParaRPr lang="en-IN" sz="1400" b="0">
                        <a:solidFill>
                          <a:srgbClr val="00B050"/>
                        </a:solidFill>
                        <a:effectLst/>
                        <a:latin typeface="Adani Regular"/>
                        <a:ea typeface="Aptos" panose="020B0004020202020204" pitchFamily="34" charset="0"/>
                        <a:cs typeface="Aptos" panose="020B0004020202020204" pitchFamily="34" charset="0"/>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kern="1200">
                          <a:solidFill>
                            <a:srgbClr val="00B050"/>
                          </a:solidFill>
                          <a:effectLst/>
                          <a:latin typeface="Adani Regular"/>
                        </a:rPr>
                        <a:t>Financial Closure Status</a:t>
                      </a:r>
                      <a:endParaRPr lang="en-IN" sz="1400" b="0" kern="1200">
                        <a:solidFill>
                          <a:srgbClr val="00B050"/>
                        </a:solidFill>
                        <a:effectLst/>
                        <a:latin typeface="Adani Regular"/>
                        <a:ea typeface="+mn-ea"/>
                        <a:cs typeface="+mn-cs"/>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gridSpan="5">
                  <a:txBody>
                    <a:bodyPr/>
                    <a:lstStyle/>
                    <a:p>
                      <a:pPr marL="171450" indent="-171450">
                        <a:buFont typeface="Arial" panose="020B0604020202020204" pitchFamily="34" charset="0"/>
                        <a:buChar char="•"/>
                      </a:pPr>
                      <a:r>
                        <a:rPr lang="en-US" sz="1400" b="0">
                          <a:solidFill>
                            <a:srgbClr val="00B050"/>
                          </a:solidFill>
                          <a:latin typeface="Adani Regular"/>
                        </a:rPr>
                        <a:t>Sanction letter from SBI received on 16-Jan-26.</a:t>
                      </a:r>
                    </a:p>
                    <a:p>
                      <a:pPr marL="171450" indent="-171450">
                        <a:buFont typeface="Arial" panose="020B0604020202020204" pitchFamily="34" charset="0"/>
                        <a:buChar char="•"/>
                      </a:pPr>
                      <a:r>
                        <a:rPr lang="en-US" sz="1400" b="0">
                          <a:solidFill>
                            <a:srgbClr val="00B050"/>
                          </a:solidFill>
                          <a:latin typeface="Adani Regular"/>
                        </a:rPr>
                        <a:t>SBI has appointed M/s IRCLASS as LIE for Technical Due Diligence (“DD”) &amp; </a:t>
                      </a:r>
                      <a:r>
                        <a:rPr lang="en-US" sz="1400" b="0" err="1">
                          <a:solidFill>
                            <a:srgbClr val="00B050"/>
                          </a:solidFill>
                          <a:latin typeface="Adani Regular"/>
                        </a:rPr>
                        <a:t>Kaithan</a:t>
                      </a:r>
                      <a:r>
                        <a:rPr lang="en-US" sz="1400" b="0">
                          <a:solidFill>
                            <a:srgbClr val="00B050"/>
                          </a:solidFill>
                          <a:latin typeface="Adani Regular"/>
                        </a:rPr>
                        <a:t> for Legal DD.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a:solidFill>
                            <a:srgbClr val="00B050"/>
                          </a:solidFill>
                          <a:latin typeface="Adani Regular"/>
                        </a:rPr>
                        <a:t>Financing Document signed off on 19-Feb-26.</a:t>
                      </a: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63276904"/>
                  </a:ext>
                </a:extLst>
              </a:tr>
              <a:tr h="13151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0">
                          <a:solidFill>
                            <a:srgbClr val="00B050"/>
                          </a:solidFill>
                          <a:effectLst/>
                          <a:latin typeface="Adani Regular"/>
                        </a:rPr>
                        <a:t>2</a:t>
                      </a:r>
                      <a:endParaRPr lang="en-IN" sz="1400" b="0">
                        <a:solidFill>
                          <a:srgbClr val="00B050"/>
                        </a:solidFill>
                        <a:effectLst/>
                        <a:latin typeface="Adani Regular"/>
                        <a:ea typeface="Aptos" panose="020B0004020202020204" pitchFamily="34" charset="0"/>
                        <a:cs typeface="Aptos" panose="020B0004020202020204" pitchFamily="34" charset="0"/>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kern="1200">
                          <a:solidFill>
                            <a:srgbClr val="00B050"/>
                          </a:solidFill>
                          <a:effectLst/>
                          <a:latin typeface="Adani Regular"/>
                        </a:rPr>
                        <a:t>Key Timelines</a:t>
                      </a:r>
                      <a:endParaRPr lang="en-IN" sz="1400" b="0" kern="1200">
                        <a:solidFill>
                          <a:srgbClr val="00B050"/>
                        </a:solidFill>
                        <a:effectLst/>
                        <a:latin typeface="Adani Regular"/>
                        <a:ea typeface="+mn-ea"/>
                        <a:cs typeface="+mn-cs"/>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gridSpan="5">
                  <a:txBody>
                    <a:bodyPr/>
                    <a:lstStyle/>
                    <a:p>
                      <a:pPr marL="173038" lvl="0" indent="-173038" algn="l" defTabSz="914400" rtl="0" eaLnBrk="1" latinLnBrk="0" hangingPunct="1">
                        <a:buFont typeface="Arial" panose="020B0604020202020204" pitchFamily="34" charset="0"/>
                        <a:buChar char="•"/>
                        <a:tabLst>
                          <a:tab pos="457200" algn="l"/>
                        </a:tabLst>
                      </a:pPr>
                      <a:r>
                        <a:rPr lang="en-US" sz="1400" b="0" i="0" kern="1200">
                          <a:solidFill>
                            <a:srgbClr val="00B050"/>
                          </a:solidFill>
                          <a:latin typeface="Adani Regular"/>
                        </a:rPr>
                        <a:t>Data submitted to IRCLASS on 04-Feb-2026. LIE report submitted to lender.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a:solidFill>
                            <a:srgbClr val="00B050"/>
                          </a:solidFill>
                          <a:latin typeface="Adani Regular"/>
                        </a:rPr>
                        <a:t>Financing Document signed off on 19-Feb-26.</a:t>
                      </a:r>
                    </a:p>
                    <a:p>
                      <a:pPr marL="173038" marR="0" lvl="0" indent="-173038" algn="l">
                        <a:lnSpc>
                          <a:spcPct val="100000"/>
                        </a:lnSpc>
                        <a:spcBef>
                          <a:spcPts val="0"/>
                        </a:spcBef>
                        <a:spcAft>
                          <a:spcPts val="0"/>
                        </a:spcAft>
                        <a:buClrTx/>
                        <a:buSzTx/>
                        <a:buFont typeface="Arial" panose="020B0604020202020204" pitchFamily="34" charset="0"/>
                        <a:buChar char="•"/>
                      </a:pPr>
                      <a:r>
                        <a:rPr lang="en-IN" sz="1400" b="0" i="0" kern="1200" noProof="0">
                          <a:solidFill>
                            <a:srgbClr val="00B050"/>
                          </a:solidFill>
                          <a:latin typeface="Adani Regular"/>
                        </a:rPr>
                        <a:t>First Disbursement of 2385 Cr received.</a:t>
                      </a:r>
                    </a:p>
                    <a:p>
                      <a:pPr marL="173038" marR="0" lvl="0" indent="-173038" algn="l">
                        <a:lnSpc>
                          <a:spcPct val="100000"/>
                        </a:lnSpc>
                        <a:spcBef>
                          <a:spcPts val="0"/>
                        </a:spcBef>
                        <a:spcAft>
                          <a:spcPts val="0"/>
                        </a:spcAft>
                        <a:buClrTx/>
                        <a:buSzTx/>
                        <a:buFont typeface="Arial" panose="020B0604020202020204" pitchFamily="34" charset="0"/>
                        <a:buChar char="•"/>
                      </a:pPr>
                      <a:r>
                        <a:rPr lang="en-IN" sz="1400" b="0" i="0" kern="1200" noProof="0">
                          <a:solidFill>
                            <a:schemeClr val="tx1"/>
                          </a:solidFill>
                          <a:latin typeface="Adani Regular"/>
                        </a:rPr>
                        <a:t>Further disbursement based on Project progress and expenses.</a:t>
                      </a:r>
                      <a:endParaRPr lang="en-IN" sz="1400" b="0" i="0" kern="1200">
                        <a:solidFill>
                          <a:schemeClr val="tx1"/>
                        </a:solidFill>
                        <a:effectLst/>
                        <a:latin typeface="Adani Regular"/>
                        <a:ea typeface="+mn-ea"/>
                        <a:cs typeface="+mn-cs"/>
                      </a:endParaRP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59772300"/>
                  </a:ext>
                </a:extLst>
              </a:tr>
              <a:tr h="14838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0">
                          <a:solidFill>
                            <a:srgbClr val="00B050"/>
                          </a:solidFill>
                          <a:effectLst/>
                          <a:latin typeface="Adani Regular"/>
                          <a:ea typeface="Aptos" panose="020B0004020202020204" pitchFamily="34" charset="0"/>
                          <a:cs typeface="Aptos" panose="020B0004020202020204" pitchFamily="34" charset="0"/>
                        </a:rPr>
                        <a:t>3</a:t>
                      </a: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kern="1200">
                          <a:solidFill>
                            <a:srgbClr val="00B050"/>
                          </a:solidFill>
                          <a:effectLst/>
                          <a:latin typeface="Adani Regular"/>
                          <a:ea typeface="+mn-ea"/>
                          <a:cs typeface="+mn-cs"/>
                        </a:rPr>
                        <a:t>Critical Points</a:t>
                      </a: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gridSpan="5">
                  <a:txBody>
                    <a:bodyPr/>
                    <a:lstStyle/>
                    <a:p>
                      <a:pPr marL="173038" marR="0" lvl="0" indent="-173038" algn="l">
                        <a:lnSpc>
                          <a:spcPct val="100000"/>
                        </a:lnSpc>
                        <a:spcBef>
                          <a:spcPts val="0"/>
                        </a:spcBef>
                        <a:spcAft>
                          <a:spcPts val="0"/>
                        </a:spcAft>
                        <a:buClrTx/>
                        <a:buSzTx/>
                        <a:buFont typeface="Arial" panose="020B0604020202020204" pitchFamily="34" charset="0"/>
                        <a:buChar char="•"/>
                      </a:pPr>
                      <a:r>
                        <a:rPr lang="en-IN" sz="1400" b="0" i="0" kern="1200">
                          <a:solidFill>
                            <a:srgbClr val="00B050"/>
                          </a:solidFill>
                          <a:effectLst/>
                          <a:latin typeface="Adani Regular"/>
                          <a:ea typeface="+mn-ea"/>
                          <a:cs typeface="+mn-cs"/>
                        </a:rPr>
                        <a:t>No Pending Points</a:t>
                      </a:r>
                    </a:p>
                  </a:txBody>
                  <a:tcPr anchor="ctr">
                    <a:lnL w="12700" cap="flat" cmpd="sng" algn="ctr">
                      <a:solidFill>
                        <a:srgbClr val="912A82"/>
                      </a:solidFill>
                      <a:prstDash val="solid"/>
                      <a:round/>
                      <a:headEnd type="none" w="med" len="med"/>
                      <a:tailEnd type="none" w="med" len="med"/>
                    </a:lnL>
                    <a:lnR w="12700" cap="flat" cmpd="sng" algn="ctr">
                      <a:solidFill>
                        <a:srgbClr val="912A82"/>
                      </a:solidFill>
                      <a:prstDash val="solid"/>
                      <a:round/>
                      <a:headEnd type="none" w="med" len="med"/>
                      <a:tailEnd type="none" w="med" len="med"/>
                    </a:lnR>
                    <a:lnT w="12700" cap="flat" cmpd="sng" algn="ctr">
                      <a:solidFill>
                        <a:srgbClr val="912A82"/>
                      </a:solidFill>
                      <a:prstDash val="solid"/>
                      <a:round/>
                      <a:headEnd type="none" w="med" len="med"/>
                      <a:tailEnd type="none" w="med" len="med"/>
                    </a:lnT>
                    <a:lnB w="12700" cap="flat" cmpd="sng" algn="ctr">
                      <a:solidFill>
                        <a:srgbClr val="912A82"/>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33799126"/>
                  </a:ext>
                </a:extLst>
              </a:tr>
            </a:tbl>
          </a:graphicData>
        </a:graphic>
      </p:graphicFrame>
    </p:spTree>
    <p:extLst>
      <p:ext uri="{BB962C8B-B14F-4D97-AF65-F5344CB8AC3E}">
        <p14:creationId xmlns:p14="http://schemas.microsoft.com/office/powerpoint/2010/main" val="4981381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B515A-07C0-B663-EC66-A93AD2133EE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5ABE3F0-FD60-8E63-894B-C3A74229F6BE}"/>
              </a:ext>
            </a:extLst>
          </p:cNvPr>
          <p:cNvSpPr txBox="1">
            <a:spLocks/>
          </p:cNvSpPr>
          <p:nvPr/>
        </p:nvSpPr>
        <p:spPr>
          <a:xfrm>
            <a:off x="300696" y="122874"/>
            <a:ext cx="12234734" cy="424449"/>
          </a:xfrm>
          <a:prstGeom prst="rect">
            <a:avLst/>
          </a:prstGeom>
          <a:noFill/>
        </p:spPr>
        <p:txBody>
          <a:bodyPr vert="horz" wrap="square" lIns="0" tIns="45580" rIns="91157" bIns="45580" rtlCol="0" anchor="b">
            <a:spAutoFit/>
          </a:bodyPr>
          <a:lstStyle>
            <a:lvl1pPr marL="109192" defTabSz="911377">
              <a:lnSpc>
                <a:spcPct val="90000"/>
              </a:lnSpc>
              <a:spcBef>
                <a:spcPct val="0"/>
              </a:spcBef>
              <a:buNone/>
              <a:defRPr sz="2400" b="1">
                <a:gradFill>
                  <a:gsLst>
                    <a:gs pos="9735">
                      <a:schemeClr val="tx2"/>
                    </a:gs>
                    <a:gs pos="63000">
                      <a:srgbClr val="8E278F"/>
                    </a:gs>
                    <a:gs pos="38000">
                      <a:srgbClr val="57499E"/>
                    </a:gs>
                  </a:gsLst>
                  <a:lin ang="0" scaled="0"/>
                </a:gradFill>
                <a:latin typeface="Adani Regular" panose="02000503000000020004" pitchFamily="2" charset="0"/>
              </a:defRPr>
            </a:lvl1pPr>
          </a:lstStyle>
          <a:p>
            <a:pPr marL="0" lvl="0">
              <a:defRPr/>
            </a:pPr>
            <a:r>
              <a:rPr kumimoji="0" lang="en-US"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rPr>
              <a:t>Manpower Deployment Plan vs Actual </a:t>
            </a:r>
            <a:r>
              <a:rPr lang="en-US">
                <a:gradFill>
                  <a:gsLst>
                    <a:gs pos="9735">
                      <a:srgbClr val="1F497D"/>
                    </a:gs>
                    <a:gs pos="63000">
                      <a:srgbClr val="8E278F"/>
                    </a:gs>
                    <a:gs pos="38000">
                      <a:srgbClr val="57499E"/>
                    </a:gs>
                  </a:gsLst>
                  <a:lin ang="0" scaled="0"/>
                </a:gradFill>
              </a:rPr>
              <a:t>PSS 10, 5 &amp; 8 </a:t>
            </a:r>
            <a:r>
              <a:rPr lang="en-US" i="1"/>
              <a:t>[updated till 27 Apr 26]</a:t>
            </a:r>
            <a:endParaRPr kumimoji="0" lang="en-US"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endParaRPr>
          </a:p>
        </p:txBody>
      </p:sp>
      <p:sp>
        <p:nvSpPr>
          <p:cNvPr id="4" name="Slide Number Placeholder 3">
            <a:extLst>
              <a:ext uri="{FF2B5EF4-FFF2-40B4-BE49-F238E27FC236}">
                <a16:creationId xmlns:a16="http://schemas.microsoft.com/office/drawing/2014/main" id="{B7B8E0C6-E39C-DE9F-DB0D-69E834410E66}"/>
              </a:ext>
            </a:extLst>
          </p:cNvPr>
          <p:cNvSpPr>
            <a:spLocks noGrp="1"/>
          </p:cNvSpPr>
          <p:nvPr>
            <p:ph type="sldNum" sz="quarter" idx="12"/>
          </p:nvPr>
        </p:nvSpPr>
        <p:spPr/>
        <p:txBody>
          <a:bodyPr/>
          <a:lstStyle/>
          <a:p>
            <a:fld id="{98B285C1-D8A8-4E98-B28C-1FD972D8EC54}" type="slidenum">
              <a:rPr lang="en-IN" smtClean="0"/>
              <a:t>80</a:t>
            </a:fld>
            <a:endParaRPr lang="en-IN"/>
          </a:p>
        </p:txBody>
      </p:sp>
      <p:sp>
        <p:nvSpPr>
          <p:cNvPr id="2" name="TextBox 1">
            <a:extLst>
              <a:ext uri="{FF2B5EF4-FFF2-40B4-BE49-F238E27FC236}">
                <a16:creationId xmlns:a16="http://schemas.microsoft.com/office/drawing/2014/main" id="{0768BEB6-DFED-3BA2-CE1E-8289EB6C7549}"/>
              </a:ext>
            </a:extLst>
          </p:cNvPr>
          <p:cNvSpPr txBox="1"/>
          <p:nvPr/>
        </p:nvSpPr>
        <p:spPr>
          <a:xfrm>
            <a:off x="586854" y="6370714"/>
            <a:ext cx="10601325" cy="292388"/>
          </a:xfrm>
          <a:prstGeom prst="rect">
            <a:avLst/>
          </a:prstGeom>
          <a:noFill/>
        </p:spPr>
        <p:txBody>
          <a:bodyPr wrap="square" rtlCol="0">
            <a:spAutoFit/>
          </a:bodyPr>
          <a:lstStyle/>
          <a:p>
            <a:r>
              <a:rPr lang="en-US" sz="1200" b="1" i="1">
                <a:solidFill>
                  <a:srgbClr val="0000FF"/>
                </a:solidFill>
                <a:latin typeface="Adani Regular" panose="02000503000000020004" pitchFamily="2" charset="0"/>
              </a:rPr>
              <a:t>Note: Shortage of Contractor’s Manpower has impacted planned completion timelines. As a result, the work timelines have gotten extended</a:t>
            </a:r>
            <a:r>
              <a:rPr lang="en-US" sz="1300" b="1" i="1">
                <a:solidFill>
                  <a:srgbClr val="0000FF"/>
                </a:solidFill>
                <a:latin typeface="Adani Regular" panose="02000503000000020004" pitchFamily="2" charset="0"/>
              </a:rPr>
              <a:t>.</a:t>
            </a:r>
          </a:p>
        </p:txBody>
      </p:sp>
      <p:graphicFrame>
        <p:nvGraphicFramePr>
          <p:cNvPr id="8" name="Chart 7">
            <a:extLst>
              <a:ext uri="{FF2B5EF4-FFF2-40B4-BE49-F238E27FC236}">
                <a16:creationId xmlns:a16="http://schemas.microsoft.com/office/drawing/2014/main" id="{7FF664FA-CC1D-533C-E23F-FC68501DC763}"/>
              </a:ext>
            </a:extLst>
          </p:cNvPr>
          <p:cNvGraphicFramePr>
            <a:graphicFrameLocks/>
          </p:cNvGraphicFramePr>
          <p:nvPr/>
        </p:nvGraphicFramePr>
        <p:xfrm>
          <a:off x="300696" y="896983"/>
          <a:ext cx="11542961" cy="50422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927507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9045-BE3E-B572-FF13-7FD13EE5B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52883A-7198-307D-D7D6-C511EC4E1562}"/>
              </a:ext>
            </a:extLst>
          </p:cNvPr>
          <p:cNvSpPr txBox="1">
            <a:spLocks/>
          </p:cNvSpPr>
          <p:nvPr/>
        </p:nvSpPr>
        <p:spPr>
          <a:xfrm>
            <a:off x="269087" y="142841"/>
            <a:ext cx="12234734" cy="424449"/>
          </a:xfrm>
          <a:prstGeom prst="rect">
            <a:avLst/>
          </a:prstGeom>
          <a:noFill/>
        </p:spPr>
        <p:txBody>
          <a:bodyPr vert="horz" wrap="square" lIns="0" tIns="45580" rIns="91157" bIns="45580" rtlCol="0" anchor="b">
            <a:spAutoFit/>
          </a:bodyPr>
          <a:lstStyle>
            <a:lvl1pPr marL="109192" defTabSz="911377">
              <a:lnSpc>
                <a:spcPct val="90000"/>
              </a:lnSpc>
              <a:spcBef>
                <a:spcPct val="0"/>
              </a:spcBef>
              <a:buNone/>
              <a:defRPr sz="2400" b="1">
                <a:gradFill>
                  <a:gsLst>
                    <a:gs pos="9735">
                      <a:schemeClr val="tx2"/>
                    </a:gs>
                    <a:gs pos="63000">
                      <a:srgbClr val="8E278F"/>
                    </a:gs>
                    <a:gs pos="38000">
                      <a:srgbClr val="57499E"/>
                    </a:gs>
                  </a:gsLst>
                  <a:lin ang="0" scaled="0"/>
                </a:gradFill>
                <a:latin typeface="Adani Regular" panose="02000503000000020004" pitchFamily="2" charset="0"/>
              </a:defRPr>
            </a:lvl1pPr>
          </a:lstStyle>
          <a:p>
            <a:pPr marL="0" marR="0" lvl="0" indent="0" algn="l" defTabSz="911377"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rPr>
              <a:t>Manpower Deployment Plan vs Actual - </a:t>
            </a:r>
            <a:r>
              <a:rPr lang="en-US">
                <a:gradFill>
                  <a:gsLst>
                    <a:gs pos="9735">
                      <a:srgbClr val="1F497D"/>
                    </a:gs>
                    <a:gs pos="63000">
                      <a:srgbClr val="8E278F"/>
                    </a:gs>
                    <a:gs pos="38000">
                      <a:srgbClr val="57499E"/>
                    </a:gs>
                  </a:gsLst>
                  <a:lin ang="0" scaled="0"/>
                </a:gradFill>
              </a:rPr>
              <a:t>PSS 10</a:t>
            </a:r>
            <a:endParaRPr kumimoji="0" lang="en-US" sz="2400"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endParaRPr>
          </a:p>
        </p:txBody>
      </p:sp>
      <p:sp>
        <p:nvSpPr>
          <p:cNvPr id="3" name="Slide Number Placeholder 2">
            <a:extLst>
              <a:ext uri="{FF2B5EF4-FFF2-40B4-BE49-F238E27FC236}">
                <a16:creationId xmlns:a16="http://schemas.microsoft.com/office/drawing/2014/main" id="{7395E434-93E4-810E-1959-E69A778E32E6}"/>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81</a:t>
            </a:fld>
            <a:endParaRPr lang="en-IN"/>
          </a:p>
        </p:txBody>
      </p:sp>
      <p:graphicFrame>
        <p:nvGraphicFramePr>
          <p:cNvPr id="8" name="Table 7">
            <a:extLst>
              <a:ext uri="{FF2B5EF4-FFF2-40B4-BE49-F238E27FC236}">
                <a16:creationId xmlns:a16="http://schemas.microsoft.com/office/drawing/2014/main" id="{944E52F9-0993-C391-A156-7519B6177025}"/>
              </a:ext>
            </a:extLst>
          </p:cNvPr>
          <p:cNvGraphicFramePr>
            <a:graphicFrameLocks noGrp="1"/>
          </p:cNvGraphicFramePr>
          <p:nvPr/>
        </p:nvGraphicFramePr>
        <p:xfrm>
          <a:off x="269087" y="956336"/>
          <a:ext cx="11568945" cy="4992176"/>
        </p:xfrm>
        <a:graphic>
          <a:graphicData uri="http://schemas.openxmlformats.org/drawingml/2006/table">
            <a:tbl>
              <a:tblPr/>
              <a:tblGrid>
                <a:gridCol w="511620">
                  <a:extLst>
                    <a:ext uri="{9D8B030D-6E8A-4147-A177-3AD203B41FA5}">
                      <a16:colId xmlns:a16="http://schemas.microsoft.com/office/drawing/2014/main" val="2085357343"/>
                    </a:ext>
                  </a:extLst>
                </a:gridCol>
                <a:gridCol w="629338">
                  <a:extLst>
                    <a:ext uri="{9D8B030D-6E8A-4147-A177-3AD203B41FA5}">
                      <a16:colId xmlns:a16="http://schemas.microsoft.com/office/drawing/2014/main" val="2448348582"/>
                    </a:ext>
                  </a:extLst>
                </a:gridCol>
                <a:gridCol w="576071">
                  <a:extLst>
                    <a:ext uri="{9D8B030D-6E8A-4147-A177-3AD203B41FA5}">
                      <a16:colId xmlns:a16="http://schemas.microsoft.com/office/drawing/2014/main" val="163427391"/>
                    </a:ext>
                  </a:extLst>
                </a:gridCol>
                <a:gridCol w="476643">
                  <a:extLst>
                    <a:ext uri="{9D8B030D-6E8A-4147-A177-3AD203B41FA5}">
                      <a16:colId xmlns:a16="http://schemas.microsoft.com/office/drawing/2014/main" val="4127135091"/>
                    </a:ext>
                  </a:extLst>
                </a:gridCol>
                <a:gridCol w="378733">
                  <a:extLst>
                    <a:ext uri="{9D8B030D-6E8A-4147-A177-3AD203B41FA5}">
                      <a16:colId xmlns:a16="http://schemas.microsoft.com/office/drawing/2014/main" val="1147620483"/>
                    </a:ext>
                  </a:extLst>
                </a:gridCol>
                <a:gridCol w="318932">
                  <a:extLst>
                    <a:ext uri="{9D8B030D-6E8A-4147-A177-3AD203B41FA5}">
                      <a16:colId xmlns:a16="http://schemas.microsoft.com/office/drawing/2014/main" val="2010095056"/>
                    </a:ext>
                  </a:extLst>
                </a:gridCol>
                <a:gridCol w="318932">
                  <a:extLst>
                    <a:ext uri="{9D8B030D-6E8A-4147-A177-3AD203B41FA5}">
                      <a16:colId xmlns:a16="http://schemas.microsoft.com/office/drawing/2014/main" val="2278825526"/>
                    </a:ext>
                  </a:extLst>
                </a:gridCol>
                <a:gridCol w="318932">
                  <a:extLst>
                    <a:ext uri="{9D8B030D-6E8A-4147-A177-3AD203B41FA5}">
                      <a16:colId xmlns:a16="http://schemas.microsoft.com/office/drawing/2014/main" val="4146473044"/>
                    </a:ext>
                  </a:extLst>
                </a:gridCol>
                <a:gridCol w="318932">
                  <a:extLst>
                    <a:ext uri="{9D8B030D-6E8A-4147-A177-3AD203B41FA5}">
                      <a16:colId xmlns:a16="http://schemas.microsoft.com/office/drawing/2014/main" val="837150420"/>
                    </a:ext>
                  </a:extLst>
                </a:gridCol>
                <a:gridCol w="318932">
                  <a:extLst>
                    <a:ext uri="{9D8B030D-6E8A-4147-A177-3AD203B41FA5}">
                      <a16:colId xmlns:a16="http://schemas.microsoft.com/office/drawing/2014/main" val="3375562927"/>
                    </a:ext>
                  </a:extLst>
                </a:gridCol>
                <a:gridCol w="352154">
                  <a:extLst>
                    <a:ext uri="{9D8B030D-6E8A-4147-A177-3AD203B41FA5}">
                      <a16:colId xmlns:a16="http://schemas.microsoft.com/office/drawing/2014/main" val="453199395"/>
                    </a:ext>
                  </a:extLst>
                </a:gridCol>
                <a:gridCol w="352154">
                  <a:extLst>
                    <a:ext uri="{9D8B030D-6E8A-4147-A177-3AD203B41FA5}">
                      <a16:colId xmlns:a16="http://schemas.microsoft.com/office/drawing/2014/main" val="79448256"/>
                    </a:ext>
                  </a:extLst>
                </a:gridCol>
                <a:gridCol w="318932">
                  <a:extLst>
                    <a:ext uri="{9D8B030D-6E8A-4147-A177-3AD203B41FA5}">
                      <a16:colId xmlns:a16="http://schemas.microsoft.com/office/drawing/2014/main" val="2483823363"/>
                    </a:ext>
                  </a:extLst>
                </a:gridCol>
                <a:gridCol w="318932">
                  <a:extLst>
                    <a:ext uri="{9D8B030D-6E8A-4147-A177-3AD203B41FA5}">
                      <a16:colId xmlns:a16="http://schemas.microsoft.com/office/drawing/2014/main" val="3802345304"/>
                    </a:ext>
                  </a:extLst>
                </a:gridCol>
                <a:gridCol w="318932">
                  <a:extLst>
                    <a:ext uri="{9D8B030D-6E8A-4147-A177-3AD203B41FA5}">
                      <a16:colId xmlns:a16="http://schemas.microsoft.com/office/drawing/2014/main" val="1331655872"/>
                    </a:ext>
                  </a:extLst>
                </a:gridCol>
                <a:gridCol w="318932">
                  <a:extLst>
                    <a:ext uri="{9D8B030D-6E8A-4147-A177-3AD203B41FA5}">
                      <a16:colId xmlns:a16="http://schemas.microsoft.com/office/drawing/2014/main" val="2390220878"/>
                    </a:ext>
                  </a:extLst>
                </a:gridCol>
                <a:gridCol w="318932">
                  <a:extLst>
                    <a:ext uri="{9D8B030D-6E8A-4147-A177-3AD203B41FA5}">
                      <a16:colId xmlns:a16="http://schemas.microsoft.com/office/drawing/2014/main" val="2766420736"/>
                    </a:ext>
                  </a:extLst>
                </a:gridCol>
                <a:gridCol w="318932">
                  <a:extLst>
                    <a:ext uri="{9D8B030D-6E8A-4147-A177-3AD203B41FA5}">
                      <a16:colId xmlns:a16="http://schemas.microsoft.com/office/drawing/2014/main" val="4085559121"/>
                    </a:ext>
                  </a:extLst>
                </a:gridCol>
                <a:gridCol w="318932">
                  <a:extLst>
                    <a:ext uri="{9D8B030D-6E8A-4147-A177-3AD203B41FA5}">
                      <a16:colId xmlns:a16="http://schemas.microsoft.com/office/drawing/2014/main" val="955433294"/>
                    </a:ext>
                  </a:extLst>
                </a:gridCol>
                <a:gridCol w="318932">
                  <a:extLst>
                    <a:ext uri="{9D8B030D-6E8A-4147-A177-3AD203B41FA5}">
                      <a16:colId xmlns:a16="http://schemas.microsoft.com/office/drawing/2014/main" val="3500363181"/>
                    </a:ext>
                  </a:extLst>
                </a:gridCol>
                <a:gridCol w="318932">
                  <a:extLst>
                    <a:ext uri="{9D8B030D-6E8A-4147-A177-3AD203B41FA5}">
                      <a16:colId xmlns:a16="http://schemas.microsoft.com/office/drawing/2014/main" val="2115829595"/>
                    </a:ext>
                  </a:extLst>
                </a:gridCol>
                <a:gridCol w="318932">
                  <a:extLst>
                    <a:ext uri="{9D8B030D-6E8A-4147-A177-3AD203B41FA5}">
                      <a16:colId xmlns:a16="http://schemas.microsoft.com/office/drawing/2014/main" val="2372586074"/>
                    </a:ext>
                  </a:extLst>
                </a:gridCol>
                <a:gridCol w="318932">
                  <a:extLst>
                    <a:ext uri="{9D8B030D-6E8A-4147-A177-3AD203B41FA5}">
                      <a16:colId xmlns:a16="http://schemas.microsoft.com/office/drawing/2014/main" val="4055920498"/>
                    </a:ext>
                  </a:extLst>
                </a:gridCol>
                <a:gridCol w="318932">
                  <a:extLst>
                    <a:ext uri="{9D8B030D-6E8A-4147-A177-3AD203B41FA5}">
                      <a16:colId xmlns:a16="http://schemas.microsoft.com/office/drawing/2014/main" val="2312986262"/>
                    </a:ext>
                  </a:extLst>
                </a:gridCol>
                <a:gridCol w="318932">
                  <a:extLst>
                    <a:ext uri="{9D8B030D-6E8A-4147-A177-3AD203B41FA5}">
                      <a16:colId xmlns:a16="http://schemas.microsoft.com/office/drawing/2014/main" val="12409056"/>
                    </a:ext>
                  </a:extLst>
                </a:gridCol>
                <a:gridCol w="318932">
                  <a:extLst>
                    <a:ext uri="{9D8B030D-6E8A-4147-A177-3AD203B41FA5}">
                      <a16:colId xmlns:a16="http://schemas.microsoft.com/office/drawing/2014/main" val="734509818"/>
                    </a:ext>
                  </a:extLst>
                </a:gridCol>
                <a:gridCol w="318932">
                  <a:extLst>
                    <a:ext uri="{9D8B030D-6E8A-4147-A177-3AD203B41FA5}">
                      <a16:colId xmlns:a16="http://schemas.microsoft.com/office/drawing/2014/main" val="3928609066"/>
                    </a:ext>
                  </a:extLst>
                </a:gridCol>
                <a:gridCol w="318932">
                  <a:extLst>
                    <a:ext uri="{9D8B030D-6E8A-4147-A177-3AD203B41FA5}">
                      <a16:colId xmlns:a16="http://schemas.microsoft.com/office/drawing/2014/main" val="3904490454"/>
                    </a:ext>
                  </a:extLst>
                </a:gridCol>
                <a:gridCol w="318932">
                  <a:extLst>
                    <a:ext uri="{9D8B030D-6E8A-4147-A177-3AD203B41FA5}">
                      <a16:colId xmlns:a16="http://schemas.microsoft.com/office/drawing/2014/main" val="1147902982"/>
                    </a:ext>
                  </a:extLst>
                </a:gridCol>
                <a:gridCol w="318932">
                  <a:extLst>
                    <a:ext uri="{9D8B030D-6E8A-4147-A177-3AD203B41FA5}">
                      <a16:colId xmlns:a16="http://schemas.microsoft.com/office/drawing/2014/main" val="2247731748"/>
                    </a:ext>
                  </a:extLst>
                </a:gridCol>
                <a:gridCol w="318932">
                  <a:extLst>
                    <a:ext uri="{9D8B030D-6E8A-4147-A177-3AD203B41FA5}">
                      <a16:colId xmlns:a16="http://schemas.microsoft.com/office/drawing/2014/main" val="1937625887"/>
                    </a:ext>
                  </a:extLst>
                </a:gridCol>
                <a:gridCol w="318932">
                  <a:extLst>
                    <a:ext uri="{9D8B030D-6E8A-4147-A177-3AD203B41FA5}">
                      <a16:colId xmlns:a16="http://schemas.microsoft.com/office/drawing/2014/main" val="677557855"/>
                    </a:ext>
                  </a:extLst>
                </a:gridCol>
                <a:gridCol w="318932">
                  <a:extLst>
                    <a:ext uri="{9D8B030D-6E8A-4147-A177-3AD203B41FA5}">
                      <a16:colId xmlns:a16="http://schemas.microsoft.com/office/drawing/2014/main" val="981384273"/>
                    </a:ext>
                  </a:extLst>
                </a:gridCol>
              </a:tblGrid>
              <a:tr h="250750">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Description</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Contractor</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Forecast &amp; Actual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gridSpan="3">
                  <a:txBody>
                    <a:bodyPr/>
                    <a:lstStyle/>
                    <a:p>
                      <a:pPr algn="ctr" rtl="0" fontAlgn="ctr">
                        <a:buNone/>
                      </a:pPr>
                      <a:r>
                        <a:rPr lang="en-US" sz="800" b="1" i="0" u="none" strike="noStrike">
                          <a:solidFill>
                            <a:srgbClr val="FFFFFF"/>
                          </a:solidFill>
                          <a:effectLst/>
                          <a:latin typeface="Adani Regular" panose="02000503000000020004" pitchFamily="2" charset="0"/>
                        </a:rPr>
                        <a:t>Oct-25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Nov-25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Dec-25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Jan-26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Feb-26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Mar-26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rtl="0" fontAlgn="ctr">
                        <a:buNone/>
                      </a:pPr>
                      <a:r>
                        <a:rPr lang="en-US" sz="800" b="1" i="0" u="none" strike="noStrike">
                          <a:solidFill>
                            <a:srgbClr val="FFFFFF"/>
                          </a:solidFill>
                          <a:effectLst/>
                          <a:latin typeface="Adani Regular" panose="02000503000000020004" pitchFamily="2" charset="0"/>
                        </a:rPr>
                        <a:t>Apr-26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341468"/>
                  </a:ext>
                </a:extLst>
              </a:tr>
              <a:tr h="3692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27-Apr</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2898994325"/>
                  </a:ext>
                </a:extLst>
              </a:tr>
              <a:tr h="362838">
                <a:tc rowSpan="3">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ACDC</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Akshar</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Forecast</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74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123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130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65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67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138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140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125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171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171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260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298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298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390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390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390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390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200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100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100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100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7694885"/>
                  </a:ext>
                </a:extLst>
              </a:tr>
              <a:tr h="36283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B050"/>
                          </a:solidFill>
                          <a:effectLst/>
                          <a:latin typeface="Adani Regular" panose="02000503000000020004" pitchFamily="2" charset="0"/>
                        </a:rPr>
                        <a:t>Actual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41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61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98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282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304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330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341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343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274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208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192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271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88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63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7670444"/>
                  </a:ext>
                </a:extLst>
              </a:tr>
              <a:tr h="36283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116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182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198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119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112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1158204"/>
                  </a:ext>
                </a:extLst>
              </a:tr>
              <a:tr h="362838">
                <a:tc rowSpan="3">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Structural Shed / PEB</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DP Consteel / </a:t>
                      </a:r>
                      <a:r>
                        <a:rPr lang="en-US" sz="800" b="0" i="0" u="none" strike="sngStrike">
                          <a:solidFill>
                            <a:srgbClr val="000000"/>
                          </a:solidFill>
                          <a:effectLst/>
                          <a:latin typeface="Adani Regular" panose="02000503000000020004" pitchFamily="2" charset="0"/>
                        </a:rPr>
                        <a:t>Carsfab</a:t>
                      </a:r>
                      <a:r>
                        <a:rPr lang="en-US" sz="800" b="0" i="0" u="none" strike="noStrike">
                          <a:solidFill>
                            <a:srgbClr val="000000"/>
                          </a:solidFill>
                          <a:effectLst/>
                          <a:latin typeface="Adani Regular" panose="02000503000000020004" pitchFamily="2" charset="0"/>
                        </a:rPr>
                        <a:t> Laxcon</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Forecast</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8997890"/>
                  </a:ext>
                </a:extLst>
              </a:tr>
              <a:tr h="36283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B050"/>
                          </a:solidFill>
                          <a:effectLst/>
                          <a:latin typeface="Adani Regular" panose="02000503000000020004" pitchFamily="2" charset="0"/>
                        </a:rPr>
                        <a:t>Actual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42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4869682"/>
                  </a:ext>
                </a:extLst>
              </a:tr>
              <a:tr h="36283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2693209"/>
                  </a:ext>
                </a:extLst>
              </a:tr>
              <a:tr h="489832">
                <a:tc rowSpan="3" gridSpan="2">
                  <a:txBody>
                    <a:bodyPr/>
                    <a:lstStyle/>
                    <a:p>
                      <a:pPr algn="ctr" rtl="0" fontAlgn="ctr">
                        <a:buNone/>
                      </a:pPr>
                      <a:r>
                        <a:rPr lang="en-US" sz="800" b="1" i="0" u="none" strike="noStrike">
                          <a:solidFill>
                            <a:srgbClr val="000000"/>
                          </a:solidFill>
                          <a:effectLst/>
                          <a:latin typeface="Adani Regular" panose="02000503000000020004" pitchFamily="2" charset="0"/>
                        </a:rPr>
                        <a:t>Total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hMerge="1">
                  <a:txBody>
                    <a:bodyPr/>
                    <a:lstStyle/>
                    <a:p>
                      <a:endParaRPr lang="en-US"/>
                    </a:p>
                  </a:txBody>
                  <a:tcPr/>
                </a:tc>
                <a:tc rowSpan="3">
                  <a:txBody>
                    <a:bodyPr/>
                    <a:lstStyle/>
                    <a:p>
                      <a:pPr algn="ctr" rtl="0" fontAlgn="ctr">
                        <a:buNone/>
                      </a:pPr>
                      <a:r>
                        <a:rPr lang="en-US" sz="800" b="1"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Forecast</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23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74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123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130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65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87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158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165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155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179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201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310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348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348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440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440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440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440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440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250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800" b="1" i="0" u="none" strike="noStrike">
                          <a:solidFill>
                            <a:srgbClr val="000000"/>
                          </a:solidFill>
                          <a:effectLst/>
                          <a:latin typeface="Adani Regular" panose="02000503000000020004" pitchFamily="2" charset="0"/>
                        </a:rPr>
                        <a:t>100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602654"/>
                  </a:ext>
                </a:extLst>
              </a:tr>
              <a:tr h="362838">
                <a:tc gridSpan="2" vMerge="1">
                  <a:txBody>
                    <a:bodyPr/>
                    <a:lstStyle/>
                    <a:p>
                      <a:endParaRPr lang="en-US"/>
                    </a:p>
                  </a:txBody>
                  <a:tcPr/>
                </a:tc>
                <a:tc hMerge="1"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00B050"/>
                          </a:solidFill>
                          <a:effectLst/>
                          <a:latin typeface="Adani Regular" panose="02000503000000020004" pitchFamily="2" charset="0"/>
                        </a:rPr>
                        <a:t>Actual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41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61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98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109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112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72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170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265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320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327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321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350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378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385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285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213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195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283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88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63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7207416"/>
                  </a:ext>
                </a:extLst>
              </a:tr>
              <a:tr h="380981">
                <a:tc gridSpan="2" vMerge="1">
                  <a:txBody>
                    <a:bodyPr/>
                    <a:lstStyle/>
                    <a:p>
                      <a:endParaRPr lang="en-US"/>
                    </a:p>
                  </a:txBody>
                  <a:tcPr/>
                </a:tc>
                <a:tc hMerge="1"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119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227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245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87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140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146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3213721"/>
                  </a:ext>
                </a:extLst>
              </a:tr>
              <a:tr h="598684">
                <a:tc gridSpan="3">
                  <a:txBody>
                    <a:bodyPr/>
                    <a:lstStyle/>
                    <a:p>
                      <a:pPr algn="ctr" rtl="0" fontAlgn="ctr">
                        <a:buNone/>
                      </a:pPr>
                      <a:r>
                        <a:rPr lang="en-US" sz="800" b="0" i="0" u="none" strike="noStrike">
                          <a:solidFill>
                            <a:srgbClr val="000000"/>
                          </a:solidFill>
                          <a:effectLst/>
                          <a:latin typeface="Adani Regular" panose="02000503000000020004" pitchFamily="2" charset="0"/>
                        </a:rPr>
                        <a:t>Others (Potaliya, MSC, Jay Vijay, Geon)</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0" i="0" u="none" strike="noStrike">
                          <a:solidFill>
                            <a:srgbClr val="00B050"/>
                          </a:solidFill>
                          <a:effectLst/>
                          <a:latin typeface="Adani Regular" panose="02000503000000020004" pitchFamily="2" charset="0"/>
                        </a:rPr>
                        <a:t>Actual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180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180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205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288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302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261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311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255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186</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137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47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44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3464449"/>
                  </a:ext>
                </a:extLst>
              </a:tr>
              <a:tr h="362838">
                <a:tc gridSpan="3">
                  <a:txBody>
                    <a:bodyPr/>
                    <a:lstStyle/>
                    <a:p>
                      <a:pPr algn="ctr" fontAlgn="ctr">
                        <a:buNone/>
                      </a:pPr>
                      <a:r>
                        <a:rPr lang="en-US" sz="800" b="0"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ctr" fontAlgn="ctr">
                        <a:buNone/>
                      </a:pPr>
                      <a:r>
                        <a:rPr lang="en-US" sz="800" b="1" i="0" u="none" strike="noStrike">
                          <a:solidFill>
                            <a:srgbClr val="00B050"/>
                          </a:solidFill>
                          <a:effectLst/>
                          <a:latin typeface="Adani Regular" panose="02000503000000020004" pitchFamily="2" charset="0"/>
                        </a:rPr>
                        <a:t>Total Actual</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194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169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197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173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220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234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329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363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359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420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367</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258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332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402</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429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401</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398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425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425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429</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285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213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195</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283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88</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63</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10</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4</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5" marR="4675" marT="46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8788685"/>
                  </a:ext>
                </a:extLst>
              </a:tr>
            </a:tbl>
          </a:graphicData>
        </a:graphic>
      </p:graphicFrame>
    </p:spTree>
    <p:extLst>
      <p:ext uri="{BB962C8B-B14F-4D97-AF65-F5344CB8AC3E}">
        <p14:creationId xmlns:p14="http://schemas.microsoft.com/office/powerpoint/2010/main" val="16636809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0F561-9AF5-34DB-C990-6DCD176F7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7A07F-CCEF-E854-E4C0-55117F5CBB87}"/>
              </a:ext>
            </a:extLst>
          </p:cNvPr>
          <p:cNvSpPr txBox="1">
            <a:spLocks/>
          </p:cNvSpPr>
          <p:nvPr/>
        </p:nvSpPr>
        <p:spPr>
          <a:xfrm>
            <a:off x="291304" y="124051"/>
            <a:ext cx="12234734" cy="424449"/>
          </a:xfrm>
          <a:prstGeom prst="rect">
            <a:avLst/>
          </a:prstGeom>
          <a:noFill/>
        </p:spPr>
        <p:txBody>
          <a:bodyPr vert="horz" wrap="square" lIns="0" tIns="45580" rIns="91157" bIns="45580" rtlCol="0" anchor="b">
            <a:spAutoFit/>
          </a:bodyPr>
          <a:lstStyle>
            <a:lvl1pPr marL="109192" defTabSz="911377">
              <a:lnSpc>
                <a:spcPct val="90000"/>
              </a:lnSpc>
              <a:spcBef>
                <a:spcPct val="0"/>
              </a:spcBef>
              <a:buNone/>
              <a:defRPr sz="2400" b="1">
                <a:gradFill>
                  <a:gsLst>
                    <a:gs pos="9735">
                      <a:schemeClr val="tx2"/>
                    </a:gs>
                    <a:gs pos="63000">
                      <a:srgbClr val="8E278F"/>
                    </a:gs>
                    <a:gs pos="38000">
                      <a:srgbClr val="57499E"/>
                    </a:gs>
                  </a:gsLst>
                  <a:lin ang="0" scaled="0"/>
                </a:gradFill>
                <a:latin typeface="Adani Regular" panose="02000503000000020004" pitchFamily="2" charset="0"/>
              </a:defRPr>
            </a:lvl1pPr>
          </a:lstStyle>
          <a:p>
            <a:pPr marL="0" marR="0" lvl="0" indent="0" algn="l" defTabSz="911377"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rPr>
              <a:t>Manpower Deployment Plan vs Actual - </a:t>
            </a:r>
            <a:r>
              <a:rPr lang="en-US">
                <a:gradFill>
                  <a:gsLst>
                    <a:gs pos="9735">
                      <a:srgbClr val="1F497D"/>
                    </a:gs>
                    <a:gs pos="63000">
                      <a:srgbClr val="8E278F"/>
                    </a:gs>
                    <a:gs pos="38000">
                      <a:srgbClr val="57499E"/>
                    </a:gs>
                  </a:gsLst>
                  <a:lin ang="0" scaled="0"/>
                </a:gradFill>
              </a:rPr>
              <a:t>PSS 05</a:t>
            </a:r>
            <a:endParaRPr kumimoji="0" lang="en-US" sz="2400"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endParaRPr>
          </a:p>
        </p:txBody>
      </p:sp>
      <p:sp>
        <p:nvSpPr>
          <p:cNvPr id="3" name="Slide Number Placeholder 2">
            <a:extLst>
              <a:ext uri="{FF2B5EF4-FFF2-40B4-BE49-F238E27FC236}">
                <a16:creationId xmlns:a16="http://schemas.microsoft.com/office/drawing/2014/main" id="{28BB5EF3-6074-C935-092C-601C3D20B21F}"/>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82</a:t>
            </a:fld>
            <a:endParaRPr lang="en-IN"/>
          </a:p>
        </p:txBody>
      </p:sp>
      <p:graphicFrame>
        <p:nvGraphicFramePr>
          <p:cNvPr id="5" name="Table 4">
            <a:extLst>
              <a:ext uri="{FF2B5EF4-FFF2-40B4-BE49-F238E27FC236}">
                <a16:creationId xmlns:a16="http://schemas.microsoft.com/office/drawing/2014/main" id="{5A1A4494-1C61-BA80-0CBA-5C6F55D3148C}"/>
              </a:ext>
            </a:extLst>
          </p:cNvPr>
          <p:cNvGraphicFramePr>
            <a:graphicFrameLocks noGrp="1"/>
          </p:cNvGraphicFramePr>
          <p:nvPr/>
        </p:nvGraphicFramePr>
        <p:xfrm>
          <a:off x="291303" y="884421"/>
          <a:ext cx="11546726" cy="5073930"/>
        </p:xfrm>
        <a:graphic>
          <a:graphicData uri="http://schemas.openxmlformats.org/drawingml/2006/table">
            <a:tbl>
              <a:tblPr/>
              <a:tblGrid>
                <a:gridCol w="591406">
                  <a:extLst>
                    <a:ext uri="{9D8B030D-6E8A-4147-A177-3AD203B41FA5}">
                      <a16:colId xmlns:a16="http://schemas.microsoft.com/office/drawing/2014/main" val="1840191277"/>
                    </a:ext>
                  </a:extLst>
                </a:gridCol>
                <a:gridCol w="573134">
                  <a:extLst>
                    <a:ext uri="{9D8B030D-6E8A-4147-A177-3AD203B41FA5}">
                      <a16:colId xmlns:a16="http://schemas.microsoft.com/office/drawing/2014/main" val="932853850"/>
                    </a:ext>
                  </a:extLst>
                </a:gridCol>
                <a:gridCol w="559770">
                  <a:extLst>
                    <a:ext uri="{9D8B030D-6E8A-4147-A177-3AD203B41FA5}">
                      <a16:colId xmlns:a16="http://schemas.microsoft.com/office/drawing/2014/main" val="550448359"/>
                    </a:ext>
                  </a:extLst>
                </a:gridCol>
                <a:gridCol w="572576">
                  <a:extLst>
                    <a:ext uri="{9D8B030D-6E8A-4147-A177-3AD203B41FA5}">
                      <a16:colId xmlns:a16="http://schemas.microsoft.com/office/drawing/2014/main" val="2107633251"/>
                    </a:ext>
                  </a:extLst>
                </a:gridCol>
                <a:gridCol w="318960">
                  <a:extLst>
                    <a:ext uri="{9D8B030D-6E8A-4147-A177-3AD203B41FA5}">
                      <a16:colId xmlns:a16="http://schemas.microsoft.com/office/drawing/2014/main" val="1878277186"/>
                    </a:ext>
                  </a:extLst>
                </a:gridCol>
                <a:gridCol w="318960">
                  <a:extLst>
                    <a:ext uri="{9D8B030D-6E8A-4147-A177-3AD203B41FA5}">
                      <a16:colId xmlns:a16="http://schemas.microsoft.com/office/drawing/2014/main" val="1009113172"/>
                    </a:ext>
                  </a:extLst>
                </a:gridCol>
                <a:gridCol w="318960">
                  <a:extLst>
                    <a:ext uri="{9D8B030D-6E8A-4147-A177-3AD203B41FA5}">
                      <a16:colId xmlns:a16="http://schemas.microsoft.com/office/drawing/2014/main" val="1810481287"/>
                    </a:ext>
                  </a:extLst>
                </a:gridCol>
                <a:gridCol w="318960">
                  <a:extLst>
                    <a:ext uri="{9D8B030D-6E8A-4147-A177-3AD203B41FA5}">
                      <a16:colId xmlns:a16="http://schemas.microsoft.com/office/drawing/2014/main" val="793091870"/>
                    </a:ext>
                  </a:extLst>
                </a:gridCol>
                <a:gridCol w="318960">
                  <a:extLst>
                    <a:ext uri="{9D8B030D-6E8A-4147-A177-3AD203B41FA5}">
                      <a16:colId xmlns:a16="http://schemas.microsoft.com/office/drawing/2014/main" val="1803904484"/>
                    </a:ext>
                  </a:extLst>
                </a:gridCol>
                <a:gridCol w="318960">
                  <a:extLst>
                    <a:ext uri="{9D8B030D-6E8A-4147-A177-3AD203B41FA5}">
                      <a16:colId xmlns:a16="http://schemas.microsoft.com/office/drawing/2014/main" val="3898360558"/>
                    </a:ext>
                  </a:extLst>
                </a:gridCol>
                <a:gridCol w="318960">
                  <a:extLst>
                    <a:ext uri="{9D8B030D-6E8A-4147-A177-3AD203B41FA5}">
                      <a16:colId xmlns:a16="http://schemas.microsoft.com/office/drawing/2014/main" val="1831033882"/>
                    </a:ext>
                  </a:extLst>
                </a:gridCol>
                <a:gridCol w="318960">
                  <a:extLst>
                    <a:ext uri="{9D8B030D-6E8A-4147-A177-3AD203B41FA5}">
                      <a16:colId xmlns:a16="http://schemas.microsoft.com/office/drawing/2014/main" val="3946684207"/>
                    </a:ext>
                  </a:extLst>
                </a:gridCol>
                <a:gridCol w="318960">
                  <a:extLst>
                    <a:ext uri="{9D8B030D-6E8A-4147-A177-3AD203B41FA5}">
                      <a16:colId xmlns:a16="http://schemas.microsoft.com/office/drawing/2014/main" val="1098079095"/>
                    </a:ext>
                  </a:extLst>
                </a:gridCol>
                <a:gridCol w="318960">
                  <a:extLst>
                    <a:ext uri="{9D8B030D-6E8A-4147-A177-3AD203B41FA5}">
                      <a16:colId xmlns:a16="http://schemas.microsoft.com/office/drawing/2014/main" val="3975353625"/>
                    </a:ext>
                  </a:extLst>
                </a:gridCol>
                <a:gridCol w="318960">
                  <a:extLst>
                    <a:ext uri="{9D8B030D-6E8A-4147-A177-3AD203B41FA5}">
                      <a16:colId xmlns:a16="http://schemas.microsoft.com/office/drawing/2014/main" val="276516127"/>
                    </a:ext>
                  </a:extLst>
                </a:gridCol>
                <a:gridCol w="318960">
                  <a:extLst>
                    <a:ext uri="{9D8B030D-6E8A-4147-A177-3AD203B41FA5}">
                      <a16:colId xmlns:a16="http://schemas.microsoft.com/office/drawing/2014/main" val="3331327216"/>
                    </a:ext>
                  </a:extLst>
                </a:gridCol>
                <a:gridCol w="318960">
                  <a:extLst>
                    <a:ext uri="{9D8B030D-6E8A-4147-A177-3AD203B41FA5}">
                      <a16:colId xmlns:a16="http://schemas.microsoft.com/office/drawing/2014/main" val="1881715249"/>
                    </a:ext>
                  </a:extLst>
                </a:gridCol>
                <a:gridCol w="318960">
                  <a:extLst>
                    <a:ext uri="{9D8B030D-6E8A-4147-A177-3AD203B41FA5}">
                      <a16:colId xmlns:a16="http://schemas.microsoft.com/office/drawing/2014/main" val="1368007525"/>
                    </a:ext>
                  </a:extLst>
                </a:gridCol>
                <a:gridCol w="318960">
                  <a:extLst>
                    <a:ext uri="{9D8B030D-6E8A-4147-A177-3AD203B41FA5}">
                      <a16:colId xmlns:a16="http://schemas.microsoft.com/office/drawing/2014/main" val="920160571"/>
                    </a:ext>
                  </a:extLst>
                </a:gridCol>
                <a:gridCol w="318960">
                  <a:extLst>
                    <a:ext uri="{9D8B030D-6E8A-4147-A177-3AD203B41FA5}">
                      <a16:colId xmlns:a16="http://schemas.microsoft.com/office/drawing/2014/main" val="1328244584"/>
                    </a:ext>
                  </a:extLst>
                </a:gridCol>
                <a:gridCol w="318960">
                  <a:extLst>
                    <a:ext uri="{9D8B030D-6E8A-4147-A177-3AD203B41FA5}">
                      <a16:colId xmlns:a16="http://schemas.microsoft.com/office/drawing/2014/main" val="202998504"/>
                    </a:ext>
                  </a:extLst>
                </a:gridCol>
                <a:gridCol w="318960">
                  <a:extLst>
                    <a:ext uri="{9D8B030D-6E8A-4147-A177-3AD203B41FA5}">
                      <a16:colId xmlns:a16="http://schemas.microsoft.com/office/drawing/2014/main" val="3327606758"/>
                    </a:ext>
                  </a:extLst>
                </a:gridCol>
                <a:gridCol w="318960">
                  <a:extLst>
                    <a:ext uri="{9D8B030D-6E8A-4147-A177-3AD203B41FA5}">
                      <a16:colId xmlns:a16="http://schemas.microsoft.com/office/drawing/2014/main" val="2652812214"/>
                    </a:ext>
                  </a:extLst>
                </a:gridCol>
                <a:gridCol w="318960">
                  <a:extLst>
                    <a:ext uri="{9D8B030D-6E8A-4147-A177-3AD203B41FA5}">
                      <a16:colId xmlns:a16="http://schemas.microsoft.com/office/drawing/2014/main" val="2338148510"/>
                    </a:ext>
                  </a:extLst>
                </a:gridCol>
                <a:gridCol w="318960">
                  <a:extLst>
                    <a:ext uri="{9D8B030D-6E8A-4147-A177-3AD203B41FA5}">
                      <a16:colId xmlns:a16="http://schemas.microsoft.com/office/drawing/2014/main" val="2950834763"/>
                    </a:ext>
                  </a:extLst>
                </a:gridCol>
                <a:gridCol w="318960">
                  <a:extLst>
                    <a:ext uri="{9D8B030D-6E8A-4147-A177-3AD203B41FA5}">
                      <a16:colId xmlns:a16="http://schemas.microsoft.com/office/drawing/2014/main" val="2073682842"/>
                    </a:ext>
                  </a:extLst>
                </a:gridCol>
                <a:gridCol w="318960">
                  <a:extLst>
                    <a:ext uri="{9D8B030D-6E8A-4147-A177-3AD203B41FA5}">
                      <a16:colId xmlns:a16="http://schemas.microsoft.com/office/drawing/2014/main" val="2300477620"/>
                    </a:ext>
                  </a:extLst>
                </a:gridCol>
                <a:gridCol w="318960">
                  <a:extLst>
                    <a:ext uri="{9D8B030D-6E8A-4147-A177-3AD203B41FA5}">
                      <a16:colId xmlns:a16="http://schemas.microsoft.com/office/drawing/2014/main" val="2523895416"/>
                    </a:ext>
                  </a:extLst>
                </a:gridCol>
                <a:gridCol w="318960">
                  <a:extLst>
                    <a:ext uri="{9D8B030D-6E8A-4147-A177-3AD203B41FA5}">
                      <a16:colId xmlns:a16="http://schemas.microsoft.com/office/drawing/2014/main" val="60361876"/>
                    </a:ext>
                  </a:extLst>
                </a:gridCol>
                <a:gridCol w="318960">
                  <a:extLst>
                    <a:ext uri="{9D8B030D-6E8A-4147-A177-3AD203B41FA5}">
                      <a16:colId xmlns:a16="http://schemas.microsoft.com/office/drawing/2014/main" val="784138804"/>
                    </a:ext>
                  </a:extLst>
                </a:gridCol>
                <a:gridCol w="318960">
                  <a:extLst>
                    <a:ext uri="{9D8B030D-6E8A-4147-A177-3AD203B41FA5}">
                      <a16:colId xmlns:a16="http://schemas.microsoft.com/office/drawing/2014/main" val="3573684119"/>
                    </a:ext>
                  </a:extLst>
                </a:gridCol>
                <a:gridCol w="318960">
                  <a:extLst>
                    <a:ext uri="{9D8B030D-6E8A-4147-A177-3AD203B41FA5}">
                      <a16:colId xmlns:a16="http://schemas.microsoft.com/office/drawing/2014/main" val="3979014086"/>
                    </a:ext>
                  </a:extLst>
                </a:gridCol>
                <a:gridCol w="318960">
                  <a:extLst>
                    <a:ext uri="{9D8B030D-6E8A-4147-A177-3AD203B41FA5}">
                      <a16:colId xmlns:a16="http://schemas.microsoft.com/office/drawing/2014/main" val="1088235629"/>
                    </a:ext>
                  </a:extLst>
                </a:gridCol>
              </a:tblGrid>
              <a:tr h="340532">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Description</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Contractor</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Forecast &amp; Actual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gridSpan="3">
                  <a:txBody>
                    <a:bodyPr/>
                    <a:lstStyle/>
                    <a:p>
                      <a:pPr algn="ctr" rtl="0" fontAlgn="ctr">
                        <a:buNone/>
                      </a:pPr>
                      <a:r>
                        <a:rPr lang="en-US" sz="800" b="1" i="0" u="none" strike="noStrike">
                          <a:solidFill>
                            <a:srgbClr val="FFFFFF"/>
                          </a:solidFill>
                          <a:effectLst/>
                          <a:latin typeface="Adani Regular" panose="02000503000000020004" pitchFamily="2" charset="0"/>
                        </a:rPr>
                        <a:t>Oct-25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Nov-25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Dec-25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Jan-26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Feb-26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Mar-26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rtl="0" fontAlgn="ctr">
                        <a:buNone/>
                      </a:pPr>
                      <a:r>
                        <a:rPr lang="en-US" sz="800" b="1" i="0" u="none" strike="noStrike">
                          <a:solidFill>
                            <a:srgbClr val="FFFFFF"/>
                          </a:solidFill>
                          <a:effectLst/>
                          <a:latin typeface="Adani Regular" panose="02000503000000020004" pitchFamily="2" charset="0"/>
                        </a:rPr>
                        <a:t>Apr-26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35289721"/>
                  </a:ext>
                </a:extLst>
              </a:tr>
              <a:tr h="3405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27-Apr</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3580913236"/>
                  </a:ext>
                </a:extLst>
              </a:tr>
              <a:tr h="340532">
                <a:tc rowSpan="3">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ACDC</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Akshar</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Forecast</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65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65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94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61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88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123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123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123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135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135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177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177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400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6191234"/>
                  </a:ext>
                </a:extLst>
              </a:tr>
              <a:tr h="34053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B050"/>
                          </a:solidFill>
                          <a:effectLst/>
                          <a:latin typeface="Adani Regular" panose="02000503000000020004" pitchFamily="2" charset="0"/>
                        </a:rPr>
                        <a:t>Actual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52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69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60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42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68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183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246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243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202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228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240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233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3664919"/>
                  </a:ext>
                </a:extLst>
              </a:tr>
              <a:tr h="34053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78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81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242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190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181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190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217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198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172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180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2435323"/>
                  </a:ext>
                </a:extLst>
              </a:tr>
              <a:tr h="340532">
                <a:tc rowSpan="3">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Structural Shed / PEB</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DP Consteel / </a:t>
                      </a:r>
                      <a:r>
                        <a:rPr lang="en-US" sz="800" b="0" i="0" u="none" strike="sngStrike">
                          <a:solidFill>
                            <a:srgbClr val="000000"/>
                          </a:solidFill>
                          <a:effectLst/>
                          <a:latin typeface="Adani Regular" panose="02000503000000020004" pitchFamily="2" charset="0"/>
                        </a:rPr>
                        <a:t>Carsfab</a:t>
                      </a:r>
                      <a:r>
                        <a:rPr lang="en-US" sz="800" b="0" i="0" u="none" strike="noStrike">
                          <a:solidFill>
                            <a:srgbClr val="000000"/>
                          </a:solidFill>
                          <a:effectLst/>
                          <a:latin typeface="Adani Regular" panose="02000503000000020004" pitchFamily="2" charset="0"/>
                        </a:rPr>
                        <a:t> Laxcon</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Forecast</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8820369"/>
                  </a:ext>
                </a:extLst>
              </a:tr>
              <a:tr h="34053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B050"/>
                          </a:solidFill>
                          <a:effectLst/>
                          <a:latin typeface="Adani Regular" panose="02000503000000020004" pitchFamily="2" charset="0"/>
                        </a:rPr>
                        <a:t>Actual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828434"/>
                  </a:ext>
                </a:extLst>
              </a:tr>
              <a:tr h="34053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1828140"/>
                  </a:ext>
                </a:extLst>
              </a:tr>
              <a:tr h="629986">
                <a:tc rowSpan="3" gridSpan="3">
                  <a:txBody>
                    <a:bodyPr/>
                    <a:lstStyle/>
                    <a:p>
                      <a:pPr algn="ctr" rtl="0" fontAlgn="ctr">
                        <a:buNone/>
                      </a:pPr>
                      <a:r>
                        <a:rPr lang="en-US" sz="800" b="1" i="0" u="none" strike="noStrike">
                          <a:solidFill>
                            <a:srgbClr val="000000"/>
                          </a:solidFill>
                          <a:effectLst/>
                          <a:latin typeface="Adani Regular" panose="02000503000000020004" pitchFamily="2" charset="0"/>
                        </a:rPr>
                        <a:t>Total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hMerge="1">
                  <a:txBody>
                    <a:bodyPr/>
                    <a:lstStyle/>
                    <a:p>
                      <a:endParaRPr lang="en-US"/>
                    </a:p>
                  </a:txBody>
                  <a:tcPr/>
                </a:tc>
                <a:tc rowSpan="3" hMerge="1">
                  <a:txBody>
                    <a:bodyPr/>
                    <a:lstStyle/>
                    <a:p>
                      <a:endParaRPr lang="en-US"/>
                    </a:p>
                  </a:txBody>
                  <a:tcPr/>
                </a:tc>
                <a:tc>
                  <a:txBody>
                    <a:bodyPr/>
                    <a:lstStyle/>
                    <a:p>
                      <a:pPr algn="ctr" rtl="0" fontAlgn="ctr">
                        <a:buNone/>
                      </a:pPr>
                      <a:r>
                        <a:rPr lang="en-US" sz="800" b="1" i="0" u="none" strike="noStrike">
                          <a:solidFill>
                            <a:srgbClr val="000000"/>
                          </a:solidFill>
                          <a:effectLst/>
                          <a:latin typeface="Adani Regular" panose="02000503000000020004" pitchFamily="2" charset="0"/>
                        </a:rPr>
                        <a:t>Forecast</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65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65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94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61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79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108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148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153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153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165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165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207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207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800" b="1" i="0" u="none" strike="noStrike">
                          <a:solidFill>
                            <a:srgbClr val="000000"/>
                          </a:solidFill>
                          <a:effectLst/>
                          <a:latin typeface="Adani Regular" panose="02000503000000020004" pitchFamily="2" charset="0"/>
                        </a:rPr>
                        <a:t>450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7388478"/>
                  </a:ext>
                </a:extLst>
              </a:tr>
              <a:tr h="340532">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ctr" rtl="0" fontAlgn="ctr">
                        <a:buNone/>
                      </a:pPr>
                      <a:r>
                        <a:rPr lang="en-US" sz="800" b="1" i="0" u="none" strike="noStrike">
                          <a:solidFill>
                            <a:srgbClr val="00B050"/>
                          </a:solidFill>
                          <a:effectLst/>
                          <a:latin typeface="Adani Regular" panose="02000503000000020004" pitchFamily="2" charset="0"/>
                        </a:rPr>
                        <a:t>Actual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57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74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76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61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42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79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93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168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167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175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228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239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231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196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253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249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212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249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264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236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7229596"/>
                  </a:ext>
                </a:extLst>
              </a:tr>
              <a:tr h="340532">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52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78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72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111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86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72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275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222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211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219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254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197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201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238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201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186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200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214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0017674"/>
                  </a:ext>
                </a:extLst>
              </a:tr>
              <a:tr h="612958">
                <a:tc gridSpan="3">
                  <a:txBody>
                    <a:bodyPr/>
                    <a:lstStyle/>
                    <a:p>
                      <a:pPr algn="ctr" rtl="0" fontAlgn="ctr">
                        <a:buNone/>
                      </a:pPr>
                      <a:r>
                        <a:rPr lang="en-US" sz="800" b="0" i="0" u="none" strike="noStrike">
                          <a:solidFill>
                            <a:srgbClr val="000000"/>
                          </a:solidFill>
                          <a:effectLst/>
                          <a:latin typeface="Adani Regular" panose="02000503000000020004" pitchFamily="2" charset="0"/>
                        </a:rPr>
                        <a:t>Others (Sachi, Potaliya, MSC, Hitachi, Geon, JayVijay)</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0" i="0" u="none" strike="noStrike">
                          <a:solidFill>
                            <a:srgbClr val="00B050"/>
                          </a:solidFill>
                          <a:effectLst/>
                          <a:latin typeface="Adani Regular" panose="02000503000000020004" pitchFamily="2" charset="0"/>
                        </a:rPr>
                        <a:t>Actual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107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92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115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194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145</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170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136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112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90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56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61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53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515887"/>
                  </a:ext>
                </a:extLst>
              </a:tr>
              <a:tr h="425666">
                <a:tc gridSpan="3">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ctr" fontAlgn="ctr">
                        <a:buNone/>
                      </a:pPr>
                      <a:r>
                        <a:rPr lang="en-US" sz="800" b="1" i="0" u="none" strike="noStrike">
                          <a:solidFill>
                            <a:srgbClr val="00B050"/>
                          </a:solidFill>
                          <a:effectLst/>
                          <a:latin typeface="Adani Regular" panose="02000503000000020004" pitchFamily="2" charset="0"/>
                        </a:rPr>
                        <a:t>Total Actual</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121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107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127</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101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128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159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221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202</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219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246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211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178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191</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183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246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223</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236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306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310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284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220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274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268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228</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249</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264</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250</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236</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Adani Regular" panose="02000503000000020004" pitchFamily="2" charset="0"/>
                        </a:rPr>
                        <a:t> </a:t>
                      </a:r>
                    </a:p>
                  </a:txBody>
                  <a:tcPr marL="4678" marR="4678" marT="46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1495389"/>
                  </a:ext>
                </a:extLst>
              </a:tr>
            </a:tbl>
          </a:graphicData>
        </a:graphic>
      </p:graphicFrame>
    </p:spTree>
    <p:extLst>
      <p:ext uri="{BB962C8B-B14F-4D97-AF65-F5344CB8AC3E}">
        <p14:creationId xmlns:p14="http://schemas.microsoft.com/office/powerpoint/2010/main" val="7504139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19EF-1FF4-A4D5-5550-1B0F2CBC4D9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5F8CD17-22F5-4573-0EE7-19BC9A18AE77}"/>
              </a:ext>
            </a:extLst>
          </p:cNvPr>
          <p:cNvSpPr txBox="1">
            <a:spLocks/>
          </p:cNvSpPr>
          <p:nvPr/>
        </p:nvSpPr>
        <p:spPr>
          <a:xfrm>
            <a:off x="264008" y="114405"/>
            <a:ext cx="12234734" cy="424449"/>
          </a:xfrm>
          <a:prstGeom prst="rect">
            <a:avLst/>
          </a:prstGeom>
          <a:noFill/>
        </p:spPr>
        <p:txBody>
          <a:bodyPr vert="horz" wrap="square" lIns="0" tIns="45580" rIns="91157" bIns="45580" rtlCol="0" anchor="b">
            <a:spAutoFit/>
          </a:bodyPr>
          <a:lstStyle>
            <a:lvl1pPr marL="109192" defTabSz="911377">
              <a:lnSpc>
                <a:spcPct val="90000"/>
              </a:lnSpc>
              <a:spcBef>
                <a:spcPct val="0"/>
              </a:spcBef>
              <a:buNone/>
              <a:defRPr sz="2400" b="1">
                <a:gradFill>
                  <a:gsLst>
                    <a:gs pos="9735">
                      <a:schemeClr val="tx2"/>
                    </a:gs>
                    <a:gs pos="63000">
                      <a:srgbClr val="8E278F"/>
                    </a:gs>
                    <a:gs pos="38000">
                      <a:srgbClr val="57499E"/>
                    </a:gs>
                  </a:gsLst>
                  <a:lin ang="0" scaled="0"/>
                </a:gradFill>
                <a:latin typeface="Adani Regular" panose="02000503000000020004" pitchFamily="2" charset="0"/>
              </a:defRPr>
            </a:lvl1pPr>
          </a:lstStyle>
          <a:p>
            <a:pPr marL="0" marR="0" lvl="0" indent="0" algn="l" defTabSz="911377"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rPr>
              <a:t>Manpower Deployment Plan vs Actual - </a:t>
            </a:r>
            <a:r>
              <a:rPr lang="en-US">
                <a:gradFill>
                  <a:gsLst>
                    <a:gs pos="9735">
                      <a:srgbClr val="1F497D"/>
                    </a:gs>
                    <a:gs pos="63000">
                      <a:srgbClr val="8E278F"/>
                    </a:gs>
                    <a:gs pos="38000">
                      <a:srgbClr val="57499E"/>
                    </a:gs>
                  </a:gsLst>
                  <a:lin ang="0" scaled="0"/>
                </a:gradFill>
              </a:rPr>
              <a:t>PSS 08</a:t>
            </a:r>
            <a:endParaRPr kumimoji="0" lang="en-US" sz="2400" b="1" i="0" u="none" strike="noStrike" kern="1200" cap="none" spc="0" normalizeH="0" baseline="0" noProof="0">
              <a:ln>
                <a:noFill/>
              </a:ln>
              <a:gradFill>
                <a:gsLst>
                  <a:gs pos="9735">
                    <a:srgbClr val="1F497D"/>
                  </a:gs>
                  <a:gs pos="63000">
                    <a:srgbClr val="8E278F"/>
                  </a:gs>
                  <a:gs pos="38000">
                    <a:srgbClr val="57499E"/>
                  </a:gs>
                </a:gsLst>
                <a:lin ang="0" scaled="0"/>
              </a:gradFill>
              <a:effectLst/>
              <a:uLnTx/>
              <a:uFillTx/>
              <a:latin typeface="Adani Regular" panose="02000503000000020004" pitchFamily="2" charset="0"/>
              <a:ea typeface="+mn-ea"/>
              <a:cs typeface="+mn-cs"/>
            </a:endParaRPr>
          </a:p>
        </p:txBody>
      </p:sp>
      <p:sp>
        <p:nvSpPr>
          <p:cNvPr id="3" name="Slide Number Placeholder 2">
            <a:extLst>
              <a:ext uri="{FF2B5EF4-FFF2-40B4-BE49-F238E27FC236}">
                <a16:creationId xmlns:a16="http://schemas.microsoft.com/office/drawing/2014/main" id="{655B75DA-F261-3530-5A2A-A966E2AEEBCB}"/>
              </a:ext>
            </a:extLst>
          </p:cNvPr>
          <p:cNvSpPr>
            <a:spLocks noGrp="1"/>
          </p:cNvSpPr>
          <p:nvPr>
            <p:ph type="sldNum" sz="quarter" idx="12"/>
          </p:nvPr>
        </p:nvSpPr>
        <p:spPr>
          <a:xfrm>
            <a:off x="11683999" y="6488896"/>
            <a:ext cx="493311" cy="365125"/>
          </a:xfrm>
        </p:spPr>
        <p:txBody>
          <a:bodyPr/>
          <a:lstStyle/>
          <a:p>
            <a:fld id="{98B285C1-D8A8-4E98-B28C-1FD972D8EC54}" type="slidenum">
              <a:rPr lang="en-IN" smtClean="0"/>
              <a:t>83</a:t>
            </a:fld>
            <a:endParaRPr lang="en-IN"/>
          </a:p>
        </p:txBody>
      </p:sp>
      <p:graphicFrame>
        <p:nvGraphicFramePr>
          <p:cNvPr id="6" name="Table 5">
            <a:extLst>
              <a:ext uri="{FF2B5EF4-FFF2-40B4-BE49-F238E27FC236}">
                <a16:creationId xmlns:a16="http://schemas.microsoft.com/office/drawing/2014/main" id="{A62F0D6F-D982-BFB2-520E-715CC7ED72D1}"/>
              </a:ext>
            </a:extLst>
          </p:cNvPr>
          <p:cNvGraphicFramePr>
            <a:graphicFrameLocks noGrp="1"/>
          </p:cNvGraphicFramePr>
          <p:nvPr/>
        </p:nvGraphicFramePr>
        <p:xfrm>
          <a:off x="268573" y="914151"/>
          <a:ext cx="11549790" cy="4976979"/>
        </p:xfrm>
        <a:graphic>
          <a:graphicData uri="http://schemas.openxmlformats.org/drawingml/2006/table">
            <a:tbl>
              <a:tblPr/>
              <a:tblGrid>
                <a:gridCol w="629658">
                  <a:extLst>
                    <a:ext uri="{9D8B030D-6E8A-4147-A177-3AD203B41FA5}">
                      <a16:colId xmlns:a16="http://schemas.microsoft.com/office/drawing/2014/main" val="310825635"/>
                    </a:ext>
                  </a:extLst>
                </a:gridCol>
                <a:gridCol w="636921">
                  <a:extLst>
                    <a:ext uri="{9D8B030D-6E8A-4147-A177-3AD203B41FA5}">
                      <a16:colId xmlns:a16="http://schemas.microsoft.com/office/drawing/2014/main" val="1366397697"/>
                    </a:ext>
                  </a:extLst>
                </a:gridCol>
                <a:gridCol w="822445">
                  <a:extLst>
                    <a:ext uri="{9D8B030D-6E8A-4147-A177-3AD203B41FA5}">
                      <a16:colId xmlns:a16="http://schemas.microsoft.com/office/drawing/2014/main" val="4245880883"/>
                    </a:ext>
                  </a:extLst>
                </a:gridCol>
                <a:gridCol w="631426">
                  <a:extLst>
                    <a:ext uri="{9D8B030D-6E8A-4147-A177-3AD203B41FA5}">
                      <a16:colId xmlns:a16="http://schemas.microsoft.com/office/drawing/2014/main" val="3741934907"/>
                    </a:ext>
                  </a:extLst>
                </a:gridCol>
                <a:gridCol w="339590">
                  <a:extLst>
                    <a:ext uri="{9D8B030D-6E8A-4147-A177-3AD203B41FA5}">
                      <a16:colId xmlns:a16="http://schemas.microsoft.com/office/drawing/2014/main" val="708582397"/>
                    </a:ext>
                  </a:extLst>
                </a:gridCol>
                <a:gridCol w="339590">
                  <a:extLst>
                    <a:ext uri="{9D8B030D-6E8A-4147-A177-3AD203B41FA5}">
                      <a16:colId xmlns:a16="http://schemas.microsoft.com/office/drawing/2014/main" val="3617744597"/>
                    </a:ext>
                  </a:extLst>
                </a:gridCol>
                <a:gridCol w="339590">
                  <a:extLst>
                    <a:ext uri="{9D8B030D-6E8A-4147-A177-3AD203B41FA5}">
                      <a16:colId xmlns:a16="http://schemas.microsoft.com/office/drawing/2014/main" val="3732618195"/>
                    </a:ext>
                  </a:extLst>
                </a:gridCol>
                <a:gridCol w="339590">
                  <a:extLst>
                    <a:ext uri="{9D8B030D-6E8A-4147-A177-3AD203B41FA5}">
                      <a16:colId xmlns:a16="http://schemas.microsoft.com/office/drawing/2014/main" val="1390543584"/>
                    </a:ext>
                  </a:extLst>
                </a:gridCol>
                <a:gridCol w="339590">
                  <a:extLst>
                    <a:ext uri="{9D8B030D-6E8A-4147-A177-3AD203B41FA5}">
                      <a16:colId xmlns:a16="http://schemas.microsoft.com/office/drawing/2014/main" val="1144403253"/>
                    </a:ext>
                  </a:extLst>
                </a:gridCol>
                <a:gridCol w="339590">
                  <a:extLst>
                    <a:ext uri="{9D8B030D-6E8A-4147-A177-3AD203B41FA5}">
                      <a16:colId xmlns:a16="http://schemas.microsoft.com/office/drawing/2014/main" val="4089611824"/>
                    </a:ext>
                  </a:extLst>
                </a:gridCol>
                <a:gridCol w="339590">
                  <a:extLst>
                    <a:ext uri="{9D8B030D-6E8A-4147-A177-3AD203B41FA5}">
                      <a16:colId xmlns:a16="http://schemas.microsoft.com/office/drawing/2014/main" val="3287070233"/>
                    </a:ext>
                  </a:extLst>
                </a:gridCol>
                <a:gridCol w="339590">
                  <a:extLst>
                    <a:ext uri="{9D8B030D-6E8A-4147-A177-3AD203B41FA5}">
                      <a16:colId xmlns:a16="http://schemas.microsoft.com/office/drawing/2014/main" val="2234317839"/>
                    </a:ext>
                  </a:extLst>
                </a:gridCol>
                <a:gridCol w="339590">
                  <a:extLst>
                    <a:ext uri="{9D8B030D-6E8A-4147-A177-3AD203B41FA5}">
                      <a16:colId xmlns:a16="http://schemas.microsoft.com/office/drawing/2014/main" val="325514278"/>
                    </a:ext>
                  </a:extLst>
                </a:gridCol>
                <a:gridCol w="339590">
                  <a:extLst>
                    <a:ext uri="{9D8B030D-6E8A-4147-A177-3AD203B41FA5}">
                      <a16:colId xmlns:a16="http://schemas.microsoft.com/office/drawing/2014/main" val="3288275596"/>
                    </a:ext>
                  </a:extLst>
                </a:gridCol>
                <a:gridCol w="339590">
                  <a:extLst>
                    <a:ext uri="{9D8B030D-6E8A-4147-A177-3AD203B41FA5}">
                      <a16:colId xmlns:a16="http://schemas.microsoft.com/office/drawing/2014/main" val="587595806"/>
                    </a:ext>
                  </a:extLst>
                </a:gridCol>
                <a:gridCol w="339590">
                  <a:extLst>
                    <a:ext uri="{9D8B030D-6E8A-4147-A177-3AD203B41FA5}">
                      <a16:colId xmlns:a16="http://schemas.microsoft.com/office/drawing/2014/main" val="3068646559"/>
                    </a:ext>
                  </a:extLst>
                </a:gridCol>
                <a:gridCol w="339590">
                  <a:extLst>
                    <a:ext uri="{9D8B030D-6E8A-4147-A177-3AD203B41FA5}">
                      <a16:colId xmlns:a16="http://schemas.microsoft.com/office/drawing/2014/main" val="75525866"/>
                    </a:ext>
                  </a:extLst>
                </a:gridCol>
                <a:gridCol w="339590">
                  <a:extLst>
                    <a:ext uri="{9D8B030D-6E8A-4147-A177-3AD203B41FA5}">
                      <a16:colId xmlns:a16="http://schemas.microsoft.com/office/drawing/2014/main" val="3601853095"/>
                    </a:ext>
                  </a:extLst>
                </a:gridCol>
                <a:gridCol w="339590">
                  <a:extLst>
                    <a:ext uri="{9D8B030D-6E8A-4147-A177-3AD203B41FA5}">
                      <a16:colId xmlns:a16="http://schemas.microsoft.com/office/drawing/2014/main" val="1676559007"/>
                    </a:ext>
                  </a:extLst>
                </a:gridCol>
                <a:gridCol w="339590">
                  <a:extLst>
                    <a:ext uri="{9D8B030D-6E8A-4147-A177-3AD203B41FA5}">
                      <a16:colId xmlns:a16="http://schemas.microsoft.com/office/drawing/2014/main" val="913281293"/>
                    </a:ext>
                  </a:extLst>
                </a:gridCol>
                <a:gridCol w="339590">
                  <a:extLst>
                    <a:ext uri="{9D8B030D-6E8A-4147-A177-3AD203B41FA5}">
                      <a16:colId xmlns:a16="http://schemas.microsoft.com/office/drawing/2014/main" val="2849561464"/>
                    </a:ext>
                  </a:extLst>
                </a:gridCol>
                <a:gridCol w="339590">
                  <a:extLst>
                    <a:ext uri="{9D8B030D-6E8A-4147-A177-3AD203B41FA5}">
                      <a16:colId xmlns:a16="http://schemas.microsoft.com/office/drawing/2014/main" val="1385177388"/>
                    </a:ext>
                  </a:extLst>
                </a:gridCol>
                <a:gridCol w="339590">
                  <a:extLst>
                    <a:ext uri="{9D8B030D-6E8A-4147-A177-3AD203B41FA5}">
                      <a16:colId xmlns:a16="http://schemas.microsoft.com/office/drawing/2014/main" val="970792454"/>
                    </a:ext>
                  </a:extLst>
                </a:gridCol>
                <a:gridCol w="339590">
                  <a:extLst>
                    <a:ext uri="{9D8B030D-6E8A-4147-A177-3AD203B41FA5}">
                      <a16:colId xmlns:a16="http://schemas.microsoft.com/office/drawing/2014/main" val="3318036740"/>
                    </a:ext>
                  </a:extLst>
                </a:gridCol>
                <a:gridCol w="339590">
                  <a:extLst>
                    <a:ext uri="{9D8B030D-6E8A-4147-A177-3AD203B41FA5}">
                      <a16:colId xmlns:a16="http://schemas.microsoft.com/office/drawing/2014/main" val="4026365389"/>
                    </a:ext>
                  </a:extLst>
                </a:gridCol>
                <a:gridCol w="339590">
                  <a:extLst>
                    <a:ext uri="{9D8B030D-6E8A-4147-A177-3AD203B41FA5}">
                      <a16:colId xmlns:a16="http://schemas.microsoft.com/office/drawing/2014/main" val="2091120550"/>
                    </a:ext>
                  </a:extLst>
                </a:gridCol>
                <a:gridCol w="339590">
                  <a:extLst>
                    <a:ext uri="{9D8B030D-6E8A-4147-A177-3AD203B41FA5}">
                      <a16:colId xmlns:a16="http://schemas.microsoft.com/office/drawing/2014/main" val="543372053"/>
                    </a:ext>
                  </a:extLst>
                </a:gridCol>
                <a:gridCol w="339590">
                  <a:extLst>
                    <a:ext uri="{9D8B030D-6E8A-4147-A177-3AD203B41FA5}">
                      <a16:colId xmlns:a16="http://schemas.microsoft.com/office/drawing/2014/main" val="484438662"/>
                    </a:ext>
                  </a:extLst>
                </a:gridCol>
                <a:gridCol w="339590">
                  <a:extLst>
                    <a:ext uri="{9D8B030D-6E8A-4147-A177-3AD203B41FA5}">
                      <a16:colId xmlns:a16="http://schemas.microsoft.com/office/drawing/2014/main" val="2755454571"/>
                    </a:ext>
                  </a:extLst>
                </a:gridCol>
                <a:gridCol w="339590">
                  <a:extLst>
                    <a:ext uri="{9D8B030D-6E8A-4147-A177-3AD203B41FA5}">
                      <a16:colId xmlns:a16="http://schemas.microsoft.com/office/drawing/2014/main" val="961857641"/>
                    </a:ext>
                  </a:extLst>
                </a:gridCol>
              </a:tblGrid>
              <a:tr h="307221">
                <a:tc rowSpan="2">
                  <a:txBody>
                    <a:bodyPr/>
                    <a:lstStyle/>
                    <a:p>
                      <a:pPr algn="ctr" rtl="0" fontAlgn="ctr">
                        <a:buNone/>
                      </a:pPr>
                      <a:r>
                        <a:rPr lang="en-US" sz="800" b="1" i="0" u="none" strike="noStrike">
                          <a:solidFill>
                            <a:srgbClr val="FFFFFF"/>
                          </a:solidFill>
                          <a:effectLst/>
                          <a:latin typeface="Adani Regular" panose="02000503000000020004" pitchFamily="2" charset="0"/>
                        </a:rPr>
                        <a:t>Sr. No.</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Description</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Contractor</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rowSpan="2">
                  <a:txBody>
                    <a:bodyPr/>
                    <a:lstStyle/>
                    <a:p>
                      <a:pPr algn="ctr" rtl="0" fontAlgn="ctr">
                        <a:buNone/>
                      </a:pPr>
                      <a:r>
                        <a:rPr lang="en-US" sz="800" b="1" i="0" u="none" strike="noStrike">
                          <a:solidFill>
                            <a:srgbClr val="FFFFFF"/>
                          </a:solidFill>
                          <a:effectLst/>
                          <a:latin typeface="Adani Regular" panose="02000503000000020004" pitchFamily="2" charset="0"/>
                        </a:rPr>
                        <a:t>Forecast &amp; Actual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Nov-25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Dec-25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Jan-26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Feb-26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rtl="0" fontAlgn="ctr">
                        <a:buNone/>
                      </a:pPr>
                      <a:r>
                        <a:rPr lang="en-US" sz="800" b="1" i="0" u="none" strike="noStrike">
                          <a:solidFill>
                            <a:srgbClr val="FFFFFF"/>
                          </a:solidFill>
                          <a:effectLst/>
                          <a:latin typeface="Adani Regular" panose="02000503000000020004" pitchFamily="2" charset="0"/>
                        </a:rPr>
                        <a:t>Mar-26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rtl="0" fontAlgn="ctr">
                        <a:buNone/>
                      </a:pPr>
                      <a:r>
                        <a:rPr lang="en-US" sz="800" b="1" i="0" u="none" strike="noStrike">
                          <a:solidFill>
                            <a:srgbClr val="FFFFFF"/>
                          </a:solidFill>
                          <a:effectLst/>
                          <a:latin typeface="Adani Regular" panose="02000503000000020004" pitchFamily="2" charset="0"/>
                        </a:rPr>
                        <a:t>Apr-26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93670197"/>
                  </a:ext>
                </a:extLst>
              </a:tr>
              <a:tr h="30722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27-Apr</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rtl="0" fontAlgn="ctr">
                        <a:buNone/>
                      </a:pPr>
                      <a:r>
                        <a:rPr lang="en-US" sz="800" b="1" i="0" u="none" strike="noStrike">
                          <a:solidFill>
                            <a:srgbClr val="FFFFFF"/>
                          </a:solidFill>
                          <a:effectLst/>
                          <a:latin typeface="Adani Regular" panose="02000503000000020004" pitchFamily="2" charset="0"/>
                        </a:rPr>
                        <a:t>W4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3765513279"/>
                  </a:ext>
                </a:extLst>
              </a:tr>
              <a:tr h="307221">
                <a:tc rowSpan="3">
                  <a:txBody>
                    <a:bodyPr/>
                    <a:lstStyle/>
                    <a:p>
                      <a:pPr algn="ctr" rtl="0" fontAlgn="ctr">
                        <a:buNone/>
                      </a:pPr>
                      <a:r>
                        <a:rPr lang="en-US" sz="800" b="0" i="0" u="none" strike="noStrike">
                          <a:solidFill>
                            <a:srgbClr val="000000"/>
                          </a:solidFill>
                          <a:effectLst/>
                          <a:latin typeface="Adani Regular" panose="02000503000000020004" pitchFamily="2" charset="0"/>
                        </a:rPr>
                        <a:t>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ACDC</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Akshar</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Forecast</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15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52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76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89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89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89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3916599"/>
                  </a:ext>
                </a:extLst>
              </a:tr>
              <a:tr h="30722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B050"/>
                          </a:solidFill>
                          <a:effectLst/>
                          <a:latin typeface="Adani Regular" panose="02000503000000020004" pitchFamily="2" charset="0"/>
                        </a:rPr>
                        <a:t>Actual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59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77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82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89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161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142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165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162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63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202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200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143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297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5115312"/>
                  </a:ext>
                </a:extLst>
              </a:tr>
              <a:tr h="30722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211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180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139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139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135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138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237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7296807"/>
                  </a:ext>
                </a:extLst>
              </a:tr>
              <a:tr h="307221">
                <a:tc rowSpan="3">
                  <a:txBody>
                    <a:bodyPr/>
                    <a:lstStyle/>
                    <a:p>
                      <a:pPr algn="ctr" rtl="0" fontAlgn="ctr">
                        <a:buNone/>
                      </a:pPr>
                      <a:r>
                        <a:rPr lang="en-US" sz="800" b="0" i="0" u="none" strike="noStrike">
                          <a:solidFill>
                            <a:srgbClr val="000000"/>
                          </a:solidFill>
                          <a:effectLst/>
                          <a:latin typeface="Adani Regular" panose="02000503000000020004" pitchFamily="2" charset="0"/>
                        </a:rPr>
                        <a:t>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Harmonic Filter</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Hitachi</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Forecast</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8256324"/>
                  </a:ext>
                </a:extLst>
              </a:tr>
              <a:tr h="30722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B050"/>
                          </a:solidFill>
                          <a:effectLst/>
                          <a:latin typeface="Adani Regular" panose="02000503000000020004" pitchFamily="2" charset="0"/>
                        </a:rPr>
                        <a:t>Actual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12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15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10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8820140"/>
                  </a:ext>
                </a:extLst>
              </a:tr>
              <a:tr h="30722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18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28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21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15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FF0000"/>
                          </a:solidFill>
                          <a:effectLst/>
                          <a:latin typeface="Adani Regular" panose="02000503000000020004" pitchFamily="2" charset="0"/>
                        </a:rPr>
                        <a:t>20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2424494"/>
                  </a:ext>
                </a:extLst>
              </a:tr>
              <a:tr h="307221">
                <a:tc rowSpan="3">
                  <a:txBody>
                    <a:bodyPr/>
                    <a:lstStyle/>
                    <a:p>
                      <a:pPr algn="ctr" rtl="0" fontAlgn="ctr">
                        <a:buNone/>
                      </a:pPr>
                      <a:r>
                        <a:rPr lang="en-US" sz="800" b="0" i="0" u="none" strike="noStrike">
                          <a:solidFill>
                            <a:srgbClr val="000000"/>
                          </a:solidFill>
                          <a:effectLst/>
                          <a:latin typeface="Adani Regular" panose="02000503000000020004" pitchFamily="2" charset="0"/>
                        </a:rPr>
                        <a:t>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noStrike">
                          <a:solidFill>
                            <a:srgbClr val="000000"/>
                          </a:solidFill>
                          <a:effectLst/>
                          <a:latin typeface="Adani Regular" panose="02000503000000020004" pitchFamily="2" charset="0"/>
                        </a:rPr>
                        <a:t>Structural Shed / PEB</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ctr">
                        <a:buNone/>
                      </a:pPr>
                      <a:r>
                        <a:rPr lang="en-US" sz="800" b="0" i="0" u="none" strike="sngStrike">
                          <a:solidFill>
                            <a:srgbClr val="000000"/>
                          </a:solidFill>
                          <a:effectLst/>
                          <a:latin typeface="Adani Regular" panose="02000503000000020004" pitchFamily="2" charset="0"/>
                        </a:rPr>
                        <a:t>Carsfab</a:t>
                      </a:r>
                      <a:r>
                        <a:rPr lang="en-US" sz="800" b="0" i="0" u="none" strike="noStrike">
                          <a:solidFill>
                            <a:srgbClr val="000000"/>
                          </a:solidFill>
                          <a:effectLst/>
                          <a:latin typeface="Adani Regular" panose="02000503000000020004" pitchFamily="2" charset="0"/>
                        </a:rPr>
                        <a:t> DP Consteel / Laxcon</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Forecast</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800" b="0" i="0" u="none" strike="noStrike">
                          <a:solidFill>
                            <a:srgbClr val="00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598788"/>
                  </a:ext>
                </a:extLst>
              </a:tr>
              <a:tr h="30722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B050"/>
                          </a:solidFill>
                          <a:effectLst/>
                          <a:latin typeface="Adani Regular" panose="02000503000000020004" pitchFamily="2" charset="0"/>
                        </a:rPr>
                        <a:t>Actual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B050"/>
                          </a:solidFill>
                          <a:effectLst/>
                          <a:latin typeface="Adani Regular" panose="02000503000000020004" pitchFamily="2" charset="0"/>
                        </a:rPr>
                        <a:t>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19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16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26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Calibri" panose="020F0502020204030204" pitchFamily="34" charset="0"/>
                        </a:rPr>
                        <a:t>28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1869874"/>
                  </a:ext>
                </a:extLst>
              </a:tr>
              <a:tr h="30722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6034848"/>
                  </a:ext>
                </a:extLst>
              </a:tr>
              <a:tr h="368664">
                <a:tc rowSpan="3" gridSpan="3">
                  <a:txBody>
                    <a:bodyPr/>
                    <a:lstStyle/>
                    <a:p>
                      <a:pPr algn="ctr" rtl="0" fontAlgn="ctr">
                        <a:buNone/>
                      </a:pPr>
                      <a:r>
                        <a:rPr lang="en-US" sz="800" b="1" i="0" u="none" strike="noStrike">
                          <a:solidFill>
                            <a:srgbClr val="000000"/>
                          </a:solidFill>
                          <a:effectLst/>
                          <a:latin typeface="Adani Regular" panose="02000503000000020004" pitchFamily="2" charset="0"/>
                        </a:rPr>
                        <a:t>Total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hMerge="1">
                  <a:txBody>
                    <a:bodyPr/>
                    <a:lstStyle/>
                    <a:p>
                      <a:endParaRPr lang="en-US"/>
                    </a:p>
                  </a:txBody>
                  <a:tcPr/>
                </a:tc>
                <a:tc rowSpan="3" hMerge="1">
                  <a:txBody>
                    <a:bodyPr/>
                    <a:lstStyle/>
                    <a:p>
                      <a:endParaRPr lang="en-US"/>
                    </a:p>
                  </a:txBody>
                  <a:tcPr/>
                </a:tc>
                <a:tc>
                  <a:txBody>
                    <a:bodyPr/>
                    <a:lstStyle/>
                    <a:p>
                      <a:pPr algn="ctr" rtl="0" fontAlgn="ctr">
                        <a:buNone/>
                      </a:pPr>
                      <a:r>
                        <a:rPr lang="en-US" sz="800" b="1" i="0" u="none" strike="noStrike">
                          <a:solidFill>
                            <a:srgbClr val="000000"/>
                          </a:solidFill>
                          <a:effectLst/>
                          <a:latin typeface="Adani Regular" panose="02000503000000020004" pitchFamily="2" charset="0"/>
                        </a:rPr>
                        <a:t>Forecast</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52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52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52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106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139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144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149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362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0000"/>
                          </a:solidFill>
                          <a:effectLst/>
                          <a:latin typeface="Adani Regular" panose="02000503000000020004" pitchFamily="2" charset="0"/>
                        </a:rPr>
                        <a:t>332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800" b="1" i="0" u="none" strike="noStrike">
                          <a:solidFill>
                            <a:srgbClr val="000000"/>
                          </a:solidFill>
                          <a:effectLst/>
                          <a:latin typeface="Adani Regular" panose="02000503000000020004" pitchFamily="2" charset="0"/>
                        </a:rPr>
                        <a:t>332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2128239"/>
                  </a:ext>
                </a:extLst>
              </a:tr>
              <a:tr h="307221">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ctr" rtl="0" fontAlgn="ctr">
                        <a:buNone/>
                      </a:pPr>
                      <a:r>
                        <a:rPr lang="en-US" sz="800" b="1" i="0" u="none" strike="noStrike">
                          <a:solidFill>
                            <a:srgbClr val="00B050"/>
                          </a:solidFill>
                          <a:effectLst/>
                          <a:latin typeface="Adani Regular" panose="02000503000000020004" pitchFamily="2" charset="0"/>
                        </a:rPr>
                        <a:t>Actual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59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72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77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86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89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120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173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166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161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196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206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95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228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226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168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1" i="0" u="none" strike="noStrike">
                          <a:solidFill>
                            <a:srgbClr val="00B050"/>
                          </a:solidFill>
                          <a:effectLst/>
                          <a:latin typeface="Adani Regular" panose="02000503000000020004" pitchFamily="2" charset="0"/>
                        </a:rPr>
                        <a:t>155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1671360"/>
                  </a:ext>
                </a:extLst>
              </a:tr>
              <a:tr h="307221">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ctr" rtl="0" fontAlgn="ctr">
                        <a:buNone/>
                      </a:pPr>
                      <a:r>
                        <a:rPr lang="en-US" sz="800" b="0" i="0" u="none" strike="noStrike">
                          <a:solidFill>
                            <a:srgbClr val="000000"/>
                          </a:solidFill>
                          <a:effectLst/>
                          <a:latin typeface="Adani Regular" panose="02000503000000020004" pitchFamily="2" charset="0"/>
                        </a:rPr>
                        <a:t>Shortfall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31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47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63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273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242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189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196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201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156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267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134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106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164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800" b="0" i="0" u="none" strike="noStrike">
                          <a:solidFill>
                            <a:srgbClr val="FF0000"/>
                          </a:solidFill>
                          <a:effectLst/>
                          <a:latin typeface="Adani Regular" panose="02000503000000020004" pitchFamily="2" charset="0"/>
                        </a:rPr>
                        <a:t>177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0036491"/>
                  </a:ext>
                </a:extLst>
              </a:tr>
              <a:tr h="307221">
                <a:tc gridSpan="3">
                  <a:txBody>
                    <a:bodyPr/>
                    <a:lstStyle/>
                    <a:p>
                      <a:pPr algn="ctr" fontAlgn="ctr">
                        <a:buNone/>
                      </a:pPr>
                      <a:r>
                        <a:rPr lang="en-US" sz="800" b="0" i="0" u="none" strike="noStrike">
                          <a:solidFill>
                            <a:srgbClr val="000000"/>
                          </a:solidFill>
                          <a:effectLst/>
                          <a:latin typeface="Adani Regular" panose="02000503000000020004" pitchFamily="2" charset="0"/>
                        </a:rPr>
                        <a:t>Others (MSC, Jay Vijay)</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ctr" fontAlgn="ctr">
                        <a:buNone/>
                      </a:pPr>
                      <a:r>
                        <a:rPr lang="en-US" sz="800" b="0" i="0" u="none" strike="noStrike">
                          <a:solidFill>
                            <a:srgbClr val="00B050"/>
                          </a:solidFill>
                          <a:effectLst/>
                          <a:latin typeface="Adani Regular" panose="02000503000000020004" pitchFamily="2" charset="0"/>
                        </a:rPr>
                        <a:t>Actual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21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43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46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49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78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112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123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78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72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65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75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70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110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127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132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84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39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33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11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0" i="0" u="none" strike="noStrike">
                          <a:solidFill>
                            <a:srgbClr val="00B050"/>
                          </a:solidFill>
                          <a:effectLst/>
                          <a:latin typeface="Adani Regular" panose="02000503000000020004" pitchFamily="2" charset="0"/>
                        </a:rPr>
                        <a:t>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3383061"/>
                  </a:ext>
                </a:extLst>
              </a:tr>
              <a:tr h="307221">
                <a:tc gridSpan="3">
                  <a:txBody>
                    <a:bodyPr/>
                    <a:lstStyle/>
                    <a:p>
                      <a:pPr algn="ctr" fontAlgn="ctr">
                        <a:buNone/>
                      </a:pPr>
                      <a:r>
                        <a:rPr lang="en-US" sz="800" b="0" i="0" u="none" strike="noStrike">
                          <a:solidFill>
                            <a:srgbClr val="000000"/>
                          </a:solidFill>
                          <a:effectLst/>
                          <a:latin typeface="Adani Regular" panose="02000503000000020004" pitchFamily="2"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ctr" fontAlgn="ctr">
                        <a:buNone/>
                      </a:pPr>
                      <a:r>
                        <a:rPr lang="en-US" sz="800" b="1" i="0" u="none" strike="noStrike">
                          <a:solidFill>
                            <a:srgbClr val="00B050"/>
                          </a:solidFill>
                          <a:effectLst/>
                          <a:latin typeface="Adani Regular" panose="02000503000000020004" pitchFamily="2" charset="0"/>
                        </a:rPr>
                        <a:t>Total Actual</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21</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46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53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65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99</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137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152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100</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93</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124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147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147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196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216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252</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257</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205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194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214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224</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106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228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226</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168</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B050"/>
                          </a:solidFill>
                          <a:effectLst/>
                          <a:latin typeface="Adani Regular" panose="02000503000000020004" pitchFamily="2" charset="0"/>
                        </a:rPr>
                        <a:t>155</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800" b="0" i="0" u="none" strike="noStrike">
                          <a:solidFill>
                            <a:srgbClr val="000000"/>
                          </a:solidFill>
                          <a:effectLst/>
                          <a:latin typeface="Calibri" panose="020F0502020204030204" pitchFamily="34" charset="0"/>
                        </a:rPr>
                        <a:t> </a:t>
                      </a:r>
                    </a:p>
                  </a:txBody>
                  <a:tcPr marL="4992" marR="4992" marT="4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3684332"/>
                  </a:ext>
                </a:extLst>
              </a:tr>
            </a:tbl>
          </a:graphicData>
        </a:graphic>
      </p:graphicFrame>
    </p:spTree>
    <p:extLst>
      <p:ext uri="{BB962C8B-B14F-4D97-AF65-F5344CB8AC3E}">
        <p14:creationId xmlns:p14="http://schemas.microsoft.com/office/powerpoint/2010/main" val="338423411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d4c7d81-9469-435b-a8ba-582efe8dadc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7E817B3A7D38469FCB1914B38A626F" ma:contentTypeVersion="15" ma:contentTypeDescription="Create a new document." ma:contentTypeScope="" ma:versionID="97201fdc5f5f299f79190cfb139c2859">
  <xsd:schema xmlns:xsd="http://www.w3.org/2001/XMLSchema" xmlns:xs="http://www.w3.org/2001/XMLSchema" xmlns:p="http://schemas.microsoft.com/office/2006/metadata/properties" xmlns:ns3="8d4c7d81-9469-435b-a8ba-582efe8dadca" xmlns:ns4="99fa29a3-d09d-48f4-9c4c-d47d57dde5a6" targetNamespace="http://schemas.microsoft.com/office/2006/metadata/properties" ma:root="true" ma:fieldsID="08798cd83b8095d94b216b174b4a26c0" ns3:_="" ns4:_="">
    <xsd:import namespace="8d4c7d81-9469-435b-a8ba-582efe8dadca"/>
    <xsd:import namespace="99fa29a3-d09d-48f4-9c4c-d47d57dde5a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_activity" minOccurs="0"/>
                <xsd:element ref="ns4:SharedWithUsers" minOccurs="0"/>
                <xsd:element ref="ns4:SharedWithDetails" minOccurs="0"/>
                <xsd:element ref="ns4:SharingHintHash" minOccurs="0"/>
                <xsd:element ref="ns3:MediaServiceBillingMetadata"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4c7d81-9469-435b-a8ba-582efe8dadc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9fa29a3-d09d-48f4-9c4c-d47d57dde5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26D7DE2-94BD-4408-9C77-0F1A8A0041BB}">
  <ds:schemaRefs>
    <ds:schemaRef ds:uri="8d4c7d81-9469-435b-a8ba-582efe8dadca"/>
    <ds:schemaRef ds:uri="99fa29a3-d09d-48f4-9c4c-d47d57dde5a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761E0F0-AE7B-4924-9EA0-39C03D82A9AA}">
  <ds:schemaRefs>
    <ds:schemaRef ds:uri="8d4c7d81-9469-435b-a8ba-582efe8dadca"/>
    <ds:schemaRef ds:uri="99fa29a3-d09d-48f4-9c4c-d47d57dde5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AE60410-CD26-4672-AC95-924FD542FF31}">
  <ds:schemaRefs>
    <ds:schemaRef ds:uri="http://schemas.microsoft.com/sharepoint/v3/contenttype/forms"/>
  </ds:schemaRefs>
</ds:datastoreItem>
</file>

<file path=docMetadata/LabelInfo.xml><?xml version="1.0" encoding="utf-8"?>
<clbl:labelList xmlns:clbl="http://schemas.microsoft.com/office/2020/mipLabelMetadata">
  <clbl:label id="{04c72f56-1848-46a2-8167-8e5d36510cbc}" enabled="0" method="" siteId="{04c72f56-1848-46a2-8167-8e5d36510cbc}" removed="1"/>
</clbl:labelList>
</file>

<file path=docProps/app.xml><?xml version="1.0" encoding="utf-8"?>
<Properties xmlns="http://schemas.openxmlformats.org/officeDocument/2006/extended-properties" xmlns:vt="http://schemas.openxmlformats.org/officeDocument/2006/docPropsVTypes">
  <Template/>
  <TotalTime>10914</TotalTime>
  <Words>14781</Words>
  <Application>Microsoft Office PowerPoint</Application>
  <PresentationFormat>Widescreen</PresentationFormat>
  <Paragraphs>6563</Paragraphs>
  <Slides>83</Slides>
  <Notes>58</Notes>
  <HiddenSlides>0</HiddenSlides>
  <MMClips>0</MMClips>
  <ScaleCrop>false</ScaleCrop>
  <HeadingPairs>
    <vt:vector size="8" baseType="variant">
      <vt:variant>
        <vt:lpstr>Fonts Used</vt:lpstr>
      </vt:variant>
      <vt:variant>
        <vt:i4>9</vt:i4>
      </vt:variant>
      <vt:variant>
        <vt:lpstr>Theme</vt:lpstr>
      </vt:variant>
      <vt:variant>
        <vt:i4>1</vt:i4>
      </vt:variant>
      <vt:variant>
        <vt:lpstr>Links</vt:lpstr>
      </vt:variant>
      <vt:variant>
        <vt:i4>18</vt:i4>
      </vt:variant>
      <vt:variant>
        <vt:lpstr>Slide Titles</vt:lpstr>
      </vt:variant>
      <vt:variant>
        <vt:i4>83</vt:i4>
      </vt:variant>
    </vt:vector>
  </HeadingPairs>
  <TitlesOfParts>
    <vt:vector size="111" baseType="lpstr">
      <vt:lpstr>Adani Light</vt:lpstr>
      <vt:lpstr>Adani Medium</vt:lpstr>
      <vt:lpstr>Adani Regular</vt:lpstr>
      <vt:lpstr>Aptos</vt:lpstr>
      <vt:lpstr>Aptos Narrow</vt:lpstr>
      <vt:lpstr>Arial</vt:lpstr>
      <vt:lpstr>Calibri</vt:lpstr>
      <vt:lpstr>Courier New</vt:lpstr>
      <vt:lpstr>Wingdings</vt:lpstr>
      <vt:lpstr>1_Office Theme</vt:lpstr>
      <vt:lpstr>https://adaniltd-my.sharepoint.com/personal/30068692_adani_com/Documents/Work-BESS/General/BESS%20Deck/BESS%20Deck-26-27_Backup/Progress%20Dashbord_FY26-27.xlsx!PPT%20PSS-11!R2C2:R19C10</vt:lpstr>
      <vt:lpstr>https://adaniltd-my.sharepoint.com/personal/30068692_adani_com/Documents/Work-BESS/General/BESS%20Deck/BESS%20Deck-26-27_Backup/Progress%20Dashbord_FY26-27.xlsx!PPT%20PSS-11!R44C2:R46C10</vt:lpstr>
      <vt:lpstr>https://adaniltd-my.sharepoint.com/personal/30068692_adani_com/Documents/Work-BESS/General/BESS%20Deck/BESS%20Deck-26-27_Backup/Progress%20Dashbord_FY26-27.xlsx!PPT%20PSS-12!R1C2:R18C10</vt:lpstr>
      <vt:lpstr>https://adaniltd-my.sharepoint.com/personal/30068692_adani_com/Documents/Work-BESS/General/BESS%20Deck/BESS%20Deck-26-27_Backup/Progress%20Dashbord_FY26-27.xlsx!PPT%20PSS-12!R41C2:R43C10</vt:lpstr>
      <vt:lpstr>https://adaniltd-my.sharepoint.com/personal/30068692_adani_com/Documents/Work-BESS/General/BESS%20Deck/BESS%20Deck-26-27_Backup/Progress%20Dashbord_FY26-27.xlsx!PPT%20PSS-10B!R1C2:R18C10</vt:lpstr>
      <vt:lpstr>https://adaniltd-my.sharepoint.com/personal/30068692_adani_com/Documents/Work-BESS/General/BESS%20Deck/BESS%20Deck-26-27_Backup/Progress%20Dashbord_FY26-27.xlsx!PPT%20PSS-10B!R41C2:R43C10</vt:lpstr>
      <vt:lpstr>https://adaniltd-my.sharepoint.com/personal/30068692_adani_com/Documents/Work-BESS/General/BESS%20Deck/BESS%20Deck-26-27_Backup/Progress%20Dashbord_FY26-27.xlsx!PPT%20PSS-09!R2C2:R19C10</vt:lpstr>
      <vt:lpstr>https://adaniltd-my.sharepoint.com/personal/30068692_adani_com/Documents/Work-BESS/General/BESS%20Deck/BESS%20Deck-26-27_Backup/Progress%20Dashbord_FY26-27.xlsx!PPT%20PSS-09!R42C2:R44C10</vt:lpstr>
      <vt:lpstr>https://adaniltd-my.sharepoint.com/personal/30068692_adani_com/Documents/Work-BESS/General/BESS%20Deck/BESS%20Deck-26-27_Backup/Progress%20Dashbord_FY26-27.xlsx!PPT%20PSS-05(B)!R2C2:R19C10</vt:lpstr>
      <vt:lpstr>https://adaniltd-my.sharepoint.com/personal/30068692_adani_com/Documents/Work-BESS/General/BESS%20Deck/BESS%20Deck-26-27_Backup/Progress%20Dashbord_FY26-27.xlsx!PPT%20PSS-05(B)!R42C2:R44C10</vt:lpstr>
      <vt:lpstr>https://adaniltd-my.sharepoint.com/personal/30068692_adani_com/Documents/Work-BESS/General/BESS%20Deck/BESS%20Deck-26-27_Backup/Progress%20Dashbord_FY26-27.xlsx!PPT%20PSS-08(B)!R2C2:R19C10</vt:lpstr>
      <vt:lpstr>https://adaniltd-my.sharepoint.com/personal/30068692_adani_com/Documents/Work-BESS/General/BESS%20Deck/BESS%20Deck-26-27_Backup/Progress%20Dashbord_FY26-27.xlsx!PPT%20PSS-08(B)!R42C2:R44C10</vt:lpstr>
      <vt:lpstr>https://adaniltd-my.sharepoint.com/personal/30068692_adani_com/Documents/Work-BESS/General/BESS%20Deck/BESS%20Deck-26-27_Backup/BESS%20Deck_FY%2026-27_Manpower%20Status.xlsx!PSS-11!R2C1:R26C40</vt:lpstr>
      <vt:lpstr>https://adaniltd-my.sharepoint.com/personal/30068692_adani_com/Documents/Work-BESS/General/BESS%20Deck/BESS%20Deck-26-27_Backup/BESS%20Deck_FY%2026-27_Manpower%20Status.xlsx!PSS-12!R2C1:R26C57</vt:lpstr>
      <vt:lpstr>https://adaniltd-my.sharepoint.com/personal/30068692_adani_com/Documents/Work-BESS/General/BESS%20Deck/BESS%20Deck-26-27_Backup/BESS%20Deck_FY%2026-27_Manpower%20Status.xlsx!PSS-10B!R2C1:R29C47</vt:lpstr>
      <vt:lpstr>https://adaniltd-my.sharepoint.com/personal/30068692_adani_com/Documents/Work-BESS/General/BESS%20Deck/BESS%20Deck-26-27_Backup/BESS%20Deck_FY%2026-27_Manpower%20Status.xlsx!PSS-09!R2C1:R26C62</vt:lpstr>
      <vt:lpstr>https://adaniltd-my.sharepoint.com/personal/30068692_adani_com/Documents/Work-BESS/General/BESS%20Deck/BESS%20Deck-26-27_Backup/BESS%20Deck_FY%2026-27_Manpower%20Status.xlsx!PSS-05(B)!R2C1:R26C62</vt:lpstr>
      <vt:lpstr>https://adaniltd-my.sharepoint.com/personal/30068692_adani_com/Documents/Work-BESS/General/BESS%20Deck/BESS%20Deck-26-27_Backup/BESS%20Deck_FY%2026-27_Manpower%20Status.xlsx!PSS-08(B)!R2C1:R26C65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Engineering Progress : PSS 11 / PSS 12 / PSS 10B/ PSS 09/ PSS08B/ PSS05B</vt:lpstr>
      <vt:lpstr>Procurement Status: PSS 11, 12, 10B, 9, 05B &amp; 08B </vt:lpstr>
      <vt:lpstr>Procurement &amp; Monthly Rolling Plan for Supply of Equipment – PSS 11</vt:lpstr>
      <vt:lpstr>Procurement &amp; Monthly Rolling Plan for Supply of Equipment – PSS 12</vt:lpstr>
      <vt:lpstr>Procurement &amp; Monthly Rolling Plan for Supply of Equipment – PSS 10B</vt:lpstr>
      <vt:lpstr>Procurement &amp; Monthly Rolling Plan for Supply of Equipment – PSS 09</vt:lpstr>
      <vt:lpstr>Procurement &amp; Monthly Rolling Plan for Supply of Equipment – PSS 05B</vt:lpstr>
      <vt:lpstr>Procurement &amp; Monthly Rolling Plan for Supply of Equipment – PSS 08B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Manpower Status: PSS 11, 12, 10B, 9, 05B &amp; 08B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Major Milestones – Next 3 months (PSS – 11, 12, 10B, 9, 5B, 8B)</vt:lpstr>
      <vt:lpstr>CRITICAL ISSUES FY 26-27</vt:lpstr>
      <vt:lpstr>PowerPoint Presentation</vt:lpstr>
      <vt:lpstr>PowerPoint Presentation</vt:lpstr>
      <vt:lpstr>Ordering Status  PSS-11, 12 &amp; 10(B)</vt:lpstr>
      <vt:lpstr>PowerPoint Presentation</vt:lpstr>
      <vt:lpstr>PowerPoint Presentation</vt:lpstr>
      <vt:lpstr>PowerPoint Presentation</vt:lpstr>
      <vt:lpstr>PowerPoint Presentation</vt:lpstr>
      <vt:lpstr>PowerPoint Presentation</vt:lpstr>
      <vt:lpstr>PowerPoint Presentation</vt:lpstr>
      <vt:lpstr>Ordering Status  PSS-09, 05(B) &amp; 08(B)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Salient Project Features</vt:lpstr>
      <vt:lpstr>PowerPoint Presentation</vt:lpstr>
      <vt:lpstr>PowerPoint Presentation</vt:lpstr>
      <vt:lpstr>PowerPoint Presentation</vt:lpstr>
      <vt:lpstr>PowerPoint Presentation</vt:lpstr>
      <vt:lpstr>PowerPoint Presentation</vt:lpstr>
      <vt:lpstr>Engineering Progress : PSS 10 / PSS 05 / PSS 08</vt:lpstr>
      <vt:lpstr>PowerPoint Presentation</vt:lpstr>
      <vt:lpstr>PowerPoint Presentation</vt:lpstr>
      <vt:lpstr>PowerPoint Presentation</vt:lpstr>
      <vt:lpstr>PowerPoint Presentation</vt:lpstr>
      <vt:lpstr>PowerPoint Presentation</vt:lpstr>
      <vt:lpstr>PowerPoint Presentation</vt:lpstr>
      <vt:lpstr>Major Milestones – Next 3 months (PSS – 10A, 5A &amp; 8A)</vt:lpstr>
      <vt:lpstr>CRITICAL ISSUES FY 25-26</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Rahulsingh Tomar</dc:creator>
  <cp:lastModifiedBy>Birendra Nath</cp:lastModifiedBy>
  <cp:revision>1</cp:revision>
  <cp:lastPrinted>2025-10-09T04:45:05Z</cp:lastPrinted>
  <dcterms:created xsi:type="dcterms:W3CDTF">2023-08-27T05:23:05Z</dcterms:created>
  <dcterms:modified xsi:type="dcterms:W3CDTF">2026-07-27T14:52:37Z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0x010100357E817B3A7D38469FCB1914B38A626F</vt:lpwstr>
  </property>
</Properties>
</file>